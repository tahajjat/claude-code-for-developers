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40" d="100"/>
          <a:sy n="140" d="100"/>
        </p:scale>
        <p:origin x="77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49DD7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78994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49DD7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78994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78994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78994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78994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7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9695" y="244692"/>
            <a:ext cx="6980555" cy="407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5140" y="2255474"/>
            <a:ext cx="3686810" cy="1085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49DD7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021421" y="4728274"/>
            <a:ext cx="1042899" cy="3360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78994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mailto:react@19.0.0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hyperlink" Target="http://localhost:8080/actuator/health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pi.wamy.org/api/v1/reports/profit-loss%27" TargetMode="External"/><Relationship Id="rId4" Type="http://schemas.openxmlformats.org/officeDocument/2006/relationships/image" Target="../media/image5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" y="85552"/>
            <a:ext cx="914400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5600" dirty="0"/>
              <a:t>Claude</a:t>
            </a:r>
            <a:r>
              <a:rPr sz="5600" spc="-35" dirty="0"/>
              <a:t> </a:t>
            </a:r>
            <a:r>
              <a:rPr sz="5600" spc="-20" dirty="0"/>
              <a:t>Code</a:t>
            </a:r>
            <a:endParaRPr sz="5600" dirty="0"/>
          </a:p>
        </p:txBody>
      </p:sp>
      <p:sp>
        <p:nvSpPr>
          <p:cNvPr id="4" name="object 4"/>
          <p:cNvSpPr txBox="1"/>
          <p:nvPr/>
        </p:nvSpPr>
        <p:spPr>
          <a:xfrm>
            <a:off x="0" y="979262"/>
            <a:ext cx="9144000" cy="12131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9FBFFF"/>
                </a:solidFill>
                <a:latin typeface="Calibri"/>
                <a:cs typeface="Calibri"/>
              </a:rPr>
              <a:t>for</a:t>
            </a:r>
            <a:r>
              <a:rPr sz="3000" spc="-105" dirty="0">
                <a:solidFill>
                  <a:srgbClr val="9FBFFF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9FBFFF"/>
                </a:solidFill>
                <a:latin typeface="Calibri"/>
                <a:cs typeface="Calibri"/>
              </a:rPr>
              <a:t>Software</a:t>
            </a:r>
            <a:r>
              <a:rPr sz="3000" spc="-105" dirty="0">
                <a:solidFill>
                  <a:srgbClr val="9FBFFF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9FBFFF"/>
                </a:solidFill>
                <a:latin typeface="Calibri"/>
                <a:cs typeface="Calibri"/>
              </a:rPr>
              <a:t>Developers</a:t>
            </a:r>
            <a:endParaRPr sz="3000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265"/>
              </a:spcBef>
            </a:pPr>
            <a:r>
              <a:rPr sz="1600" i="1" spc="-50" dirty="0">
                <a:solidFill>
                  <a:srgbClr val="F49D0A"/>
                </a:solidFill>
                <a:latin typeface="+mn-lt"/>
                <a:cs typeface="Arial"/>
              </a:rPr>
              <a:t>Introduction</a:t>
            </a:r>
            <a:r>
              <a:rPr sz="1600" i="1" spc="-9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600" i="1" dirty="0">
                <a:solidFill>
                  <a:srgbClr val="F49D0A"/>
                </a:solidFill>
                <a:latin typeface="+mn-lt"/>
                <a:cs typeface="Arial"/>
              </a:rPr>
              <a:t>to</a:t>
            </a:r>
            <a:r>
              <a:rPr sz="1600" i="1" spc="-65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600" i="1" spc="-110" dirty="0">
                <a:solidFill>
                  <a:srgbClr val="F49D0A"/>
                </a:solidFill>
                <a:latin typeface="+mn-lt"/>
                <a:cs typeface="Arial"/>
              </a:rPr>
              <a:t>Advanced</a:t>
            </a:r>
            <a:r>
              <a:rPr sz="1600" i="1" spc="-75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600" i="1" spc="-140" dirty="0">
                <a:solidFill>
                  <a:srgbClr val="F49D0A"/>
                </a:solidFill>
                <a:latin typeface="+mn-lt"/>
                <a:cs typeface="Arial"/>
              </a:rPr>
              <a:t>·</a:t>
            </a:r>
            <a:r>
              <a:rPr sz="1600" i="1" spc="-65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600" i="1" spc="-145" dirty="0">
                <a:solidFill>
                  <a:srgbClr val="F49D0A"/>
                </a:solidFill>
                <a:latin typeface="+mn-lt"/>
                <a:cs typeface="Arial"/>
              </a:rPr>
              <a:t>WAMY</a:t>
            </a:r>
            <a:r>
              <a:rPr sz="1600" i="1" spc="-7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600" i="1" spc="-200" dirty="0">
                <a:solidFill>
                  <a:srgbClr val="F49D0A"/>
                </a:solidFill>
                <a:latin typeface="+mn-lt"/>
                <a:cs typeface="Arial"/>
              </a:rPr>
              <a:t>NGO</a:t>
            </a:r>
            <a:r>
              <a:rPr sz="1600" i="1" spc="-7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lang="en-US" sz="1600" i="1" spc="-70" dirty="0">
                <a:solidFill>
                  <a:srgbClr val="F49D0A"/>
                </a:solidFill>
                <a:latin typeface="+mn-lt"/>
                <a:cs typeface="Arial"/>
              </a:rPr>
              <a:t> SaaS ERP</a:t>
            </a:r>
            <a:r>
              <a:rPr sz="1600" i="1" spc="-7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lang="en-US" sz="1600" i="1" spc="-7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600" i="1" spc="-110" dirty="0">
                <a:solidFill>
                  <a:srgbClr val="F49D0A"/>
                </a:solidFill>
                <a:latin typeface="+mn-lt"/>
                <a:cs typeface="Arial"/>
              </a:rPr>
              <a:t>Finance</a:t>
            </a:r>
            <a:r>
              <a:rPr sz="1600" i="1" spc="-6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600" i="1" spc="-10" dirty="0">
                <a:solidFill>
                  <a:srgbClr val="F49D0A"/>
                </a:solidFill>
                <a:latin typeface="+mn-lt"/>
                <a:cs typeface="Arial"/>
              </a:rPr>
              <a:t>Module</a:t>
            </a:r>
            <a:endParaRPr sz="1600" dirty="0">
              <a:latin typeface="+mn-lt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1135"/>
              </a:spcBef>
            </a:pPr>
            <a:r>
              <a:rPr sz="1200" dirty="0">
                <a:solidFill>
                  <a:srgbClr val="6F8FAF"/>
                </a:solidFill>
                <a:latin typeface="Calibri"/>
                <a:cs typeface="Calibri"/>
              </a:rPr>
              <a:t>Spring</a:t>
            </a:r>
            <a:r>
              <a:rPr sz="1200" spc="-25" dirty="0">
                <a:solidFill>
                  <a:srgbClr val="6F8FA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6F8FAF"/>
                </a:solidFill>
                <a:latin typeface="Calibri"/>
                <a:cs typeface="Calibri"/>
              </a:rPr>
              <a:t>Boot</a:t>
            </a:r>
            <a:r>
              <a:rPr sz="1200" spc="-25" dirty="0">
                <a:solidFill>
                  <a:srgbClr val="6F8FA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6F8FAF"/>
                </a:solidFill>
                <a:latin typeface="Calibri"/>
                <a:cs typeface="Calibri"/>
              </a:rPr>
              <a:t>·</a:t>
            </a:r>
            <a:r>
              <a:rPr sz="1200" spc="-30" dirty="0">
                <a:solidFill>
                  <a:srgbClr val="6F8FA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6F8FAF"/>
                </a:solidFill>
                <a:latin typeface="Calibri"/>
                <a:cs typeface="Calibri"/>
              </a:rPr>
              <a:t>React</a:t>
            </a:r>
            <a:r>
              <a:rPr sz="1200" spc="-25" dirty="0">
                <a:solidFill>
                  <a:srgbClr val="6F8FA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6F8FAF"/>
                </a:solidFill>
                <a:latin typeface="Calibri"/>
                <a:cs typeface="Calibri"/>
              </a:rPr>
              <a:t>19</a:t>
            </a:r>
            <a:r>
              <a:rPr sz="1200" spc="-25" dirty="0">
                <a:solidFill>
                  <a:srgbClr val="6F8FA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6F8FAF"/>
                </a:solidFill>
                <a:latin typeface="Calibri"/>
                <a:cs typeface="Calibri"/>
              </a:rPr>
              <a:t>·</a:t>
            </a:r>
            <a:r>
              <a:rPr sz="1200" spc="-25" dirty="0">
                <a:solidFill>
                  <a:srgbClr val="6F8FA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6F8FAF"/>
                </a:solidFill>
                <a:latin typeface="Calibri"/>
                <a:cs typeface="Calibri"/>
              </a:rPr>
              <a:t>MySQL</a:t>
            </a:r>
            <a:r>
              <a:rPr sz="1200" spc="-20" dirty="0">
                <a:solidFill>
                  <a:srgbClr val="6F8FA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6F8FAF"/>
                </a:solidFill>
                <a:latin typeface="Calibri"/>
                <a:cs typeface="Calibri"/>
              </a:rPr>
              <a:t>·</a:t>
            </a:r>
            <a:r>
              <a:rPr sz="1200" spc="-25" dirty="0">
                <a:solidFill>
                  <a:srgbClr val="6F8FA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6F8FAF"/>
                </a:solidFill>
                <a:latin typeface="Calibri"/>
                <a:cs typeface="Calibri"/>
              </a:rPr>
              <a:t>GitHub</a:t>
            </a:r>
            <a:r>
              <a:rPr sz="1200" spc="-30" dirty="0">
                <a:solidFill>
                  <a:srgbClr val="6F8FA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6F8FAF"/>
                </a:solidFill>
                <a:latin typeface="Calibri"/>
                <a:cs typeface="Calibri"/>
              </a:rPr>
              <a:t>Actions</a:t>
            </a:r>
            <a:r>
              <a:rPr sz="1200" spc="-20" dirty="0">
                <a:solidFill>
                  <a:srgbClr val="6F8FA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6F8FAF"/>
                </a:solidFill>
                <a:latin typeface="Calibri"/>
                <a:cs typeface="Calibri"/>
              </a:rPr>
              <a:t>·</a:t>
            </a:r>
            <a:r>
              <a:rPr sz="1200" spc="-25" dirty="0">
                <a:solidFill>
                  <a:srgbClr val="6F8FA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6F8FAF"/>
                </a:solidFill>
                <a:latin typeface="Calibri"/>
                <a:cs typeface="Calibri"/>
              </a:rPr>
              <a:t>Robi</a:t>
            </a:r>
            <a:r>
              <a:rPr sz="1200" spc="-25" dirty="0">
                <a:solidFill>
                  <a:srgbClr val="6F8FA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6F8FAF"/>
                </a:solidFill>
                <a:latin typeface="Calibri"/>
                <a:cs typeface="Calibri"/>
              </a:rPr>
              <a:t>Cloud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37820" y="2500616"/>
            <a:ext cx="1978660" cy="671195"/>
            <a:chOff x="633780" y="2828342"/>
            <a:chExt cx="1978660" cy="671195"/>
          </a:xfrm>
        </p:grpSpPr>
        <p:sp>
          <p:nvSpPr>
            <p:cNvPr id="6" name="object 6"/>
            <p:cNvSpPr/>
            <p:nvPr/>
          </p:nvSpPr>
          <p:spPr>
            <a:xfrm>
              <a:off x="640080" y="2834641"/>
              <a:ext cx="1965960" cy="658495"/>
            </a:xfrm>
            <a:custGeom>
              <a:avLst/>
              <a:gdLst/>
              <a:ahLst/>
              <a:cxnLst/>
              <a:rect l="l" t="t" r="r" b="b"/>
              <a:pathLst>
                <a:path w="1965960" h="658495">
                  <a:moveTo>
                    <a:pt x="187416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567004"/>
                  </a:lnTo>
                  <a:lnTo>
                    <a:pt x="774" y="578642"/>
                  </a:lnTo>
                  <a:lnTo>
                    <a:pt x="798" y="579003"/>
                  </a:lnTo>
                  <a:lnTo>
                    <a:pt x="3077" y="590310"/>
                  </a:lnTo>
                  <a:lnTo>
                    <a:pt x="3149" y="590669"/>
                  </a:lnTo>
                  <a:lnTo>
                    <a:pt x="6863" y="601570"/>
                  </a:lnTo>
                  <a:lnTo>
                    <a:pt x="6986" y="601931"/>
                  </a:lnTo>
                  <a:lnTo>
                    <a:pt x="35676" y="639600"/>
                  </a:lnTo>
                  <a:lnTo>
                    <a:pt x="79434" y="657645"/>
                  </a:lnTo>
                  <a:lnTo>
                    <a:pt x="91440" y="658444"/>
                  </a:lnTo>
                  <a:lnTo>
                    <a:pt x="1874520" y="658075"/>
                  </a:lnTo>
                  <a:lnTo>
                    <a:pt x="1920239" y="645845"/>
                  </a:lnTo>
                  <a:lnTo>
                    <a:pt x="1953717" y="612355"/>
                  </a:lnTo>
                  <a:lnTo>
                    <a:pt x="1965088" y="579003"/>
                  </a:lnTo>
                  <a:lnTo>
                    <a:pt x="1965161" y="578642"/>
                  </a:lnTo>
                  <a:lnTo>
                    <a:pt x="1965935" y="567004"/>
                  </a:lnTo>
                  <a:lnTo>
                    <a:pt x="1965959" y="566635"/>
                  </a:lnTo>
                  <a:lnTo>
                    <a:pt x="1965604" y="91439"/>
                  </a:lnTo>
                  <a:lnTo>
                    <a:pt x="1953361" y="45719"/>
                  </a:lnTo>
                  <a:lnTo>
                    <a:pt x="1919884" y="12242"/>
                  </a:lnTo>
                  <a:lnTo>
                    <a:pt x="1886164" y="798"/>
                  </a:lnTo>
                  <a:lnTo>
                    <a:pt x="187416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0080" y="2834641"/>
              <a:ext cx="1965960" cy="658495"/>
            </a:xfrm>
            <a:custGeom>
              <a:avLst/>
              <a:gdLst/>
              <a:ahLst/>
              <a:cxnLst/>
              <a:rect l="l" t="t" r="r" b="b"/>
              <a:pathLst>
                <a:path w="1965960" h="658495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40" y="0"/>
                  </a:lnTo>
                  <a:lnTo>
                    <a:pt x="1874164" y="0"/>
                  </a:lnTo>
                  <a:lnTo>
                    <a:pt x="1919884" y="12242"/>
                  </a:lnTo>
                  <a:lnTo>
                    <a:pt x="1953361" y="45719"/>
                  </a:lnTo>
                  <a:lnTo>
                    <a:pt x="1965604" y="91439"/>
                  </a:lnTo>
                  <a:lnTo>
                    <a:pt x="1965959" y="566635"/>
                  </a:lnTo>
                  <a:lnTo>
                    <a:pt x="1965161" y="578642"/>
                  </a:lnTo>
                  <a:lnTo>
                    <a:pt x="1962810" y="590310"/>
                  </a:lnTo>
                  <a:lnTo>
                    <a:pt x="1939278" y="631396"/>
                  </a:lnTo>
                  <a:lnTo>
                    <a:pt x="1898189" y="654927"/>
                  </a:lnTo>
                  <a:lnTo>
                    <a:pt x="91440" y="658444"/>
                  </a:lnTo>
                  <a:lnTo>
                    <a:pt x="45720" y="646201"/>
                  </a:lnTo>
                  <a:lnTo>
                    <a:pt x="12242" y="612724"/>
                  </a:lnTo>
                  <a:lnTo>
                    <a:pt x="0" y="567004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60145" y="2346325"/>
            <a:ext cx="334010" cy="74485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2400" b="1" spc="-25" dirty="0">
                <a:solidFill>
                  <a:srgbClr val="0C9387"/>
                </a:solidFill>
                <a:latin typeface="Calibri"/>
                <a:cs typeface="Calibri"/>
              </a:rPr>
              <a:t>80</a:t>
            </a:r>
            <a:endParaRPr sz="2400">
              <a:latin typeface="Calibri"/>
              <a:cs typeface="Calibri"/>
            </a:endParaRPr>
          </a:p>
          <a:p>
            <a:pPr marL="33655">
              <a:lnSpc>
                <a:spcPct val="100000"/>
              </a:lnSpc>
              <a:spcBef>
                <a:spcPts val="465"/>
              </a:spcBef>
            </a:pPr>
            <a:r>
              <a:rPr sz="900" spc="-10" dirty="0">
                <a:solidFill>
                  <a:srgbClr val="7F8FBF"/>
                </a:solidFill>
                <a:latin typeface="Calibri"/>
                <a:cs typeface="Calibri"/>
              </a:rPr>
              <a:t>Slides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86660" y="2500616"/>
            <a:ext cx="1978660" cy="671195"/>
            <a:chOff x="2782620" y="2828342"/>
            <a:chExt cx="1978660" cy="671195"/>
          </a:xfrm>
        </p:grpSpPr>
        <p:sp>
          <p:nvSpPr>
            <p:cNvPr id="10" name="object 10"/>
            <p:cNvSpPr/>
            <p:nvPr/>
          </p:nvSpPr>
          <p:spPr>
            <a:xfrm>
              <a:off x="2788919" y="2834641"/>
              <a:ext cx="1965960" cy="658495"/>
            </a:xfrm>
            <a:custGeom>
              <a:avLst/>
              <a:gdLst/>
              <a:ahLst/>
              <a:cxnLst/>
              <a:rect l="l" t="t" r="r" b="b"/>
              <a:pathLst>
                <a:path w="1965960" h="658495">
                  <a:moveTo>
                    <a:pt x="187416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567004"/>
                  </a:lnTo>
                  <a:lnTo>
                    <a:pt x="774" y="578642"/>
                  </a:lnTo>
                  <a:lnTo>
                    <a:pt x="798" y="579003"/>
                  </a:lnTo>
                  <a:lnTo>
                    <a:pt x="3077" y="590310"/>
                  </a:lnTo>
                  <a:lnTo>
                    <a:pt x="3149" y="590669"/>
                  </a:lnTo>
                  <a:lnTo>
                    <a:pt x="6863" y="601570"/>
                  </a:lnTo>
                  <a:lnTo>
                    <a:pt x="6986" y="601931"/>
                  </a:lnTo>
                  <a:lnTo>
                    <a:pt x="12242" y="612724"/>
                  </a:lnTo>
                  <a:lnTo>
                    <a:pt x="45719" y="646201"/>
                  </a:lnTo>
                  <a:lnTo>
                    <a:pt x="91440" y="658444"/>
                  </a:lnTo>
                  <a:lnTo>
                    <a:pt x="1874520" y="658075"/>
                  </a:lnTo>
                  <a:lnTo>
                    <a:pt x="1920240" y="645845"/>
                  </a:lnTo>
                  <a:lnTo>
                    <a:pt x="1953717" y="612355"/>
                  </a:lnTo>
                  <a:lnTo>
                    <a:pt x="1965088" y="579003"/>
                  </a:lnTo>
                  <a:lnTo>
                    <a:pt x="1965161" y="578642"/>
                  </a:lnTo>
                  <a:lnTo>
                    <a:pt x="1965935" y="567004"/>
                  </a:lnTo>
                  <a:lnTo>
                    <a:pt x="1965959" y="566635"/>
                  </a:lnTo>
                  <a:lnTo>
                    <a:pt x="1965604" y="91439"/>
                  </a:lnTo>
                  <a:lnTo>
                    <a:pt x="1953361" y="45719"/>
                  </a:lnTo>
                  <a:lnTo>
                    <a:pt x="1919884" y="12242"/>
                  </a:lnTo>
                  <a:lnTo>
                    <a:pt x="1886164" y="798"/>
                  </a:lnTo>
                  <a:lnTo>
                    <a:pt x="187416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88919" y="2834641"/>
              <a:ext cx="1965960" cy="658495"/>
            </a:xfrm>
            <a:custGeom>
              <a:avLst/>
              <a:gdLst/>
              <a:ahLst/>
              <a:cxnLst/>
              <a:rect l="l" t="t" r="r" b="b"/>
              <a:pathLst>
                <a:path w="1965960" h="658495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40" y="0"/>
                  </a:lnTo>
                  <a:lnTo>
                    <a:pt x="1874164" y="0"/>
                  </a:lnTo>
                  <a:lnTo>
                    <a:pt x="1919884" y="12242"/>
                  </a:lnTo>
                  <a:lnTo>
                    <a:pt x="1953361" y="45719"/>
                  </a:lnTo>
                  <a:lnTo>
                    <a:pt x="1965604" y="91439"/>
                  </a:lnTo>
                  <a:lnTo>
                    <a:pt x="1965959" y="566635"/>
                  </a:lnTo>
                  <a:lnTo>
                    <a:pt x="1965161" y="578642"/>
                  </a:lnTo>
                  <a:lnTo>
                    <a:pt x="1962810" y="590310"/>
                  </a:lnTo>
                  <a:lnTo>
                    <a:pt x="1939278" y="631396"/>
                  </a:lnTo>
                  <a:lnTo>
                    <a:pt x="1898189" y="654927"/>
                  </a:lnTo>
                  <a:lnTo>
                    <a:pt x="91440" y="658444"/>
                  </a:lnTo>
                  <a:lnTo>
                    <a:pt x="45719" y="646201"/>
                  </a:lnTo>
                  <a:lnTo>
                    <a:pt x="12242" y="612724"/>
                  </a:lnTo>
                  <a:lnTo>
                    <a:pt x="0" y="567004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270098" y="2346325"/>
            <a:ext cx="412115" cy="74485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35"/>
              </a:spcBef>
            </a:pPr>
            <a:r>
              <a:rPr sz="2400" b="1" spc="-50" dirty="0">
                <a:solidFill>
                  <a:srgbClr val="0C9387"/>
                </a:solidFill>
                <a:latin typeface="Calibri"/>
                <a:cs typeface="Calibri"/>
              </a:rPr>
              <a:t>9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65"/>
              </a:spcBef>
            </a:pPr>
            <a:r>
              <a:rPr sz="900" spc="-10" dirty="0">
                <a:solidFill>
                  <a:srgbClr val="7F8FBF"/>
                </a:solidFill>
                <a:latin typeface="Calibri"/>
                <a:cs typeface="Calibri"/>
              </a:rPr>
              <a:t>Sections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35500" y="2500616"/>
            <a:ext cx="1978660" cy="671195"/>
            <a:chOff x="4931460" y="2828342"/>
            <a:chExt cx="1978660" cy="671195"/>
          </a:xfrm>
        </p:grpSpPr>
        <p:sp>
          <p:nvSpPr>
            <p:cNvPr id="14" name="object 14"/>
            <p:cNvSpPr/>
            <p:nvPr/>
          </p:nvSpPr>
          <p:spPr>
            <a:xfrm>
              <a:off x="4937760" y="2834641"/>
              <a:ext cx="1965960" cy="658495"/>
            </a:xfrm>
            <a:custGeom>
              <a:avLst/>
              <a:gdLst/>
              <a:ahLst/>
              <a:cxnLst/>
              <a:rect l="l" t="t" r="r" b="b"/>
              <a:pathLst>
                <a:path w="1965959" h="658495">
                  <a:moveTo>
                    <a:pt x="187416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567004"/>
                  </a:lnTo>
                  <a:lnTo>
                    <a:pt x="774" y="578642"/>
                  </a:lnTo>
                  <a:lnTo>
                    <a:pt x="798" y="579003"/>
                  </a:lnTo>
                  <a:lnTo>
                    <a:pt x="3077" y="590310"/>
                  </a:lnTo>
                  <a:lnTo>
                    <a:pt x="3149" y="590669"/>
                  </a:lnTo>
                  <a:lnTo>
                    <a:pt x="6863" y="601570"/>
                  </a:lnTo>
                  <a:lnTo>
                    <a:pt x="35676" y="639600"/>
                  </a:lnTo>
                  <a:lnTo>
                    <a:pt x="79434" y="657645"/>
                  </a:lnTo>
                  <a:lnTo>
                    <a:pt x="91439" y="658444"/>
                  </a:lnTo>
                  <a:lnTo>
                    <a:pt x="1874519" y="658075"/>
                  </a:lnTo>
                  <a:lnTo>
                    <a:pt x="1920239" y="645845"/>
                  </a:lnTo>
                  <a:lnTo>
                    <a:pt x="1953717" y="612355"/>
                  </a:lnTo>
                  <a:lnTo>
                    <a:pt x="1965088" y="579003"/>
                  </a:lnTo>
                  <a:lnTo>
                    <a:pt x="1965161" y="578642"/>
                  </a:lnTo>
                  <a:lnTo>
                    <a:pt x="1965935" y="567004"/>
                  </a:lnTo>
                  <a:lnTo>
                    <a:pt x="1965960" y="566635"/>
                  </a:lnTo>
                  <a:lnTo>
                    <a:pt x="1965604" y="91439"/>
                  </a:lnTo>
                  <a:lnTo>
                    <a:pt x="1953361" y="45719"/>
                  </a:lnTo>
                  <a:lnTo>
                    <a:pt x="1919884" y="12242"/>
                  </a:lnTo>
                  <a:lnTo>
                    <a:pt x="1886164" y="798"/>
                  </a:lnTo>
                  <a:lnTo>
                    <a:pt x="187416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37760" y="2834641"/>
              <a:ext cx="1965960" cy="658495"/>
            </a:xfrm>
            <a:custGeom>
              <a:avLst/>
              <a:gdLst/>
              <a:ahLst/>
              <a:cxnLst/>
              <a:rect l="l" t="t" r="r" b="b"/>
              <a:pathLst>
                <a:path w="1965959" h="658495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1874164" y="0"/>
                  </a:lnTo>
                  <a:lnTo>
                    <a:pt x="1919884" y="12242"/>
                  </a:lnTo>
                  <a:lnTo>
                    <a:pt x="1953361" y="45719"/>
                  </a:lnTo>
                  <a:lnTo>
                    <a:pt x="1965604" y="91439"/>
                  </a:lnTo>
                  <a:lnTo>
                    <a:pt x="1965960" y="566635"/>
                  </a:lnTo>
                  <a:lnTo>
                    <a:pt x="1965161" y="578642"/>
                  </a:lnTo>
                  <a:lnTo>
                    <a:pt x="1962810" y="590310"/>
                  </a:lnTo>
                  <a:lnTo>
                    <a:pt x="1939278" y="631396"/>
                  </a:lnTo>
                  <a:lnTo>
                    <a:pt x="1898189" y="654927"/>
                  </a:lnTo>
                  <a:lnTo>
                    <a:pt x="91439" y="658444"/>
                  </a:lnTo>
                  <a:lnTo>
                    <a:pt x="45719" y="646201"/>
                  </a:lnTo>
                  <a:lnTo>
                    <a:pt x="12242" y="612724"/>
                  </a:lnTo>
                  <a:lnTo>
                    <a:pt x="0" y="567004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304816" y="2346325"/>
            <a:ext cx="640715" cy="74485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35"/>
              </a:spcBef>
            </a:pPr>
            <a:r>
              <a:rPr sz="2400" b="1" spc="-25" dirty="0">
                <a:solidFill>
                  <a:srgbClr val="0C9387"/>
                </a:solidFill>
                <a:latin typeface="Calibri"/>
                <a:cs typeface="Calibri"/>
              </a:rPr>
              <a:t>40+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65"/>
              </a:spcBef>
            </a:pPr>
            <a:r>
              <a:rPr sz="900" dirty="0">
                <a:solidFill>
                  <a:srgbClr val="7F8FBF"/>
                </a:solidFill>
                <a:latin typeface="Calibri"/>
                <a:cs typeface="Calibri"/>
              </a:rPr>
              <a:t>Real</a:t>
            </a:r>
            <a:r>
              <a:rPr sz="900" spc="-45" dirty="0">
                <a:solidFill>
                  <a:srgbClr val="7F8FB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7F8FBF"/>
                </a:solidFill>
                <a:latin typeface="Calibri"/>
                <a:cs typeface="Calibri"/>
              </a:rPr>
              <a:t>Prompts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784340" y="2500616"/>
            <a:ext cx="1978660" cy="671195"/>
            <a:chOff x="7080300" y="2828342"/>
            <a:chExt cx="1978660" cy="671195"/>
          </a:xfrm>
        </p:grpSpPr>
        <p:sp>
          <p:nvSpPr>
            <p:cNvPr id="18" name="object 18"/>
            <p:cNvSpPr/>
            <p:nvPr/>
          </p:nvSpPr>
          <p:spPr>
            <a:xfrm>
              <a:off x="7086600" y="2834641"/>
              <a:ext cx="1965960" cy="658495"/>
            </a:xfrm>
            <a:custGeom>
              <a:avLst/>
              <a:gdLst/>
              <a:ahLst/>
              <a:cxnLst/>
              <a:rect l="l" t="t" r="r" b="b"/>
              <a:pathLst>
                <a:path w="1965959" h="658495">
                  <a:moveTo>
                    <a:pt x="187416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567004"/>
                  </a:lnTo>
                  <a:lnTo>
                    <a:pt x="12242" y="612724"/>
                  </a:lnTo>
                  <a:lnTo>
                    <a:pt x="45720" y="646201"/>
                  </a:lnTo>
                  <a:lnTo>
                    <a:pt x="91440" y="658444"/>
                  </a:lnTo>
                  <a:lnTo>
                    <a:pt x="1874520" y="658075"/>
                  </a:lnTo>
                  <a:lnTo>
                    <a:pt x="1920240" y="645845"/>
                  </a:lnTo>
                  <a:lnTo>
                    <a:pt x="1953717" y="612355"/>
                  </a:lnTo>
                  <a:lnTo>
                    <a:pt x="1965088" y="579003"/>
                  </a:lnTo>
                  <a:lnTo>
                    <a:pt x="1965161" y="578642"/>
                  </a:lnTo>
                  <a:lnTo>
                    <a:pt x="1965935" y="567004"/>
                  </a:lnTo>
                  <a:lnTo>
                    <a:pt x="1965959" y="566635"/>
                  </a:lnTo>
                  <a:lnTo>
                    <a:pt x="1965604" y="91439"/>
                  </a:lnTo>
                  <a:lnTo>
                    <a:pt x="1953361" y="45719"/>
                  </a:lnTo>
                  <a:lnTo>
                    <a:pt x="1919884" y="12242"/>
                  </a:lnTo>
                  <a:lnTo>
                    <a:pt x="1886164" y="798"/>
                  </a:lnTo>
                  <a:lnTo>
                    <a:pt x="187416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86600" y="2834641"/>
              <a:ext cx="1965960" cy="658495"/>
            </a:xfrm>
            <a:custGeom>
              <a:avLst/>
              <a:gdLst/>
              <a:ahLst/>
              <a:cxnLst/>
              <a:rect l="l" t="t" r="r" b="b"/>
              <a:pathLst>
                <a:path w="1965959" h="658495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40" y="0"/>
                  </a:lnTo>
                  <a:lnTo>
                    <a:pt x="1874164" y="0"/>
                  </a:lnTo>
                  <a:lnTo>
                    <a:pt x="1919884" y="12242"/>
                  </a:lnTo>
                  <a:lnTo>
                    <a:pt x="1953361" y="45719"/>
                  </a:lnTo>
                  <a:lnTo>
                    <a:pt x="1965604" y="91439"/>
                  </a:lnTo>
                  <a:lnTo>
                    <a:pt x="1965959" y="566635"/>
                  </a:lnTo>
                  <a:lnTo>
                    <a:pt x="1965161" y="578642"/>
                  </a:lnTo>
                  <a:lnTo>
                    <a:pt x="1962810" y="590310"/>
                  </a:lnTo>
                  <a:lnTo>
                    <a:pt x="1939278" y="631396"/>
                  </a:lnTo>
                  <a:lnTo>
                    <a:pt x="1898189" y="654927"/>
                  </a:lnTo>
                  <a:lnTo>
                    <a:pt x="91440" y="658444"/>
                  </a:lnTo>
                  <a:lnTo>
                    <a:pt x="45720" y="646201"/>
                  </a:lnTo>
                  <a:lnTo>
                    <a:pt x="12242" y="612724"/>
                  </a:lnTo>
                  <a:lnTo>
                    <a:pt x="0" y="567004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418375" y="2346325"/>
            <a:ext cx="711200" cy="74485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35"/>
              </a:spcBef>
            </a:pPr>
            <a:r>
              <a:rPr sz="2400" b="1" spc="-20" dirty="0">
                <a:solidFill>
                  <a:srgbClr val="0C9387"/>
                </a:solidFill>
                <a:latin typeface="Calibri"/>
                <a:cs typeface="Calibri"/>
              </a:rPr>
              <a:t>100%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65"/>
              </a:spcBef>
            </a:pPr>
            <a:r>
              <a:rPr sz="900" spc="-10" dirty="0">
                <a:solidFill>
                  <a:srgbClr val="7F8FBF"/>
                </a:solidFill>
                <a:latin typeface="Calibri"/>
                <a:cs typeface="Calibri"/>
              </a:rPr>
              <a:t>Hands-</a:t>
            </a:r>
            <a:r>
              <a:rPr sz="900" spc="-25" dirty="0">
                <a:solidFill>
                  <a:srgbClr val="7F8FBF"/>
                </a:solidFill>
                <a:latin typeface="Calibri"/>
                <a:cs typeface="Calibri"/>
              </a:rPr>
              <a:t>on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62317" y="3260725"/>
            <a:ext cx="8054975" cy="1242060"/>
            <a:chOff x="562317" y="3580183"/>
            <a:chExt cx="8054975" cy="124206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317" y="3580183"/>
              <a:ext cx="8054644" cy="124165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39724" y="3657602"/>
              <a:ext cx="7863840" cy="1051560"/>
            </a:xfrm>
            <a:custGeom>
              <a:avLst/>
              <a:gdLst/>
              <a:ahLst/>
              <a:cxnLst/>
              <a:rect l="l" t="t" r="r" b="b"/>
              <a:pathLst>
                <a:path w="7863840" h="1051560">
                  <a:moveTo>
                    <a:pt x="777203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40"/>
                  </a:lnTo>
                  <a:lnTo>
                    <a:pt x="0" y="960120"/>
                  </a:lnTo>
                  <a:lnTo>
                    <a:pt x="774" y="971764"/>
                  </a:lnTo>
                  <a:lnTo>
                    <a:pt x="798" y="972125"/>
                  </a:lnTo>
                  <a:lnTo>
                    <a:pt x="3075" y="983429"/>
                  </a:lnTo>
                  <a:lnTo>
                    <a:pt x="3148" y="983789"/>
                  </a:lnTo>
                  <a:lnTo>
                    <a:pt x="26679" y="1024878"/>
                  </a:lnTo>
                  <a:lnTo>
                    <a:pt x="67765" y="1048410"/>
                  </a:lnTo>
                  <a:lnTo>
                    <a:pt x="91440" y="1051560"/>
                  </a:lnTo>
                  <a:lnTo>
                    <a:pt x="7772400" y="1051204"/>
                  </a:lnTo>
                  <a:lnTo>
                    <a:pt x="7818120" y="1038961"/>
                  </a:lnTo>
                  <a:lnTo>
                    <a:pt x="7851597" y="1005484"/>
                  </a:lnTo>
                  <a:lnTo>
                    <a:pt x="7860562" y="983789"/>
                  </a:lnTo>
                  <a:lnTo>
                    <a:pt x="7860685" y="983429"/>
                  </a:lnTo>
                  <a:lnTo>
                    <a:pt x="7862966" y="972125"/>
                  </a:lnTo>
                  <a:lnTo>
                    <a:pt x="7863039" y="971764"/>
                  </a:lnTo>
                  <a:lnTo>
                    <a:pt x="7863816" y="960120"/>
                  </a:lnTo>
                  <a:lnTo>
                    <a:pt x="7863840" y="959764"/>
                  </a:lnTo>
                  <a:lnTo>
                    <a:pt x="7863471" y="91440"/>
                  </a:lnTo>
                  <a:lnTo>
                    <a:pt x="7851241" y="45720"/>
                  </a:lnTo>
                  <a:lnTo>
                    <a:pt x="7817751" y="12242"/>
                  </a:lnTo>
                  <a:lnTo>
                    <a:pt x="7784038" y="798"/>
                  </a:lnTo>
                  <a:lnTo>
                    <a:pt x="7772031" y="0"/>
                  </a:lnTo>
                  <a:close/>
                </a:path>
              </a:pathLst>
            </a:custGeom>
            <a:solidFill>
              <a:srgbClr val="0B17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9724" y="3657602"/>
              <a:ext cx="7863840" cy="1051560"/>
            </a:xfrm>
            <a:custGeom>
              <a:avLst/>
              <a:gdLst/>
              <a:ahLst/>
              <a:cxnLst/>
              <a:rect l="l" t="t" r="r" b="b"/>
              <a:pathLst>
                <a:path w="7863840" h="1051560">
                  <a:moveTo>
                    <a:pt x="0" y="91440"/>
                  </a:moveTo>
                  <a:lnTo>
                    <a:pt x="798" y="79434"/>
                  </a:lnTo>
                  <a:lnTo>
                    <a:pt x="3148" y="67770"/>
                  </a:lnTo>
                  <a:lnTo>
                    <a:pt x="26679" y="26681"/>
                  </a:lnTo>
                  <a:lnTo>
                    <a:pt x="67765" y="3149"/>
                  </a:lnTo>
                  <a:lnTo>
                    <a:pt x="91440" y="0"/>
                  </a:lnTo>
                  <a:lnTo>
                    <a:pt x="7772031" y="0"/>
                  </a:lnTo>
                  <a:lnTo>
                    <a:pt x="7817751" y="12242"/>
                  </a:lnTo>
                  <a:lnTo>
                    <a:pt x="7851241" y="45720"/>
                  </a:lnTo>
                  <a:lnTo>
                    <a:pt x="7863471" y="91440"/>
                  </a:lnTo>
                  <a:lnTo>
                    <a:pt x="7863840" y="959764"/>
                  </a:lnTo>
                  <a:lnTo>
                    <a:pt x="7863039" y="971764"/>
                  </a:lnTo>
                  <a:lnTo>
                    <a:pt x="7860685" y="983429"/>
                  </a:lnTo>
                  <a:lnTo>
                    <a:pt x="7837149" y="1024513"/>
                  </a:lnTo>
                  <a:lnTo>
                    <a:pt x="7796064" y="1048050"/>
                  </a:lnTo>
                  <a:lnTo>
                    <a:pt x="91440" y="1051560"/>
                  </a:lnTo>
                  <a:lnTo>
                    <a:pt x="45720" y="1039317"/>
                  </a:lnTo>
                  <a:lnTo>
                    <a:pt x="12230" y="1005840"/>
                  </a:lnTo>
                  <a:lnTo>
                    <a:pt x="0" y="960120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91540" y="3395143"/>
            <a:ext cx="3249295" cy="897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225" dirty="0">
                <a:solidFill>
                  <a:srgbClr val="0C9387"/>
                </a:solidFill>
                <a:latin typeface="MingLiU_HKSCS-ExtB"/>
                <a:cs typeface="MingLiU_HKSCS-ExtB"/>
              </a:rPr>
              <a:t>🎯</a:t>
            </a:r>
            <a:r>
              <a:rPr sz="1200" spc="-280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1050" b="1" spc="-10" dirty="0">
                <a:solidFill>
                  <a:srgbClr val="0C9387"/>
                </a:solidFill>
                <a:latin typeface="Calibri"/>
                <a:cs typeface="Calibri"/>
              </a:rPr>
              <a:t>After</a:t>
            </a:r>
            <a:r>
              <a:rPr sz="1050" b="1" spc="-4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C9387"/>
                </a:solidFill>
                <a:latin typeface="Calibri"/>
                <a:cs typeface="Calibri"/>
              </a:rPr>
              <a:t>this</a:t>
            </a:r>
            <a:r>
              <a:rPr sz="10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C9387"/>
                </a:solidFill>
                <a:latin typeface="Calibri"/>
                <a:cs typeface="Calibri"/>
              </a:rPr>
              <a:t>session</a:t>
            </a:r>
            <a:r>
              <a:rPr sz="105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C9387"/>
                </a:solidFill>
                <a:latin typeface="Calibri"/>
                <a:cs typeface="Calibri"/>
              </a:rPr>
              <a:t>you</a:t>
            </a:r>
            <a:r>
              <a:rPr sz="10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C9387"/>
                </a:solidFill>
                <a:latin typeface="Calibri"/>
                <a:cs typeface="Calibri"/>
              </a:rPr>
              <a:t>will</a:t>
            </a:r>
            <a:r>
              <a:rPr sz="1050" b="1" spc="-2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C9387"/>
                </a:solidFill>
                <a:latin typeface="Calibri"/>
                <a:cs typeface="Calibri"/>
              </a:rPr>
              <a:t>be</a:t>
            </a:r>
            <a:r>
              <a:rPr sz="105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C9387"/>
                </a:solidFill>
                <a:latin typeface="Calibri"/>
                <a:cs typeface="Calibri"/>
              </a:rPr>
              <a:t>able</a:t>
            </a:r>
            <a:r>
              <a:rPr sz="10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1050" b="1" spc="-25" dirty="0">
                <a:solidFill>
                  <a:srgbClr val="0C9387"/>
                </a:solidFill>
                <a:latin typeface="Calibri"/>
                <a:cs typeface="Calibri"/>
              </a:rPr>
              <a:t>to:</a:t>
            </a:r>
            <a:endParaRPr sz="1050" dirty="0">
              <a:latin typeface="Calibri"/>
              <a:cs typeface="Calibri"/>
            </a:endParaRPr>
          </a:p>
          <a:p>
            <a:pPr marL="167005" indent="-154305">
              <a:lnSpc>
                <a:spcPct val="100000"/>
              </a:lnSpc>
              <a:spcBef>
                <a:spcPts val="785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Use</a:t>
            </a:r>
            <a:r>
              <a:rPr sz="950" spc="-35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Claude</a:t>
            </a:r>
            <a:r>
              <a:rPr sz="950" spc="-20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Code</a:t>
            </a:r>
            <a:r>
              <a:rPr sz="950" spc="-30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from</a:t>
            </a:r>
            <a:r>
              <a:rPr sz="950" spc="-30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first</a:t>
            </a:r>
            <a:r>
              <a:rPr sz="950" spc="-35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install</a:t>
            </a:r>
            <a:r>
              <a:rPr sz="950" spc="-25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to</a:t>
            </a:r>
            <a:r>
              <a:rPr sz="950" spc="-25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AFC7E7"/>
                </a:solidFill>
                <a:latin typeface="Calibri"/>
                <a:cs typeface="Calibri"/>
              </a:rPr>
              <a:t>production</a:t>
            </a:r>
            <a:r>
              <a:rPr sz="950" spc="-25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AFC7E7"/>
                </a:solidFill>
                <a:latin typeface="Calibri"/>
                <a:cs typeface="Calibri"/>
              </a:rPr>
              <a:t>deployment</a:t>
            </a:r>
            <a:endParaRPr sz="950" dirty="0">
              <a:latin typeface="Calibri"/>
              <a:cs typeface="Calibri"/>
            </a:endParaRPr>
          </a:p>
          <a:p>
            <a:pPr marL="167005" indent="-154305">
              <a:lnSpc>
                <a:spcPct val="100000"/>
              </a:lnSpc>
              <a:spcBef>
                <a:spcPts val="59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Build</a:t>
            </a:r>
            <a:r>
              <a:rPr sz="950" spc="-20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the</a:t>
            </a:r>
            <a:r>
              <a:rPr sz="950" spc="-30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AFC7E7"/>
                </a:solidFill>
                <a:latin typeface="Calibri"/>
                <a:cs typeface="Calibri"/>
              </a:rPr>
              <a:t>WAMY</a:t>
            </a:r>
            <a:r>
              <a:rPr sz="950" spc="-25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Finance</a:t>
            </a:r>
            <a:r>
              <a:rPr sz="950" spc="-30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module</a:t>
            </a:r>
            <a:r>
              <a:rPr sz="950" spc="-20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AFC7E7"/>
                </a:solidFill>
                <a:latin typeface="Calibri"/>
                <a:cs typeface="Calibri"/>
              </a:rPr>
              <a:t>end-to-</a:t>
            </a: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end</a:t>
            </a:r>
            <a:r>
              <a:rPr sz="950" spc="-30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with</a:t>
            </a:r>
            <a:r>
              <a:rPr sz="950" spc="-15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AI</a:t>
            </a:r>
            <a:r>
              <a:rPr sz="950" spc="-20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AFC7E7"/>
                </a:solidFill>
                <a:latin typeface="Calibri"/>
                <a:cs typeface="Calibri"/>
              </a:rPr>
              <a:t>assistance</a:t>
            </a:r>
            <a:endParaRPr sz="950" dirty="0">
              <a:latin typeface="Calibri"/>
              <a:cs typeface="Calibri"/>
            </a:endParaRPr>
          </a:p>
          <a:p>
            <a:pPr marL="167005" indent="-154305">
              <a:lnSpc>
                <a:spcPct val="100000"/>
              </a:lnSpc>
              <a:spcBef>
                <a:spcPts val="59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Apply AI</a:t>
            </a:r>
            <a:r>
              <a:rPr sz="950" spc="-10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to </a:t>
            </a:r>
            <a:r>
              <a:rPr sz="950" spc="-10" dirty="0">
                <a:solidFill>
                  <a:srgbClr val="AFC7E7"/>
                </a:solidFill>
                <a:latin typeface="Calibri"/>
                <a:cs typeface="Calibri"/>
              </a:rPr>
              <a:t>architecture,</a:t>
            </a: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AFC7E7"/>
                </a:solidFill>
                <a:latin typeface="Calibri"/>
                <a:cs typeface="Calibri"/>
              </a:rPr>
              <a:t>security,</a:t>
            </a: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 DB</a:t>
            </a:r>
            <a:r>
              <a:rPr sz="950" spc="5" dirty="0">
                <a:solidFill>
                  <a:srgbClr val="AFC7E7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AFC7E7"/>
                </a:solidFill>
                <a:latin typeface="Calibri"/>
                <a:cs typeface="Calibri"/>
              </a:rPr>
              <a:t>optimisation,</a:t>
            </a:r>
            <a:r>
              <a:rPr sz="950" dirty="0">
                <a:solidFill>
                  <a:srgbClr val="AFC7E7"/>
                </a:solidFill>
                <a:latin typeface="Calibri"/>
                <a:cs typeface="Calibri"/>
              </a:rPr>
              <a:t> and </a:t>
            </a:r>
            <a:r>
              <a:rPr sz="950" spc="-10" dirty="0">
                <a:solidFill>
                  <a:srgbClr val="AFC7E7"/>
                </a:solidFill>
                <a:latin typeface="Calibri"/>
                <a:cs typeface="Calibri"/>
              </a:rPr>
              <a:t>testing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-2" y="4594293"/>
            <a:ext cx="6019801" cy="380342"/>
          </a:xfrm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89940" algn="l">
              <a:lnSpc>
                <a:spcPct val="100000"/>
              </a:lnSpc>
              <a:spcBef>
                <a:spcPts val="60"/>
              </a:spcBef>
            </a:pPr>
            <a:r>
              <a:rPr lang="en-US" sz="1200" b="1" spc="-25" dirty="0"/>
              <a:t>Tahajjat</a:t>
            </a:r>
            <a:r>
              <a:rPr lang="en-US" sz="1000" b="1" spc="-25" dirty="0"/>
              <a:t> </a:t>
            </a:r>
            <a:r>
              <a:rPr lang="en-US" sz="1200" b="1" spc="-25" dirty="0"/>
              <a:t>Tuhin </a:t>
            </a:r>
            <a:r>
              <a:rPr lang="en-US" sz="1200" b="1" spc="-10" dirty="0">
                <a:solidFill>
                  <a:srgbClr val="465468"/>
                </a:solidFill>
              </a:rPr>
              <a:t> </a:t>
            </a:r>
            <a:r>
              <a:rPr lang="en-US" sz="1200" b="1" dirty="0">
                <a:solidFill>
                  <a:srgbClr val="465468"/>
                </a:solidFill>
              </a:rPr>
              <a:t>·</a:t>
            </a:r>
            <a:r>
              <a:rPr lang="en-US" sz="1000" b="1" dirty="0">
                <a:solidFill>
                  <a:srgbClr val="465468"/>
                </a:solidFill>
              </a:rPr>
              <a:t> </a:t>
            </a:r>
            <a:r>
              <a:rPr lang="en-US" sz="1000" b="1" spc="-25" dirty="0"/>
              <a:t>    </a:t>
            </a:r>
            <a:r>
              <a:rPr lang="en-US" sz="1200" b="1" dirty="0"/>
              <a:t>linkedin.com/in/</a:t>
            </a:r>
            <a:r>
              <a:rPr lang="en-US" sz="1200" b="1" dirty="0" err="1"/>
              <a:t>tahajjat</a:t>
            </a:r>
            <a:endParaRPr sz="1200" b="1" spc="-25" dirty="0"/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E11E67E4-9D03-FB53-A805-067E7702E28B}"/>
              </a:ext>
            </a:extLst>
          </p:cNvPr>
          <p:cNvSpPr txBox="1">
            <a:spLocks/>
          </p:cNvSpPr>
          <p:nvPr/>
        </p:nvSpPr>
        <p:spPr>
          <a:xfrm>
            <a:off x="7620000" y="4664272"/>
            <a:ext cx="1368121" cy="380342"/>
          </a:xfrm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>
            <a:defPPr>
              <a:defRPr kern="0"/>
            </a:defPPr>
            <a:lvl1pPr>
              <a:defRPr sz="8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789940">
              <a:spcBef>
                <a:spcPts val="60"/>
              </a:spcBef>
            </a:pPr>
            <a:r>
              <a:rPr lang="en-US" sz="1200" b="1" dirty="0"/>
              <a:t>V1.0 </a:t>
            </a:r>
            <a:endParaRPr lang="en-US" sz="1200" b="1"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20" dirty="0"/>
              <a:t>Session</a:t>
            </a:r>
            <a:r>
              <a:rPr spc="-40" dirty="0"/>
              <a:t> </a:t>
            </a:r>
            <a:r>
              <a:rPr spc="-10" dirty="0"/>
              <a:t>Roadmap</a:t>
            </a:r>
            <a:r>
              <a:rPr spc="-35" dirty="0"/>
              <a:t> </a:t>
            </a:r>
            <a:r>
              <a:rPr dirty="0"/>
              <a:t>—</a:t>
            </a:r>
            <a:r>
              <a:rPr spc="-50" dirty="0"/>
              <a:t> </a:t>
            </a:r>
            <a:r>
              <a:rPr dirty="0"/>
              <a:t>80</a:t>
            </a:r>
            <a:r>
              <a:rPr spc="-40" dirty="0"/>
              <a:t> </a:t>
            </a:r>
            <a:r>
              <a:rPr dirty="0"/>
              <a:t>Slides</a:t>
            </a:r>
            <a:r>
              <a:rPr spc="-4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9</a:t>
            </a:r>
            <a:r>
              <a:rPr spc="-40" dirty="0"/>
              <a:t> </a:t>
            </a:r>
            <a:r>
              <a:rPr spc="-10" dirty="0"/>
              <a:t>Sections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70740" y="676526"/>
            <a:ext cx="376243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000" i="1" spc="-60" dirty="0">
                <a:solidFill>
                  <a:srgbClr val="9FBFFF"/>
                </a:solidFill>
                <a:latin typeface="+mn-lt"/>
                <a:cs typeface="Arial"/>
              </a:rPr>
              <a:t>Full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lang="en-US" sz="1000" i="1" spc="-30" dirty="0">
                <a:solidFill>
                  <a:srgbClr val="9FBFFF"/>
                </a:solidFill>
                <a:latin typeface="+mn-lt"/>
                <a:cs typeface="Arial"/>
              </a:rPr>
              <a:t>SDLC Coverage</a:t>
            </a: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95" dirty="0">
                <a:solidFill>
                  <a:srgbClr val="9FBFFF"/>
                </a:solidFill>
                <a:latin typeface="+mn-lt"/>
                <a:cs typeface="Arial"/>
              </a:rPr>
              <a:t>·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+mn-lt"/>
                <a:cs typeface="Arial"/>
              </a:rPr>
              <a:t>WAMY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25" dirty="0">
                <a:solidFill>
                  <a:srgbClr val="9FBFFF"/>
                </a:solidFill>
                <a:latin typeface="+mn-lt"/>
                <a:cs typeface="Arial"/>
              </a:rPr>
              <a:t>NGO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70" dirty="0">
                <a:solidFill>
                  <a:srgbClr val="9FBFFF"/>
                </a:solidFill>
                <a:latin typeface="+mn-lt"/>
                <a:cs typeface="Arial"/>
              </a:rPr>
              <a:t>Finance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Module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throughout</a:t>
            </a:r>
            <a:endParaRPr sz="1000" dirty="0">
              <a:latin typeface="+mn-lt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2646" y="1065227"/>
            <a:ext cx="4506836" cy="867257"/>
            <a:chOff x="242646" y="1065227"/>
            <a:chExt cx="4506836" cy="867257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65227"/>
              <a:ext cx="4506836" cy="86725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19684" y="1142278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4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567359"/>
                  </a:lnTo>
                  <a:lnTo>
                    <a:pt x="939" y="581789"/>
                  </a:lnTo>
                  <a:lnTo>
                    <a:pt x="14757" y="622439"/>
                  </a:lnTo>
                  <a:lnTo>
                    <a:pt x="43003" y="654386"/>
                  </a:lnTo>
                  <a:lnTo>
                    <a:pt x="81359" y="673428"/>
                  </a:lnTo>
                  <a:lnTo>
                    <a:pt x="109791" y="677164"/>
                  </a:lnTo>
                  <a:lnTo>
                    <a:pt x="4206595" y="677164"/>
                  </a:lnTo>
                  <a:lnTo>
                    <a:pt x="4248666" y="668811"/>
                  </a:lnTo>
                  <a:lnTo>
                    <a:pt x="4284169" y="644985"/>
                  </a:lnTo>
                  <a:lnTo>
                    <a:pt x="4307966" y="609431"/>
                  </a:lnTo>
                  <a:lnTo>
                    <a:pt x="4316399" y="567359"/>
                  </a:lnTo>
                  <a:lnTo>
                    <a:pt x="4316376" y="109804"/>
                  </a:lnTo>
                  <a:lnTo>
                    <a:pt x="4308041" y="68095"/>
                  </a:lnTo>
                  <a:lnTo>
                    <a:pt x="4284175" y="32535"/>
                  </a:lnTo>
                  <a:lnTo>
                    <a:pt x="4248516" y="8721"/>
                  </a:lnTo>
                  <a:lnTo>
                    <a:pt x="4206595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9684" y="1142278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4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206595" y="368"/>
                  </a:lnTo>
                  <a:lnTo>
                    <a:pt x="4248516" y="8721"/>
                  </a:lnTo>
                  <a:lnTo>
                    <a:pt x="4284175" y="32535"/>
                  </a:lnTo>
                  <a:lnTo>
                    <a:pt x="4308041" y="68095"/>
                  </a:lnTo>
                  <a:lnTo>
                    <a:pt x="4316399" y="110159"/>
                  </a:lnTo>
                  <a:lnTo>
                    <a:pt x="4316399" y="567359"/>
                  </a:lnTo>
                  <a:lnTo>
                    <a:pt x="4315459" y="581784"/>
                  </a:lnTo>
                  <a:lnTo>
                    <a:pt x="4312662" y="595803"/>
                  </a:lnTo>
                  <a:lnTo>
                    <a:pt x="4293616" y="634153"/>
                  </a:lnTo>
                  <a:lnTo>
                    <a:pt x="4261675" y="662406"/>
                  </a:lnTo>
                  <a:lnTo>
                    <a:pt x="4221025" y="676224"/>
                  </a:lnTo>
                  <a:lnTo>
                    <a:pt x="4206595" y="677164"/>
                  </a:lnTo>
                  <a:lnTo>
                    <a:pt x="109791" y="677164"/>
                  </a:lnTo>
                  <a:lnTo>
                    <a:pt x="67882" y="668811"/>
                  </a:lnTo>
                  <a:lnTo>
                    <a:pt x="32213" y="644985"/>
                  </a:lnTo>
                  <a:lnTo>
                    <a:pt x="8352" y="609431"/>
                  </a:lnTo>
                  <a:lnTo>
                    <a:pt x="0" y="56735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9684" y="1142278"/>
              <a:ext cx="476250" cy="677545"/>
            </a:xfrm>
            <a:custGeom>
              <a:avLst/>
              <a:gdLst/>
              <a:ahLst/>
              <a:cxnLst/>
              <a:rect l="l" t="t" r="r" b="b"/>
              <a:pathLst>
                <a:path w="476250" h="677544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567359"/>
                  </a:lnTo>
                  <a:lnTo>
                    <a:pt x="939" y="581789"/>
                  </a:lnTo>
                  <a:lnTo>
                    <a:pt x="14757" y="622439"/>
                  </a:lnTo>
                  <a:lnTo>
                    <a:pt x="43003" y="654386"/>
                  </a:lnTo>
                  <a:lnTo>
                    <a:pt x="81359" y="673428"/>
                  </a:lnTo>
                  <a:lnTo>
                    <a:pt x="109791" y="677164"/>
                  </a:lnTo>
                  <a:lnTo>
                    <a:pt x="366115" y="677164"/>
                  </a:lnTo>
                  <a:lnTo>
                    <a:pt x="408186" y="668811"/>
                  </a:lnTo>
                  <a:lnTo>
                    <a:pt x="443689" y="644985"/>
                  </a:lnTo>
                  <a:lnTo>
                    <a:pt x="467486" y="609431"/>
                  </a:lnTo>
                  <a:lnTo>
                    <a:pt x="467561" y="609281"/>
                  </a:lnTo>
                  <a:lnTo>
                    <a:pt x="472167" y="595847"/>
                  </a:lnTo>
                  <a:lnTo>
                    <a:pt x="474978" y="581789"/>
                  </a:lnTo>
                  <a:lnTo>
                    <a:pt x="475919" y="567359"/>
                  </a:lnTo>
                  <a:lnTo>
                    <a:pt x="475896" y="109804"/>
                  </a:lnTo>
                  <a:lnTo>
                    <a:pt x="467561" y="68095"/>
                  </a:lnTo>
                  <a:lnTo>
                    <a:pt x="443695" y="32535"/>
                  </a:lnTo>
                  <a:lnTo>
                    <a:pt x="408036" y="8721"/>
                  </a:lnTo>
                  <a:lnTo>
                    <a:pt x="366115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54939" y="136142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74744" y="1220662"/>
            <a:ext cx="46609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93A2B7"/>
                </a:solidFill>
                <a:latin typeface="Calibri"/>
                <a:cs typeface="Calibri"/>
              </a:rPr>
              <a:t>Slides</a:t>
            </a:r>
            <a:r>
              <a:rPr sz="850" spc="1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3A2B7"/>
                </a:solidFill>
                <a:latin typeface="Calibri"/>
                <a:cs typeface="Calibri"/>
              </a:rPr>
              <a:t>3–</a:t>
            </a:r>
            <a:r>
              <a:rPr sz="850" spc="-50" dirty="0">
                <a:solidFill>
                  <a:srgbClr val="93A2B7"/>
                </a:solidFill>
                <a:latin typeface="Calibri"/>
                <a:cs typeface="Calibri"/>
              </a:rPr>
              <a:t>8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3975" y="1219583"/>
            <a:ext cx="1742439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What</a:t>
            </a:r>
            <a:r>
              <a:rPr sz="110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is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Claude</a:t>
            </a:r>
            <a:r>
              <a:rPr sz="110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Code?</a:t>
            </a:r>
            <a:endParaRPr lang="en-US"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lang="en-US" sz="850" spc="-10" dirty="0">
                <a:solidFill>
                  <a:srgbClr val="465468"/>
                </a:solidFill>
                <a:latin typeface="Calibri"/>
                <a:cs typeface="Calibri"/>
              </a:rPr>
              <a:t>Overview </a:t>
            </a:r>
            <a:r>
              <a:rPr lang="en-US"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lang="en-US"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lang="en-US" sz="850" dirty="0">
                <a:solidFill>
                  <a:srgbClr val="465468"/>
                </a:solidFill>
                <a:latin typeface="Calibri"/>
                <a:cs typeface="Calibri"/>
              </a:rPr>
              <a:t>Chat</a:t>
            </a:r>
            <a:r>
              <a:rPr lang="en-US"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lang="en-US" sz="850" dirty="0">
                <a:solidFill>
                  <a:srgbClr val="465468"/>
                </a:solidFill>
                <a:latin typeface="Calibri"/>
                <a:cs typeface="Calibri"/>
              </a:rPr>
              <a:t>vs</a:t>
            </a:r>
            <a:r>
              <a:rPr lang="en-US"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lang="en-US" sz="850" dirty="0">
                <a:solidFill>
                  <a:srgbClr val="465468"/>
                </a:solidFill>
                <a:latin typeface="Calibri"/>
                <a:cs typeface="Calibri"/>
              </a:rPr>
              <a:t>Agent</a:t>
            </a:r>
            <a:r>
              <a:rPr lang="en-US"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lang="en-US"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lang="en-US" sz="850" spc="-10" dirty="0">
                <a:solidFill>
                  <a:srgbClr val="465468"/>
                </a:solidFill>
                <a:latin typeface="Calibri"/>
                <a:cs typeface="Calibri"/>
              </a:rPr>
              <a:t> Install </a:t>
            </a:r>
            <a:r>
              <a:rPr lang="en-US"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lang="en-US"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lang="en-US" sz="850" spc="-20" dirty="0">
                <a:solidFill>
                  <a:srgbClr val="465468"/>
                </a:solidFill>
                <a:latin typeface="Calibri"/>
                <a:cs typeface="Calibri"/>
              </a:rPr>
              <a:t>Auth</a:t>
            </a:r>
            <a:endParaRPr lang="en-US" sz="850" dirty="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41557" y="1065227"/>
            <a:ext cx="4402455" cy="867410"/>
            <a:chOff x="4741557" y="1065227"/>
            <a:chExt cx="4402455" cy="86741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557" y="1065227"/>
              <a:ext cx="4402074" cy="86725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818596" y="1142278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4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67359"/>
                  </a:lnTo>
                  <a:lnTo>
                    <a:pt x="939" y="581789"/>
                  </a:lnTo>
                  <a:lnTo>
                    <a:pt x="14770" y="622439"/>
                  </a:lnTo>
                  <a:lnTo>
                    <a:pt x="22686" y="634153"/>
                  </a:lnTo>
                  <a:lnTo>
                    <a:pt x="22788" y="634303"/>
                  </a:lnTo>
                  <a:lnTo>
                    <a:pt x="55079" y="662406"/>
                  </a:lnTo>
                  <a:lnTo>
                    <a:pt x="95379" y="676224"/>
                  </a:lnTo>
                  <a:lnTo>
                    <a:pt x="109804" y="677164"/>
                  </a:lnTo>
                  <a:lnTo>
                    <a:pt x="4206608" y="677164"/>
                  </a:lnTo>
                  <a:lnTo>
                    <a:pt x="4248672" y="668811"/>
                  </a:lnTo>
                  <a:lnTo>
                    <a:pt x="4284181" y="644985"/>
                  </a:lnTo>
                  <a:lnTo>
                    <a:pt x="4307971" y="609431"/>
                  </a:lnTo>
                  <a:lnTo>
                    <a:pt x="4316399" y="567359"/>
                  </a:lnTo>
                  <a:lnTo>
                    <a:pt x="4316376" y="109804"/>
                  </a:lnTo>
                  <a:lnTo>
                    <a:pt x="4308046" y="68095"/>
                  </a:lnTo>
                  <a:lnTo>
                    <a:pt x="4284186" y="32535"/>
                  </a:lnTo>
                  <a:lnTo>
                    <a:pt x="4248517" y="8721"/>
                  </a:lnTo>
                  <a:lnTo>
                    <a:pt x="4206608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18596" y="1142278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4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206608" y="368"/>
                  </a:lnTo>
                  <a:lnTo>
                    <a:pt x="4248517" y="8721"/>
                  </a:lnTo>
                  <a:lnTo>
                    <a:pt x="4284186" y="32535"/>
                  </a:lnTo>
                  <a:lnTo>
                    <a:pt x="4308046" y="68095"/>
                  </a:lnTo>
                  <a:lnTo>
                    <a:pt x="4316399" y="110159"/>
                  </a:lnTo>
                  <a:lnTo>
                    <a:pt x="4316399" y="567359"/>
                  </a:lnTo>
                  <a:lnTo>
                    <a:pt x="4315460" y="581784"/>
                  </a:lnTo>
                  <a:lnTo>
                    <a:pt x="4312664" y="595803"/>
                  </a:lnTo>
                  <a:lnTo>
                    <a:pt x="4293629" y="634153"/>
                  </a:lnTo>
                  <a:lnTo>
                    <a:pt x="4261688" y="662406"/>
                  </a:lnTo>
                  <a:lnTo>
                    <a:pt x="4221031" y="676224"/>
                  </a:lnTo>
                  <a:lnTo>
                    <a:pt x="4206608" y="677164"/>
                  </a:lnTo>
                  <a:lnTo>
                    <a:pt x="109804" y="677164"/>
                  </a:lnTo>
                  <a:lnTo>
                    <a:pt x="67882" y="668811"/>
                  </a:lnTo>
                  <a:lnTo>
                    <a:pt x="32224" y="644985"/>
                  </a:lnTo>
                  <a:lnTo>
                    <a:pt x="8358" y="609431"/>
                  </a:lnTo>
                  <a:lnTo>
                    <a:pt x="0" y="56735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18596" y="1142278"/>
              <a:ext cx="476250" cy="677545"/>
            </a:xfrm>
            <a:custGeom>
              <a:avLst/>
              <a:gdLst/>
              <a:ahLst/>
              <a:cxnLst/>
              <a:rect l="l" t="t" r="r" b="b"/>
              <a:pathLst>
                <a:path w="476250" h="677544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67359"/>
                  </a:lnTo>
                  <a:lnTo>
                    <a:pt x="939" y="581789"/>
                  </a:lnTo>
                  <a:lnTo>
                    <a:pt x="14770" y="622439"/>
                  </a:lnTo>
                  <a:lnTo>
                    <a:pt x="22686" y="634153"/>
                  </a:lnTo>
                  <a:lnTo>
                    <a:pt x="22788" y="634303"/>
                  </a:lnTo>
                  <a:lnTo>
                    <a:pt x="55079" y="662406"/>
                  </a:lnTo>
                  <a:lnTo>
                    <a:pt x="95379" y="676224"/>
                  </a:lnTo>
                  <a:lnTo>
                    <a:pt x="109804" y="677164"/>
                  </a:lnTo>
                  <a:lnTo>
                    <a:pt x="366128" y="677164"/>
                  </a:lnTo>
                  <a:lnTo>
                    <a:pt x="408192" y="668811"/>
                  </a:lnTo>
                  <a:lnTo>
                    <a:pt x="443701" y="644985"/>
                  </a:lnTo>
                  <a:lnTo>
                    <a:pt x="467491" y="609431"/>
                  </a:lnTo>
                  <a:lnTo>
                    <a:pt x="467566" y="609281"/>
                  </a:lnTo>
                  <a:lnTo>
                    <a:pt x="472169" y="595847"/>
                  </a:lnTo>
                  <a:lnTo>
                    <a:pt x="474979" y="581789"/>
                  </a:lnTo>
                  <a:lnTo>
                    <a:pt x="475919" y="567359"/>
                  </a:lnTo>
                  <a:lnTo>
                    <a:pt x="475896" y="109804"/>
                  </a:lnTo>
                  <a:lnTo>
                    <a:pt x="467566" y="68095"/>
                  </a:lnTo>
                  <a:lnTo>
                    <a:pt x="443706" y="32535"/>
                  </a:lnTo>
                  <a:lnTo>
                    <a:pt x="408037" y="8721"/>
                  </a:lnTo>
                  <a:lnTo>
                    <a:pt x="366128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953863" y="136142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18576" y="1220662"/>
            <a:ext cx="51943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93A2B7"/>
                </a:solidFill>
                <a:latin typeface="Calibri"/>
                <a:cs typeface="Calibri"/>
              </a:rPr>
              <a:t>Slides</a:t>
            </a:r>
            <a:r>
              <a:rPr sz="850" spc="1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3A2B7"/>
                </a:solidFill>
                <a:latin typeface="Calibri"/>
                <a:cs typeface="Calibri"/>
              </a:rPr>
              <a:t>9–</a:t>
            </a:r>
            <a:r>
              <a:rPr sz="850" spc="-25" dirty="0">
                <a:solidFill>
                  <a:srgbClr val="93A2B7"/>
                </a:solidFill>
                <a:latin typeface="Calibri"/>
                <a:cs typeface="Calibri"/>
              </a:rPr>
              <a:t>15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72899" y="1219583"/>
            <a:ext cx="195453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Setup</a:t>
            </a:r>
            <a:r>
              <a:rPr sz="1100" b="1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&amp;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First</a:t>
            </a:r>
            <a:r>
              <a:rPr sz="1100" b="1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Steps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CLI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VS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Code ·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/init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CLAUDE.md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Workflow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42646" y="1815111"/>
            <a:ext cx="4507230" cy="867410"/>
            <a:chOff x="242646" y="1815111"/>
            <a:chExt cx="4507230" cy="86741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815111"/>
              <a:ext cx="4506836" cy="86688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19684" y="1892162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4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567359"/>
                  </a:lnTo>
                  <a:lnTo>
                    <a:pt x="939" y="581789"/>
                  </a:lnTo>
                  <a:lnTo>
                    <a:pt x="3735" y="595847"/>
                  </a:lnTo>
                  <a:lnTo>
                    <a:pt x="8301" y="609281"/>
                  </a:lnTo>
                  <a:lnTo>
                    <a:pt x="8352" y="609431"/>
                  </a:lnTo>
                  <a:lnTo>
                    <a:pt x="32213" y="644983"/>
                  </a:lnTo>
                  <a:lnTo>
                    <a:pt x="67882" y="668805"/>
                  </a:lnTo>
                  <a:lnTo>
                    <a:pt x="109791" y="677163"/>
                  </a:lnTo>
                  <a:lnTo>
                    <a:pt x="4206595" y="677163"/>
                  </a:lnTo>
                  <a:lnTo>
                    <a:pt x="4248666" y="668805"/>
                  </a:lnTo>
                  <a:lnTo>
                    <a:pt x="4284169" y="644983"/>
                  </a:lnTo>
                  <a:lnTo>
                    <a:pt x="4307966" y="609431"/>
                  </a:lnTo>
                  <a:lnTo>
                    <a:pt x="4308041" y="609281"/>
                  </a:lnTo>
                  <a:lnTo>
                    <a:pt x="4312647" y="595847"/>
                  </a:lnTo>
                  <a:lnTo>
                    <a:pt x="4315458" y="581789"/>
                  </a:lnTo>
                  <a:lnTo>
                    <a:pt x="4316399" y="567359"/>
                  </a:lnTo>
                  <a:lnTo>
                    <a:pt x="4316376" y="109804"/>
                  </a:lnTo>
                  <a:lnTo>
                    <a:pt x="4308041" y="68088"/>
                  </a:lnTo>
                  <a:lnTo>
                    <a:pt x="4284175" y="32535"/>
                  </a:lnTo>
                  <a:lnTo>
                    <a:pt x="4248516" y="8713"/>
                  </a:lnTo>
                  <a:lnTo>
                    <a:pt x="4206595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9684" y="1892162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4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206595" y="355"/>
                  </a:lnTo>
                  <a:lnTo>
                    <a:pt x="4248516" y="8713"/>
                  </a:lnTo>
                  <a:lnTo>
                    <a:pt x="4284175" y="32535"/>
                  </a:lnTo>
                  <a:lnTo>
                    <a:pt x="4308041" y="68088"/>
                  </a:lnTo>
                  <a:lnTo>
                    <a:pt x="4316399" y="110159"/>
                  </a:lnTo>
                  <a:lnTo>
                    <a:pt x="4316399" y="567359"/>
                  </a:lnTo>
                  <a:lnTo>
                    <a:pt x="4315459" y="581784"/>
                  </a:lnTo>
                  <a:lnTo>
                    <a:pt x="4312662" y="595803"/>
                  </a:lnTo>
                  <a:lnTo>
                    <a:pt x="4293616" y="634152"/>
                  </a:lnTo>
                  <a:lnTo>
                    <a:pt x="4261675" y="662393"/>
                  </a:lnTo>
                  <a:lnTo>
                    <a:pt x="4221025" y="676224"/>
                  </a:lnTo>
                  <a:lnTo>
                    <a:pt x="4206595" y="677163"/>
                  </a:lnTo>
                  <a:lnTo>
                    <a:pt x="109791" y="677163"/>
                  </a:lnTo>
                  <a:lnTo>
                    <a:pt x="67882" y="668805"/>
                  </a:lnTo>
                  <a:lnTo>
                    <a:pt x="32213" y="644983"/>
                  </a:lnTo>
                  <a:lnTo>
                    <a:pt x="8352" y="609431"/>
                  </a:lnTo>
                  <a:lnTo>
                    <a:pt x="0" y="56735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9684" y="1892162"/>
              <a:ext cx="476250" cy="677545"/>
            </a:xfrm>
            <a:custGeom>
              <a:avLst/>
              <a:gdLst/>
              <a:ahLst/>
              <a:cxnLst/>
              <a:rect l="l" t="t" r="r" b="b"/>
              <a:pathLst>
                <a:path w="476250" h="677544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567359"/>
                  </a:lnTo>
                  <a:lnTo>
                    <a:pt x="939" y="581789"/>
                  </a:lnTo>
                  <a:lnTo>
                    <a:pt x="3735" y="595847"/>
                  </a:lnTo>
                  <a:lnTo>
                    <a:pt x="8301" y="609281"/>
                  </a:lnTo>
                  <a:lnTo>
                    <a:pt x="8352" y="609431"/>
                  </a:lnTo>
                  <a:lnTo>
                    <a:pt x="32213" y="644983"/>
                  </a:lnTo>
                  <a:lnTo>
                    <a:pt x="67882" y="668805"/>
                  </a:lnTo>
                  <a:lnTo>
                    <a:pt x="109791" y="677163"/>
                  </a:lnTo>
                  <a:lnTo>
                    <a:pt x="366115" y="677163"/>
                  </a:lnTo>
                  <a:lnTo>
                    <a:pt x="408186" y="668805"/>
                  </a:lnTo>
                  <a:lnTo>
                    <a:pt x="443689" y="644983"/>
                  </a:lnTo>
                  <a:lnTo>
                    <a:pt x="467486" y="609431"/>
                  </a:lnTo>
                  <a:lnTo>
                    <a:pt x="467561" y="609281"/>
                  </a:lnTo>
                  <a:lnTo>
                    <a:pt x="472167" y="595847"/>
                  </a:lnTo>
                  <a:lnTo>
                    <a:pt x="474978" y="581789"/>
                  </a:lnTo>
                  <a:lnTo>
                    <a:pt x="475919" y="567359"/>
                  </a:lnTo>
                  <a:lnTo>
                    <a:pt x="475896" y="109804"/>
                  </a:lnTo>
                  <a:lnTo>
                    <a:pt x="467561" y="68088"/>
                  </a:lnTo>
                  <a:lnTo>
                    <a:pt x="443695" y="32535"/>
                  </a:lnTo>
                  <a:lnTo>
                    <a:pt x="408036" y="8713"/>
                  </a:lnTo>
                  <a:lnTo>
                    <a:pt x="366115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54939" y="2111300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64940" y="1970546"/>
            <a:ext cx="57404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93A2B7"/>
                </a:solidFill>
                <a:latin typeface="Calibri"/>
                <a:cs typeface="Calibri"/>
              </a:rPr>
              <a:t>Slides</a:t>
            </a:r>
            <a:r>
              <a:rPr sz="850" spc="4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93A2B7"/>
                </a:solidFill>
                <a:latin typeface="Calibri"/>
                <a:cs typeface="Calibri"/>
              </a:rPr>
              <a:t>16–</a:t>
            </a:r>
            <a:r>
              <a:rPr sz="850" spc="-25" dirty="0">
                <a:solidFill>
                  <a:srgbClr val="93A2B7"/>
                </a:solidFill>
                <a:latin typeface="Calibri"/>
                <a:cs typeface="Calibri"/>
              </a:rPr>
              <a:t>22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73975" y="1969467"/>
            <a:ext cx="208978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Project</a:t>
            </a:r>
            <a:r>
              <a:rPr sz="1100" b="1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Planning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BRD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FRS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User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Stories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Sprint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Plan ·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Roadmap</a:t>
            </a:r>
            <a:endParaRPr sz="850" dirty="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41557" y="1815111"/>
            <a:ext cx="4402455" cy="867410"/>
            <a:chOff x="4741557" y="1815111"/>
            <a:chExt cx="4402455" cy="867410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557" y="1815111"/>
              <a:ext cx="4402074" cy="86688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818596" y="1892162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4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67359"/>
                  </a:lnTo>
                  <a:lnTo>
                    <a:pt x="939" y="581789"/>
                  </a:lnTo>
                  <a:lnTo>
                    <a:pt x="14770" y="622439"/>
                  </a:lnTo>
                  <a:lnTo>
                    <a:pt x="22686" y="634152"/>
                  </a:lnTo>
                  <a:lnTo>
                    <a:pt x="22788" y="634302"/>
                  </a:lnTo>
                  <a:lnTo>
                    <a:pt x="55079" y="662393"/>
                  </a:lnTo>
                  <a:lnTo>
                    <a:pt x="95379" y="676224"/>
                  </a:lnTo>
                  <a:lnTo>
                    <a:pt x="109804" y="677163"/>
                  </a:lnTo>
                  <a:lnTo>
                    <a:pt x="4206608" y="677163"/>
                  </a:lnTo>
                  <a:lnTo>
                    <a:pt x="4248672" y="668805"/>
                  </a:lnTo>
                  <a:lnTo>
                    <a:pt x="4284181" y="644983"/>
                  </a:lnTo>
                  <a:lnTo>
                    <a:pt x="4307971" y="609431"/>
                  </a:lnTo>
                  <a:lnTo>
                    <a:pt x="4316399" y="567359"/>
                  </a:lnTo>
                  <a:lnTo>
                    <a:pt x="4316376" y="109804"/>
                  </a:lnTo>
                  <a:lnTo>
                    <a:pt x="4308046" y="68088"/>
                  </a:lnTo>
                  <a:lnTo>
                    <a:pt x="4284186" y="32535"/>
                  </a:lnTo>
                  <a:lnTo>
                    <a:pt x="4248517" y="8713"/>
                  </a:lnTo>
                  <a:lnTo>
                    <a:pt x="4206608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18596" y="1892162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4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206608" y="355"/>
                  </a:lnTo>
                  <a:lnTo>
                    <a:pt x="4248517" y="8713"/>
                  </a:lnTo>
                  <a:lnTo>
                    <a:pt x="4284186" y="32535"/>
                  </a:lnTo>
                  <a:lnTo>
                    <a:pt x="4308046" y="68088"/>
                  </a:lnTo>
                  <a:lnTo>
                    <a:pt x="4316399" y="110159"/>
                  </a:lnTo>
                  <a:lnTo>
                    <a:pt x="4316399" y="567359"/>
                  </a:lnTo>
                  <a:lnTo>
                    <a:pt x="4315460" y="581784"/>
                  </a:lnTo>
                  <a:lnTo>
                    <a:pt x="4312664" y="595803"/>
                  </a:lnTo>
                  <a:lnTo>
                    <a:pt x="4293629" y="634152"/>
                  </a:lnTo>
                  <a:lnTo>
                    <a:pt x="4261688" y="662393"/>
                  </a:lnTo>
                  <a:lnTo>
                    <a:pt x="4221031" y="676224"/>
                  </a:lnTo>
                  <a:lnTo>
                    <a:pt x="4206608" y="677163"/>
                  </a:lnTo>
                  <a:lnTo>
                    <a:pt x="109804" y="677163"/>
                  </a:lnTo>
                  <a:lnTo>
                    <a:pt x="67882" y="668805"/>
                  </a:lnTo>
                  <a:lnTo>
                    <a:pt x="32224" y="644983"/>
                  </a:lnTo>
                  <a:lnTo>
                    <a:pt x="8358" y="609431"/>
                  </a:lnTo>
                  <a:lnTo>
                    <a:pt x="0" y="56735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818596" y="1892162"/>
              <a:ext cx="476250" cy="677545"/>
            </a:xfrm>
            <a:custGeom>
              <a:avLst/>
              <a:gdLst/>
              <a:ahLst/>
              <a:cxnLst/>
              <a:rect l="l" t="t" r="r" b="b"/>
              <a:pathLst>
                <a:path w="476250" h="677544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67359"/>
                  </a:lnTo>
                  <a:lnTo>
                    <a:pt x="939" y="581789"/>
                  </a:lnTo>
                  <a:lnTo>
                    <a:pt x="14770" y="622439"/>
                  </a:lnTo>
                  <a:lnTo>
                    <a:pt x="22686" y="634152"/>
                  </a:lnTo>
                  <a:lnTo>
                    <a:pt x="22788" y="634302"/>
                  </a:lnTo>
                  <a:lnTo>
                    <a:pt x="55079" y="662393"/>
                  </a:lnTo>
                  <a:lnTo>
                    <a:pt x="95379" y="676224"/>
                  </a:lnTo>
                  <a:lnTo>
                    <a:pt x="109804" y="677163"/>
                  </a:lnTo>
                  <a:lnTo>
                    <a:pt x="366128" y="677163"/>
                  </a:lnTo>
                  <a:lnTo>
                    <a:pt x="408192" y="668805"/>
                  </a:lnTo>
                  <a:lnTo>
                    <a:pt x="443701" y="644983"/>
                  </a:lnTo>
                  <a:lnTo>
                    <a:pt x="467491" y="609431"/>
                  </a:lnTo>
                  <a:lnTo>
                    <a:pt x="475919" y="567359"/>
                  </a:lnTo>
                  <a:lnTo>
                    <a:pt x="475896" y="109804"/>
                  </a:lnTo>
                  <a:lnTo>
                    <a:pt x="467566" y="68088"/>
                  </a:lnTo>
                  <a:lnTo>
                    <a:pt x="443706" y="32535"/>
                  </a:lnTo>
                  <a:lnTo>
                    <a:pt x="408037" y="8713"/>
                  </a:lnTo>
                  <a:lnTo>
                    <a:pt x="366128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953863" y="2111300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463863" y="1970546"/>
            <a:ext cx="57404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93A2B7"/>
                </a:solidFill>
                <a:latin typeface="Calibri"/>
                <a:cs typeface="Calibri"/>
              </a:rPr>
              <a:t>Slides</a:t>
            </a:r>
            <a:r>
              <a:rPr sz="850" spc="4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93A2B7"/>
                </a:solidFill>
                <a:latin typeface="Calibri"/>
                <a:cs typeface="Calibri"/>
              </a:rPr>
              <a:t>23–</a:t>
            </a:r>
            <a:r>
              <a:rPr sz="850" spc="-25" dirty="0">
                <a:solidFill>
                  <a:srgbClr val="93A2B7"/>
                </a:solidFill>
                <a:latin typeface="Calibri"/>
                <a:cs typeface="Calibri"/>
              </a:rPr>
              <a:t>30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72899" y="1969467"/>
            <a:ext cx="206756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System</a:t>
            </a:r>
            <a:r>
              <a:rPr sz="1100" b="1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Architecture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C4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ERD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Layers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Domain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Design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Spring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Boot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42646" y="2564995"/>
            <a:ext cx="4507230" cy="867410"/>
            <a:chOff x="242646" y="2564995"/>
            <a:chExt cx="4507230" cy="867410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2564995"/>
              <a:ext cx="4506836" cy="86724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19684" y="2642046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5">
                  <a:moveTo>
                    <a:pt x="110159" y="0"/>
                  </a:moveTo>
                  <a:lnTo>
                    <a:pt x="68088" y="8347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567359"/>
                  </a:lnTo>
                  <a:lnTo>
                    <a:pt x="939" y="581782"/>
                  </a:lnTo>
                  <a:lnTo>
                    <a:pt x="14757" y="622439"/>
                  </a:lnTo>
                  <a:lnTo>
                    <a:pt x="43003" y="654381"/>
                  </a:lnTo>
                  <a:lnTo>
                    <a:pt x="81359" y="673415"/>
                  </a:lnTo>
                  <a:lnTo>
                    <a:pt x="109791" y="677151"/>
                  </a:lnTo>
                  <a:lnTo>
                    <a:pt x="4206595" y="677151"/>
                  </a:lnTo>
                  <a:lnTo>
                    <a:pt x="4248666" y="668798"/>
                  </a:lnTo>
                  <a:lnTo>
                    <a:pt x="4284167" y="644983"/>
                  </a:lnTo>
                  <a:lnTo>
                    <a:pt x="4307963" y="609423"/>
                  </a:lnTo>
                  <a:lnTo>
                    <a:pt x="4316399" y="567359"/>
                  </a:lnTo>
                  <a:lnTo>
                    <a:pt x="4316375" y="109791"/>
                  </a:lnTo>
                  <a:lnTo>
                    <a:pt x="4308041" y="68088"/>
                  </a:lnTo>
                  <a:lnTo>
                    <a:pt x="4284175" y="32534"/>
                  </a:lnTo>
                  <a:lnTo>
                    <a:pt x="4248516" y="8708"/>
                  </a:lnTo>
                  <a:lnTo>
                    <a:pt x="4206595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9684" y="2642046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7"/>
                  </a:lnTo>
                  <a:lnTo>
                    <a:pt x="110159" y="0"/>
                  </a:lnTo>
                  <a:lnTo>
                    <a:pt x="4206595" y="355"/>
                  </a:lnTo>
                  <a:lnTo>
                    <a:pt x="4248516" y="8708"/>
                  </a:lnTo>
                  <a:lnTo>
                    <a:pt x="4284175" y="32534"/>
                  </a:lnTo>
                  <a:lnTo>
                    <a:pt x="4308041" y="68088"/>
                  </a:lnTo>
                  <a:lnTo>
                    <a:pt x="4316399" y="110159"/>
                  </a:lnTo>
                  <a:lnTo>
                    <a:pt x="4316399" y="567359"/>
                  </a:lnTo>
                  <a:lnTo>
                    <a:pt x="4315459" y="581777"/>
                  </a:lnTo>
                  <a:lnTo>
                    <a:pt x="4312662" y="595791"/>
                  </a:lnTo>
                  <a:lnTo>
                    <a:pt x="4293616" y="634147"/>
                  </a:lnTo>
                  <a:lnTo>
                    <a:pt x="4261675" y="662393"/>
                  </a:lnTo>
                  <a:lnTo>
                    <a:pt x="4221025" y="676211"/>
                  </a:lnTo>
                  <a:lnTo>
                    <a:pt x="4206595" y="677151"/>
                  </a:lnTo>
                  <a:lnTo>
                    <a:pt x="109791" y="677151"/>
                  </a:lnTo>
                  <a:lnTo>
                    <a:pt x="67882" y="668798"/>
                  </a:lnTo>
                  <a:lnTo>
                    <a:pt x="32213" y="644983"/>
                  </a:lnTo>
                  <a:lnTo>
                    <a:pt x="8352" y="609423"/>
                  </a:lnTo>
                  <a:lnTo>
                    <a:pt x="0" y="567359"/>
                  </a:lnTo>
                  <a:lnTo>
                    <a:pt x="355" y="10979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19684" y="2642046"/>
              <a:ext cx="476250" cy="677545"/>
            </a:xfrm>
            <a:custGeom>
              <a:avLst/>
              <a:gdLst/>
              <a:ahLst/>
              <a:cxnLst/>
              <a:rect l="l" t="t" r="r" b="b"/>
              <a:pathLst>
                <a:path w="476250" h="677545">
                  <a:moveTo>
                    <a:pt x="110159" y="0"/>
                  </a:moveTo>
                  <a:lnTo>
                    <a:pt x="68088" y="8347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567359"/>
                  </a:lnTo>
                  <a:lnTo>
                    <a:pt x="939" y="581782"/>
                  </a:lnTo>
                  <a:lnTo>
                    <a:pt x="14757" y="622439"/>
                  </a:lnTo>
                  <a:lnTo>
                    <a:pt x="43003" y="654381"/>
                  </a:lnTo>
                  <a:lnTo>
                    <a:pt x="81359" y="673415"/>
                  </a:lnTo>
                  <a:lnTo>
                    <a:pt x="109791" y="677151"/>
                  </a:lnTo>
                  <a:lnTo>
                    <a:pt x="366115" y="677151"/>
                  </a:lnTo>
                  <a:lnTo>
                    <a:pt x="408186" y="668798"/>
                  </a:lnTo>
                  <a:lnTo>
                    <a:pt x="443687" y="644983"/>
                  </a:lnTo>
                  <a:lnTo>
                    <a:pt x="467483" y="609423"/>
                  </a:lnTo>
                  <a:lnTo>
                    <a:pt x="467561" y="609268"/>
                  </a:lnTo>
                  <a:lnTo>
                    <a:pt x="472167" y="595837"/>
                  </a:lnTo>
                  <a:lnTo>
                    <a:pt x="474978" y="581782"/>
                  </a:lnTo>
                  <a:lnTo>
                    <a:pt x="475919" y="567359"/>
                  </a:lnTo>
                  <a:lnTo>
                    <a:pt x="475895" y="109791"/>
                  </a:lnTo>
                  <a:lnTo>
                    <a:pt x="467561" y="68088"/>
                  </a:lnTo>
                  <a:lnTo>
                    <a:pt x="443695" y="32534"/>
                  </a:lnTo>
                  <a:lnTo>
                    <a:pt x="408036" y="8708"/>
                  </a:lnTo>
                  <a:lnTo>
                    <a:pt x="366115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055E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54939" y="2861185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964940" y="2720418"/>
            <a:ext cx="57404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93A2B7"/>
                </a:solidFill>
                <a:latin typeface="Calibri"/>
                <a:cs typeface="Calibri"/>
              </a:rPr>
              <a:t>Slides</a:t>
            </a:r>
            <a:r>
              <a:rPr sz="850" spc="4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93A2B7"/>
                </a:solidFill>
                <a:latin typeface="Calibri"/>
                <a:cs typeface="Calibri"/>
              </a:rPr>
              <a:t>31–</a:t>
            </a:r>
            <a:r>
              <a:rPr sz="850" spc="-25" dirty="0">
                <a:solidFill>
                  <a:srgbClr val="93A2B7"/>
                </a:solidFill>
                <a:latin typeface="Calibri"/>
                <a:cs typeface="Calibri"/>
              </a:rPr>
              <a:t>40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73975" y="2719351"/>
            <a:ext cx="194119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Development</a:t>
            </a:r>
            <a:r>
              <a:rPr sz="1100" b="1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—</a:t>
            </a:r>
            <a:r>
              <a:rPr sz="1100" b="1" spc="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Backend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Spring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Boot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REST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API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Services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JPA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Tests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741557" y="2564995"/>
            <a:ext cx="4402455" cy="867410"/>
            <a:chOff x="4741557" y="2564995"/>
            <a:chExt cx="4402455" cy="867410"/>
          </a:xfrm>
        </p:grpSpPr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557" y="2564995"/>
              <a:ext cx="4402074" cy="86724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818596" y="2642046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5">
                  <a:moveTo>
                    <a:pt x="110159" y="0"/>
                  </a:moveTo>
                  <a:lnTo>
                    <a:pt x="68095" y="8347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67359"/>
                  </a:lnTo>
                  <a:lnTo>
                    <a:pt x="939" y="581782"/>
                  </a:lnTo>
                  <a:lnTo>
                    <a:pt x="3736" y="595837"/>
                  </a:lnTo>
                  <a:lnTo>
                    <a:pt x="8305" y="609268"/>
                  </a:lnTo>
                  <a:lnTo>
                    <a:pt x="8358" y="609423"/>
                  </a:lnTo>
                  <a:lnTo>
                    <a:pt x="14770" y="622439"/>
                  </a:lnTo>
                  <a:lnTo>
                    <a:pt x="22683" y="634147"/>
                  </a:lnTo>
                  <a:lnTo>
                    <a:pt x="22788" y="634302"/>
                  </a:lnTo>
                  <a:lnTo>
                    <a:pt x="55079" y="662393"/>
                  </a:lnTo>
                  <a:lnTo>
                    <a:pt x="95379" y="676211"/>
                  </a:lnTo>
                  <a:lnTo>
                    <a:pt x="109804" y="677151"/>
                  </a:lnTo>
                  <a:lnTo>
                    <a:pt x="4206608" y="677151"/>
                  </a:lnTo>
                  <a:lnTo>
                    <a:pt x="4248672" y="668798"/>
                  </a:lnTo>
                  <a:lnTo>
                    <a:pt x="4284180" y="644983"/>
                  </a:lnTo>
                  <a:lnTo>
                    <a:pt x="4307969" y="609423"/>
                  </a:lnTo>
                  <a:lnTo>
                    <a:pt x="4316399" y="567359"/>
                  </a:lnTo>
                  <a:lnTo>
                    <a:pt x="4316375" y="109791"/>
                  </a:lnTo>
                  <a:lnTo>
                    <a:pt x="4308046" y="68088"/>
                  </a:lnTo>
                  <a:lnTo>
                    <a:pt x="4284186" y="32534"/>
                  </a:lnTo>
                  <a:lnTo>
                    <a:pt x="4248517" y="8708"/>
                  </a:lnTo>
                  <a:lnTo>
                    <a:pt x="4206608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818596" y="2642046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5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7"/>
                  </a:lnTo>
                  <a:lnTo>
                    <a:pt x="110159" y="0"/>
                  </a:lnTo>
                  <a:lnTo>
                    <a:pt x="4206608" y="355"/>
                  </a:lnTo>
                  <a:lnTo>
                    <a:pt x="4248517" y="8708"/>
                  </a:lnTo>
                  <a:lnTo>
                    <a:pt x="4284186" y="32534"/>
                  </a:lnTo>
                  <a:lnTo>
                    <a:pt x="4308046" y="68088"/>
                  </a:lnTo>
                  <a:lnTo>
                    <a:pt x="4316399" y="110159"/>
                  </a:lnTo>
                  <a:lnTo>
                    <a:pt x="4316399" y="567359"/>
                  </a:lnTo>
                  <a:lnTo>
                    <a:pt x="4315460" y="581777"/>
                  </a:lnTo>
                  <a:lnTo>
                    <a:pt x="4312664" y="595791"/>
                  </a:lnTo>
                  <a:lnTo>
                    <a:pt x="4293629" y="634147"/>
                  </a:lnTo>
                  <a:lnTo>
                    <a:pt x="4261688" y="662393"/>
                  </a:lnTo>
                  <a:lnTo>
                    <a:pt x="4221031" y="676211"/>
                  </a:lnTo>
                  <a:lnTo>
                    <a:pt x="4206608" y="677151"/>
                  </a:lnTo>
                  <a:lnTo>
                    <a:pt x="109804" y="677151"/>
                  </a:lnTo>
                  <a:lnTo>
                    <a:pt x="67882" y="668798"/>
                  </a:lnTo>
                  <a:lnTo>
                    <a:pt x="32224" y="644983"/>
                  </a:lnTo>
                  <a:lnTo>
                    <a:pt x="8358" y="609423"/>
                  </a:lnTo>
                  <a:lnTo>
                    <a:pt x="0" y="567359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818596" y="2642046"/>
              <a:ext cx="476250" cy="677545"/>
            </a:xfrm>
            <a:custGeom>
              <a:avLst/>
              <a:gdLst/>
              <a:ahLst/>
              <a:cxnLst/>
              <a:rect l="l" t="t" r="r" b="b"/>
              <a:pathLst>
                <a:path w="476250" h="677545">
                  <a:moveTo>
                    <a:pt x="110159" y="0"/>
                  </a:moveTo>
                  <a:lnTo>
                    <a:pt x="68095" y="8347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67359"/>
                  </a:lnTo>
                  <a:lnTo>
                    <a:pt x="939" y="581782"/>
                  </a:lnTo>
                  <a:lnTo>
                    <a:pt x="3736" y="595837"/>
                  </a:lnTo>
                  <a:lnTo>
                    <a:pt x="8305" y="609268"/>
                  </a:lnTo>
                  <a:lnTo>
                    <a:pt x="8358" y="609423"/>
                  </a:lnTo>
                  <a:lnTo>
                    <a:pt x="14770" y="622439"/>
                  </a:lnTo>
                  <a:lnTo>
                    <a:pt x="22683" y="634147"/>
                  </a:lnTo>
                  <a:lnTo>
                    <a:pt x="22788" y="634302"/>
                  </a:lnTo>
                  <a:lnTo>
                    <a:pt x="55079" y="662393"/>
                  </a:lnTo>
                  <a:lnTo>
                    <a:pt x="95379" y="676211"/>
                  </a:lnTo>
                  <a:lnTo>
                    <a:pt x="109804" y="677151"/>
                  </a:lnTo>
                  <a:lnTo>
                    <a:pt x="366128" y="677151"/>
                  </a:lnTo>
                  <a:lnTo>
                    <a:pt x="408192" y="668798"/>
                  </a:lnTo>
                  <a:lnTo>
                    <a:pt x="443700" y="644983"/>
                  </a:lnTo>
                  <a:lnTo>
                    <a:pt x="467489" y="609423"/>
                  </a:lnTo>
                  <a:lnTo>
                    <a:pt x="475919" y="567359"/>
                  </a:lnTo>
                  <a:lnTo>
                    <a:pt x="475895" y="109791"/>
                  </a:lnTo>
                  <a:lnTo>
                    <a:pt x="467566" y="68088"/>
                  </a:lnTo>
                  <a:lnTo>
                    <a:pt x="443706" y="32534"/>
                  </a:lnTo>
                  <a:lnTo>
                    <a:pt x="408037" y="8708"/>
                  </a:lnTo>
                  <a:lnTo>
                    <a:pt x="366128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57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953863" y="2861185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06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463863" y="2720418"/>
            <a:ext cx="57404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93A2B7"/>
                </a:solidFill>
                <a:latin typeface="Calibri"/>
                <a:cs typeface="Calibri"/>
              </a:rPr>
              <a:t>Slides</a:t>
            </a:r>
            <a:r>
              <a:rPr sz="850" spc="4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93A2B7"/>
                </a:solidFill>
                <a:latin typeface="Calibri"/>
                <a:cs typeface="Calibri"/>
              </a:rPr>
              <a:t>41–</a:t>
            </a:r>
            <a:r>
              <a:rPr sz="850" spc="-25" dirty="0">
                <a:solidFill>
                  <a:srgbClr val="93A2B7"/>
                </a:solidFill>
                <a:latin typeface="Calibri"/>
                <a:cs typeface="Calibri"/>
              </a:rPr>
              <a:t>48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372899" y="2719351"/>
            <a:ext cx="209550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Development</a:t>
            </a:r>
            <a:r>
              <a:rPr sz="1100" b="1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—</a:t>
            </a:r>
            <a:r>
              <a:rPr sz="1100" b="1" spc="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Frontend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React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 19 ·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Components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API Hooks ·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Reports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UI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242646" y="3314511"/>
            <a:ext cx="4507230" cy="867410"/>
            <a:chOff x="242646" y="3314511"/>
            <a:chExt cx="4507230" cy="867410"/>
          </a:xfrm>
        </p:grpSpPr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3314511"/>
              <a:ext cx="4506836" cy="866889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319684" y="3391562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5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567359"/>
                  </a:lnTo>
                  <a:lnTo>
                    <a:pt x="939" y="581789"/>
                  </a:lnTo>
                  <a:lnTo>
                    <a:pt x="3735" y="595847"/>
                  </a:lnTo>
                  <a:lnTo>
                    <a:pt x="8301" y="609281"/>
                  </a:lnTo>
                  <a:lnTo>
                    <a:pt x="8352" y="609431"/>
                  </a:lnTo>
                  <a:lnTo>
                    <a:pt x="14757" y="622439"/>
                  </a:lnTo>
                  <a:lnTo>
                    <a:pt x="22674" y="634152"/>
                  </a:lnTo>
                  <a:lnTo>
                    <a:pt x="22775" y="634302"/>
                  </a:lnTo>
                  <a:lnTo>
                    <a:pt x="55079" y="662393"/>
                  </a:lnTo>
                  <a:lnTo>
                    <a:pt x="95374" y="676224"/>
                  </a:lnTo>
                  <a:lnTo>
                    <a:pt x="109791" y="677163"/>
                  </a:lnTo>
                  <a:lnTo>
                    <a:pt x="4206595" y="677163"/>
                  </a:lnTo>
                  <a:lnTo>
                    <a:pt x="4248666" y="668805"/>
                  </a:lnTo>
                  <a:lnTo>
                    <a:pt x="4284169" y="644983"/>
                  </a:lnTo>
                  <a:lnTo>
                    <a:pt x="4307966" y="609431"/>
                  </a:lnTo>
                  <a:lnTo>
                    <a:pt x="4316399" y="567359"/>
                  </a:lnTo>
                  <a:lnTo>
                    <a:pt x="4316376" y="109804"/>
                  </a:lnTo>
                  <a:lnTo>
                    <a:pt x="4308041" y="68088"/>
                  </a:lnTo>
                  <a:lnTo>
                    <a:pt x="4284175" y="32535"/>
                  </a:lnTo>
                  <a:lnTo>
                    <a:pt x="4248516" y="8713"/>
                  </a:lnTo>
                  <a:lnTo>
                    <a:pt x="4206595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19684" y="3391562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206595" y="355"/>
                  </a:lnTo>
                  <a:lnTo>
                    <a:pt x="4248516" y="8713"/>
                  </a:lnTo>
                  <a:lnTo>
                    <a:pt x="4284175" y="32535"/>
                  </a:lnTo>
                  <a:lnTo>
                    <a:pt x="4308041" y="68088"/>
                  </a:lnTo>
                  <a:lnTo>
                    <a:pt x="4316399" y="110159"/>
                  </a:lnTo>
                  <a:lnTo>
                    <a:pt x="4316399" y="567359"/>
                  </a:lnTo>
                  <a:lnTo>
                    <a:pt x="4315459" y="581784"/>
                  </a:lnTo>
                  <a:lnTo>
                    <a:pt x="4312662" y="595803"/>
                  </a:lnTo>
                  <a:lnTo>
                    <a:pt x="4293616" y="634152"/>
                  </a:lnTo>
                  <a:lnTo>
                    <a:pt x="4261675" y="662393"/>
                  </a:lnTo>
                  <a:lnTo>
                    <a:pt x="4221025" y="676224"/>
                  </a:lnTo>
                  <a:lnTo>
                    <a:pt x="4206595" y="677163"/>
                  </a:lnTo>
                  <a:lnTo>
                    <a:pt x="109791" y="677163"/>
                  </a:lnTo>
                  <a:lnTo>
                    <a:pt x="67882" y="668805"/>
                  </a:lnTo>
                  <a:lnTo>
                    <a:pt x="32213" y="644983"/>
                  </a:lnTo>
                  <a:lnTo>
                    <a:pt x="8352" y="609431"/>
                  </a:lnTo>
                  <a:lnTo>
                    <a:pt x="0" y="56735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19684" y="3391562"/>
              <a:ext cx="476250" cy="677545"/>
            </a:xfrm>
            <a:custGeom>
              <a:avLst/>
              <a:gdLst/>
              <a:ahLst/>
              <a:cxnLst/>
              <a:rect l="l" t="t" r="r" b="b"/>
              <a:pathLst>
                <a:path w="476250" h="677545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567359"/>
                  </a:lnTo>
                  <a:lnTo>
                    <a:pt x="939" y="581789"/>
                  </a:lnTo>
                  <a:lnTo>
                    <a:pt x="3735" y="595847"/>
                  </a:lnTo>
                  <a:lnTo>
                    <a:pt x="8301" y="609281"/>
                  </a:lnTo>
                  <a:lnTo>
                    <a:pt x="8352" y="609431"/>
                  </a:lnTo>
                  <a:lnTo>
                    <a:pt x="14757" y="622439"/>
                  </a:lnTo>
                  <a:lnTo>
                    <a:pt x="22674" y="634152"/>
                  </a:lnTo>
                  <a:lnTo>
                    <a:pt x="22775" y="634302"/>
                  </a:lnTo>
                  <a:lnTo>
                    <a:pt x="55079" y="662393"/>
                  </a:lnTo>
                  <a:lnTo>
                    <a:pt x="95374" y="676224"/>
                  </a:lnTo>
                  <a:lnTo>
                    <a:pt x="109791" y="677163"/>
                  </a:lnTo>
                  <a:lnTo>
                    <a:pt x="366115" y="677163"/>
                  </a:lnTo>
                  <a:lnTo>
                    <a:pt x="408186" y="668805"/>
                  </a:lnTo>
                  <a:lnTo>
                    <a:pt x="443689" y="644983"/>
                  </a:lnTo>
                  <a:lnTo>
                    <a:pt x="467486" y="609431"/>
                  </a:lnTo>
                  <a:lnTo>
                    <a:pt x="467561" y="609281"/>
                  </a:lnTo>
                  <a:lnTo>
                    <a:pt x="472167" y="595847"/>
                  </a:lnTo>
                  <a:lnTo>
                    <a:pt x="474978" y="581789"/>
                  </a:lnTo>
                  <a:lnTo>
                    <a:pt x="475919" y="567359"/>
                  </a:lnTo>
                  <a:lnTo>
                    <a:pt x="475896" y="109804"/>
                  </a:lnTo>
                  <a:lnTo>
                    <a:pt x="467561" y="68088"/>
                  </a:lnTo>
                  <a:lnTo>
                    <a:pt x="443695" y="32535"/>
                  </a:lnTo>
                  <a:lnTo>
                    <a:pt x="408036" y="8713"/>
                  </a:lnTo>
                  <a:lnTo>
                    <a:pt x="366115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454939" y="3610700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964940" y="3470302"/>
            <a:ext cx="57404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93A2B7"/>
                </a:solidFill>
                <a:latin typeface="Calibri"/>
                <a:cs typeface="Calibri"/>
              </a:rPr>
              <a:t>Slides</a:t>
            </a:r>
            <a:r>
              <a:rPr sz="850" spc="4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93A2B7"/>
                </a:solidFill>
                <a:latin typeface="Calibri"/>
                <a:cs typeface="Calibri"/>
              </a:rPr>
              <a:t>49–</a:t>
            </a:r>
            <a:r>
              <a:rPr sz="850" spc="-25" dirty="0">
                <a:solidFill>
                  <a:srgbClr val="93A2B7"/>
                </a:solidFill>
                <a:latin typeface="Calibri"/>
                <a:cs typeface="Calibri"/>
              </a:rPr>
              <a:t>56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73975" y="3469223"/>
            <a:ext cx="199136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1100" b="1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&amp;</a:t>
            </a:r>
            <a:r>
              <a:rPr sz="1100" b="1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Code</a:t>
            </a:r>
            <a:r>
              <a:rPr sz="1100" b="1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Review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OWASP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IDOR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CSRF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Spring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Security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Audit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4741557" y="3314511"/>
            <a:ext cx="4402455" cy="867410"/>
            <a:chOff x="4741557" y="3314511"/>
            <a:chExt cx="4402455" cy="867410"/>
          </a:xfrm>
        </p:grpSpPr>
        <p:pic>
          <p:nvPicPr>
            <p:cNvPr id="62" name="object 6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557" y="3314511"/>
              <a:ext cx="4402074" cy="866889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818596" y="3391562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5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67359"/>
                  </a:lnTo>
                  <a:lnTo>
                    <a:pt x="939" y="581789"/>
                  </a:lnTo>
                  <a:lnTo>
                    <a:pt x="14770" y="622439"/>
                  </a:lnTo>
                  <a:lnTo>
                    <a:pt x="22686" y="634152"/>
                  </a:lnTo>
                  <a:lnTo>
                    <a:pt x="22788" y="634302"/>
                  </a:lnTo>
                  <a:lnTo>
                    <a:pt x="55079" y="662393"/>
                  </a:lnTo>
                  <a:lnTo>
                    <a:pt x="95379" y="676224"/>
                  </a:lnTo>
                  <a:lnTo>
                    <a:pt x="109804" y="677163"/>
                  </a:lnTo>
                  <a:lnTo>
                    <a:pt x="4206608" y="677163"/>
                  </a:lnTo>
                  <a:lnTo>
                    <a:pt x="4248672" y="668805"/>
                  </a:lnTo>
                  <a:lnTo>
                    <a:pt x="4284181" y="644983"/>
                  </a:lnTo>
                  <a:lnTo>
                    <a:pt x="4307971" y="609431"/>
                  </a:lnTo>
                  <a:lnTo>
                    <a:pt x="4316399" y="567359"/>
                  </a:lnTo>
                  <a:lnTo>
                    <a:pt x="4316376" y="109804"/>
                  </a:lnTo>
                  <a:lnTo>
                    <a:pt x="4308046" y="68088"/>
                  </a:lnTo>
                  <a:lnTo>
                    <a:pt x="4284186" y="32535"/>
                  </a:lnTo>
                  <a:lnTo>
                    <a:pt x="4248517" y="8713"/>
                  </a:lnTo>
                  <a:lnTo>
                    <a:pt x="4206608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818596" y="3391562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206608" y="355"/>
                  </a:lnTo>
                  <a:lnTo>
                    <a:pt x="4248517" y="8713"/>
                  </a:lnTo>
                  <a:lnTo>
                    <a:pt x="4284186" y="32535"/>
                  </a:lnTo>
                  <a:lnTo>
                    <a:pt x="4308046" y="68088"/>
                  </a:lnTo>
                  <a:lnTo>
                    <a:pt x="4316399" y="110159"/>
                  </a:lnTo>
                  <a:lnTo>
                    <a:pt x="4316399" y="567359"/>
                  </a:lnTo>
                  <a:lnTo>
                    <a:pt x="4315460" y="581784"/>
                  </a:lnTo>
                  <a:lnTo>
                    <a:pt x="4312664" y="595803"/>
                  </a:lnTo>
                  <a:lnTo>
                    <a:pt x="4293629" y="634152"/>
                  </a:lnTo>
                  <a:lnTo>
                    <a:pt x="4261688" y="662393"/>
                  </a:lnTo>
                  <a:lnTo>
                    <a:pt x="4221031" y="676224"/>
                  </a:lnTo>
                  <a:lnTo>
                    <a:pt x="4206608" y="677163"/>
                  </a:lnTo>
                  <a:lnTo>
                    <a:pt x="109804" y="677163"/>
                  </a:lnTo>
                  <a:lnTo>
                    <a:pt x="67882" y="668805"/>
                  </a:lnTo>
                  <a:lnTo>
                    <a:pt x="32224" y="644983"/>
                  </a:lnTo>
                  <a:lnTo>
                    <a:pt x="8358" y="609431"/>
                  </a:lnTo>
                  <a:lnTo>
                    <a:pt x="0" y="56735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818596" y="3391562"/>
              <a:ext cx="476250" cy="677545"/>
            </a:xfrm>
            <a:custGeom>
              <a:avLst/>
              <a:gdLst/>
              <a:ahLst/>
              <a:cxnLst/>
              <a:rect l="l" t="t" r="r" b="b"/>
              <a:pathLst>
                <a:path w="476250" h="677545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67359"/>
                  </a:lnTo>
                  <a:lnTo>
                    <a:pt x="939" y="581789"/>
                  </a:lnTo>
                  <a:lnTo>
                    <a:pt x="14770" y="622439"/>
                  </a:lnTo>
                  <a:lnTo>
                    <a:pt x="22686" y="634152"/>
                  </a:lnTo>
                  <a:lnTo>
                    <a:pt x="22788" y="634302"/>
                  </a:lnTo>
                  <a:lnTo>
                    <a:pt x="55079" y="662393"/>
                  </a:lnTo>
                  <a:lnTo>
                    <a:pt x="95379" y="676224"/>
                  </a:lnTo>
                  <a:lnTo>
                    <a:pt x="109804" y="677163"/>
                  </a:lnTo>
                  <a:lnTo>
                    <a:pt x="366128" y="677163"/>
                  </a:lnTo>
                  <a:lnTo>
                    <a:pt x="408192" y="668805"/>
                  </a:lnTo>
                  <a:lnTo>
                    <a:pt x="443701" y="644983"/>
                  </a:lnTo>
                  <a:lnTo>
                    <a:pt x="467491" y="609431"/>
                  </a:lnTo>
                  <a:lnTo>
                    <a:pt x="467566" y="609281"/>
                  </a:lnTo>
                  <a:lnTo>
                    <a:pt x="472169" y="595847"/>
                  </a:lnTo>
                  <a:lnTo>
                    <a:pt x="474979" y="581789"/>
                  </a:lnTo>
                  <a:lnTo>
                    <a:pt x="475919" y="567359"/>
                  </a:lnTo>
                  <a:lnTo>
                    <a:pt x="475896" y="109804"/>
                  </a:lnTo>
                  <a:lnTo>
                    <a:pt x="467566" y="68088"/>
                  </a:lnTo>
                  <a:lnTo>
                    <a:pt x="443706" y="32535"/>
                  </a:lnTo>
                  <a:lnTo>
                    <a:pt x="408037" y="8713"/>
                  </a:lnTo>
                  <a:lnTo>
                    <a:pt x="366128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4953863" y="3610700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08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463863" y="3470302"/>
            <a:ext cx="57404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93A2B7"/>
                </a:solidFill>
                <a:latin typeface="Calibri"/>
                <a:cs typeface="Calibri"/>
              </a:rPr>
              <a:t>Slides</a:t>
            </a:r>
            <a:r>
              <a:rPr sz="850" spc="4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93A2B7"/>
                </a:solidFill>
                <a:latin typeface="Calibri"/>
                <a:cs typeface="Calibri"/>
              </a:rPr>
              <a:t>57–</a:t>
            </a:r>
            <a:r>
              <a:rPr sz="850" spc="-25" dirty="0">
                <a:solidFill>
                  <a:srgbClr val="93A2B7"/>
                </a:solidFill>
                <a:latin typeface="Calibri"/>
                <a:cs typeface="Calibri"/>
              </a:rPr>
              <a:t>64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372899" y="3469223"/>
            <a:ext cx="209994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DB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 Optimisation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EXPLAIN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Indexes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Partitions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Caching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 ·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Scaling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242646" y="4064395"/>
            <a:ext cx="4507230" cy="867410"/>
            <a:chOff x="242646" y="4064395"/>
            <a:chExt cx="4507230" cy="867410"/>
          </a:xfrm>
        </p:grpSpPr>
        <p:pic>
          <p:nvPicPr>
            <p:cNvPr id="70" name="object 7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4064395"/>
              <a:ext cx="4506836" cy="867244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319684" y="4141446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5">
                  <a:moveTo>
                    <a:pt x="110159" y="0"/>
                  </a:moveTo>
                  <a:lnTo>
                    <a:pt x="68088" y="8347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567359"/>
                  </a:lnTo>
                  <a:lnTo>
                    <a:pt x="939" y="581782"/>
                  </a:lnTo>
                  <a:lnTo>
                    <a:pt x="14757" y="622439"/>
                  </a:lnTo>
                  <a:lnTo>
                    <a:pt x="22670" y="634147"/>
                  </a:lnTo>
                  <a:lnTo>
                    <a:pt x="22775" y="634302"/>
                  </a:lnTo>
                  <a:lnTo>
                    <a:pt x="55079" y="662393"/>
                  </a:lnTo>
                  <a:lnTo>
                    <a:pt x="95374" y="676211"/>
                  </a:lnTo>
                  <a:lnTo>
                    <a:pt x="109791" y="677151"/>
                  </a:lnTo>
                  <a:lnTo>
                    <a:pt x="4206595" y="677151"/>
                  </a:lnTo>
                  <a:lnTo>
                    <a:pt x="4248666" y="668798"/>
                  </a:lnTo>
                  <a:lnTo>
                    <a:pt x="4284167" y="644983"/>
                  </a:lnTo>
                  <a:lnTo>
                    <a:pt x="4307963" y="609423"/>
                  </a:lnTo>
                  <a:lnTo>
                    <a:pt x="4316399" y="567359"/>
                  </a:lnTo>
                  <a:lnTo>
                    <a:pt x="4316375" y="109791"/>
                  </a:lnTo>
                  <a:lnTo>
                    <a:pt x="4308041" y="68088"/>
                  </a:lnTo>
                  <a:lnTo>
                    <a:pt x="4284175" y="32534"/>
                  </a:lnTo>
                  <a:lnTo>
                    <a:pt x="4248516" y="8708"/>
                  </a:lnTo>
                  <a:lnTo>
                    <a:pt x="4206595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19684" y="4141446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7"/>
                  </a:lnTo>
                  <a:lnTo>
                    <a:pt x="110159" y="0"/>
                  </a:lnTo>
                  <a:lnTo>
                    <a:pt x="4206595" y="355"/>
                  </a:lnTo>
                  <a:lnTo>
                    <a:pt x="4248516" y="8708"/>
                  </a:lnTo>
                  <a:lnTo>
                    <a:pt x="4284175" y="32534"/>
                  </a:lnTo>
                  <a:lnTo>
                    <a:pt x="4308041" y="68088"/>
                  </a:lnTo>
                  <a:lnTo>
                    <a:pt x="4316399" y="110159"/>
                  </a:lnTo>
                  <a:lnTo>
                    <a:pt x="4316399" y="567359"/>
                  </a:lnTo>
                  <a:lnTo>
                    <a:pt x="4315459" y="581777"/>
                  </a:lnTo>
                  <a:lnTo>
                    <a:pt x="4312662" y="595791"/>
                  </a:lnTo>
                  <a:lnTo>
                    <a:pt x="4293616" y="634147"/>
                  </a:lnTo>
                  <a:lnTo>
                    <a:pt x="4261675" y="662393"/>
                  </a:lnTo>
                  <a:lnTo>
                    <a:pt x="4221025" y="676211"/>
                  </a:lnTo>
                  <a:lnTo>
                    <a:pt x="4206595" y="677151"/>
                  </a:lnTo>
                  <a:lnTo>
                    <a:pt x="109791" y="677151"/>
                  </a:lnTo>
                  <a:lnTo>
                    <a:pt x="67882" y="668798"/>
                  </a:lnTo>
                  <a:lnTo>
                    <a:pt x="32213" y="644983"/>
                  </a:lnTo>
                  <a:lnTo>
                    <a:pt x="8352" y="609423"/>
                  </a:lnTo>
                  <a:lnTo>
                    <a:pt x="0" y="567359"/>
                  </a:lnTo>
                  <a:lnTo>
                    <a:pt x="355" y="10979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19684" y="4141446"/>
              <a:ext cx="476250" cy="677545"/>
            </a:xfrm>
            <a:custGeom>
              <a:avLst/>
              <a:gdLst/>
              <a:ahLst/>
              <a:cxnLst/>
              <a:rect l="l" t="t" r="r" b="b"/>
              <a:pathLst>
                <a:path w="476250" h="677545">
                  <a:moveTo>
                    <a:pt x="110159" y="0"/>
                  </a:moveTo>
                  <a:lnTo>
                    <a:pt x="68088" y="8347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567359"/>
                  </a:lnTo>
                  <a:lnTo>
                    <a:pt x="939" y="581782"/>
                  </a:lnTo>
                  <a:lnTo>
                    <a:pt x="14757" y="622439"/>
                  </a:lnTo>
                  <a:lnTo>
                    <a:pt x="22670" y="634147"/>
                  </a:lnTo>
                  <a:lnTo>
                    <a:pt x="22775" y="634302"/>
                  </a:lnTo>
                  <a:lnTo>
                    <a:pt x="55079" y="662393"/>
                  </a:lnTo>
                  <a:lnTo>
                    <a:pt x="95374" y="676211"/>
                  </a:lnTo>
                  <a:lnTo>
                    <a:pt x="109791" y="677151"/>
                  </a:lnTo>
                  <a:lnTo>
                    <a:pt x="366115" y="677151"/>
                  </a:lnTo>
                  <a:lnTo>
                    <a:pt x="408186" y="668798"/>
                  </a:lnTo>
                  <a:lnTo>
                    <a:pt x="443687" y="644983"/>
                  </a:lnTo>
                  <a:lnTo>
                    <a:pt x="467483" y="609423"/>
                  </a:lnTo>
                  <a:lnTo>
                    <a:pt x="467561" y="609268"/>
                  </a:lnTo>
                  <a:lnTo>
                    <a:pt x="472167" y="595837"/>
                  </a:lnTo>
                  <a:lnTo>
                    <a:pt x="474978" y="581782"/>
                  </a:lnTo>
                  <a:lnTo>
                    <a:pt x="475919" y="567359"/>
                  </a:lnTo>
                  <a:lnTo>
                    <a:pt x="475895" y="109791"/>
                  </a:lnTo>
                  <a:lnTo>
                    <a:pt x="467561" y="68088"/>
                  </a:lnTo>
                  <a:lnTo>
                    <a:pt x="443695" y="32534"/>
                  </a:lnTo>
                  <a:lnTo>
                    <a:pt x="408036" y="8708"/>
                  </a:lnTo>
                  <a:lnTo>
                    <a:pt x="366115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C4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454939" y="4360584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964940" y="4220186"/>
            <a:ext cx="57404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93A2B7"/>
                </a:solidFill>
                <a:latin typeface="Calibri"/>
                <a:cs typeface="Calibri"/>
              </a:rPr>
              <a:t>Slides</a:t>
            </a:r>
            <a:r>
              <a:rPr sz="850" spc="4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93A2B7"/>
                </a:solidFill>
                <a:latin typeface="Calibri"/>
                <a:cs typeface="Calibri"/>
              </a:rPr>
              <a:t>65–</a:t>
            </a:r>
            <a:r>
              <a:rPr sz="850" spc="-25" dirty="0">
                <a:solidFill>
                  <a:srgbClr val="93A2B7"/>
                </a:solidFill>
                <a:latin typeface="Calibri"/>
                <a:cs typeface="Calibri"/>
              </a:rPr>
              <a:t>74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73975" y="4219107"/>
            <a:ext cx="215709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CI/CD</a:t>
            </a:r>
            <a:r>
              <a:rPr sz="1100" b="1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&amp;</a:t>
            </a:r>
            <a:r>
              <a:rPr sz="1100" b="1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Deployment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GitHub</a:t>
            </a:r>
            <a:r>
              <a:rPr sz="85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Actions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Tests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Build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Robi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Cloud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Deploy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741557" y="4064395"/>
            <a:ext cx="4402455" cy="867410"/>
            <a:chOff x="4741557" y="4064395"/>
            <a:chExt cx="4402455" cy="867410"/>
          </a:xfrm>
        </p:grpSpPr>
        <p:pic>
          <p:nvPicPr>
            <p:cNvPr id="78" name="object 7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557" y="4064395"/>
              <a:ext cx="4402074" cy="867244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4818596" y="4141446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5">
                  <a:moveTo>
                    <a:pt x="110159" y="0"/>
                  </a:moveTo>
                  <a:lnTo>
                    <a:pt x="68095" y="8347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67359"/>
                  </a:lnTo>
                  <a:lnTo>
                    <a:pt x="939" y="581782"/>
                  </a:lnTo>
                  <a:lnTo>
                    <a:pt x="3736" y="595837"/>
                  </a:lnTo>
                  <a:lnTo>
                    <a:pt x="8305" y="609268"/>
                  </a:lnTo>
                  <a:lnTo>
                    <a:pt x="8358" y="609423"/>
                  </a:lnTo>
                  <a:lnTo>
                    <a:pt x="14770" y="622439"/>
                  </a:lnTo>
                  <a:lnTo>
                    <a:pt x="22683" y="634147"/>
                  </a:lnTo>
                  <a:lnTo>
                    <a:pt x="22788" y="634302"/>
                  </a:lnTo>
                  <a:lnTo>
                    <a:pt x="55079" y="662393"/>
                  </a:lnTo>
                  <a:lnTo>
                    <a:pt x="95379" y="676211"/>
                  </a:lnTo>
                  <a:lnTo>
                    <a:pt x="109804" y="677151"/>
                  </a:lnTo>
                  <a:lnTo>
                    <a:pt x="4206608" y="677151"/>
                  </a:lnTo>
                  <a:lnTo>
                    <a:pt x="4248672" y="668798"/>
                  </a:lnTo>
                  <a:lnTo>
                    <a:pt x="4284180" y="644983"/>
                  </a:lnTo>
                  <a:lnTo>
                    <a:pt x="4307969" y="609423"/>
                  </a:lnTo>
                  <a:lnTo>
                    <a:pt x="4316399" y="567359"/>
                  </a:lnTo>
                  <a:lnTo>
                    <a:pt x="4316375" y="109791"/>
                  </a:lnTo>
                  <a:lnTo>
                    <a:pt x="4308046" y="68088"/>
                  </a:lnTo>
                  <a:lnTo>
                    <a:pt x="4284186" y="32534"/>
                  </a:lnTo>
                  <a:lnTo>
                    <a:pt x="4248517" y="8708"/>
                  </a:lnTo>
                  <a:lnTo>
                    <a:pt x="4206608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818596" y="4141446"/>
              <a:ext cx="4316730" cy="677545"/>
            </a:xfrm>
            <a:custGeom>
              <a:avLst/>
              <a:gdLst/>
              <a:ahLst/>
              <a:cxnLst/>
              <a:rect l="l" t="t" r="r" b="b"/>
              <a:pathLst>
                <a:path w="4316730" h="677545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7"/>
                  </a:lnTo>
                  <a:lnTo>
                    <a:pt x="110159" y="0"/>
                  </a:lnTo>
                  <a:lnTo>
                    <a:pt x="4206608" y="355"/>
                  </a:lnTo>
                  <a:lnTo>
                    <a:pt x="4248517" y="8708"/>
                  </a:lnTo>
                  <a:lnTo>
                    <a:pt x="4284186" y="32534"/>
                  </a:lnTo>
                  <a:lnTo>
                    <a:pt x="4308046" y="68088"/>
                  </a:lnTo>
                  <a:lnTo>
                    <a:pt x="4316399" y="110159"/>
                  </a:lnTo>
                  <a:lnTo>
                    <a:pt x="4316399" y="567359"/>
                  </a:lnTo>
                  <a:lnTo>
                    <a:pt x="4315460" y="581777"/>
                  </a:lnTo>
                  <a:lnTo>
                    <a:pt x="4312664" y="595791"/>
                  </a:lnTo>
                  <a:lnTo>
                    <a:pt x="4293629" y="634147"/>
                  </a:lnTo>
                  <a:lnTo>
                    <a:pt x="4261688" y="662393"/>
                  </a:lnTo>
                  <a:lnTo>
                    <a:pt x="4221031" y="676211"/>
                  </a:lnTo>
                  <a:lnTo>
                    <a:pt x="4206608" y="677151"/>
                  </a:lnTo>
                  <a:lnTo>
                    <a:pt x="109804" y="677151"/>
                  </a:lnTo>
                  <a:lnTo>
                    <a:pt x="67882" y="668798"/>
                  </a:lnTo>
                  <a:lnTo>
                    <a:pt x="32224" y="644983"/>
                  </a:lnTo>
                  <a:lnTo>
                    <a:pt x="8358" y="609423"/>
                  </a:lnTo>
                  <a:lnTo>
                    <a:pt x="0" y="567359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818596" y="4141446"/>
              <a:ext cx="476250" cy="677545"/>
            </a:xfrm>
            <a:custGeom>
              <a:avLst/>
              <a:gdLst/>
              <a:ahLst/>
              <a:cxnLst/>
              <a:rect l="l" t="t" r="r" b="b"/>
              <a:pathLst>
                <a:path w="476250" h="677545">
                  <a:moveTo>
                    <a:pt x="110159" y="0"/>
                  </a:moveTo>
                  <a:lnTo>
                    <a:pt x="68095" y="8347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67359"/>
                  </a:lnTo>
                  <a:lnTo>
                    <a:pt x="939" y="581782"/>
                  </a:lnTo>
                  <a:lnTo>
                    <a:pt x="3736" y="595837"/>
                  </a:lnTo>
                  <a:lnTo>
                    <a:pt x="8305" y="609268"/>
                  </a:lnTo>
                  <a:lnTo>
                    <a:pt x="8358" y="609423"/>
                  </a:lnTo>
                  <a:lnTo>
                    <a:pt x="14770" y="622439"/>
                  </a:lnTo>
                  <a:lnTo>
                    <a:pt x="22683" y="634147"/>
                  </a:lnTo>
                  <a:lnTo>
                    <a:pt x="22788" y="634302"/>
                  </a:lnTo>
                  <a:lnTo>
                    <a:pt x="55079" y="662393"/>
                  </a:lnTo>
                  <a:lnTo>
                    <a:pt x="95379" y="676211"/>
                  </a:lnTo>
                  <a:lnTo>
                    <a:pt x="109804" y="677151"/>
                  </a:lnTo>
                  <a:lnTo>
                    <a:pt x="366128" y="677151"/>
                  </a:lnTo>
                  <a:lnTo>
                    <a:pt x="408192" y="668798"/>
                  </a:lnTo>
                  <a:lnTo>
                    <a:pt x="443700" y="644983"/>
                  </a:lnTo>
                  <a:lnTo>
                    <a:pt x="467489" y="609423"/>
                  </a:lnTo>
                  <a:lnTo>
                    <a:pt x="475919" y="567359"/>
                  </a:lnTo>
                  <a:lnTo>
                    <a:pt x="475895" y="109791"/>
                  </a:lnTo>
                  <a:lnTo>
                    <a:pt x="467566" y="68088"/>
                  </a:lnTo>
                  <a:lnTo>
                    <a:pt x="443706" y="32534"/>
                  </a:lnTo>
                  <a:lnTo>
                    <a:pt x="408037" y="8708"/>
                  </a:lnTo>
                  <a:lnTo>
                    <a:pt x="366128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4953863" y="4360584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463863" y="4220186"/>
            <a:ext cx="57404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93A2B7"/>
                </a:solidFill>
                <a:latin typeface="Calibri"/>
                <a:cs typeface="Calibri"/>
              </a:rPr>
              <a:t>Slides</a:t>
            </a:r>
            <a:r>
              <a:rPr sz="850" spc="4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93A2B7"/>
                </a:solidFill>
                <a:latin typeface="Calibri"/>
                <a:cs typeface="Calibri"/>
              </a:rPr>
              <a:t>75–</a:t>
            </a:r>
            <a:r>
              <a:rPr sz="85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372899" y="4219107"/>
            <a:ext cx="235712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Live</a:t>
            </a:r>
            <a:r>
              <a:rPr sz="110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Project</a:t>
            </a:r>
            <a:r>
              <a:rPr sz="110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—</a:t>
            </a:r>
            <a:r>
              <a:rPr sz="110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WAMY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End-to-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end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demo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Prompts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Action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Plan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Next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Steps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86" name="object 86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444144" y="4730580"/>
            <a:ext cx="4097654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Every</a:t>
            </a:r>
            <a:r>
              <a:rPr sz="950" spc="-4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section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uses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WAMY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NGO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Finance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Module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as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live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project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example.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89" name="object 8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8994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</a:t>
            </a:fld>
            <a:r>
              <a:rPr spc="-10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9356" y="502198"/>
            <a:ext cx="1280795" cy="329565"/>
          </a:xfrm>
          <a:custGeom>
            <a:avLst/>
            <a:gdLst/>
            <a:ahLst/>
            <a:cxnLst/>
            <a:rect l="l" t="t" r="r" b="b"/>
            <a:pathLst>
              <a:path w="1280795" h="329565">
                <a:moveTo>
                  <a:pt x="91808" y="0"/>
                </a:moveTo>
                <a:lnTo>
                  <a:pt x="46088" y="12242"/>
                </a:lnTo>
                <a:lnTo>
                  <a:pt x="12598" y="45720"/>
                </a:lnTo>
                <a:lnTo>
                  <a:pt x="368" y="91439"/>
                </a:lnTo>
                <a:lnTo>
                  <a:pt x="0" y="237959"/>
                </a:lnTo>
                <a:lnTo>
                  <a:pt x="798" y="249966"/>
                </a:lnTo>
                <a:lnTo>
                  <a:pt x="18843" y="293724"/>
                </a:lnTo>
                <a:lnTo>
                  <a:pt x="56512" y="322418"/>
                </a:lnTo>
                <a:lnTo>
                  <a:pt x="91439" y="329399"/>
                </a:lnTo>
                <a:lnTo>
                  <a:pt x="1189088" y="329399"/>
                </a:lnTo>
                <a:lnTo>
                  <a:pt x="1234808" y="317169"/>
                </a:lnTo>
                <a:lnTo>
                  <a:pt x="1268285" y="283679"/>
                </a:lnTo>
                <a:lnTo>
                  <a:pt x="1280528" y="237959"/>
                </a:lnTo>
                <a:lnTo>
                  <a:pt x="1280503" y="91439"/>
                </a:lnTo>
                <a:lnTo>
                  <a:pt x="1268285" y="46088"/>
                </a:lnTo>
                <a:lnTo>
                  <a:pt x="1234808" y="12598"/>
                </a:lnTo>
                <a:lnTo>
                  <a:pt x="1189088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2901" y="578067"/>
            <a:ext cx="6343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0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27024" y="1020142"/>
            <a:ext cx="482854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/>
              <a:t>What</a:t>
            </a:r>
            <a:r>
              <a:rPr sz="4200" spc="-85" dirty="0"/>
              <a:t> </a:t>
            </a:r>
            <a:r>
              <a:rPr sz="4200" dirty="0"/>
              <a:t>is</a:t>
            </a:r>
            <a:r>
              <a:rPr sz="4200" spc="-85" dirty="0"/>
              <a:t> </a:t>
            </a:r>
            <a:r>
              <a:rPr sz="4200" dirty="0"/>
              <a:t>Claude</a:t>
            </a:r>
            <a:r>
              <a:rPr sz="4200" spc="-90" dirty="0"/>
              <a:t> </a:t>
            </a:r>
            <a:r>
              <a:rPr sz="4200" spc="-10" dirty="0"/>
              <a:t>Code?</a:t>
            </a:r>
            <a:endParaRPr sz="4200" dirty="0"/>
          </a:p>
        </p:txBody>
      </p:sp>
      <p:sp>
        <p:nvSpPr>
          <p:cNvPr id="6" name="object 6"/>
          <p:cNvSpPr txBox="1"/>
          <p:nvPr/>
        </p:nvSpPr>
        <p:spPr>
          <a:xfrm>
            <a:off x="627024" y="1838428"/>
            <a:ext cx="4630776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85" dirty="0">
                <a:solidFill>
                  <a:srgbClr val="F49D0A"/>
                </a:solidFill>
                <a:latin typeface="+mn-lt"/>
                <a:cs typeface="Arial"/>
              </a:rPr>
              <a:t>AI-</a:t>
            </a:r>
            <a:r>
              <a:rPr sz="1500" i="1" spc="-75" dirty="0">
                <a:solidFill>
                  <a:srgbClr val="F49D0A"/>
                </a:solidFill>
                <a:latin typeface="+mn-lt"/>
                <a:cs typeface="Arial"/>
              </a:rPr>
              <a:t>powered</a:t>
            </a:r>
            <a:r>
              <a:rPr sz="1500" i="1" spc="-60" dirty="0">
                <a:solidFill>
                  <a:srgbClr val="F49D0A"/>
                </a:solidFill>
                <a:latin typeface="+mn-lt"/>
                <a:cs typeface="Arial"/>
              </a:rPr>
              <a:t> agentic</a:t>
            </a:r>
            <a:r>
              <a:rPr sz="1500" i="1" spc="-5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75" dirty="0">
                <a:solidFill>
                  <a:srgbClr val="F49D0A"/>
                </a:solidFill>
                <a:latin typeface="+mn-lt"/>
                <a:cs typeface="Arial"/>
              </a:rPr>
              <a:t>coding</a:t>
            </a:r>
            <a:r>
              <a:rPr sz="1500" i="1" spc="-5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75" dirty="0">
                <a:solidFill>
                  <a:srgbClr val="F49D0A"/>
                </a:solidFill>
                <a:latin typeface="+mn-lt"/>
                <a:cs typeface="Arial"/>
              </a:rPr>
              <a:t>assistant</a:t>
            </a:r>
            <a:r>
              <a:rPr sz="1500" i="1" spc="-6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125" dirty="0">
                <a:solidFill>
                  <a:srgbClr val="F49D0A"/>
                </a:solidFill>
                <a:latin typeface="+mn-lt"/>
                <a:cs typeface="Arial"/>
              </a:rPr>
              <a:t>·</a:t>
            </a:r>
            <a:r>
              <a:rPr sz="1500" i="1" spc="-65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20" dirty="0">
                <a:solidFill>
                  <a:srgbClr val="F49D0A"/>
                </a:solidFill>
                <a:latin typeface="+mn-lt"/>
                <a:cs typeface="Arial"/>
              </a:rPr>
              <a:t>not</a:t>
            </a:r>
            <a:r>
              <a:rPr sz="1500" i="1" spc="-6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50" dirty="0">
                <a:solidFill>
                  <a:srgbClr val="F49D0A"/>
                </a:solidFill>
                <a:latin typeface="+mn-lt"/>
                <a:cs typeface="Arial"/>
              </a:rPr>
              <a:t>just </a:t>
            </a:r>
            <a:r>
              <a:rPr sz="1500" i="1" spc="-75" dirty="0">
                <a:solidFill>
                  <a:srgbClr val="F49D0A"/>
                </a:solidFill>
                <a:latin typeface="+mn-lt"/>
                <a:cs typeface="Arial"/>
              </a:rPr>
              <a:t>a</a:t>
            </a:r>
            <a:r>
              <a:rPr sz="1500" i="1" spc="-65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10" dirty="0">
                <a:solidFill>
                  <a:srgbClr val="F49D0A"/>
                </a:solidFill>
                <a:latin typeface="+mn-lt"/>
                <a:cs typeface="Arial"/>
              </a:rPr>
              <a:t>chatbot</a:t>
            </a:r>
            <a:endParaRPr sz="1500" dirty="0">
              <a:latin typeface="+mn-lt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8600" y="2325422"/>
            <a:ext cx="2024380" cy="515620"/>
            <a:chOff x="633424" y="2325422"/>
            <a:chExt cx="2024380" cy="515620"/>
          </a:xfrm>
        </p:grpSpPr>
        <p:sp>
          <p:nvSpPr>
            <p:cNvPr id="8" name="object 8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191987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5" y="434789"/>
                  </a:lnTo>
                  <a:lnTo>
                    <a:pt x="3148" y="435149"/>
                  </a:lnTo>
                  <a:lnTo>
                    <a:pt x="6859" y="446051"/>
                  </a:lnTo>
                  <a:lnTo>
                    <a:pt x="35675" y="484083"/>
                  </a:lnTo>
                  <a:lnTo>
                    <a:pt x="79433" y="502121"/>
                  </a:lnTo>
                  <a:lnTo>
                    <a:pt x="91440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08402" y="435149"/>
                  </a:lnTo>
                  <a:lnTo>
                    <a:pt x="2008525" y="434789"/>
                  </a:lnTo>
                  <a:lnTo>
                    <a:pt x="2010806" y="423485"/>
                  </a:lnTo>
                  <a:lnTo>
                    <a:pt x="2010879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11" y="91439"/>
                  </a:lnTo>
                  <a:lnTo>
                    <a:pt x="1999081" y="45719"/>
                  </a:lnTo>
                  <a:lnTo>
                    <a:pt x="1965591" y="12242"/>
                  </a:lnTo>
                  <a:lnTo>
                    <a:pt x="1931878" y="798"/>
                  </a:lnTo>
                  <a:lnTo>
                    <a:pt x="1919871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0" y="91439"/>
                  </a:moveTo>
                  <a:lnTo>
                    <a:pt x="798" y="79434"/>
                  </a:lnTo>
                  <a:lnTo>
                    <a:pt x="3148" y="67770"/>
                  </a:lnTo>
                  <a:lnTo>
                    <a:pt x="26679" y="26681"/>
                  </a:lnTo>
                  <a:lnTo>
                    <a:pt x="67765" y="3149"/>
                  </a:lnTo>
                  <a:lnTo>
                    <a:pt x="91440" y="0"/>
                  </a:lnTo>
                  <a:lnTo>
                    <a:pt x="1919871" y="0"/>
                  </a:lnTo>
                  <a:lnTo>
                    <a:pt x="1965591" y="12242"/>
                  </a:lnTo>
                  <a:lnTo>
                    <a:pt x="1999081" y="45719"/>
                  </a:lnTo>
                  <a:lnTo>
                    <a:pt x="2011311" y="91439"/>
                  </a:lnTo>
                  <a:lnTo>
                    <a:pt x="2011679" y="411124"/>
                  </a:lnTo>
                  <a:lnTo>
                    <a:pt x="2010879" y="423124"/>
                  </a:lnTo>
                  <a:lnTo>
                    <a:pt x="2008525" y="434789"/>
                  </a:lnTo>
                  <a:lnTo>
                    <a:pt x="1984989" y="475873"/>
                  </a:lnTo>
                  <a:lnTo>
                    <a:pt x="1943904" y="499410"/>
                  </a:lnTo>
                  <a:lnTo>
                    <a:pt x="91440" y="502919"/>
                  </a:lnTo>
                  <a:lnTo>
                    <a:pt x="45720" y="490677"/>
                  </a:lnTo>
                  <a:lnTo>
                    <a:pt x="12230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6278" y="2497939"/>
            <a:ext cx="118681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Overview</a:t>
            </a:r>
            <a:r>
              <a:rPr sz="950" spc="-35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&amp;</a:t>
            </a:r>
            <a:r>
              <a:rPr sz="950" spc="-3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Capabilities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04796" y="2325422"/>
            <a:ext cx="2024380" cy="515620"/>
            <a:chOff x="2809620" y="2325422"/>
            <a:chExt cx="2024380" cy="515620"/>
          </a:xfrm>
        </p:grpSpPr>
        <p:sp>
          <p:nvSpPr>
            <p:cNvPr id="12" name="object 12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76" y="484083"/>
                  </a:lnTo>
                  <a:lnTo>
                    <a:pt x="79433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79" y="411124"/>
                  </a:lnTo>
                  <a:lnTo>
                    <a:pt x="2010881" y="423124"/>
                  </a:lnTo>
                  <a:lnTo>
                    <a:pt x="2008530" y="434789"/>
                  </a:lnTo>
                  <a:lnTo>
                    <a:pt x="1984994" y="475873"/>
                  </a:lnTo>
                  <a:lnTo>
                    <a:pt x="1943909" y="499410"/>
                  </a:lnTo>
                  <a:lnTo>
                    <a:pt x="91439" y="502919"/>
                  </a:lnTo>
                  <a:lnTo>
                    <a:pt x="45719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907081" y="2497939"/>
            <a:ext cx="101726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Chat</a:t>
            </a:r>
            <a:r>
              <a:rPr sz="950" spc="-3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vs</a:t>
            </a:r>
            <a:r>
              <a:rPr sz="950" spc="-35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Claude</a:t>
            </a:r>
            <a:r>
              <a:rPr sz="950" spc="-35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9FC7FF"/>
                </a:solidFill>
                <a:latin typeface="Calibri"/>
                <a:cs typeface="Calibri"/>
              </a:rPr>
              <a:t>Code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80992" y="2325422"/>
            <a:ext cx="2024380" cy="515620"/>
            <a:chOff x="4985816" y="2325422"/>
            <a:chExt cx="2024380" cy="515620"/>
          </a:xfrm>
        </p:grpSpPr>
        <p:sp>
          <p:nvSpPr>
            <p:cNvPr id="16" name="object 16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83" y="484083"/>
                  </a:lnTo>
                  <a:lnTo>
                    <a:pt x="79440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49" y="456844"/>
                  </a:lnTo>
                  <a:lnTo>
                    <a:pt x="2008409" y="435149"/>
                  </a:lnTo>
                  <a:lnTo>
                    <a:pt x="2008531" y="434789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80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9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90" y="26681"/>
                  </a:lnTo>
                  <a:lnTo>
                    <a:pt x="6777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80" y="411124"/>
                  </a:lnTo>
                  <a:lnTo>
                    <a:pt x="2010881" y="423124"/>
                  </a:lnTo>
                  <a:lnTo>
                    <a:pt x="2008531" y="434789"/>
                  </a:lnTo>
                  <a:lnTo>
                    <a:pt x="1985000" y="475873"/>
                  </a:lnTo>
                  <a:lnTo>
                    <a:pt x="1943914" y="499410"/>
                  </a:lnTo>
                  <a:lnTo>
                    <a:pt x="91439" y="502919"/>
                  </a:lnTo>
                  <a:lnTo>
                    <a:pt x="45720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027118" y="2497939"/>
            <a:ext cx="113030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Why</a:t>
            </a:r>
            <a:r>
              <a:rPr sz="950" spc="-2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Developers</a:t>
            </a:r>
            <a:r>
              <a:rPr sz="950" spc="-15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Use</a:t>
            </a:r>
            <a:r>
              <a:rPr sz="950" spc="-15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9FC7FF"/>
                </a:solidFill>
                <a:latin typeface="Calibri"/>
                <a:cs typeface="Calibri"/>
              </a:rPr>
              <a:t>It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57555" y="2325422"/>
            <a:ext cx="1987550" cy="515620"/>
            <a:chOff x="7162379" y="2325422"/>
            <a:chExt cx="1987550" cy="515620"/>
          </a:xfrm>
        </p:grpSpPr>
        <p:sp>
          <p:nvSpPr>
            <p:cNvPr id="20" name="object 20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1988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12242" y="457200"/>
                  </a:lnTo>
                  <a:lnTo>
                    <a:pt x="45720" y="490677"/>
                  </a:lnTo>
                  <a:lnTo>
                    <a:pt x="91440" y="502919"/>
                  </a:lnTo>
                  <a:lnTo>
                    <a:pt x="1920240" y="502564"/>
                  </a:lnTo>
                  <a:lnTo>
                    <a:pt x="1965960" y="490321"/>
                  </a:lnTo>
                  <a:lnTo>
                    <a:pt x="1974951" y="484412"/>
                  </a:lnTo>
                  <a:lnTo>
                    <a:pt x="1974951" y="18383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74951" y="484412"/>
                  </a:moveTo>
                  <a:lnTo>
                    <a:pt x="1932245" y="501764"/>
                  </a:lnTo>
                  <a:lnTo>
                    <a:pt x="91440" y="502919"/>
                  </a:lnTo>
                  <a:lnTo>
                    <a:pt x="79434" y="502121"/>
                  </a:lnTo>
                  <a:lnTo>
                    <a:pt x="35676" y="484083"/>
                  </a:lnTo>
                  <a:lnTo>
                    <a:pt x="6986" y="446409"/>
                  </a:lnTo>
                  <a:lnTo>
                    <a:pt x="0" y="411479"/>
                  </a:lnTo>
                  <a:lnTo>
                    <a:pt x="0" y="91439"/>
                  </a:lnTo>
                  <a:lnTo>
                    <a:pt x="12242" y="45719"/>
                  </a:lnTo>
                  <a:lnTo>
                    <a:pt x="45720" y="12242"/>
                  </a:lnTo>
                  <a:lnTo>
                    <a:pt x="91440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74951" y="18383"/>
                  </a:lnTo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304113" y="2497939"/>
            <a:ext cx="9296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Key</a:t>
            </a:r>
            <a:r>
              <a:rPr sz="950" spc="-4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Differentiators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8994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</a:t>
            </a:fld>
            <a:r>
              <a:rPr spc="-10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45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Claude</a:t>
            </a:r>
            <a:r>
              <a:rPr spc="-60" dirty="0"/>
              <a:t> </a:t>
            </a:r>
            <a:r>
              <a:rPr spc="-20" dirty="0"/>
              <a:t>Code?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31559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Agentic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AI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coding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assistant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9FBFFF"/>
                </a:solidFill>
                <a:latin typeface="Arial"/>
                <a:cs typeface="Arial"/>
              </a:rPr>
              <a:t>that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lives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in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your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terminal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and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IDE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2646" y="1038227"/>
            <a:ext cx="4507230" cy="1150620"/>
            <a:chOff x="242646" y="1038227"/>
            <a:chExt cx="4507230" cy="11506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06836" cy="11505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19684" y="1115277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850684"/>
                  </a:lnTo>
                  <a:lnTo>
                    <a:pt x="939" y="865114"/>
                  </a:lnTo>
                  <a:lnTo>
                    <a:pt x="3735" y="879171"/>
                  </a:lnTo>
                  <a:lnTo>
                    <a:pt x="8301" y="892605"/>
                  </a:lnTo>
                  <a:lnTo>
                    <a:pt x="8352" y="892755"/>
                  </a:lnTo>
                  <a:lnTo>
                    <a:pt x="32213" y="928308"/>
                  </a:lnTo>
                  <a:lnTo>
                    <a:pt x="67882" y="952130"/>
                  </a:lnTo>
                  <a:lnTo>
                    <a:pt x="109791" y="960488"/>
                  </a:lnTo>
                  <a:lnTo>
                    <a:pt x="4206595" y="960488"/>
                  </a:lnTo>
                  <a:lnTo>
                    <a:pt x="4248666" y="952130"/>
                  </a:lnTo>
                  <a:lnTo>
                    <a:pt x="4284169" y="928308"/>
                  </a:lnTo>
                  <a:lnTo>
                    <a:pt x="4307966" y="892755"/>
                  </a:lnTo>
                  <a:lnTo>
                    <a:pt x="4308041" y="892605"/>
                  </a:lnTo>
                  <a:lnTo>
                    <a:pt x="4312647" y="879171"/>
                  </a:lnTo>
                  <a:lnTo>
                    <a:pt x="4315458" y="865114"/>
                  </a:lnTo>
                  <a:lnTo>
                    <a:pt x="4316399" y="850684"/>
                  </a:lnTo>
                  <a:lnTo>
                    <a:pt x="4316376" y="109804"/>
                  </a:lnTo>
                  <a:lnTo>
                    <a:pt x="4308041" y="68095"/>
                  </a:lnTo>
                  <a:lnTo>
                    <a:pt x="4284175" y="32535"/>
                  </a:lnTo>
                  <a:lnTo>
                    <a:pt x="4248516" y="8721"/>
                  </a:lnTo>
                  <a:lnTo>
                    <a:pt x="4206595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9684" y="1115277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206595" y="368"/>
                  </a:lnTo>
                  <a:lnTo>
                    <a:pt x="4248516" y="8721"/>
                  </a:lnTo>
                  <a:lnTo>
                    <a:pt x="4284175" y="32535"/>
                  </a:lnTo>
                  <a:lnTo>
                    <a:pt x="4308041" y="68095"/>
                  </a:lnTo>
                  <a:lnTo>
                    <a:pt x="4316399" y="110159"/>
                  </a:lnTo>
                  <a:lnTo>
                    <a:pt x="4316399" y="850684"/>
                  </a:lnTo>
                  <a:lnTo>
                    <a:pt x="4315459" y="865108"/>
                  </a:lnTo>
                  <a:lnTo>
                    <a:pt x="4312662" y="879127"/>
                  </a:lnTo>
                  <a:lnTo>
                    <a:pt x="4293616" y="917477"/>
                  </a:lnTo>
                  <a:lnTo>
                    <a:pt x="4261675" y="945718"/>
                  </a:lnTo>
                  <a:lnTo>
                    <a:pt x="4221025" y="959548"/>
                  </a:lnTo>
                  <a:lnTo>
                    <a:pt x="4206595" y="960488"/>
                  </a:lnTo>
                  <a:lnTo>
                    <a:pt x="109791" y="960488"/>
                  </a:lnTo>
                  <a:lnTo>
                    <a:pt x="67882" y="952130"/>
                  </a:lnTo>
                  <a:lnTo>
                    <a:pt x="32213" y="928308"/>
                  </a:lnTo>
                  <a:lnTo>
                    <a:pt x="8352" y="892755"/>
                  </a:lnTo>
                  <a:lnTo>
                    <a:pt x="0" y="85068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99224" y="1251559"/>
            <a:ext cx="408940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50" spc="405" dirty="0">
                <a:latin typeface="MingLiU_HKSCS-ExtB"/>
                <a:cs typeface="MingLiU_HKSCS-ExtB"/>
              </a:rPr>
              <a:t>🤖</a:t>
            </a:r>
            <a:endParaRPr sz="2550">
              <a:latin typeface="MingLiU_HKSCS-ExtB"/>
              <a:cs typeface="MingLiU_HKSCS-ExtB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1775" y="1247307"/>
            <a:ext cx="14020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AI</a:t>
            </a:r>
            <a:r>
              <a:rPr sz="1100" b="1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Agent,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Not</a:t>
            </a:r>
            <a:r>
              <a:rPr sz="1100" b="1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a</a:t>
            </a:r>
            <a:r>
              <a:rPr sz="1100" b="1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Chatbot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1775" y="1605142"/>
            <a:ext cx="3432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Reads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your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entire</a:t>
            </a:r>
            <a:r>
              <a:rPr sz="900" spc="-3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codebase,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edits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files,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runs</a:t>
            </a:r>
            <a:r>
              <a:rPr sz="900" spc="-3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commands,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executes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tests</a:t>
            </a:r>
            <a:r>
              <a:rPr sz="900" spc="-3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90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autonomously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41557" y="1038227"/>
            <a:ext cx="4402455" cy="1150620"/>
            <a:chOff x="4741557" y="1038227"/>
            <a:chExt cx="4402455" cy="115062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557" y="1038227"/>
              <a:ext cx="4402074" cy="115056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818596" y="1115277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850684"/>
                  </a:lnTo>
                  <a:lnTo>
                    <a:pt x="939" y="865114"/>
                  </a:lnTo>
                  <a:lnTo>
                    <a:pt x="14770" y="905763"/>
                  </a:lnTo>
                  <a:lnTo>
                    <a:pt x="22686" y="917477"/>
                  </a:lnTo>
                  <a:lnTo>
                    <a:pt x="22788" y="917627"/>
                  </a:lnTo>
                  <a:lnTo>
                    <a:pt x="55079" y="945718"/>
                  </a:lnTo>
                  <a:lnTo>
                    <a:pt x="95379" y="959548"/>
                  </a:lnTo>
                  <a:lnTo>
                    <a:pt x="109804" y="960488"/>
                  </a:lnTo>
                  <a:lnTo>
                    <a:pt x="4206608" y="960488"/>
                  </a:lnTo>
                  <a:lnTo>
                    <a:pt x="4248672" y="952130"/>
                  </a:lnTo>
                  <a:lnTo>
                    <a:pt x="4284181" y="928308"/>
                  </a:lnTo>
                  <a:lnTo>
                    <a:pt x="4307971" y="892755"/>
                  </a:lnTo>
                  <a:lnTo>
                    <a:pt x="4316399" y="850684"/>
                  </a:lnTo>
                  <a:lnTo>
                    <a:pt x="4316376" y="109804"/>
                  </a:lnTo>
                  <a:lnTo>
                    <a:pt x="4308046" y="68095"/>
                  </a:lnTo>
                  <a:lnTo>
                    <a:pt x="4284186" y="32535"/>
                  </a:lnTo>
                  <a:lnTo>
                    <a:pt x="4248517" y="8721"/>
                  </a:lnTo>
                  <a:lnTo>
                    <a:pt x="4206608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18596" y="1115277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206608" y="368"/>
                  </a:lnTo>
                  <a:lnTo>
                    <a:pt x="4248517" y="8721"/>
                  </a:lnTo>
                  <a:lnTo>
                    <a:pt x="4284186" y="32535"/>
                  </a:lnTo>
                  <a:lnTo>
                    <a:pt x="4308046" y="68095"/>
                  </a:lnTo>
                  <a:lnTo>
                    <a:pt x="4316399" y="110159"/>
                  </a:lnTo>
                  <a:lnTo>
                    <a:pt x="4316399" y="850684"/>
                  </a:lnTo>
                  <a:lnTo>
                    <a:pt x="4315460" y="865108"/>
                  </a:lnTo>
                  <a:lnTo>
                    <a:pt x="4312664" y="879127"/>
                  </a:lnTo>
                  <a:lnTo>
                    <a:pt x="4293629" y="917477"/>
                  </a:lnTo>
                  <a:lnTo>
                    <a:pt x="4261688" y="945718"/>
                  </a:lnTo>
                  <a:lnTo>
                    <a:pt x="4221031" y="959548"/>
                  </a:lnTo>
                  <a:lnTo>
                    <a:pt x="4206608" y="960488"/>
                  </a:lnTo>
                  <a:lnTo>
                    <a:pt x="109804" y="960488"/>
                  </a:lnTo>
                  <a:lnTo>
                    <a:pt x="67882" y="952130"/>
                  </a:lnTo>
                  <a:lnTo>
                    <a:pt x="32224" y="928308"/>
                  </a:lnTo>
                  <a:lnTo>
                    <a:pt x="8358" y="892755"/>
                  </a:lnTo>
                  <a:lnTo>
                    <a:pt x="0" y="85068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997780" y="1251559"/>
            <a:ext cx="408940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50" spc="405" dirty="0">
                <a:latin typeface="MingLiU_HKSCS-ExtB"/>
                <a:cs typeface="MingLiU_HKSCS-ExtB"/>
              </a:rPr>
              <a:t>💻</a:t>
            </a:r>
            <a:endParaRPr sz="2550">
              <a:latin typeface="MingLiU_HKSCS-ExtB"/>
              <a:cs typeface="MingLiU_HKSCS-ExtB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00700" y="1247307"/>
            <a:ext cx="12649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Terminal</a:t>
            </a:r>
            <a:r>
              <a:rPr sz="1100" b="1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IDE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Native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00700" y="1605142"/>
            <a:ext cx="3401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Lives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in your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terminal;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VS Code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extension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gives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inline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diffs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and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side-panel</a:t>
            </a:r>
            <a:r>
              <a:rPr sz="90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chat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42646" y="2117142"/>
            <a:ext cx="4506595" cy="1150620"/>
            <a:chOff x="242646" y="2117142"/>
            <a:chExt cx="4506595" cy="115062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2117142"/>
              <a:ext cx="4506480" cy="115058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19684" y="2194206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850671"/>
                  </a:lnTo>
                  <a:lnTo>
                    <a:pt x="939" y="865101"/>
                  </a:lnTo>
                  <a:lnTo>
                    <a:pt x="14757" y="905751"/>
                  </a:lnTo>
                  <a:lnTo>
                    <a:pt x="22674" y="917464"/>
                  </a:lnTo>
                  <a:lnTo>
                    <a:pt x="22775" y="917614"/>
                  </a:lnTo>
                  <a:lnTo>
                    <a:pt x="55079" y="945718"/>
                  </a:lnTo>
                  <a:lnTo>
                    <a:pt x="95374" y="959535"/>
                  </a:lnTo>
                  <a:lnTo>
                    <a:pt x="109791" y="960475"/>
                  </a:lnTo>
                  <a:lnTo>
                    <a:pt x="4206595" y="960475"/>
                  </a:lnTo>
                  <a:lnTo>
                    <a:pt x="4248666" y="952122"/>
                  </a:lnTo>
                  <a:lnTo>
                    <a:pt x="4284169" y="928296"/>
                  </a:lnTo>
                  <a:lnTo>
                    <a:pt x="4307966" y="892742"/>
                  </a:lnTo>
                  <a:lnTo>
                    <a:pt x="4308041" y="892592"/>
                  </a:lnTo>
                  <a:lnTo>
                    <a:pt x="4312647" y="879159"/>
                  </a:lnTo>
                  <a:lnTo>
                    <a:pt x="4315458" y="865101"/>
                  </a:lnTo>
                  <a:lnTo>
                    <a:pt x="4316399" y="850671"/>
                  </a:lnTo>
                  <a:lnTo>
                    <a:pt x="4316375" y="109791"/>
                  </a:lnTo>
                  <a:lnTo>
                    <a:pt x="4308041" y="68088"/>
                  </a:lnTo>
                  <a:lnTo>
                    <a:pt x="4284175" y="32534"/>
                  </a:lnTo>
                  <a:lnTo>
                    <a:pt x="4248516" y="8708"/>
                  </a:lnTo>
                  <a:lnTo>
                    <a:pt x="4206595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9684" y="2194206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206595" y="355"/>
                  </a:lnTo>
                  <a:lnTo>
                    <a:pt x="4248516" y="8708"/>
                  </a:lnTo>
                  <a:lnTo>
                    <a:pt x="4284175" y="32534"/>
                  </a:lnTo>
                  <a:lnTo>
                    <a:pt x="4308041" y="68088"/>
                  </a:lnTo>
                  <a:lnTo>
                    <a:pt x="4316399" y="110159"/>
                  </a:lnTo>
                  <a:lnTo>
                    <a:pt x="4316399" y="850671"/>
                  </a:lnTo>
                  <a:lnTo>
                    <a:pt x="4315459" y="865096"/>
                  </a:lnTo>
                  <a:lnTo>
                    <a:pt x="4312662" y="879114"/>
                  </a:lnTo>
                  <a:lnTo>
                    <a:pt x="4293616" y="917464"/>
                  </a:lnTo>
                  <a:lnTo>
                    <a:pt x="4261675" y="945718"/>
                  </a:lnTo>
                  <a:lnTo>
                    <a:pt x="4221025" y="959535"/>
                  </a:lnTo>
                  <a:lnTo>
                    <a:pt x="4206595" y="960475"/>
                  </a:lnTo>
                  <a:lnTo>
                    <a:pt x="109791" y="960475"/>
                  </a:lnTo>
                  <a:lnTo>
                    <a:pt x="67882" y="952122"/>
                  </a:lnTo>
                  <a:lnTo>
                    <a:pt x="32213" y="928296"/>
                  </a:lnTo>
                  <a:lnTo>
                    <a:pt x="8352" y="892742"/>
                  </a:lnTo>
                  <a:lnTo>
                    <a:pt x="0" y="850671"/>
                  </a:lnTo>
                  <a:lnTo>
                    <a:pt x="355" y="10979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99224" y="2330843"/>
            <a:ext cx="408940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50" spc="405" dirty="0">
                <a:latin typeface="MingLiU_HKSCS-ExtB"/>
                <a:cs typeface="MingLiU_HKSCS-ExtB"/>
              </a:rPr>
              <a:t>🔁</a:t>
            </a:r>
            <a:endParaRPr sz="2550">
              <a:latin typeface="MingLiU_HKSCS-ExtB"/>
              <a:cs typeface="MingLiU_HKSCS-ExtB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1775" y="2326222"/>
            <a:ext cx="13646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Full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Development</a:t>
            </a:r>
            <a:r>
              <a:rPr sz="1100" b="1" spc="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Loop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01775" y="2753184"/>
            <a:ext cx="33521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Plan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→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Generate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→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Edit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→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Test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→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Commit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Claude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handles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all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phases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741557" y="2117142"/>
            <a:ext cx="4402455" cy="1150620"/>
            <a:chOff x="4741557" y="2117142"/>
            <a:chExt cx="4402455" cy="115062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557" y="2117142"/>
              <a:ext cx="4402074" cy="115058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818596" y="2194206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5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850671"/>
                  </a:lnTo>
                  <a:lnTo>
                    <a:pt x="939" y="865101"/>
                  </a:lnTo>
                  <a:lnTo>
                    <a:pt x="14770" y="905751"/>
                  </a:lnTo>
                  <a:lnTo>
                    <a:pt x="43011" y="937698"/>
                  </a:lnTo>
                  <a:lnTo>
                    <a:pt x="81360" y="956740"/>
                  </a:lnTo>
                  <a:lnTo>
                    <a:pt x="109804" y="960475"/>
                  </a:lnTo>
                  <a:lnTo>
                    <a:pt x="4206608" y="960475"/>
                  </a:lnTo>
                  <a:lnTo>
                    <a:pt x="4248672" y="952122"/>
                  </a:lnTo>
                  <a:lnTo>
                    <a:pt x="4284181" y="928296"/>
                  </a:lnTo>
                  <a:lnTo>
                    <a:pt x="4307971" y="892742"/>
                  </a:lnTo>
                  <a:lnTo>
                    <a:pt x="4316399" y="850671"/>
                  </a:lnTo>
                  <a:lnTo>
                    <a:pt x="4316375" y="109791"/>
                  </a:lnTo>
                  <a:lnTo>
                    <a:pt x="4308046" y="68088"/>
                  </a:lnTo>
                  <a:lnTo>
                    <a:pt x="4284186" y="32534"/>
                  </a:lnTo>
                  <a:lnTo>
                    <a:pt x="4248517" y="8708"/>
                  </a:lnTo>
                  <a:lnTo>
                    <a:pt x="4206608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818596" y="2194206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5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206608" y="355"/>
                  </a:lnTo>
                  <a:lnTo>
                    <a:pt x="4248517" y="8708"/>
                  </a:lnTo>
                  <a:lnTo>
                    <a:pt x="4284186" y="32534"/>
                  </a:lnTo>
                  <a:lnTo>
                    <a:pt x="4308046" y="68088"/>
                  </a:lnTo>
                  <a:lnTo>
                    <a:pt x="4316399" y="110159"/>
                  </a:lnTo>
                  <a:lnTo>
                    <a:pt x="4316399" y="850671"/>
                  </a:lnTo>
                  <a:lnTo>
                    <a:pt x="4315460" y="865096"/>
                  </a:lnTo>
                  <a:lnTo>
                    <a:pt x="4312664" y="879114"/>
                  </a:lnTo>
                  <a:lnTo>
                    <a:pt x="4293629" y="917464"/>
                  </a:lnTo>
                  <a:lnTo>
                    <a:pt x="4261688" y="945718"/>
                  </a:lnTo>
                  <a:lnTo>
                    <a:pt x="4221031" y="959535"/>
                  </a:lnTo>
                  <a:lnTo>
                    <a:pt x="4206608" y="960475"/>
                  </a:lnTo>
                  <a:lnTo>
                    <a:pt x="109804" y="960475"/>
                  </a:lnTo>
                  <a:lnTo>
                    <a:pt x="67882" y="952122"/>
                  </a:lnTo>
                  <a:lnTo>
                    <a:pt x="32224" y="928296"/>
                  </a:lnTo>
                  <a:lnTo>
                    <a:pt x="8358" y="892742"/>
                  </a:lnTo>
                  <a:lnTo>
                    <a:pt x="0" y="850671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997780" y="2330843"/>
            <a:ext cx="408940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50" spc="405" dirty="0">
                <a:latin typeface="MingLiU_HKSCS-ExtB"/>
                <a:cs typeface="MingLiU_HKSCS-ExtB"/>
              </a:rPr>
              <a:t>🧠</a:t>
            </a:r>
            <a:endParaRPr sz="2550">
              <a:latin typeface="MingLiU_HKSCS-ExtB"/>
              <a:cs typeface="MingLiU_HKSCS-ExtB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00700" y="2326222"/>
            <a:ext cx="8864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1D283A"/>
                </a:solidFill>
                <a:latin typeface="Calibri"/>
                <a:cs typeface="Calibri"/>
              </a:rPr>
              <a:t>Context-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Aware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00700" y="2684426"/>
            <a:ext cx="31553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Reads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CLAUDE.md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to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understand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your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project,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team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standards,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and</a:t>
            </a:r>
            <a:r>
              <a:rPr sz="90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architecture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42646" y="3196071"/>
            <a:ext cx="4506595" cy="1150620"/>
            <a:chOff x="242646" y="3196071"/>
            <a:chExt cx="4506595" cy="1150620"/>
          </a:xfrm>
        </p:grpSpPr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3196071"/>
              <a:ext cx="4506480" cy="115056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19684" y="3273122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4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850684"/>
                  </a:lnTo>
                  <a:lnTo>
                    <a:pt x="939" y="865107"/>
                  </a:lnTo>
                  <a:lnTo>
                    <a:pt x="14757" y="905764"/>
                  </a:lnTo>
                  <a:lnTo>
                    <a:pt x="22670" y="917471"/>
                  </a:lnTo>
                  <a:lnTo>
                    <a:pt x="22775" y="917627"/>
                  </a:lnTo>
                  <a:lnTo>
                    <a:pt x="55079" y="945718"/>
                  </a:lnTo>
                  <a:lnTo>
                    <a:pt x="95374" y="959535"/>
                  </a:lnTo>
                  <a:lnTo>
                    <a:pt x="109791" y="960475"/>
                  </a:lnTo>
                  <a:lnTo>
                    <a:pt x="4206595" y="960475"/>
                  </a:lnTo>
                  <a:lnTo>
                    <a:pt x="4248666" y="952122"/>
                  </a:lnTo>
                  <a:lnTo>
                    <a:pt x="4284167" y="928308"/>
                  </a:lnTo>
                  <a:lnTo>
                    <a:pt x="4307963" y="892748"/>
                  </a:lnTo>
                  <a:lnTo>
                    <a:pt x="4316399" y="850684"/>
                  </a:lnTo>
                  <a:lnTo>
                    <a:pt x="4316376" y="109804"/>
                  </a:lnTo>
                  <a:lnTo>
                    <a:pt x="4308041" y="68088"/>
                  </a:lnTo>
                  <a:lnTo>
                    <a:pt x="4284175" y="32535"/>
                  </a:lnTo>
                  <a:lnTo>
                    <a:pt x="4248516" y="8713"/>
                  </a:lnTo>
                  <a:lnTo>
                    <a:pt x="4206595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19684" y="3273122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4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206595" y="355"/>
                  </a:lnTo>
                  <a:lnTo>
                    <a:pt x="4248516" y="8713"/>
                  </a:lnTo>
                  <a:lnTo>
                    <a:pt x="4284175" y="32535"/>
                  </a:lnTo>
                  <a:lnTo>
                    <a:pt x="4308041" y="68088"/>
                  </a:lnTo>
                  <a:lnTo>
                    <a:pt x="4316399" y="110159"/>
                  </a:lnTo>
                  <a:lnTo>
                    <a:pt x="4316399" y="850684"/>
                  </a:lnTo>
                  <a:lnTo>
                    <a:pt x="4315459" y="865101"/>
                  </a:lnTo>
                  <a:lnTo>
                    <a:pt x="4312662" y="879116"/>
                  </a:lnTo>
                  <a:lnTo>
                    <a:pt x="4293616" y="917471"/>
                  </a:lnTo>
                  <a:lnTo>
                    <a:pt x="4261675" y="945718"/>
                  </a:lnTo>
                  <a:lnTo>
                    <a:pt x="4221025" y="959535"/>
                  </a:lnTo>
                  <a:lnTo>
                    <a:pt x="4206595" y="960475"/>
                  </a:lnTo>
                  <a:lnTo>
                    <a:pt x="109791" y="960475"/>
                  </a:lnTo>
                  <a:lnTo>
                    <a:pt x="67882" y="952122"/>
                  </a:lnTo>
                  <a:lnTo>
                    <a:pt x="32213" y="928308"/>
                  </a:lnTo>
                  <a:lnTo>
                    <a:pt x="8352" y="892748"/>
                  </a:lnTo>
                  <a:lnTo>
                    <a:pt x="0" y="85068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99224" y="3409759"/>
            <a:ext cx="408940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50" spc="405" dirty="0">
                <a:latin typeface="MingLiU_HKSCS-ExtB"/>
                <a:cs typeface="MingLiU_HKSCS-ExtB"/>
              </a:rPr>
              <a:t>🔗</a:t>
            </a:r>
            <a:endParaRPr sz="2550">
              <a:latin typeface="MingLiU_HKSCS-ExtB"/>
              <a:cs typeface="MingLiU_HKSCS-ExtB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01775" y="3405151"/>
            <a:ext cx="94106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Tool</a:t>
            </a:r>
            <a:r>
              <a:rPr sz="1100" b="1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Integration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01775" y="3832099"/>
            <a:ext cx="30226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Runs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bash,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npm,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mvn,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git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uses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real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tools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in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your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actual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project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741557" y="3196071"/>
            <a:ext cx="4402455" cy="1150620"/>
            <a:chOff x="4741557" y="3196071"/>
            <a:chExt cx="4402455" cy="1150620"/>
          </a:xfrm>
        </p:grpSpPr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557" y="3196071"/>
              <a:ext cx="4402074" cy="115056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818596" y="3273122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4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850684"/>
                  </a:lnTo>
                  <a:lnTo>
                    <a:pt x="939" y="865107"/>
                  </a:lnTo>
                  <a:lnTo>
                    <a:pt x="3736" y="879162"/>
                  </a:lnTo>
                  <a:lnTo>
                    <a:pt x="8305" y="892592"/>
                  </a:lnTo>
                  <a:lnTo>
                    <a:pt x="8358" y="892748"/>
                  </a:lnTo>
                  <a:lnTo>
                    <a:pt x="14770" y="905764"/>
                  </a:lnTo>
                  <a:lnTo>
                    <a:pt x="22683" y="917471"/>
                  </a:lnTo>
                  <a:lnTo>
                    <a:pt x="22788" y="917627"/>
                  </a:lnTo>
                  <a:lnTo>
                    <a:pt x="55079" y="945718"/>
                  </a:lnTo>
                  <a:lnTo>
                    <a:pt x="95379" y="959535"/>
                  </a:lnTo>
                  <a:lnTo>
                    <a:pt x="109804" y="960475"/>
                  </a:lnTo>
                  <a:lnTo>
                    <a:pt x="4206608" y="960475"/>
                  </a:lnTo>
                  <a:lnTo>
                    <a:pt x="4248672" y="952122"/>
                  </a:lnTo>
                  <a:lnTo>
                    <a:pt x="4284180" y="928308"/>
                  </a:lnTo>
                  <a:lnTo>
                    <a:pt x="4307969" y="892748"/>
                  </a:lnTo>
                  <a:lnTo>
                    <a:pt x="4316399" y="850684"/>
                  </a:lnTo>
                  <a:lnTo>
                    <a:pt x="4316376" y="109804"/>
                  </a:lnTo>
                  <a:lnTo>
                    <a:pt x="4308046" y="68088"/>
                  </a:lnTo>
                  <a:lnTo>
                    <a:pt x="4284186" y="32535"/>
                  </a:lnTo>
                  <a:lnTo>
                    <a:pt x="4248517" y="8713"/>
                  </a:lnTo>
                  <a:lnTo>
                    <a:pt x="4206608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818596" y="3273122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4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206608" y="355"/>
                  </a:lnTo>
                  <a:lnTo>
                    <a:pt x="4248517" y="8713"/>
                  </a:lnTo>
                  <a:lnTo>
                    <a:pt x="4284186" y="32535"/>
                  </a:lnTo>
                  <a:lnTo>
                    <a:pt x="4308046" y="68088"/>
                  </a:lnTo>
                  <a:lnTo>
                    <a:pt x="4316399" y="110159"/>
                  </a:lnTo>
                  <a:lnTo>
                    <a:pt x="4316399" y="850684"/>
                  </a:lnTo>
                  <a:lnTo>
                    <a:pt x="4315460" y="865101"/>
                  </a:lnTo>
                  <a:lnTo>
                    <a:pt x="4312664" y="879116"/>
                  </a:lnTo>
                  <a:lnTo>
                    <a:pt x="4293629" y="917471"/>
                  </a:lnTo>
                  <a:lnTo>
                    <a:pt x="4261688" y="945718"/>
                  </a:lnTo>
                  <a:lnTo>
                    <a:pt x="4221031" y="959535"/>
                  </a:lnTo>
                  <a:lnTo>
                    <a:pt x="4206608" y="960475"/>
                  </a:lnTo>
                  <a:lnTo>
                    <a:pt x="109804" y="960475"/>
                  </a:lnTo>
                  <a:lnTo>
                    <a:pt x="67882" y="952122"/>
                  </a:lnTo>
                  <a:lnTo>
                    <a:pt x="32224" y="928308"/>
                  </a:lnTo>
                  <a:lnTo>
                    <a:pt x="8358" y="892748"/>
                  </a:lnTo>
                  <a:lnTo>
                    <a:pt x="0" y="85068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4997780" y="3409759"/>
            <a:ext cx="408940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50" spc="405" dirty="0">
                <a:latin typeface="MingLiU_HKSCS-ExtB"/>
                <a:cs typeface="MingLiU_HKSCS-ExtB"/>
              </a:rPr>
              <a:t>🚀</a:t>
            </a:r>
            <a:endParaRPr sz="2550">
              <a:latin typeface="MingLiU_HKSCS-ExtB"/>
              <a:cs typeface="MingLiU_HKSCS-ExtB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500700" y="3405151"/>
            <a:ext cx="7969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Agentic</a:t>
            </a:r>
            <a:r>
              <a:rPr sz="1100" b="1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Tasks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500700" y="3763341"/>
            <a:ext cx="34061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Multi-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step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tasks: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'add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new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financial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report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endpoint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with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tests'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done</a:t>
            </a:r>
            <a:r>
              <a:rPr sz="90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end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to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end</a:t>
            </a:r>
            <a:endParaRPr sz="900" dirty="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13016" y="4656786"/>
            <a:ext cx="8678583" cy="360680"/>
            <a:chOff x="313016" y="4656786"/>
            <a:chExt cx="8517255" cy="360680"/>
          </a:xfrm>
        </p:grpSpPr>
        <p:sp>
          <p:nvSpPr>
            <p:cNvPr id="48" name="object 48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44144" y="4730580"/>
            <a:ext cx="477774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Think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of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Claude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Code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as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senior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developer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who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knows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your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entire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codebase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and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works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24/7.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8994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4</a:t>
            </a:fld>
            <a:r>
              <a:rPr spc="-10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Claude</a:t>
            </a:r>
            <a:r>
              <a:rPr spc="-65" dirty="0"/>
              <a:t> </a:t>
            </a:r>
            <a:r>
              <a:rPr dirty="0"/>
              <a:t>Chat</a:t>
            </a:r>
            <a:r>
              <a:rPr spc="-50" dirty="0"/>
              <a:t> </a:t>
            </a:r>
            <a:r>
              <a:rPr dirty="0"/>
              <a:t>vs</a:t>
            </a:r>
            <a:r>
              <a:rPr spc="-50" dirty="0"/>
              <a:t> </a:t>
            </a:r>
            <a:r>
              <a:rPr dirty="0"/>
              <a:t>Claude</a:t>
            </a:r>
            <a:r>
              <a:rPr spc="-55" dirty="0"/>
              <a:t> </a:t>
            </a:r>
            <a:r>
              <a:rPr spc="-20" dirty="0"/>
              <a:t>Code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63525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50" dirty="0">
                <a:solidFill>
                  <a:srgbClr val="9FBFFF"/>
                </a:solidFill>
                <a:latin typeface="+mn-lt"/>
                <a:cs typeface="Arial"/>
              </a:rPr>
              <a:t>Understanding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the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+mn-lt"/>
                <a:cs typeface="Arial"/>
              </a:rPr>
              <a:t>difference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+mn-lt"/>
                <a:cs typeface="Arial"/>
              </a:rPr>
              <a:t>—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+mn-lt"/>
                <a:cs typeface="Arial"/>
              </a:rPr>
              <a:t>when</a:t>
            </a:r>
            <a:r>
              <a:rPr sz="1000" i="1" spc="-1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dirty="0">
                <a:solidFill>
                  <a:srgbClr val="9FBFFF"/>
                </a:solidFill>
                <a:latin typeface="+mn-lt"/>
                <a:cs typeface="Arial"/>
              </a:rPr>
              <a:t>to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85" dirty="0">
                <a:solidFill>
                  <a:srgbClr val="9FBFFF"/>
                </a:solidFill>
                <a:latin typeface="+mn-lt"/>
                <a:cs typeface="Arial"/>
              </a:rPr>
              <a:t>use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which</a:t>
            </a:r>
            <a:endParaRPr sz="1000" dirty="0">
              <a:latin typeface="+mn-lt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2646" y="1038227"/>
            <a:ext cx="4506595" cy="3487001"/>
            <a:chOff x="242646" y="1038227"/>
            <a:chExt cx="4506595" cy="380237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06480" cy="380232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19684" y="1115277"/>
              <a:ext cx="4316730" cy="3612515"/>
            </a:xfrm>
            <a:custGeom>
              <a:avLst/>
              <a:gdLst/>
              <a:ahLst/>
              <a:cxnLst/>
              <a:rect l="l" t="t" r="r" b="b"/>
              <a:pathLst>
                <a:path w="4316730" h="361251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502444"/>
                  </a:lnTo>
                  <a:lnTo>
                    <a:pt x="939" y="3516874"/>
                  </a:lnTo>
                  <a:lnTo>
                    <a:pt x="3735" y="3530931"/>
                  </a:lnTo>
                  <a:lnTo>
                    <a:pt x="8301" y="3544365"/>
                  </a:lnTo>
                  <a:lnTo>
                    <a:pt x="8352" y="3544515"/>
                  </a:lnTo>
                  <a:lnTo>
                    <a:pt x="32213" y="3580068"/>
                  </a:lnTo>
                  <a:lnTo>
                    <a:pt x="67882" y="3603890"/>
                  </a:lnTo>
                  <a:lnTo>
                    <a:pt x="109791" y="3612248"/>
                  </a:lnTo>
                  <a:lnTo>
                    <a:pt x="4206595" y="3612248"/>
                  </a:lnTo>
                  <a:lnTo>
                    <a:pt x="4248666" y="3603890"/>
                  </a:lnTo>
                  <a:lnTo>
                    <a:pt x="4284169" y="3580068"/>
                  </a:lnTo>
                  <a:lnTo>
                    <a:pt x="4307966" y="3544515"/>
                  </a:lnTo>
                  <a:lnTo>
                    <a:pt x="4316399" y="3502444"/>
                  </a:lnTo>
                  <a:lnTo>
                    <a:pt x="4316376" y="109804"/>
                  </a:lnTo>
                  <a:lnTo>
                    <a:pt x="4308041" y="68095"/>
                  </a:lnTo>
                  <a:lnTo>
                    <a:pt x="4284175" y="32535"/>
                  </a:lnTo>
                  <a:lnTo>
                    <a:pt x="4248516" y="8721"/>
                  </a:lnTo>
                  <a:lnTo>
                    <a:pt x="4206595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9684" y="1115277"/>
              <a:ext cx="4316730" cy="3612515"/>
            </a:xfrm>
            <a:custGeom>
              <a:avLst/>
              <a:gdLst/>
              <a:ahLst/>
              <a:cxnLst/>
              <a:rect l="l" t="t" r="r" b="b"/>
              <a:pathLst>
                <a:path w="4316730" h="361251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206595" y="368"/>
                  </a:lnTo>
                  <a:lnTo>
                    <a:pt x="4248516" y="8721"/>
                  </a:lnTo>
                  <a:lnTo>
                    <a:pt x="4284175" y="32535"/>
                  </a:lnTo>
                  <a:lnTo>
                    <a:pt x="4308041" y="68095"/>
                  </a:lnTo>
                  <a:lnTo>
                    <a:pt x="4316399" y="110159"/>
                  </a:lnTo>
                  <a:lnTo>
                    <a:pt x="4316399" y="3502444"/>
                  </a:lnTo>
                  <a:lnTo>
                    <a:pt x="4315459" y="3516868"/>
                  </a:lnTo>
                  <a:lnTo>
                    <a:pt x="4312662" y="3530887"/>
                  </a:lnTo>
                  <a:lnTo>
                    <a:pt x="4293616" y="3569237"/>
                  </a:lnTo>
                  <a:lnTo>
                    <a:pt x="4261675" y="3597478"/>
                  </a:lnTo>
                  <a:lnTo>
                    <a:pt x="4221025" y="3611308"/>
                  </a:lnTo>
                  <a:lnTo>
                    <a:pt x="4206595" y="3612248"/>
                  </a:lnTo>
                  <a:lnTo>
                    <a:pt x="109791" y="3612248"/>
                  </a:lnTo>
                  <a:lnTo>
                    <a:pt x="67882" y="3603890"/>
                  </a:lnTo>
                  <a:lnTo>
                    <a:pt x="32213" y="3580068"/>
                  </a:lnTo>
                  <a:lnTo>
                    <a:pt x="8352" y="3544515"/>
                  </a:lnTo>
                  <a:lnTo>
                    <a:pt x="0" y="350244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9684" y="1115277"/>
              <a:ext cx="4316730" cy="384810"/>
            </a:xfrm>
            <a:custGeom>
              <a:avLst/>
              <a:gdLst/>
              <a:ahLst/>
              <a:cxnLst/>
              <a:rect l="l" t="t" r="r" b="b"/>
              <a:pathLst>
                <a:path w="4316730" h="384809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274688"/>
                  </a:lnTo>
                  <a:lnTo>
                    <a:pt x="939" y="289111"/>
                  </a:lnTo>
                  <a:lnTo>
                    <a:pt x="14757" y="329768"/>
                  </a:lnTo>
                  <a:lnTo>
                    <a:pt x="43003" y="361709"/>
                  </a:lnTo>
                  <a:lnTo>
                    <a:pt x="81359" y="380744"/>
                  </a:lnTo>
                  <a:lnTo>
                    <a:pt x="109791" y="384479"/>
                  </a:lnTo>
                  <a:lnTo>
                    <a:pt x="4206595" y="384479"/>
                  </a:lnTo>
                  <a:lnTo>
                    <a:pt x="4248666" y="376126"/>
                  </a:lnTo>
                  <a:lnTo>
                    <a:pt x="4284167" y="352312"/>
                  </a:lnTo>
                  <a:lnTo>
                    <a:pt x="4307963" y="316752"/>
                  </a:lnTo>
                  <a:lnTo>
                    <a:pt x="4316399" y="274688"/>
                  </a:lnTo>
                  <a:lnTo>
                    <a:pt x="4316376" y="109804"/>
                  </a:lnTo>
                  <a:lnTo>
                    <a:pt x="4308041" y="68095"/>
                  </a:lnTo>
                  <a:lnTo>
                    <a:pt x="4284175" y="32535"/>
                  </a:lnTo>
                  <a:lnTo>
                    <a:pt x="4248516" y="8721"/>
                  </a:lnTo>
                  <a:lnTo>
                    <a:pt x="4206595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4654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71500" y="1203377"/>
            <a:ext cx="14782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Claude</a:t>
            </a: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Chat</a:t>
            </a: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(claude.ai)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9864" y="1752386"/>
            <a:ext cx="149352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080" indent="-119380">
              <a:lnSpc>
                <a:spcPct val="100000"/>
              </a:lnSpc>
              <a:spcBef>
                <a:spcPts val="100"/>
              </a:spcBef>
              <a:buChar char="○"/>
              <a:tabLst>
                <a:tab pos="132080" algn="l"/>
              </a:tabLst>
            </a:pP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Web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browser</a:t>
            </a:r>
            <a:r>
              <a:rPr sz="9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interface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only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9864" y="2246301"/>
            <a:ext cx="145478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080" indent="-119380">
              <a:lnSpc>
                <a:spcPct val="100000"/>
              </a:lnSpc>
              <a:spcBef>
                <a:spcPts val="100"/>
              </a:spcBef>
              <a:buChar char="○"/>
              <a:tabLst>
                <a:tab pos="132080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Question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→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Answer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model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9864" y="2739861"/>
            <a:ext cx="14960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080" indent="-119380">
              <a:lnSpc>
                <a:spcPct val="100000"/>
              </a:lnSpc>
              <a:spcBef>
                <a:spcPts val="100"/>
              </a:spcBef>
              <a:buChar char="○"/>
              <a:tabLst>
                <a:tab pos="132080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No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access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to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your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codebase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9864" y="3233777"/>
            <a:ext cx="183133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080" indent="-119380">
              <a:lnSpc>
                <a:spcPct val="100000"/>
              </a:lnSpc>
              <a:spcBef>
                <a:spcPts val="100"/>
              </a:spcBef>
              <a:buChar char="○"/>
              <a:tabLst>
                <a:tab pos="132080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Cannot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edit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files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or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commands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9864" y="3727706"/>
            <a:ext cx="29965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080" indent="-119380">
              <a:lnSpc>
                <a:spcPct val="100000"/>
              </a:lnSpc>
              <a:spcBef>
                <a:spcPts val="100"/>
              </a:spcBef>
              <a:buChar char="○"/>
              <a:tabLst>
                <a:tab pos="132080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Great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for: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explaining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concepts,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writing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docs,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brainstorming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1185" y="4096856"/>
            <a:ext cx="17322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080" indent="-119380">
              <a:lnSpc>
                <a:spcPct val="100000"/>
              </a:lnSpc>
              <a:spcBef>
                <a:spcPts val="100"/>
              </a:spcBef>
              <a:buChar char="○"/>
              <a:tabLst>
                <a:tab pos="132080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Stateless</a:t>
            </a:r>
            <a:r>
              <a:rPr sz="9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between</a:t>
            </a:r>
            <a:r>
              <a:rPr sz="9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conversations</a:t>
            </a:r>
            <a:endParaRPr sz="95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41557" y="1038228"/>
            <a:ext cx="4402455" cy="3454304"/>
            <a:chOff x="4741557" y="1038227"/>
            <a:chExt cx="4402455" cy="3802379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557" y="1038227"/>
              <a:ext cx="4402074" cy="380232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818596" y="1115277"/>
              <a:ext cx="4316730" cy="3612515"/>
            </a:xfrm>
            <a:custGeom>
              <a:avLst/>
              <a:gdLst/>
              <a:ahLst/>
              <a:cxnLst/>
              <a:rect l="l" t="t" r="r" b="b"/>
              <a:pathLst>
                <a:path w="4316730" h="361251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3502444"/>
                  </a:lnTo>
                  <a:lnTo>
                    <a:pt x="939" y="3516874"/>
                  </a:lnTo>
                  <a:lnTo>
                    <a:pt x="14770" y="3557524"/>
                  </a:lnTo>
                  <a:lnTo>
                    <a:pt x="43011" y="3589465"/>
                  </a:lnTo>
                  <a:lnTo>
                    <a:pt x="81360" y="3608511"/>
                  </a:lnTo>
                  <a:lnTo>
                    <a:pt x="109804" y="3612248"/>
                  </a:lnTo>
                  <a:lnTo>
                    <a:pt x="4206608" y="3612248"/>
                  </a:lnTo>
                  <a:lnTo>
                    <a:pt x="4248672" y="3603890"/>
                  </a:lnTo>
                  <a:lnTo>
                    <a:pt x="4284181" y="3580068"/>
                  </a:lnTo>
                  <a:lnTo>
                    <a:pt x="4307971" y="3544515"/>
                  </a:lnTo>
                  <a:lnTo>
                    <a:pt x="4316399" y="3502444"/>
                  </a:lnTo>
                  <a:lnTo>
                    <a:pt x="4316376" y="109804"/>
                  </a:lnTo>
                  <a:lnTo>
                    <a:pt x="4308046" y="68095"/>
                  </a:lnTo>
                  <a:lnTo>
                    <a:pt x="4284186" y="32535"/>
                  </a:lnTo>
                  <a:lnTo>
                    <a:pt x="4248517" y="8721"/>
                  </a:lnTo>
                  <a:lnTo>
                    <a:pt x="4206608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18596" y="1115277"/>
              <a:ext cx="4316730" cy="3612515"/>
            </a:xfrm>
            <a:custGeom>
              <a:avLst/>
              <a:gdLst/>
              <a:ahLst/>
              <a:cxnLst/>
              <a:rect l="l" t="t" r="r" b="b"/>
              <a:pathLst>
                <a:path w="4316730" h="361251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206608" y="368"/>
                  </a:lnTo>
                  <a:lnTo>
                    <a:pt x="4248517" y="8721"/>
                  </a:lnTo>
                  <a:lnTo>
                    <a:pt x="4284186" y="32535"/>
                  </a:lnTo>
                  <a:lnTo>
                    <a:pt x="4308046" y="68095"/>
                  </a:lnTo>
                  <a:lnTo>
                    <a:pt x="4316399" y="110159"/>
                  </a:lnTo>
                  <a:lnTo>
                    <a:pt x="4316399" y="3502444"/>
                  </a:lnTo>
                  <a:lnTo>
                    <a:pt x="4315460" y="3516868"/>
                  </a:lnTo>
                  <a:lnTo>
                    <a:pt x="4312664" y="3530887"/>
                  </a:lnTo>
                  <a:lnTo>
                    <a:pt x="4293629" y="3569237"/>
                  </a:lnTo>
                  <a:lnTo>
                    <a:pt x="4261688" y="3597478"/>
                  </a:lnTo>
                  <a:lnTo>
                    <a:pt x="4221031" y="3611308"/>
                  </a:lnTo>
                  <a:lnTo>
                    <a:pt x="4206608" y="3612248"/>
                  </a:lnTo>
                  <a:lnTo>
                    <a:pt x="109804" y="3612248"/>
                  </a:lnTo>
                  <a:lnTo>
                    <a:pt x="67882" y="3603890"/>
                  </a:lnTo>
                  <a:lnTo>
                    <a:pt x="32224" y="3580068"/>
                  </a:lnTo>
                  <a:lnTo>
                    <a:pt x="8358" y="3544515"/>
                  </a:lnTo>
                  <a:lnTo>
                    <a:pt x="0" y="350244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18596" y="1115277"/>
              <a:ext cx="4316730" cy="384810"/>
            </a:xfrm>
            <a:custGeom>
              <a:avLst/>
              <a:gdLst/>
              <a:ahLst/>
              <a:cxnLst/>
              <a:rect l="l" t="t" r="r" b="b"/>
              <a:pathLst>
                <a:path w="4316730" h="384809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274688"/>
                  </a:lnTo>
                  <a:lnTo>
                    <a:pt x="939" y="289111"/>
                  </a:lnTo>
                  <a:lnTo>
                    <a:pt x="3736" y="303166"/>
                  </a:lnTo>
                  <a:lnTo>
                    <a:pt x="8305" y="316597"/>
                  </a:lnTo>
                  <a:lnTo>
                    <a:pt x="8358" y="316752"/>
                  </a:lnTo>
                  <a:lnTo>
                    <a:pt x="14770" y="329768"/>
                  </a:lnTo>
                  <a:lnTo>
                    <a:pt x="22683" y="341476"/>
                  </a:lnTo>
                  <a:lnTo>
                    <a:pt x="22788" y="341631"/>
                  </a:lnTo>
                  <a:lnTo>
                    <a:pt x="55079" y="369722"/>
                  </a:lnTo>
                  <a:lnTo>
                    <a:pt x="95379" y="383540"/>
                  </a:lnTo>
                  <a:lnTo>
                    <a:pt x="109804" y="384479"/>
                  </a:lnTo>
                  <a:lnTo>
                    <a:pt x="4206608" y="384479"/>
                  </a:lnTo>
                  <a:lnTo>
                    <a:pt x="4248672" y="376126"/>
                  </a:lnTo>
                  <a:lnTo>
                    <a:pt x="4284180" y="352312"/>
                  </a:lnTo>
                  <a:lnTo>
                    <a:pt x="4307969" y="316752"/>
                  </a:lnTo>
                  <a:lnTo>
                    <a:pt x="4316399" y="274688"/>
                  </a:lnTo>
                  <a:lnTo>
                    <a:pt x="4316376" y="109804"/>
                  </a:lnTo>
                  <a:lnTo>
                    <a:pt x="4308046" y="68095"/>
                  </a:lnTo>
                  <a:lnTo>
                    <a:pt x="4284186" y="32535"/>
                  </a:lnTo>
                  <a:lnTo>
                    <a:pt x="4248517" y="8721"/>
                  </a:lnTo>
                  <a:lnTo>
                    <a:pt x="4206608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70424" y="1203377"/>
            <a:ext cx="14808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Claude</a:t>
            </a:r>
            <a:r>
              <a:rPr sz="1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sz="1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(CLI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IDE)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88775" y="1752386"/>
            <a:ext cx="164592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Terminal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VS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Code</a:t>
            </a:r>
            <a:r>
              <a:rPr sz="9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integrated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88775" y="2246301"/>
            <a:ext cx="14503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Autonomous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agent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model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88775" y="2739861"/>
            <a:ext cx="16351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Reads</a:t>
            </a:r>
            <a:r>
              <a:rPr sz="95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your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entire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project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tree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88775" y="3233777"/>
            <a:ext cx="191198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Edits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files,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tests,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commits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code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88775" y="3727706"/>
            <a:ext cx="26568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Great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for: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building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features,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debugging,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refactoring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05400" y="4107359"/>
            <a:ext cx="220472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Maintains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project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context</a:t>
            </a:r>
            <a:r>
              <a:rPr sz="9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via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CLAUDE.md</a:t>
            </a:r>
            <a:endParaRPr sz="950" dirty="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13016" y="4784725"/>
            <a:ext cx="8517255" cy="360680"/>
            <a:chOff x="313016" y="4656786"/>
            <a:chExt cx="8517255" cy="360680"/>
          </a:xfrm>
        </p:grpSpPr>
        <p:sp>
          <p:nvSpPr>
            <p:cNvPr id="30" name="object 30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44144" y="4885607"/>
            <a:ext cx="6666230" cy="17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WAMY</a:t>
            </a:r>
            <a:r>
              <a:rPr sz="950" spc="-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Project: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use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Claude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Code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for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all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development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tasks.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Use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Claude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Chat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for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quick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concept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questions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when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not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at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your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computer.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8994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5</a:t>
            </a:fld>
            <a:r>
              <a:rPr spc="-10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Claude</a:t>
            </a:r>
            <a:r>
              <a:rPr spc="-95" dirty="0"/>
              <a:t> </a:t>
            </a:r>
            <a:r>
              <a:rPr dirty="0"/>
              <a:t>Code</a:t>
            </a:r>
            <a:r>
              <a:rPr spc="-85" dirty="0"/>
              <a:t> </a:t>
            </a:r>
            <a:r>
              <a:rPr dirty="0"/>
              <a:t>Key</a:t>
            </a:r>
            <a:r>
              <a:rPr spc="-80" dirty="0"/>
              <a:t> </a:t>
            </a:r>
            <a:r>
              <a:rPr spc="-10" dirty="0"/>
              <a:t>Capabilities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42277" y="1037858"/>
            <a:ext cx="8695055" cy="3573779"/>
            <a:chOff x="242277" y="1037858"/>
            <a:chExt cx="8695055" cy="35737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037858"/>
              <a:ext cx="8694724" cy="61094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9316" y="1114922"/>
              <a:ext cx="8504555" cy="421005"/>
            </a:xfrm>
            <a:custGeom>
              <a:avLst/>
              <a:gdLst/>
              <a:ahLst/>
              <a:cxnLst/>
              <a:rect l="l" t="t" r="r" b="b"/>
              <a:pathLst>
                <a:path w="8504555" h="421005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932"/>
                  </a:lnTo>
                  <a:lnTo>
                    <a:pt x="368" y="109804"/>
                  </a:lnTo>
                  <a:lnTo>
                    <a:pt x="0" y="311035"/>
                  </a:lnTo>
                  <a:lnTo>
                    <a:pt x="929" y="325310"/>
                  </a:lnTo>
                  <a:lnTo>
                    <a:pt x="939" y="325465"/>
                  </a:lnTo>
                  <a:lnTo>
                    <a:pt x="3701" y="339345"/>
                  </a:lnTo>
                  <a:lnTo>
                    <a:pt x="3736" y="339523"/>
                  </a:lnTo>
                  <a:lnTo>
                    <a:pt x="8290" y="352907"/>
                  </a:lnTo>
                  <a:lnTo>
                    <a:pt x="32224" y="388661"/>
                  </a:lnTo>
                  <a:lnTo>
                    <a:pt x="67934" y="412487"/>
                  </a:lnTo>
                  <a:lnTo>
                    <a:pt x="109804" y="420839"/>
                  </a:lnTo>
                  <a:lnTo>
                    <a:pt x="8394484" y="420839"/>
                  </a:lnTo>
                  <a:lnTo>
                    <a:pt x="8436555" y="412487"/>
                  </a:lnTo>
                  <a:lnTo>
                    <a:pt x="8472057" y="388661"/>
                  </a:lnTo>
                  <a:lnTo>
                    <a:pt x="8495830" y="353107"/>
                  </a:lnTo>
                  <a:lnTo>
                    <a:pt x="8500490" y="339523"/>
                  </a:lnTo>
                  <a:lnTo>
                    <a:pt x="8500551" y="339345"/>
                  </a:lnTo>
                  <a:lnTo>
                    <a:pt x="8503317" y="325465"/>
                  </a:lnTo>
                  <a:lnTo>
                    <a:pt x="8503348" y="325310"/>
                  </a:lnTo>
                  <a:lnTo>
                    <a:pt x="8504288" y="311035"/>
                  </a:lnTo>
                  <a:lnTo>
                    <a:pt x="8504265" y="109804"/>
                  </a:lnTo>
                  <a:lnTo>
                    <a:pt x="8495930" y="68088"/>
                  </a:lnTo>
                  <a:lnTo>
                    <a:pt x="8472063" y="32535"/>
                  </a:lnTo>
                  <a:lnTo>
                    <a:pt x="8436353" y="8713"/>
                  </a:lnTo>
                  <a:lnTo>
                    <a:pt x="8394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9316" y="1114922"/>
              <a:ext cx="8504555" cy="421005"/>
            </a:xfrm>
            <a:custGeom>
              <a:avLst/>
              <a:gdLst/>
              <a:ahLst/>
              <a:cxnLst/>
              <a:rect l="l" t="t" r="r" b="b"/>
              <a:pathLst>
                <a:path w="8504555" h="421005">
                  <a:moveTo>
                    <a:pt x="368" y="109804"/>
                  </a:moveTo>
                  <a:lnTo>
                    <a:pt x="1307" y="95529"/>
                  </a:lnTo>
                  <a:lnTo>
                    <a:pt x="4103" y="81494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55"/>
                  </a:lnTo>
                  <a:lnTo>
                    <a:pt x="8436353" y="8713"/>
                  </a:lnTo>
                  <a:lnTo>
                    <a:pt x="8472063" y="32535"/>
                  </a:lnTo>
                  <a:lnTo>
                    <a:pt x="8495930" y="68088"/>
                  </a:lnTo>
                  <a:lnTo>
                    <a:pt x="8504288" y="110159"/>
                  </a:lnTo>
                  <a:lnTo>
                    <a:pt x="8504288" y="311035"/>
                  </a:lnTo>
                  <a:lnTo>
                    <a:pt x="8503348" y="325310"/>
                  </a:lnTo>
                  <a:lnTo>
                    <a:pt x="8500551" y="339345"/>
                  </a:lnTo>
                  <a:lnTo>
                    <a:pt x="8481505" y="377828"/>
                  </a:lnTo>
                  <a:lnTo>
                    <a:pt x="8449564" y="406082"/>
                  </a:lnTo>
                  <a:lnTo>
                    <a:pt x="8408914" y="419900"/>
                  </a:lnTo>
                  <a:lnTo>
                    <a:pt x="8394484" y="420839"/>
                  </a:lnTo>
                  <a:lnTo>
                    <a:pt x="109804" y="420839"/>
                  </a:lnTo>
                  <a:lnTo>
                    <a:pt x="67934" y="412487"/>
                  </a:lnTo>
                  <a:lnTo>
                    <a:pt x="32224" y="388661"/>
                  </a:lnTo>
                  <a:lnTo>
                    <a:pt x="8358" y="353107"/>
                  </a:lnTo>
                  <a:lnTo>
                    <a:pt x="0" y="311035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31764" y="1225437"/>
              <a:ext cx="3291840" cy="201295"/>
            </a:xfrm>
            <a:custGeom>
              <a:avLst/>
              <a:gdLst/>
              <a:ahLst/>
              <a:cxnLst/>
              <a:rect l="l" t="t" r="r" b="b"/>
              <a:pathLst>
                <a:path w="3291840" h="201294">
                  <a:moveTo>
                    <a:pt x="321839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28168"/>
                  </a:lnTo>
                  <a:lnTo>
                    <a:pt x="597" y="137439"/>
                  </a:lnTo>
                  <a:lnTo>
                    <a:pt x="607" y="137594"/>
                  </a:lnTo>
                  <a:lnTo>
                    <a:pt x="21280" y="179776"/>
                  </a:lnTo>
                  <a:lnTo>
                    <a:pt x="63442" y="200636"/>
                  </a:lnTo>
                  <a:lnTo>
                    <a:pt x="73075" y="201244"/>
                  </a:lnTo>
                  <a:lnTo>
                    <a:pt x="3218751" y="200888"/>
                  </a:lnTo>
                  <a:lnTo>
                    <a:pt x="3263129" y="185834"/>
                  </a:lnTo>
                  <a:lnTo>
                    <a:pt x="3289394" y="146886"/>
                  </a:lnTo>
                  <a:lnTo>
                    <a:pt x="3291816" y="128168"/>
                  </a:lnTo>
                  <a:lnTo>
                    <a:pt x="3291840" y="127800"/>
                  </a:lnTo>
                  <a:lnTo>
                    <a:pt x="3291471" y="73088"/>
                  </a:lnTo>
                  <a:lnTo>
                    <a:pt x="3276430" y="28710"/>
                  </a:lnTo>
                  <a:lnTo>
                    <a:pt x="3237430" y="2430"/>
                  </a:lnTo>
                  <a:lnTo>
                    <a:pt x="3228029" y="607"/>
                  </a:lnTo>
                  <a:lnTo>
                    <a:pt x="3218395" y="0"/>
                  </a:lnTo>
                  <a:close/>
                </a:path>
              </a:pathLst>
            </a:custGeom>
            <a:solidFill>
              <a:srgbClr val="E1E7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31764" y="1225437"/>
              <a:ext cx="3028315" cy="201295"/>
            </a:xfrm>
            <a:custGeom>
              <a:avLst/>
              <a:gdLst/>
              <a:ahLst/>
              <a:cxnLst/>
              <a:rect l="l" t="t" r="r" b="b"/>
              <a:pathLst>
                <a:path w="3028315" h="201294">
                  <a:moveTo>
                    <a:pt x="2954870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28168"/>
                  </a:lnTo>
                  <a:lnTo>
                    <a:pt x="597" y="137439"/>
                  </a:lnTo>
                  <a:lnTo>
                    <a:pt x="607" y="137594"/>
                  </a:lnTo>
                  <a:lnTo>
                    <a:pt x="21280" y="179776"/>
                  </a:lnTo>
                  <a:lnTo>
                    <a:pt x="63442" y="200636"/>
                  </a:lnTo>
                  <a:lnTo>
                    <a:pt x="73075" y="201244"/>
                  </a:lnTo>
                  <a:lnTo>
                    <a:pt x="2955239" y="200888"/>
                  </a:lnTo>
                  <a:lnTo>
                    <a:pt x="2999609" y="185834"/>
                  </a:lnTo>
                  <a:lnTo>
                    <a:pt x="3025870" y="146886"/>
                  </a:lnTo>
                  <a:lnTo>
                    <a:pt x="3028291" y="128168"/>
                  </a:lnTo>
                  <a:lnTo>
                    <a:pt x="3028315" y="127800"/>
                  </a:lnTo>
                  <a:lnTo>
                    <a:pt x="3027959" y="73088"/>
                  </a:lnTo>
                  <a:lnTo>
                    <a:pt x="3012905" y="28710"/>
                  </a:lnTo>
                  <a:lnTo>
                    <a:pt x="2973911" y="2430"/>
                  </a:lnTo>
                  <a:lnTo>
                    <a:pt x="2964510" y="607"/>
                  </a:lnTo>
                  <a:lnTo>
                    <a:pt x="295487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531418"/>
              <a:ext cx="8694724" cy="61094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19316" y="1608482"/>
              <a:ext cx="8504555" cy="421005"/>
            </a:xfrm>
            <a:custGeom>
              <a:avLst/>
              <a:gdLst/>
              <a:ahLst/>
              <a:cxnLst/>
              <a:rect l="l" t="t" r="r" b="b"/>
              <a:pathLst>
                <a:path w="8504555" h="421005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932"/>
                  </a:lnTo>
                  <a:lnTo>
                    <a:pt x="368" y="109804"/>
                  </a:lnTo>
                  <a:lnTo>
                    <a:pt x="0" y="311035"/>
                  </a:lnTo>
                  <a:lnTo>
                    <a:pt x="929" y="325310"/>
                  </a:lnTo>
                  <a:lnTo>
                    <a:pt x="939" y="325465"/>
                  </a:lnTo>
                  <a:lnTo>
                    <a:pt x="3701" y="339345"/>
                  </a:lnTo>
                  <a:lnTo>
                    <a:pt x="3736" y="339523"/>
                  </a:lnTo>
                  <a:lnTo>
                    <a:pt x="8290" y="352907"/>
                  </a:lnTo>
                  <a:lnTo>
                    <a:pt x="8358" y="353107"/>
                  </a:lnTo>
                  <a:lnTo>
                    <a:pt x="14770" y="366115"/>
                  </a:lnTo>
                  <a:lnTo>
                    <a:pt x="22686" y="377828"/>
                  </a:lnTo>
                  <a:lnTo>
                    <a:pt x="22788" y="377978"/>
                  </a:lnTo>
                  <a:lnTo>
                    <a:pt x="55079" y="406082"/>
                  </a:lnTo>
                  <a:lnTo>
                    <a:pt x="95534" y="419900"/>
                  </a:lnTo>
                  <a:lnTo>
                    <a:pt x="109804" y="420839"/>
                  </a:lnTo>
                  <a:lnTo>
                    <a:pt x="8394484" y="420839"/>
                  </a:lnTo>
                  <a:lnTo>
                    <a:pt x="8436555" y="412487"/>
                  </a:lnTo>
                  <a:lnTo>
                    <a:pt x="8472057" y="388661"/>
                  </a:lnTo>
                  <a:lnTo>
                    <a:pt x="8495830" y="353107"/>
                  </a:lnTo>
                  <a:lnTo>
                    <a:pt x="8504288" y="311035"/>
                  </a:lnTo>
                  <a:lnTo>
                    <a:pt x="8504265" y="109804"/>
                  </a:lnTo>
                  <a:lnTo>
                    <a:pt x="8495930" y="68088"/>
                  </a:lnTo>
                  <a:lnTo>
                    <a:pt x="8472063" y="32535"/>
                  </a:lnTo>
                  <a:lnTo>
                    <a:pt x="8436353" y="8713"/>
                  </a:lnTo>
                  <a:lnTo>
                    <a:pt x="8394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9316" y="1608482"/>
              <a:ext cx="8504555" cy="421005"/>
            </a:xfrm>
            <a:custGeom>
              <a:avLst/>
              <a:gdLst/>
              <a:ahLst/>
              <a:cxnLst/>
              <a:rect l="l" t="t" r="r" b="b"/>
              <a:pathLst>
                <a:path w="8504555" h="421005">
                  <a:moveTo>
                    <a:pt x="368" y="109804"/>
                  </a:moveTo>
                  <a:lnTo>
                    <a:pt x="1307" y="95529"/>
                  </a:lnTo>
                  <a:lnTo>
                    <a:pt x="4103" y="81494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55"/>
                  </a:lnTo>
                  <a:lnTo>
                    <a:pt x="8436353" y="8713"/>
                  </a:lnTo>
                  <a:lnTo>
                    <a:pt x="8472063" y="32535"/>
                  </a:lnTo>
                  <a:lnTo>
                    <a:pt x="8495930" y="68088"/>
                  </a:lnTo>
                  <a:lnTo>
                    <a:pt x="8504288" y="110159"/>
                  </a:lnTo>
                  <a:lnTo>
                    <a:pt x="8504288" y="311035"/>
                  </a:lnTo>
                  <a:lnTo>
                    <a:pt x="8503348" y="325310"/>
                  </a:lnTo>
                  <a:lnTo>
                    <a:pt x="8500551" y="339345"/>
                  </a:lnTo>
                  <a:lnTo>
                    <a:pt x="8481505" y="377828"/>
                  </a:lnTo>
                  <a:lnTo>
                    <a:pt x="8449564" y="406082"/>
                  </a:lnTo>
                  <a:lnTo>
                    <a:pt x="8408914" y="419900"/>
                  </a:lnTo>
                  <a:lnTo>
                    <a:pt x="8394484" y="420839"/>
                  </a:lnTo>
                  <a:lnTo>
                    <a:pt x="109804" y="420839"/>
                  </a:lnTo>
                  <a:lnTo>
                    <a:pt x="67934" y="412487"/>
                  </a:lnTo>
                  <a:lnTo>
                    <a:pt x="32224" y="388661"/>
                  </a:lnTo>
                  <a:lnTo>
                    <a:pt x="8358" y="353107"/>
                  </a:lnTo>
                  <a:lnTo>
                    <a:pt x="0" y="311035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1764" y="1718997"/>
              <a:ext cx="3291840" cy="201295"/>
            </a:xfrm>
            <a:custGeom>
              <a:avLst/>
              <a:gdLst/>
              <a:ahLst/>
              <a:cxnLst/>
              <a:rect l="l" t="t" r="r" b="b"/>
              <a:pathLst>
                <a:path w="3291840" h="201294">
                  <a:moveTo>
                    <a:pt x="321839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28168"/>
                  </a:lnTo>
                  <a:lnTo>
                    <a:pt x="597" y="137439"/>
                  </a:lnTo>
                  <a:lnTo>
                    <a:pt x="607" y="137594"/>
                  </a:lnTo>
                  <a:lnTo>
                    <a:pt x="21280" y="179776"/>
                  </a:lnTo>
                  <a:lnTo>
                    <a:pt x="63442" y="200636"/>
                  </a:lnTo>
                  <a:lnTo>
                    <a:pt x="73075" y="201244"/>
                  </a:lnTo>
                  <a:lnTo>
                    <a:pt x="3218751" y="200888"/>
                  </a:lnTo>
                  <a:lnTo>
                    <a:pt x="3263129" y="185834"/>
                  </a:lnTo>
                  <a:lnTo>
                    <a:pt x="3289394" y="146886"/>
                  </a:lnTo>
                  <a:lnTo>
                    <a:pt x="3291816" y="128168"/>
                  </a:lnTo>
                  <a:lnTo>
                    <a:pt x="3291840" y="127800"/>
                  </a:lnTo>
                  <a:lnTo>
                    <a:pt x="3291471" y="73088"/>
                  </a:lnTo>
                  <a:lnTo>
                    <a:pt x="3276430" y="28710"/>
                  </a:lnTo>
                  <a:lnTo>
                    <a:pt x="3237430" y="2430"/>
                  </a:lnTo>
                  <a:lnTo>
                    <a:pt x="3228029" y="607"/>
                  </a:lnTo>
                  <a:lnTo>
                    <a:pt x="3218395" y="0"/>
                  </a:lnTo>
                  <a:close/>
                </a:path>
              </a:pathLst>
            </a:custGeom>
            <a:solidFill>
              <a:srgbClr val="E1E7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32120" y="1718997"/>
              <a:ext cx="2863850" cy="201295"/>
            </a:xfrm>
            <a:custGeom>
              <a:avLst/>
              <a:gdLst/>
              <a:ahLst/>
              <a:cxnLst/>
              <a:rect l="l" t="t" r="r" b="b"/>
              <a:pathLst>
                <a:path w="2863850" h="201294">
                  <a:moveTo>
                    <a:pt x="279035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28168"/>
                  </a:lnTo>
                  <a:lnTo>
                    <a:pt x="597" y="137439"/>
                  </a:lnTo>
                  <a:lnTo>
                    <a:pt x="607" y="137594"/>
                  </a:lnTo>
                  <a:lnTo>
                    <a:pt x="21285" y="179776"/>
                  </a:lnTo>
                  <a:lnTo>
                    <a:pt x="63443" y="200636"/>
                  </a:lnTo>
                  <a:lnTo>
                    <a:pt x="73075" y="201244"/>
                  </a:lnTo>
                  <a:lnTo>
                    <a:pt x="2790723" y="200888"/>
                  </a:lnTo>
                  <a:lnTo>
                    <a:pt x="2835093" y="185834"/>
                  </a:lnTo>
                  <a:lnTo>
                    <a:pt x="2861354" y="146886"/>
                  </a:lnTo>
                  <a:lnTo>
                    <a:pt x="2863775" y="128168"/>
                  </a:lnTo>
                  <a:lnTo>
                    <a:pt x="2863799" y="127800"/>
                  </a:lnTo>
                  <a:lnTo>
                    <a:pt x="2863443" y="73088"/>
                  </a:lnTo>
                  <a:lnTo>
                    <a:pt x="2848389" y="28710"/>
                  </a:lnTo>
                  <a:lnTo>
                    <a:pt x="2809395" y="2430"/>
                  </a:lnTo>
                  <a:lnTo>
                    <a:pt x="2799994" y="607"/>
                  </a:lnTo>
                  <a:lnTo>
                    <a:pt x="2790355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2025347"/>
              <a:ext cx="8694724" cy="61093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19316" y="2102398"/>
              <a:ext cx="8504555" cy="421005"/>
            </a:xfrm>
            <a:custGeom>
              <a:avLst/>
              <a:gdLst/>
              <a:ahLst/>
              <a:cxnLst/>
              <a:rect l="l" t="t" r="r" b="b"/>
              <a:pathLst>
                <a:path w="8504555" h="42100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934"/>
                  </a:lnTo>
                  <a:lnTo>
                    <a:pt x="368" y="109804"/>
                  </a:lnTo>
                  <a:lnTo>
                    <a:pt x="0" y="311048"/>
                  </a:lnTo>
                  <a:lnTo>
                    <a:pt x="929" y="325315"/>
                  </a:lnTo>
                  <a:lnTo>
                    <a:pt x="939" y="325471"/>
                  </a:lnTo>
                  <a:lnTo>
                    <a:pt x="3701" y="339347"/>
                  </a:lnTo>
                  <a:lnTo>
                    <a:pt x="3736" y="339526"/>
                  </a:lnTo>
                  <a:lnTo>
                    <a:pt x="8288" y="352907"/>
                  </a:lnTo>
                  <a:lnTo>
                    <a:pt x="8358" y="353112"/>
                  </a:lnTo>
                  <a:lnTo>
                    <a:pt x="14770" y="366128"/>
                  </a:lnTo>
                  <a:lnTo>
                    <a:pt x="43011" y="398069"/>
                  </a:lnTo>
                  <a:lnTo>
                    <a:pt x="81499" y="417104"/>
                  </a:lnTo>
                  <a:lnTo>
                    <a:pt x="109804" y="420839"/>
                  </a:lnTo>
                  <a:lnTo>
                    <a:pt x="8394484" y="420839"/>
                  </a:lnTo>
                  <a:lnTo>
                    <a:pt x="8436555" y="412487"/>
                  </a:lnTo>
                  <a:lnTo>
                    <a:pt x="8472055" y="388672"/>
                  </a:lnTo>
                  <a:lnTo>
                    <a:pt x="8495827" y="353112"/>
                  </a:lnTo>
                  <a:lnTo>
                    <a:pt x="8503317" y="325471"/>
                  </a:lnTo>
                  <a:lnTo>
                    <a:pt x="8503348" y="325315"/>
                  </a:lnTo>
                  <a:lnTo>
                    <a:pt x="8504288" y="311048"/>
                  </a:lnTo>
                  <a:lnTo>
                    <a:pt x="8504265" y="109804"/>
                  </a:lnTo>
                  <a:lnTo>
                    <a:pt x="8503348" y="95736"/>
                  </a:lnTo>
                  <a:lnTo>
                    <a:pt x="8489518" y="55079"/>
                  </a:lnTo>
                  <a:lnTo>
                    <a:pt x="8461277" y="23138"/>
                  </a:lnTo>
                  <a:lnTo>
                    <a:pt x="8422789" y="4103"/>
                  </a:lnTo>
                  <a:lnTo>
                    <a:pt x="839448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9316" y="2102398"/>
              <a:ext cx="8504555" cy="421005"/>
            </a:xfrm>
            <a:custGeom>
              <a:avLst/>
              <a:gdLst/>
              <a:ahLst/>
              <a:cxnLst/>
              <a:rect l="l" t="t" r="r" b="b"/>
              <a:pathLst>
                <a:path w="8504555" h="421005">
                  <a:moveTo>
                    <a:pt x="368" y="109804"/>
                  </a:moveTo>
                  <a:lnTo>
                    <a:pt x="1307" y="95534"/>
                  </a:lnTo>
                  <a:lnTo>
                    <a:pt x="4103" y="81499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68"/>
                  </a:lnTo>
                  <a:lnTo>
                    <a:pt x="8436353" y="8721"/>
                  </a:lnTo>
                  <a:lnTo>
                    <a:pt x="8472063" y="32535"/>
                  </a:lnTo>
                  <a:lnTo>
                    <a:pt x="8495930" y="68095"/>
                  </a:lnTo>
                  <a:lnTo>
                    <a:pt x="8504288" y="110159"/>
                  </a:lnTo>
                  <a:lnTo>
                    <a:pt x="8504288" y="311048"/>
                  </a:lnTo>
                  <a:lnTo>
                    <a:pt x="8503348" y="325315"/>
                  </a:lnTo>
                  <a:lnTo>
                    <a:pt x="8500551" y="339347"/>
                  </a:lnTo>
                  <a:lnTo>
                    <a:pt x="8481505" y="377836"/>
                  </a:lnTo>
                  <a:lnTo>
                    <a:pt x="8449564" y="406082"/>
                  </a:lnTo>
                  <a:lnTo>
                    <a:pt x="8408914" y="419900"/>
                  </a:lnTo>
                  <a:lnTo>
                    <a:pt x="8394484" y="420839"/>
                  </a:lnTo>
                  <a:lnTo>
                    <a:pt x="109804" y="420839"/>
                  </a:lnTo>
                  <a:lnTo>
                    <a:pt x="67934" y="412487"/>
                  </a:lnTo>
                  <a:lnTo>
                    <a:pt x="32224" y="388672"/>
                  </a:lnTo>
                  <a:lnTo>
                    <a:pt x="8358" y="353112"/>
                  </a:lnTo>
                  <a:lnTo>
                    <a:pt x="0" y="311048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31764" y="2212926"/>
              <a:ext cx="3291840" cy="201295"/>
            </a:xfrm>
            <a:custGeom>
              <a:avLst/>
              <a:gdLst/>
              <a:ahLst/>
              <a:cxnLst/>
              <a:rect l="l" t="t" r="r" b="b"/>
              <a:pathLst>
                <a:path w="3291840" h="201294">
                  <a:moveTo>
                    <a:pt x="321839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8155"/>
                  </a:lnTo>
                  <a:lnTo>
                    <a:pt x="597" y="137432"/>
                  </a:lnTo>
                  <a:lnTo>
                    <a:pt x="607" y="137582"/>
                  </a:lnTo>
                  <a:lnTo>
                    <a:pt x="21280" y="179773"/>
                  </a:lnTo>
                  <a:lnTo>
                    <a:pt x="63442" y="200624"/>
                  </a:lnTo>
                  <a:lnTo>
                    <a:pt x="73075" y="201231"/>
                  </a:lnTo>
                  <a:lnTo>
                    <a:pt x="3218751" y="200875"/>
                  </a:lnTo>
                  <a:lnTo>
                    <a:pt x="3263129" y="185829"/>
                  </a:lnTo>
                  <a:lnTo>
                    <a:pt x="3289394" y="146873"/>
                  </a:lnTo>
                  <a:lnTo>
                    <a:pt x="3291840" y="127800"/>
                  </a:lnTo>
                  <a:lnTo>
                    <a:pt x="3291471" y="73075"/>
                  </a:lnTo>
                  <a:lnTo>
                    <a:pt x="3276430" y="28698"/>
                  </a:lnTo>
                  <a:lnTo>
                    <a:pt x="3237430" y="2428"/>
                  </a:lnTo>
                  <a:lnTo>
                    <a:pt x="3228029" y="607"/>
                  </a:lnTo>
                  <a:lnTo>
                    <a:pt x="3218395" y="0"/>
                  </a:lnTo>
                  <a:close/>
                </a:path>
              </a:pathLst>
            </a:custGeom>
            <a:solidFill>
              <a:srgbClr val="E1E7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32120" y="2212926"/>
              <a:ext cx="2765425" cy="201295"/>
            </a:xfrm>
            <a:custGeom>
              <a:avLst/>
              <a:gdLst/>
              <a:ahLst/>
              <a:cxnLst/>
              <a:rect l="l" t="t" r="r" b="b"/>
              <a:pathLst>
                <a:path w="2765425" h="201294">
                  <a:moveTo>
                    <a:pt x="2691714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8155"/>
                  </a:lnTo>
                  <a:lnTo>
                    <a:pt x="597" y="137432"/>
                  </a:lnTo>
                  <a:lnTo>
                    <a:pt x="607" y="137582"/>
                  </a:lnTo>
                  <a:lnTo>
                    <a:pt x="21285" y="179773"/>
                  </a:lnTo>
                  <a:lnTo>
                    <a:pt x="63443" y="200624"/>
                  </a:lnTo>
                  <a:lnTo>
                    <a:pt x="73075" y="201231"/>
                  </a:lnTo>
                  <a:lnTo>
                    <a:pt x="2692082" y="200875"/>
                  </a:lnTo>
                  <a:lnTo>
                    <a:pt x="2736460" y="185829"/>
                  </a:lnTo>
                  <a:lnTo>
                    <a:pt x="2762714" y="146873"/>
                  </a:lnTo>
                  <a:lnTo>
                    <a:pt x="2765135" y="128155"/>
                  </a:lnTo>
                  <a:lnTo>
                    <a:pt x="2765158" y="127800"/>
                  </a:lnTo>
                  <a:lnTo>
                    <a:pt x="2764802" y="73075"/>
                  </a:lnTo>
                  <a:lnTo>
                    <a:pt x="2749750" y="28698"/>
                  </a:lnTo>
                  <a:lnTo>
                    <a:pt x="2710754" y="2428"/>
                  </a:lnTo>
                  <a:lnTo>
                    <a:pt x="2701353" y="607"/>
                  </a:lnTo>
                  <a:lnTo>
                    <a:pt x="2691714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2519262"/>
              <a:ext cx="8694724" cy="61093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19316" y="2596326"/>
              <a:ext cx="8504555" cy="421005"/>
            </a:xfrm>
            <a:custGeom>
              <a:avLst/>
              <a:gdLst/>
              <a:ahLst/>
              <a:cxnLst/>
              <a:rect l="l" t="t" r="r" b="b"/>
              <a:pathLst>
                <a:path w="8504555" h="421005">
                  <a:moveTo>
                    <a:pt x="110159" y="0"/>
                  </a:moveTo>
                  <a:lnTo>
                    <a:pt x="68095" y="8347"/>
                  </a:lnTo>
                  <a:lnTo>
                    <a:pt x="32535" y="32213"/>
                  </a:lnTo>
                  <a:lnTo>
                    <a:pt x="8721" y="67932"/>
                  </a:lnTo>
                  <a:lnTo>
                    <a:pt x="368" y="109791"/>
                  </a:lnTo>
                  <a:lnTo>
                    <a:pt x="0" y="311035"/>
                  </a:lnTo>
                  <a:lnTo>
                    <a:pt x="929" y="325304"/>
                  </a:lnTo>
                  <a:lnTo>
                    <a:pt x="939" y="325465"/>
                  </a:lnTo>
                  <a:lnTo>
                    <a:pt x="3700" y="339340"/>
                  </a:lnTo>
                  <a:lnTo>
                    <a:pt x="3736" y="339523"/>
                  </a:lnTo>
                  <a:lnTo>
                    <a:pt x="8289" y="352905"/>
                  </a:lnTo>
                  <a:lnTo>
                    <a:pt x="8358" y="353107"/>
                  </a:lnTo>
                  <a:lnTo>
                    <a:pt x="14770" y="366115"/>
                  </a:lnTo>
                  <a:lnTo>
                    <a:pt x="22686" y="377828"/>
                  </a:lnTo>
                  <a:lnTo>
                    <a:pt x="22788" y="377978"/>
                  </a:lnTo>
                  <a:lnTo>
                    <a:pt x="55079" y="406069"/>
                  </a:lnTo>
                  <a:lnTo>
                    <a:pt x="95534" y="419900"/>
                  </a:lnTo>
                  <a:lnTo>
                    <a:pt x="109804" y="420839"/>
                  </a:lnTo>
                  <a:lnTo>
                    <a:pt x="8394484" y="420839"/>
                  </a:lnTo>
                  <a:lnTo>
                    <a:pt x="8436555" y="412481"/>
                  </a:lnTo>
                  <a:lnTo>
                    <a:pt x="8472057" y="388659"/>
                  </a:lnTo>
                  <a:lnTo>
                    <a:pt x="8495829" y="353107"/>
                  </a:lnTo>
                  <a:lnTo>
                    <a:pt x="8504288" y="311035"/>
                  </a:lnTo>
                  <a:lnTo>
                    <a:pt x="8504264" y="109791"/>
                  </a:lnTo>
                  <a:lnTo>
                    <a:pt x="8495930" y="68088"/>
                  </a:lnTo>
                  <a:lnTo>
                    <a:pt x="8472063" y="32534"/>
                  </a:lnTo>
                  <a:lnTo>
                    <a:pt x="8436353" y="8708"/>
                  </a:lnTo>
                  <a:lnTo>
                    <a:pt x="8394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9316" y="2596326"/>
              <a:ext cx="8504555" cy="421005"/>
            </a:xfrm>
            <a:custGeom>
              <a:avLst/>
              <a:gdLst/>
              <a:ahLst/>
              <a:cxnLst/>
              <a:rect l="l" t="t" r="r" b="b"/>
              <a:pathLst>
                <a:path w="8504555" h="421005">
                  <a:moveTo>
                    <a:pt x="368" y="109791"/>
                  </a:moveTo>
                  <a:lnTo>
                    <a:pt x="1307" y="95524"/>
                  </a:lnTo>
                  <a:lnTo>
                    <a:pt x="4103" y="81492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7"/>
                  </a:lnTo>
                  <a:lnTo>
                    <a:pt x="110159" y="0"/>
                  </a:lnTo>
                  <a:lnTo>
                    <a:pt x="8394484" y="355"/>
                  </a:lnTo>
                  <a:lnTo>
                    <a:pt x="8436353" y="8708"/>
                  </a:lnTo>
                  <a:lnTo>
                    <a:pt x="8472063" y="32534"/>
                  </a:lnTo>
                  <a:lnTo>
                    <a:pt x="8495930" y="68088"/>
                  </a:lnTo>
                  <a:lnTo>
                    <a:pt x="8504288" y="110159"/>
                  </a:lnTo>
                  <a:lnTo>
                    <a:pt x="8504288" y="311035"/>
                  </a:lnTo>
                  <a:lnTo>
                    <a:pt x="8503348" y="325304"/>
                  </a:lnTo>
                  <a:lnTo>
                    <a:pt x="8500551" y="339340"/>
                  </a:lnTo>
                  <a:lnTo>
                    <a:pt x="8481505" y="377828"/>
                  </a:lnTo>
                  <a:lnTo>
                    <a:pt x="8449564" y="406069"/>
                  </a:lnTo>
                  <a:lnTo>
                    <a:pt x="8408914" y="419900"/>
                  </a:lnTo>
                  <a:lnTo>
                    <a:pt x="8394484" y="420839"/>
                  </a:lnTo>
                  <a:lnTo>
                    <a:pt x="109804" y="420839"/>
                  </a:lnTo>
                  <a:lnTo>
                    <a:pt x="67934" y="412481"/>
                  </a:lnTo>
                  <a:lnTo>
                    <a:pt x="32224" y="388659"/>
                  </a:lnTo>
                  <a:lnTo>
                    <a:pt x="8358" y="353107"/>
                  </a:lnTo>
                  <a:lnTo>
                    <a:pt x="0" y="311035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31764" y="2706486"/>
              <a:ext cx="3291840" cy="201295"/>
            </a:xfrm>
            <a:custGeom>
              <a:avLst/>
              <a:gdLst/>
              <a:ahLst/>
              <a:cxnLst/>
              <a:rect l="l" t="t" r="r" b="b"/>
              <a:pathLst>
                <a:path w="3291840" h="201294">
                  <a:moveTo>
                    <a:pt x="321839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8155"/>
                  </a:lnTo>
                  <a:lnTo>
                    <a:pt x="597" y="137432"/>
                  </a:lnTo>
                  <a:lnTo>
                    <a:pt x="607" y="137582"/>
                  </a:lnTo>
                  <a:lnTo>
                    <a:pt x="21280" y="179773"/>
                  </a:lnTo>
                  <a:lnTo>
                    <a:pt x="63442" y="200624"/>
                  </a:lnTo>
                  <a:lnTo>
                    <a:pt x="73075" y="201231"/>
                  </a:lnTo>
                  <a:lnTo>
                    <a:pt x="3218751" y="200875"/>
                  </a:lnTo>
                  <a:lnTo>
                    <a:pt x="3263129" y="185829"/>
                  </a:lnTo>
                  <a:lnTo>
                    <a:pt x="3289394" y="146873"/>
                  </a:lnTo>
                  <a:lnTo>
                    <a:pt x="3291840" y="127800"/>
                  </a:lnTo>
                  <a:lnTo>
                    <a:pt x="3291471" y="73075"/>
                  </a:lnTo>
                  <a:lnTo>
                    <a:pt x="3276430" y="28698"/>
                  </a:lnTo>
                  <a:lnTo>
                    <a:pt x="3237430" y="2428"/>
                  </a:lnTo>
                  <a:lnTo>
                    <a:pt x="3228029" y="607"/>
                  </a:lnTo>
                  <a:lnTo>
                    <a:pt x="3218395" y="0"/>
                  </a:lnTo>
                  <a:close/>
                </a:path>
              </a:pathLst>
            </a:custGeom>
            <a:solidFill>
              <a:srgbClr val="E1E7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32120" y="2706486"/>
              <a:ext cx="2667000" cy="201295"/>
            </a:xfrm>
            <a:custGeom>
              <a:avLst/>
              <a:gdLst/>
              <a:ahLst/>
              <a:cxnLst/>
              <a:rect l="l" t="t" r="r" b="b"/>
              <a:pathLst>
                <a:path w="2667000" h="201294">
                  <a:moveTo>
                    <a:pt x="259308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8155"/>
                  </a:lnTo>
                  <a:lnTo>
                    <a:pt x="597" y="137432"/>
                  </a:lnTo>
                  <a:lnTo>
                    <a:pt x="607" y="137582"/>
                  </a:lnTo>
                  <a:lnTo>
                    <a:pt x="21285" y="179773"/>
                  </a:lnTo>
                  <a:lnTo>
                    <a:pt x="63443" y="200624"/>
                  </a:lnTo>
                  <a:lnTo>
                    <a:pt x="73075" y="201231"/>
                  </a:lnTo>
                  <a:lnTo>
                    <a:pt x="2593441" y="200875"/>
                  </a:lnTo>
                  <a:lnTo>
                    <a:pt x="2637819" y="185829"/>
                  </a:lnTo>
                  <a:lnTo>
                    <a:pt x="2664073" y="146873"/>
                  </a:lnTo>
                  <a:lnTo>
                    <a:pt x="2666494" y="128155"/>
                  </a:lnTo>
                  <a:lnTo>
                    <a:pt x="2666517" y="127800"/>
                  </a:lnTo>
                  <a:lnTo>
                    <a:pt x="2666161" y="73075"/>
                  </a:lnTo>
                  <a:lnTo>
                    <a:pt x="2651115" y="28698"/>
                  </a:lnTo>
                  <a:lnTo>
                    <a:pt x="2612115" y="2428"/>
                  </a:lnTo>
                  <a:lnTo>
                    <a:pt x="2602717" y="607"/>
                  </a:lnTo>
                  <a:lnTo>
                    <a:pt x="2593085" y="0"/>
                  </a:lnTo>
                  <a:close/>
                </a:path>
              </a:pathLst>
            </a:custGeom>
            <a:solidFill>
              <a:srgbClr val="055E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3012823"/>
              <a:ext cx="8694724" cy="61093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19316" y="3089886"/>
              <a:ext cx="8504555" cy="421005"/>
            </a:xfrm>
            <a:custGeom>
              <a:avLst/>
              <a:gdLst/>
              <a:ahLst/>
              <a:cxnLst/>
              <a:rect l="l" t="t" r="r" b="b"/>
              <a:pathLst>
                <a:path w="8504555" h="421004">
                  <a:moveTo>
                    <a:pt x="110159" y="0"/>
                  </a:moveTo>
                  <a:lnTo>
                    <a:pt x="68095" y="8347"/>
                  </a:lnTo>
                  <a:lnTo>
                    <a:pt x="32535" y="32213"/>
                  </a:lnTo>
                  <a:lnTo>
                    <a:pt x="8721" y="67932"/>
                  </a:lnTo>
                  <a:lnTo>
                    <a:pt x="368" y="109791"/>
                  </a:lnTo>
                  <a:lnTo>
                    <a:pt x="0" y="311035"/>
                  </a:lnTo>
                  <a:lnTo>
                    <a:pt x="929" y="325304"/>
                  </a:lnTo>
                  <a:lnTo>
                    <a:pt x="939" y="325465"/>
                  </a:lnTo>
                  <a:lnTo>
                    <a:pt x="3700" y="339340"/>
                  </a:lnTo>
                  <a:lnTo>
                    <a:pt x="3736" y="339523"/>
                  </a:lnTo>
                  <a:lnTo>
                    <a:pt x="8289" y="352905"/>
                  </a:lnTo>
                  <a:lnTo>
                    <a:pt x="8358" y="353107"/>
                  </a:lnTo>
                  <a:lnTo>
                    <a:pt x="14770" y="366115"/>
                  </a:lnTo>
                  <a:lnTo>
                    <a:pt x="22686" y="377828"/>
                  </a:lnTo>
                  <a:lnTo>
                    <a:pt x="22788" y="377978"/>
                  </a:lnTo>
                  <a:lnTo>
                    <a:pt x="55079" y="406069"/>
                  </a:lnTo>
                  <a:lnTo>
                    <a:pt x="95534" y="419900"/>
                  </a:lnTo>
                  <a:lnTo>
                    <a:pt x="109804" y="420839"/>
                  </a:lnTo>
                  <a:lnTo>
                    <a:pt x="8394484" y="420839"/>
                  </a:lnTo>
                  <a:lnTo>
                    <a:pt x="8436555" y="412481"/>
                  </a:lnTo>
                  <a:lnTo>
                    <a:pt x="8472057" y="388659"/>
                  </a:lnTo>
                  <a:lnTo>
                    <a:pt x="8495829" y="353107"/>
                  </a:lnTo>
                  <a:lnTo>
                    <a:pt x="8504288" y="311035"/>
                  </a:lnTo>
                  <a:lnTo>
                    <a:pt x="8504264" y="109791"/>
                  </a:lnTo>
                  <a:lnTo>
                    <a:pt x="8495930" y="68088"/>
                  </a:lnTo>
                  <a:lnTo>
                    <a:pt x="8472063" y="32534"/>
                  </a:lnTo>
                  <a:lnTo>
                    <a:pt x="8436353" y="8708"/>
                  </a:lnTo>
                  <a:lnTo>
                    <a:pt x="8394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9316" y="3089886"/>
              <a:ext cx="8504555" cy="421005"/>
            </a:xfrm>
            <a:custGeom>
              <a:avLst/>
              <a:gdLst/>
              <a:ahLst/>
              <a:cxnLst/>
              <a:rect l="l" t="t" r="r" b="b"/>
              <a:pathLst>
                <a:path w="8504555" h="421004">
                  <a:moveTo>
                    <a:pt x="368" y="109791"/>
                  </a:moveTo>
                  <a:lnTo>
                    <a:pt x="1307" y="95524"/>
                  </a:lnTo>
                  <a:lnTo>
                    <a:pt x="4103" y="81492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7"/>
                  </a:lnTo>
                  <a:lnTo>
                    <a:pt x="110159" y="0"/>
                  </a:lnTo>
                  <a:lnTo>
                    <a:pt x="8394484" y="355"/>
                  </a:lnTo>
                  <a:lnTo>
                    <a:pt x="8436353" y="8708"/>
                  </a:lnTo>
                  <a:lnTo>
                    <a:pt x="8472063" y="32534"/>
                  </a:lnTo>
                  <a:lnTo>
                    <a:pt x="8495930" y="68088"/>
                  </a:lnTo>
                  <a:lnTo>
                    <a:pt x="8504288" y="110159"/>
                  </a:lnTo>
                  <a:lnTo>
                    <a:pt x="8504288" y="311035"/>
                  </a:lnTo>
                  <a:lnTo>
                    <a:pt x="8503348" y="325304"/>
                  </a:lnTo>
                  <a:lnTo>
                    <a:pt x="8500551" y="339340"/>
                  </a:lnTo>
                  <a:lnTo>
                    <a:pt x="8481505" y="377828"/>
                  </a:lnTo>
                  <a:lnTo>
                    <a:pt x="8449564" y="406069"/>
                  </a:lnTo>
                  <a:lnTo>
                    <a:pt x="8408914" y="419900"/>
                  </a:lnTo>
                  <a:lnTo>
                    <a:pt x="8394484" y="420839"/>
                  </a:lnTo>
                  <a:lnTo>
                    <a:pt x="109804" y="420839"/>
                  </a:lnTo>
                  <a:lnTo>
                    <a:pt x="67934" y="412481"/>
                  </a:lnTo>
                  <a:lnTo>
                    <a:pt x="32224" y="388659"/>
                  </a:lnTo>
                  <a:lnTo>
                    <a:pt x="8358" y="353107"/>
                  </a:lnTo>
                  <a:lnTo>
                    <a:pt x="0" y="311035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31764" y="3200402"/>
              <a:ext cx="3291840" cy="201295"/>
            </a:xfrm>
            <a:custGeom>
              <a:avLst/>
              <a:gdLst/>
              <a:ahLst/>
              <a:cxnLst/>
              <a:rect l="l" t="t" r="r" b="b"/>
              <a:pathLst>
                <a:path w="3291840" h="201295">
                  <a:moveTo>
                    <a:pt x="321839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8155"/>
                  </a:lnTo>
                  <a:lnTo>
                    <a:pt x="15041" y="172533"/>
                  </a:lnTo>
                  <a:lnTo>
                    <a:pt x="54041" y="198813"/>
                  </a:lnTo>
                  <a:lnTo>
                    <a:pt x="73075" y="201244"/>
                  </a:lnTo>
                  <a:lnTo>
                    <a:pt x="3218751" y="200875"/>
                  </a:lnTo>
                  <a:lnTo>
                    <a:pt x="3263129" y="185834"/>
                  </a:lnTo>
                  <a:lnTo>
                    <a:pt x="3289394" y="146878"/>
                  </a:lnTo>
                  <a:lnTo>
                    <a:pt x="3291817" y="128155"/>
                  </a:lnTo>
                  <a:lnTo>
                    <a:pt x="3291840" y="127800"/>
                  </a:lnTo>
                  <a:lnTo>
                    <a:pt x="3291471" y="73075"/>
                  </a:lnTo>
                  <a:lnTo>
                    <a:pt x="3276430" y="28705"/>
                  </a:lnTo>
                  <a:lnTo>
                    <a:pt x="3237430" y="2428"/>
                  </a:lnTo>
                  <a:lnTo>
                    <a:pt x="3228029" y="607"/>
                  </a:lnTo>
                  <a:lnTo>
                    <a:pt x="3218395" y="0"/>
                  </a:lnTo>
                  <a:close/>
                </a:path>
              </a:pathLst>
            </a:custGeom>
            <a:solidFill>
              <a:srgbClr val="E1E7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531764" y="3200402"/>
              <a:ext cx="2567940" cy="201295"/>
            </a:xfrm>
            <a:custGeom>
              <a:avLst/>
              <a:gdLst/>
              <a:ahLst/>
              <a:cxnLst/>
              <a:rect l="l" t="t" r="r" b="b"/>
              <a:pathLst>
                <a:path w="2567940" h="201295">
                  <a:moveTo>
                    <a:pt x="2494076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8155"/>
                  </a:lnTo>
                  <a:lnTo>
                    <a:pt x="15041" y="172533"/>
                  </a:lnTo>
                  <a:lnTo>
                    <a:pt x="54041" y="198813"/>
                  </a:lnTo>
                  <a:lnTo>
                    <a:pt x="73075" y="201244"/>
                  </a:lnTo>
                  <a:lnTo>
                    <a:pt x="2494432" y="200875"/>
                  </a:lnTo>
                  <a:lnTo>
                    <a:pt x="2538809" y="185834"/>
                  </a:lnTo>
                  <a:lnTo>
                    <a:pt x="2565070" y="146878"/>
                  </a:lnTo>
                  <a:lnTo>
                    <a:pt x="2567520" y="127800"/>
                  </a:lnTo>
                  <a:lnTo>
                    <a:pt x="2567152" y="73075"/>
                  </a:lnTo>
                  <a:lnTo>
                    <a:pt x="2552111" y="28705"/>
                  </a:lnTo>
                  <a:lnTo>
                    <a:pt x="2513110" y="2428"/>
                  </a:lnTo>
                  <a:lnTo>
                    <a:pt x="2494076" y="0"/>
                  </a:lnTo>
                  <a:close/>
                </a:path>
              </a:pathLst>
            </a:custGeom>
            <a:solidFill>
              <a:srgbClr val="E957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3506751"/>
              <a:ext cx="8694724" cy="61056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19316" y="3583802"/>
              <a:ext cx="8504555" cy="421005"/>
            </a:xfrm>
            <a:custGeom>
              <a:avLst/>
              <a:gdLst/>
              <a:ahLst/>
              <a:cxnLst/>
              <a:rect l="l" t="t" r="r" b="b"/>
              <a:pathLst>
                <a:path w="8504555" h="421004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932"/>
                  </a:lnTo>
                  <a:lnTo>
                    <a:pt x="368" y="109804"/>
                  </a:lnTo>
                  <a:lnTo>
                    <a:pt x="0" y="311035"/>
                  </a:lnTo>
                  <a:lnTo>
                    <a:pt x="929" y="325310"/>
                  </a:lnTo>
                  <a:lnTo>
                    <a:pt x="939" y="325465"/>
                  </a:lnTo>
                  <a:lnTo>
                    <a:pt x="3701" y="339345"/>
                  </a:lnTo>
                  <a:lnTo>
                    <a:pt x="3736" y="339523"/>
                  </a:lnTo>
                  <a:lnTo>
                    <a:pt x="8290" y="352907"/>
                  </a:lnTo>
                  <a:lnTo>
                    <a:pt x="8358" y="353107"/>
                  </a:lnTo>
                  <a:lnTo>
                    <a:pt x="14770" y="366115"/>
                  </a:lnTo>
                  <a:lnTo>
                    <a:pt x="22686" y="377828"/>
                  </a:lnTo>
                  <a:lnTo>
                    <a:pt x="22788" y="377978"/>
                  </a:lnTo>
                  <a:lnTo>
                    <a:pt x="55079" y="406082"/>
                  </a:lnTo>
                  <a:lnTo>
                    <a:pt x="95534" y="419900"/>
                  </a:lnTo>
                  <a:lnTo>
                    <a:pt x="109804" y="420839"/>
                  </a:lnTo>
                  <a:lnTo>
                    <a:pt x="8394484" y="420839"/>
                  </a:lnTo>
                  <a:lnTo>
                    <a:pt x="8436555" y="412487"/>
                  </a:lnTo>
                  <a:lnTo>
                    <a:pt x="8472057" y="388661"/>
                  </a:lnTo>
                  <a:lnTo>
                    <a:pt x="8495830" y="353107"/>
                  </a:lnTo>
                  <a:lnTo>
                    <a:pt x="8500490" y="339523"/>
                  </a:lnTo>
                  <a:lnTo>
                    <a:pt x="8500551" y="339345"/>
                  </a:lnTo>
                  <a:lnTo>
                    <a:pt x="8503317" y="325465"/>
                  </a:lnTo>
                  <a:lnTo>
                    <a:pt x="8503348" y="325310"/>
                  </a:lnTo>
                  <a:lnTo>
                    <a:pt x="8504288" y="311035"/>
                  </a:lnTo>
                  <a:lnTo>
                    <a:pt x="8504265" y="109804"/>
                  </a:lnTo>
                  <a:lnTo>
                    <a:pt x="8495930" y="68088"/>
                  </a:lnTo>
                  <a:lnTo>
                    <a:pt x="8472063" y="32535"/>
                  </a:lnTo>
                  <a:lnTo>
                    <a:pt x="8436353" y="8713"/>
                  </a:lnTo>
                  <a:lnTo>
                    <a:pt x="8394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9316" y="3583802"/>
              <a:ext cx="8504555" cy="421005"/>
            </a:xfrm>
            <a:custGeom>
              <a:avLst/>
              <a:gdLst/>
              <a:ahLst/>
              <a:cxnLst/>
              <a:rect l="l" t="t" r="r" b="b"/>
              <a:pathLst>
                <a:path w="8504555" h="421004">
                  <a:moveTo>
                    <a:pt x="368" y="109804"/>
                  </a:moveTo>
                  <a:lnTo>
                    <a:pt x="1307" y="95529"/>
                  </a:lnTo>
                  <a:lnTo>
                    <a:pt x="4103" y="81494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55"/>
                  </a:lnTo>
                  <a:lnTo>
                    <a:pt x="8436353" y="8713"/>
                  </a:lnTo>
                  <a:lnTo>
                    <a:pt x="8472063" y="32535"/>
                  </a:lnTo>
                  <a:lnTo>
                    <a:pt x="8495930" y="68088"/>
                  </a:lnTo>
                  <a:lnTo>
                    <a:pt x="8504288" y="110159"/>
                  </a:lnTo>
                  <a:lnTo>
                    <a:pt x="8504288" y="311035"/>
                  </a:lnTo>
                  <a:lnTo>
                    <a:pt x="8503348" y="325310"/>
                  </a:lnTo>
                  <a:lnTo>
                    <a:pt x="8500551" y="339345"/>
                  </a:lnTo>
                  <a:lnTo>
                    <a:pt x="8481505" y="377828"/>
                  </a:lnTo>
                  <a:lnTo>
                    <a:pt x="8449564" y="406082"/>
                  </a:lnTo>
                  <a:lnTo>
                    <a:pt x="8408914" y="419900"/>
                  </a:lnTo>
                  <a:lnTo>
                    <a:pt x="8394484" y="420839"/>
                  </a:lnTo>
                  <a:lnTo>
                    <a:pt x="109804" y="420839"/>
                  </a:lnTo>
                  <a:lnTo>
                    <a:pt x="67934" y="412487"/>
                  </a:lnTo>
                  <a:lnTo>
                    <a:pt x="32224" y="388661"/>
                  </a:lnTo>
                  <a:lnTo>
                    <a:pt x="8358" y="353107"/>
                  </a:lnTo>
                  <a:lnTo>
                    <a:pt x="0" y="311035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531764" y="3694317"/>
              <a:ext cx="3291840" cy="201295"/>
            </a:xfrm>
            <a:custGeom>
              <a:avLst/>
              <a:gdLst/>
              <a:ahLst/>
              <a:cxnLst/>
              <a:rect l="l" t="t" r="r" b="b"/>
              <a:pathLst>
                <a:path w="3291840" h="201295">
                  <a:moveTo>
                    <a:pt x="321839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28168"/>
                  </a:lnTo>
                  <a:lnTo>
                    <a:pt x="597" y="137439"/>
                  </a:lnTo>
                  <a:lnTo>
                    <a:pt x="607" y="137594"/>
                  </a:lnTo>
                  <a:lnTo>
                    <a:pt x="21280" y="179776"/>
                  </a:lnTo>
                  <a:lnTo>
                    <a:pt x="63442" y="200636"/>
                  </a:lnTo>
                  <a:lnTo>
                    <a:pt x="73075" y="201244"/>
                  </a:lnTo>
                  <a:lnTo>
                    <a:pt x="3218751" y="200888"/>
                  </a:lnTo>
                  <a:lnTo>
                    <a:pt x="3263129" y="185834"/>
                  </a:lnTo>
                  <a:lnTo>
                    <a:pt x="3289394" y="146886"/>
                  </a:lnTo>
                  <a:lnTo>
                    <a:pt x="3291816" y="128168"/>
                  </a:lnTo>
                  <a:lnTo>
                    <a:pt x="3291840" y="127800"/>
                  </a:lnTo>
                  <a:lnTo>
                    <a:pt x="3291471" y="73088"/>
                  </a:lnTo>
                  <a:lnTo>
                    <a:pt x="3276430" y="28710"/>
                  </a:lnTo>
                  <a:lnTo>
                    <a:pt x="3237430" y="2430"/>
                  </a:lnTo>
                  <a:lnTo>
                    <a:pt x="3228029" y="607"/>
                  </a:lnTo>
                  <a:lnTo>
                    <a:pt x="3218395" y="0"/>
                  </a:lnTo>
                  <a:close/>
                </a:path>
              </a:pathLst>
            </a:custGeom>
            <a:solidFill>
              <a:srgbClr val="E1E7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532120" y="3694317"/>
              <a:ext cx="2436495" cy="201295"/>
            </a:xfrm>
            <a:custGeom>
              <a:avLst/>
              <a:gdLst/>
              <a:ahLst/>
              <a:cxnLst/>
              <a:rect l="l" t="t" r="r" b="b"/>
              <a:pathLst>
                <a:path w="2436495" h="201295">
                  <a:moveTo>
                    <a:pt x="2362682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28168"/>
                  </a:lnTo>
                  <a:lnTo>
                    <a:pt x="597" y="137439"/>
                  </a:lnTo>
                  <a:lnTo>
                    <a:pt x="607" y="137594"/>
                  </a:lnTo>
                  <a:lnTo>
                    <a:pt x="21285" y="179776"/>
                  </a:lnTo>
                  <a:lnTo>
                    <a:pt x="63443" y="200636"/>
                  </a:lnTo>
                  <a:lnTo>
                    <a:pt x="73075" y="201244"/>
                  </a:lnTo>
                  <a:lnTo>
                    <a:pt x="2363038" y="200888"/>
                  </a:lnTo>
                  <a:lnTo>
                    <a:pt x="2407415" y="185834"/>
                  </a:lnTo>
                  <a:lnTo>
                    <a:pt x="2433669" y="146886"/>
                  </a:lnTo>
                  <a:lnTo>
                    <a:pt x="2436090" y="128168"/>
                  </a:lnTo>
                  <a:lnTo>
                    <a:pt x="2436113" y="127800"/>
                  </a:lnTo>
                  <a:lnTo>
                    <a:pt x="2435758" y="73088"/>
                  </a:lnTo>
                  <a:lnTo>
                    <a:pt x="2420717" y="28710"/>
                  </a:lnTo>
                  <a:lnTo>
                    <a:pt x="2381711" y="2430"/>
                  </a:lnTo>
                  <a:lnTo>
                    <a:pt x="2372314" y="607"/>
                  </a:lnTo>
                  <a:lnTo>
                    <a:pt x="2362682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4000298"/>
              <a:ext cx="8694724" cy="61094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19316" y="4077362"/>
              <a:ext cx="8504555" cy="421005"/>
            </a:xfrm>
            <a:custGeom>
              <a:avLst/>
              <a:gdLst/>
              <a:ahLst/>
              <a:cxnLst/>
              <a:rect l="l" t="t" r="r" b="b"/>
              <a:pathLst>
                <a:path w="8504555" h="421004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932"/>
                  </a:lnTo>
                  <a:lnTo>
                    <a:pt x="368" y="109804"/>
                  </a:lnTo>
                  <a:lnTo>
                    <a:pt x="0" y="311035"/>
                  </a:lnTo>
                  <a:lnTo>
                    <a:pt x="929" y="325310"/>
                  </a:lnTo>
                  <a:lnTo>
                    <a:pt x="939" y="325465"/>
                  </a:lnTo>
                  <a:lnTo>
                    <a:pt x="3701" y="339345"/>
                  </a:lnTo>
                  <a:lnTo>
                    <a:pt x="3736" y="339523"/>
                  </a:lnTo>
                  <a:lnTo>
                    <a:pt x="22686" y="377828"/>
                  </a:lnTo>
                  <a:lnTo>
                    <a:pt x="55079" y="406082"/>
                  </a:lnTo>
                  <a:lnTo>
                    <a:pt x="95534" y="419900"/>
                  </a:lnTo>
                  <a:lnTo>
                    <a:pt x="109804" y="420839"/>
                  </a:lnTo>
                  <a:lnTo>
                    <a:pt x="8394484" y="420839"/>
                  </a:lnTo>
                  <a:lnTo>
                    <a:pt x="8436555" y="412487"/>
                  </a:lnTo>
                  <a:lnTo>
                    <a:pt x="8472057" y="388661"/>
                  </a:lnTo>
                  <a:lnTo>
                    <a:pt x="8495830" y="353107"/>
                  </a:lnTo>
                  <a:lnTo>
                    <a:pt x="8500490" y="339523"/>
                  </a:lnTo>
                  <a:lnTo>
                    <a:pt x="8500551" y="339345"/>
                  </a:lnTo>
                  <a:lnTo>
                    <a:pt x="8503317" y="325465"/>
                  </a:lnTo>
                  <a:lnTo>
                    <a:pt x="8503348" y="325310"/>
                  </a:lnTo>
                  <a:lnTo>
                    <a:pt x="8504288" y="311035"/>
                  </a:lnTo>
                  <a:lnTo>
                    <a:pt x="8504265" y="109804"/>
                  </a:lnTo>
                  <a:lnTo>
                    <a:pt x="8495930" y="68088"/>
                  </a:lnTo>
                  <a:lnTo>
                    <a:pt x="8472063" y="32535"/>
                  </a:lnTo>
                  <a:lnTo>
                    <a:pt x="8436353" y="8713"/>
                  </a:lnTo>
                  <a:lnTo>
                    <a:pt x="8394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19316" y="4077362"/>
              <a:ext cx="8504555" cy="421005"/>
            </a:xfrm>
            <a:custGeom>
              <a:avLst/>
              <a:gdLst/>
              <a:ahLst/>
              <a:cxnLst/>
              <a:rect l="l" t="t" r="r" b="b"/>
              <a:pathLst>
                <a:path w="8504555" h="421004">
                  <a:moveTo>
                    <a:pt x="368" y="109804"/>
                  </a:moveTo>
                  <a:lnTo>
                    <a:pt x="1307" y="95529"/>
                  </a:lnTo>
                  <a:lnTo>
                    <a:pt x="4103" y="81494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55"/>
                  </a:lnTo>
                  <a:lnTo>
                    <a:pt x="8436353" y="8713"/>
                  </a:lnTo>
                  <a:lnTo>
                    <a:pt x="8472063" y="32535"/>
                  </a:lnTo>
                  <a:lnTo>
                    <a:pt x="8495930" y="68088"/>
                  </a:lnTo>
                  <a:lnTo>
                    <a:pt x="8504288" y="110159"/>
                  </a:lnTo>
                  <a:lnTo>
                    <a:pt x="8504288" y="311035"/>
                  </a:lnTo>
                  <a:lnTo>
                    <a:pt x="8503348" y="325310"/>
                  </a:lnTo>
                  <a:lnTo>
                    <a:pt x="8500551" y="339345"/>
                  </a:lnTo>
                  <a:lnTo>
                    <a:pt x="8481505" y="377828"/>
                  </a:lnTo>
                  <a:lnTo>
                    <a:pt x="8449564" y="406082"/>
                  </a:lnTo>
                  <a:lnTo>
                    <a:pt x="8408914" y="419900"/>
                  </a:lnTo>
                  <a:lnTo>
                    <a:pt x="8394484" y="420839"/>
                  </a:lnTo>
                  <a:lnTo>
                    <a:pt x="109804" y="420839"/>
                  </a:lnTo>
                  <a:lnTo>
                    <a:pt x="67934" y="412487"/>
                  </a:lnTo>
                  <a:lnTo>
                    <a:pt x="32224" y="388661"/>
                  </a:lnTo>
                  <a:lnTo>
                    <a:pt x="8358" y="353107"/>
                  </a:lnTo>
                  <a:lnTo>
                    <a:pt x="0" y="311035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44144" y="797663"/>
            <a:ext cx="2928620" cy="3587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7680">
              <a:lnSpc>
                <a:spcPct val="100000"/>
              </a:lnSpc>
              <a:spcBef>
                <a:spcPts val="100"/>
              </a:spcBef>
            </a:pP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What</a:t>
            </a:r>
            <a:r>
              <a:rPr sz="1000" i="1" spc="-4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+mn-lt"/>
                <a:cs typeface="Arial"/>
              </a:rPr>
              <a:t>developers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90" dirty="0">
                <a:solidFill>
                  <a:srgbClr val="9FBFFF"/>
                </a:solidFill>
                <a:latin typeface="+mn-lt"/>
                <a:cs typeface="Arial"/>
              </a:rPr>
              <a:t>use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75" dirty="0">
                <a:solidFill>
                  <a:srgbClr val="9FBFFF"/>
                </a:solidFill>
                <a:latin typeface="+mn-lt"/>
                <a:cs typeface="Arial"/>
              </a:rPr>
              <a:t>Claude</a:t>
            </a:r>
            <a:r>
              <a:rPr sz="1000" i="1" spc="-4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95" dirty="0">
                <a:solidFill>
                  <a:srgbClr val="9FBFFF"/>
                </a:solidFill>
                <a:latin typeface="+mn-lt"/>
                <a:cs typeface="Arial"/>
              </a:rPr>
              <a:t>Code</a:t>
            </a: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for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+mn-lt"/>
                <a:cs typeface="Arial"/>
              </a:rPr>
              <a:t>every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day</a:t>
            </a:r>
            <a:endParaRPr sz="1000" dirty="0">
              <a:latin typeface="+mn-lt"/>
              <a:cs typeface="Arial"/>
            </a:endParaRPr>
          </a:p>
          <a:p>
            <a:pPr marL="12700" marR="1212850">
              <a:lnSpc>
                <a:spcPts val="3890"/>
              </a:lnSpc>
              <a:spcBef>
                <a:spcPts val="180"/>
              </a:spcBef>
            </a:pP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Generate</a:t>
            </a:r>
            <a:r>
              <a:rPr sz="1100" b="1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boilerplate</a:t>
            </a:r>
            <a:r>
              <a:rPr sz="1100" b="1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&amp;</a:t>
            </a:r>
            <a:r>
              <a:rPr sz="1100" b="1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CRUD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Debug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errors</a:t>
            </a:r>
            <a:r>
              <a:rPr sz="110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&amp;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 exceptions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Write</a:t>
            </a:r>
            <a:r>
              <a:rPr sz="1100" b="1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&amp;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run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unit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 tests</a:t>
            </a:r>
            <a:endParaRPr sz="1100" dirty="0">
              <a:latin typeface="Calibri"/>
              <a:cs typeface="Calibri"/>
            </a:endParaRPr>
          </a:p>
          <a:p>
            <a:pPr marL="12700" marR="1527175">
              <a:lnSpc>
                <a:spcPct val="294500"/>
              </a:lnSpc>
              <a:spcBef>
                <a:spcPts val="5"/>
              </a:spcBef>
            </a:pP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Refactor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legacy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 code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Generate</a:t>
            </a:r>
            <a:r>
              <a:rPr sz="1100" b="1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API</a:t>
            </a:r>
            <a:r>
              <a:rPr sz="1100" b="1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endpoints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110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code</a:t>
            </a:r>
            <a:r>
              <a:rPr sz="1100" b="1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review Write</a:t>
            </a:r>
            <a:r>
              <a:rPr sz="110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documentation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42277" y="4187877"/>
            <a:ext cx="8695055" cy="917575"/>
            <a:chOff x="242277" y="4187877"/>
            <a:chExt cx="8695055" cy="917575"/>
          </a:xfrm>
        </p:grpSpPr>
        <p:sp>
          <p:nvSpPr>
            <p:cNvPr id="40" name="object 40"/>
            <p:cNvSpPr/>
            <p:nvPr/>
          </p:nvSpPr>
          <p:spPr>
            <a:xfrm>
              <a:off x="5531764" y="4187877"/>
              <a:ext cx="3291840" cy="201295"/>
            </a:xfrm>
            <a:custGeom>
              <a:avLst/>
              <a:gdLst/>
              <a:ahLst/>
              <a:cxnLst/>
              <a:rect l="l" t="t" r="r" b="b"/>
              <a:pathLst>
                <a:path w="3291840" h="201295">
                  <a:moveTo>
                    <a:pt x="321839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28168"/>
                  </a:lnTo>
                  <a:lnTo>
                    <a:pt x="597" y="137439"/>
                  </a:lnTo>
                  <a:lnTo>
                    <a:pt x="607" y="137594"/>
                  </a:lnTo>
                  <a:lnTo>
                    <a:pt x="21280" y="179776"/>
                  </a:lnTo>
                  <a:lnTo>
                    <a:pt x="63442" y="200636"/>
                  </a:lnTo>
                  <a:lnTo>
                    <a:pt x="73075" y="201244"/>
                  </a:lnTo>
                  <a:lnTo>
                    <a:pt x="3218751" y="200888"/>
                  </a:lnTo>
                  <a:lnTo>
                    <a:pt x="3263129" y="185834"/>
                  </a:lnTo>
                  <a:lnTo>
                    <a:pt x="3289394" y="146886"/>
                  </a:lnTo>
                  <a:lnTo>
                    <a:pt x="3291816" y="128168"/>
                  </a:lnTo>
                  <a:lnTo>
                    <a:pt x="3291840" y="127800"/>
                  </a:lnTo>
                  <a:lnTo>
                    <a:pt x="3291471" y="73088"/>
                  </a:lnTo>
                  <a:lnTo>
                    <a:pt x="3276430" y="28710"/>
                  </a:lnTo>
                  <a:lnTo>
                    <a:pt x="3237430" y="2430"/>
                  </a:lnTo>
                  <a:lnTo>
                    <a:pt x="3228029" y="607"/>
                  </a:lnTo>
                  <a:lnTo>
                    <a:pt x="3218395" y="0"/>
                  </a:lnTo>
                  <a:close/>
                </a:path>
              </a:pathLst>
            </a:custGeom>
            <a:solidFill>
              <a:srgbClr val="E1E7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532120" y="4187877"/>
              <a:ext cx="2304415" cy="201295"/>
            </a:xfrm>
            <a:custGeom>
              <a:avLst/>
              <a:gdLst/>
              <a:ahLst/>
              <a:cxnLst/>
              <a:rect l="l" t="t" r="r" b="b"/>
              <a:pathLst>
                <a:path w="2304415" h="201295">
                  <a:moveTo>
                    <a:pt x="2230920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28168"/>
                  </a:lnTo>
                  <a:lnTo>
                    <a:pt x="597" y="137439"/>
                  </a:lnTo>
                  <a:lnTo>
                    <a:pt x="607" y="137594"/>
                  </a:lnTo>
                  <a:lnTo>
                    <a:pt x="21285" y="179776"/>
                  </a:lnTo>
                  <a:lnTo>
                    <a:pt x="63443" y="200636"/>
                  </a:lnTo>
                  <a:lnTo>
                    <a:pt x="73075" y="201244"/>
                  </a:lnTo>
                  <a:lnTo>
                    <a:pt x="2231275" y="200888"/>
                  </a:lnTo>
                  <a:lnTo>
                    <a:pt x="2275653" y="185834"/>
                  </a:lnTo>
                  <a:lnTo>
                    <a:pt x="2301918" y="146886"/>
                  </a:lnTo>
                  <a:lnTo>
                    <a:pt x="2304340" y="128168"/>
                  </a:lnTo>
                  <a:lnTo>
                    <a:pt x="2304364" y="127800"/>
                  </a:lnTo>
                  <a:lnTo>
                    <a:pt x="2303995" y="73088"/>
                  </a:lnTo>
                  <a:lnTo>
                    <a:pt x="2288954" y="28710"/>
                  </a:lnTo>
                  <a:lnTo>
                    <a:pt x="2249954" y="2430"/>
                  </a:lnTo>
                  <a:lnTo>
                    <a:pt x="2240553" y="607"/>
                  </a:lnTo>
                  <a:lnTo>
                    <a:pt x="2230920" y="0"/>
                  </a:lnTo>
                  <a:close/>
                </a:path>
              </a:pathLst>
            </a:custGeom>
            <a:solidFill>
              <a:srgbClr val="079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4494227"/>
              <a:ext cx="8694724" cy="61093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19316" y="4571277"/>
              <a:ext cx="8504555" cy="421005"/>
            </a:xfrm>
            <a:custGeom>
              <a:avLst/>
              <a:gdLst/>
              <a:ahLst/>
              <a:cxnLst/>
              <a:rect l="l" t="t" r="r" b="b"/>
              <a:pathLst>
                <a:path w="8504555" h="421004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934"/>
                  </a:lnTo>
                  <a:lnTo>
                    <a:pt x="368" y="109804"/>
                  </a:lnTo>
                  <a:lnTo>
                    <a:pt x="0" y="311048"/>
                  </a:lnTo>
                  <a:lnTo>
                    <a:pt x="929" y="325315"/>
                  </a:lnTo>
                  <a:lnTo>
                    <a:pt x="939" y="325471"/>
                  </a:lnTo>
                  <a:lnTo>
                    <a:pt x="3701" y="339347"/>
                  </a:lnTo>
                  <a:lnTo>
                    <a:pt x="3736" y="339526"/>
                  </a:lnTo>
                  <a:lnTo>
                    <a:pt x="8288" y="352907"/>
                  </a:lnTo>
                  <a:lnTo>
                    <a:pt x="8358" y="353112"/>
                  </a:lnTo>
                  <a:lnTo>
                    <a:pt x="14770" y="366128"/>
                  </a:lnTo>
                  <a:lnTo>
                    <a:pt x="22683" y="377836"/>
                  </a:lnTo>
                  <a:lnTo>
                    <a:pt x="22788" y="377991"/>
                  </a:lnTo>
                  <a:lnTo>
                    <a:pt x="55079" y="406082"/>
                  </a:lnTo>
                  <a:lnTo>
                    <a:pt x="95534" y="419900"/>
                  </a:lnTo>
                  <a:lnTo>
                    <a:pt x="109804" y="420839"/>
                  </a:lnTo>
                  <a:lnTo>
                    <a:pt x="8394484" y="420839"/>
                  </a:lnTo>
                  <a:lnTo>
                    <a:pt x="8436555" y="412487"/>
                  </a:lnTo>
                  <a:lnTo>
                    <a:pt x="8472055" y="388672"/>
                  </a:lnTo>
                  <a:lnTo>
                    <a:pt x="8495827" y="353112"/>
                  </a:lnTo>
                  <a:lnTo>
                    <a:pt x="8495930" y="352907"/>
                  </a:lnTo>
                  <a:lnTo>
                    <a:pt x="8500490" y="339526"/>
                  </a:lnTo>
                  <a:lnTo>
                    <a:pt x="8500551" y="339347"/>
                  </a:lnTo>
                  <a:lnTo>
                    <a:pt x="8503317" y="325471"/>
                  </a:lnTo>
                  <a:lnTo>
                    <a:pt x="8503348" y="325315"/>
                  </a:lnTo>
                  <a:lnTo>
                    <a:pt x="8504288" y="311048"/>
                  </a:lnTo>
                  <a:lnTo>
                    <a:pt x="8504265" y="109804"/>
                  </a:lnTo>
                  <a:lnTo>
                    <a:pt x="8503348" y="95736"/>
                  </a:lnTo>
                  <a:lnTo>
                    <a:pt x="8489518" y="55079"/>
                  </a:lnTo>
                  <a:lnTo>
                    <a:pt x="8461277" y="23138"/>
                  </a:lnTo>
                  <a:lnTo>
                    <a:pt x="8422789" y="4103"/>
                  </a:lnTo>
                  <a:lnTo>
                    <a:pt x="839448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19316" y="4571277"/>
              <a:ext cx="8504555" cy="421005"/>
            </a:xfrm>
            <a:custGeom>
              <a:avLst/>
              <a:gdLst/>
              <a:ahLst/>
              <a:cxnLst/>
              <a:rect l="l" t="t" r="r" b="b"/>
              <a:pathLst>
                <a:path w="8504555" h="421004">
                  <a:moveTo>
                    <a:pt x="368" y="109804"/>
                  </a:moveTo>
                  <a:lnTo>
                    <a:pt x="1307" y="95534"/>
                  </a:lnTo>
                  <a:lnTo>
                    <a:pt x="4103" y="81499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68"/>
                  </a:lnTo>
                  <a:lnTo>
                    <a:pt x="8436353" y="8721"/>
                  </a:lnTo>
                  <a:lnTo>
                    <a:pt x="8472063" y="32535"/>
                  </a:lnTo>
                  <a:lnTo>
                    <a:pt x="8495930" y="68095"/>
                  </a:lnTo>
                  <a:lnTo>
                    <a:pt x="8504288" y="110159"/>
                  </a:lnTo>
                  <a:lnTo>
                    <a:pt x="8504288" y="311048"/>
                  </a:lnTo>
                  <a:lnTo>
                    <a:pt x="8503348" y="325315"/>
                  </a:lnTo>
                  <a:lnTo>
                    <a:pt x="8500551" y="339347"/>
                  </a:lnTo>
                  <a:lnTo>
                    <a:pt x="8481505" y="377836"/>
                  </a:lnTo>
                  <a:lnTo>
                    <a:pt x="8449564" y="406082"/>
                  </a:lnTo>
                  <a:lnTo>
                    <a:pt x="8408914" y="419900"/>
                  </a:lnTo>
                  <a:lnTo>
                    <a:pt x="8394484" y="420839"/>
                  </a:lnTo>
                  <a:lnTo>
                    <a:pt x="109804" y="420839"/>
                  </a:lnTo>
                  <a:lnTo>
                    <a:pt x="67934" y="412487"/>
                  </a:lnTo>
                  <a:lnTo>
                    <a:pt x="32224" y="388672"/>
                  </a:lnTo>
                  <a:lnTo>
                    <a:pt x="8358" y="353112"/>
                  </a:lnTo>
                  <a:lnTo>
                    <a:pt x="0" y="311048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531764" y="4681806"/>
              <a:ext cx="3291840" cy="201295"/>
            </a:xfrm>
            <a:custGeom>
              <a:avLst/>
              <a:gdLst/>
              <a:ahLst/>
              <a:cxnLst/>
              <a:rect l="l" t="t" r="r" b="b"/>
              <a:pathLst>
                <a:path w="3291840" h="201295">
                  <a:moveTo>
                    <a:pt x="321839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8155"/>
                  </a:lnTo>
                  <a:lnTo>
                    <a:pt x="597" y="137432"/>
                  </a:lnTo>
                  <a:lnTo>
                    <a:pt x="607" y="137582"/>
                  </a:lnTo>
                  <a:lnTo>
                    <a:pt x="21280" y="179773"/>
                  </a:lnTo>
                  <a:lnTo>
                    <a:pt x="63442" y="200624"/>
                  </a:lnTo>
                  <a:lnTo>
                    <a:pt x="73075" y="201231"/>
                  </a:lnTo>
                  <a:lnTo>
                    <a:pt x="3218751" y="200875"/>
                  </a:lnTo>
                  <a:lnTo>
                    <a:pt x="3263129" y="185829"/>
                  </a:lnTo>
                  <a:lnTo>
                    <a:pt x="3289394" y="146873"/>
                  </a:lnTo>
                  <a:lnTo>
                    <a:pt x="3291840" y="127800"/>
                  </a:lnTo>
                  <a:lnTo>
                    <a:pt x="3291471" y="73075"/>
                  </a:lnTo>
                  <a:lnTo>
                    <a:pt x="3276430" y="28698"/>
                  </a:lnTo>
                  <a:lnTo>
                    <a:pt x="3237430" y="2428"/>
                  </a:lnTo>
                  <a:lnTo>
                    <a:pt x="3228029" y="607"/>
                  </a:lnTo>
                  <a:lnTo>
                    <a:pt x="3218395" y="0"/>
                  </a:lnTo>
                  <a:close/>
                </a:path>
              </a:pathLst>
            </a:custGeom>
            <a:solidFill>
              <a:srgbClr val="E1E7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531764" y="4681806"/>
              <a:ext cx="2239010" cy="201295"/>
            </a:xfrm>
            <a:custGeom>
              <a:avLst/>
              <a:gdLst/>
              <a:ahLst/>
              <a:cxnLst/>
              <a:rect l="l" t="t" r="r" b="b"/>
              <a:pathLst>
                <a:path w="2239009" h="201295">
                  <a:moveTo>
                    <a:pt x="2165032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8155"/>
                  </a:lnTo>
                  <a:lnTo>
                    <a:pt x="597" y="137432"/>
                  </a:lnTo>
                  <a:lnTo>
                    <a:pt x="607" y="137582"/>
                  </a:lnTo>
                  <a:lnTo>
                    <a:pt x="21280" y="179773"/>
                  </a:lnTo>
                  <a:lnTo>
                    <a:pt x="63442" y="200624"/>
                  </a:lnTo>
                  <a:lnTo>
                    <a:pt x="73075" y="201231"/>
                  </a:lnTo>
                  <a:lnTo>
                    <a:pt x="2165400" y="200875"/>
                  </a:lnTo>
                  <a:lnTo>
                    <a:pt x="2209771" y="185829"/>
                  </a:lnTo>
                  <a:lnTo>
                    <a:pt x="2236032" y="146873"/>
                  </a:lnTo>
                  <a:lnTo>
                    <a:pt x="2238454" y="128155"/>
                  </a:lnTo>
                  <a:lnTo>
                    <a:pt x="2238476" y="127800"/>
                  </a:lnTo>
                  <a:lnTo>
                    <a:pt x="2238121" y="73075"/>
                  </a:lnTo>
                  <a:lnTo>
                    <a:pt x="2223067" y="28698"/>
                  </a:lnTo>
                  <a:lnTo>
                    <a:pt x="2184072" y="2428"/>
                  </a:lnTo>
                  <a:lnTo>
                    <a:pt x="2174671" y="607"/>
                  </a:lnTo>
                  <a:lnTo>
                    <a:pt x="2165032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44144" y="4691995"/>
            <a:ext cx="6033770" cy="23876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650" b="1" spc="-1050" baseline="17676" dirty="0">
                <a:solidFill>
                  <a:srgbClr val="1D283A"/>
                </a:solidFill>
                <a:latin typeface="Calibri"/>
                <a:cs typeface="Calibri"/>
              </a:rPr>
              <a:t>D</a:t>
            </a:r>
            <a:r>
              <a:rPr sz="1100" spc="-53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650" b="1" spc="-15" baseline="17676" dirty="0">
                <a:solidFill>
                  <a:srgbClr val="1D283A"/>
                </a:solidFill>
                <a:latin typeface="Calibri"/>
                <a:cs typeface="Calibri"/>
              </a:rPr>
              <a:t>a</a:t>
            </a:r>
            <a:r>
              <a:rPr sz="1650" b="1" spc="-30" baseline="17676" dirty="0">
                <a:solidFill>
                  <a:srgbClr val="1D283A"/>
                </a:solidFill>
                <a:latin typeface="Calibri"/>
                <a:cs typeface="Calibri"/>
              </a:rPr>
              <a:t>t</a:t>
            </a:r>
            <a:r>
              <a:rPr sz="1650" b="1" spc="-817" baseline="17676" dirty="0">
                <a:solidFill>
                  <a:srgbClr val="1D283A"/>
                </a:solidFill>
                <a:latin typeface="Calibri"/>
                <a:cs typeface="Calibri"/>
              </a:rPr>
              <a:t>a</a:t>
            </a:r>
            <a:r>
              <a:rPr sz="950" spc="-55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650" b="1" spc="-847" baseline="17676" dirty="0">
                <a:solidFill>
                  <a:srgbClr val="1D283A"/>
                </a:solidFill>
                <a:latin typeface="Calibri"/>
                <a:cs typeface="Calibri"/>
              </a:rPr>
              <a:t>b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950" spc="-340" dirty="0">
                <a:solidFill>
                  <a:srgbClr val="774409"/>
                </a:solidFill>
                <a:latin typeface="Calibri"/>
                <a:cs typeface="Calibri"/>
              </a:rPr>
              <a:t>v</a:t>
            </a:r>
            <a:r>
              <a:rPr sz="1650" b="1" spc="-337" baseline="17676" dirty="0">
                <a:solidFill>
                  <a:srgbClr val="1D283A"/>
                </a:solidFill>
                <a:latin typeface="Calibri"/>
                <a:cs typeface="Calibri"/>
              </a:rPr>
              <a:t>a</a:t>
            </a:r>
            <a:r>
              <a:rPr sz="950" spc="-27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650" b="1" spc="-292" baseline="17676" dirty="0">
                <a:solidFill>
                  <a:srgbClr val="1D283A"/>
                </a:solidFill>
                <a:latin typeface="Calibri"/>
                <a:cs typeface="Calibri"/>
              </a:rPr>
              <a:t>s</a:t>
            </a:r>
            <a:r>
              <a:rPr sz="950" spc="-35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1650" b="1" spc="-802" baseline="17676" dirty="0">
                <a:solidFill>
                  <a:srgbClr val="1D283A"/>
                </a:solidFill>
                <a:latin typeface="Calibri"/>
                <a:cs typeface="Calibri"/>
              </a:rPr>
              <a:t>e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950" spc="-240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650" b="1" spc="-330" baseline="17676" dirty="0">
                <a:solidFill>
                  <a:srgbClr val="1D283A"/>
                </a:solidFill>
                <a:latin typeface="Calibri"/>
                <a:cs typeface="Calibri"/>
              </a:rPr>
              <a:t>s</a:t>
            </a:r>
            <a:r>
              <a:rPr sz="950" spc="-27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650" b="1" spc="-330" baseline="17676" dirty="0">
                <a:solidFill>
                  <a:srgbClr val="1D283A"/>
                </a:solidFill>
                <a:latin typeface="Calibri"/>
                <a:cs typeface="Calibri"/>
              </a:rPr>
              <a:t>c</a:t>
            </a:r>
            <a:r>
              <a:rPr sz="950" spc="-13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650" b="1" spc="-390" baseline="17676" dirty="0">
                <a:solidFill>
                  <a:srgbClr val="1D283A"/>
                </a:solidFill>
                <a:latin typeface="Calibri"/>
                <a:cs typeface="Calibri"/>
              </a:rPr>
              <a:t>h</a:t>
            </a:r>
            <a:r>
              <a:rPr sz="950" spc="-120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650" b="1" spc="-675" baseline="17676" dirty="0">
                <a:solidFill>
                  <a:srgbClr val="1D283A"/>
                </a:solidFill>
                <a:latin typeface="Calibri"/>
                <a:cs typeface="Calibri"/>
              </a:rPr>
              <a:t>e</a:t>
            </a:r>
            <a:r>
              <a:rPr sz="950" spc="-65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1650" b="1" spc="-1282" baseline="17676" dirty="0">
                <a:solidFill>
                  <a:srgbClr val="1D283A"/>
                </a:solidFill>
                <a:latin typeface="Calibri"/>
                <a:cs typeface="Calibri"/>
              </a:rPr>
              <a:t>m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v</a:t>
            </a:r>
            <a:r>
              <a:rPr sz="950" spc="-40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650" b="1" spc="-247" baseline="17676" dirty="0">
                <a:solidFill>
                  <a:srgbClr val="1D283A"/>
                </a:solidFill>
                <a:latin typeface="Calibri"/>
                <a:cs typeface="Calibri"/>
              </a:rPr>
              <a:t>a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y</a:t>
            </a:r>
            <a:r>
              <a:rPr sz="1650" b="1" spc="-832" baseline="17676" dirty="0">
                <a:solidFill>
                  <a:srgbClr val="1D283A"/>
                </a:solidFill>
                <a:latin typeface="Calibri"/>
                <a:cs typeface="Calibri"/>
              </a:rPr>
              <a:t>&amp;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(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2</a:t>
            </a:r>
            <a:r>
              <a:rPr sz="950" spc="-465" dirty="0">
                <a:solidFill>
                  <a:srgbClr val="774409"/>
                </a:solidFill>
                <a:latin typeface="Calibri"/>
                <a:cs typeface="Calibri"/>
              </a:rPr>
              <a:t>0</a:t>
            </a:r>
            <a:r>
              <a:rPr sz="1650" b="1" spc="-697" baseline="17676" dirty="0">
                <a:solidFill>
                  <a:srgbClr val="1D283A"/>
                </a:solidFill>
                <a:latin typeface="Calibri"/>
                <a:cs typeface="Calibri"/>
              </a:rPr>
              <a:t>m</a:t>
            </a:r>
            <a:r>
              <a:rPr sz="950" spc="-50" dirty="0">
                <a:solidFill>
                  <a:srgbClr val="774409"/>
                </a:solidFill>
                <a:latin typeface="Calibri"/>
                <a:cs typeface="Calibri"/>
              </a:rPr>
              <a:t>2</a:t>
            </a:r>
            <a:r>
              <a:rPr sz="1650" b="1" spc="-367" baseline="17676" dirty="0">
                <a:solidFill>
                  <a:srgbClr val="1D283A"/>
                </a:solidFill>
                <a:latin typeface="Calibri"/>
                <a:cs typeface="Calibri"/>
              </a:rPr>
              <a:t>i</a:t>
            </a:r>
            <a:r>
              <a:rPr sz="950" spc="-254" dirty="0">
                <a:solidFill>
                  <a:srgbClr val="774409"/>
                </a:solidFill>
                <a:latin typeface="Calibri"/>
                <a:cs typeface="Calibri"/>
              </a:rPr>
              <a:t>4</a:t>
            </a:r>
            <a:r>
              <a:rPr sz="1650" b="1" spc="-442" baseline="17676" dirty="0">
                <a:solidFill>
                  <a:srgbClr val="1D283A"/>
                </a:solidFill>
                <a:latin typeface="Calibri"/>
                <a:cs typeface="Calibri"/>
              </a:rPr>
              <a:t>g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)</a:t>
            </a:r>
            <a:r>
              <a:rPr sz="950" spc="-260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1650" b="1" spc="-60" baseline="17676" dirty="0">
                <a:solidFill>
                  <a:srgbClr val="1D283A"/>
                </a:solidFill>
                <a:latin typeface="Calibri"/>
                <a:cs typeface="Calibri"/>
              </a:rPr>
              <a:t>r</a:t>
            </a:r>
            <a:r>
              <a:rPr sz="1650" b="1" spc="-667" baseline="17676" dirty="0">
                <a:solidFill>
                  <a:srgbClr val="1D283A"/>
                </a:solidFill>
                <a:latin typeface="Calibri"/>
                <a:cs typeface="Calibri"/>
              </a:rPr>
              <a:t>a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36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650" b="1" spc="-472" baseline="17676" dirty="0">
                <a:solidFill>
                  <a:srgbClr val="1D283A"/>
                </a:solidFill>
                <a:latin typeface="Calibri"/>
                <a:cs typeface="Calibri"/>
              </a:rPr>
              <a:t>ti</a:t>
            </a:r>
            <a:r>
              <a:rPr sz="950" spc="-16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650" b="1" spc="-667" baseline="17676" dirty="0">
                <a:solidFill>
                  <a:srgbClr val="1D283A"/>
                </a:solidFill>
                <a:latin typeface="Calibri"/>
                <a:cs typeface="Calibri"/>
              </a:rPr>
              <a:t>o</a:t>
            </a:r>
            <a:r>
              <a:rPr sz="950" spc="-335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1650" b="1" spc="-412" baseline="17676" dirty="0">
                <a:solidFill>
                  <a:srgbClr val="1D283A"/>
                </a:solidFill>
                <a:latin typeface="Calibri"/>
                <a:cs typeface="Calibri"/>
              </a:rPr>
              <a:t>n</a:t>
            </a:r>
            <a:r>
              <a:rPr sz="950" spc="-10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650" b="1" spc="-202" baseline="17676" dirty="0">
                <a:solidFill>
                  <a:srgbClr val="1D283A"/>
                </a:solidFill>
                <a:latin typeface="Calibri"/>
                <a:cs typeface="Calibri"/>
              </a:rPr>
              <a:t>s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si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ng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Claude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Code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ship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3–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10×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faster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on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repetitive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tasks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vs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teams without AI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assistance.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8994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6</a:t>
            </a:fld>
            <a:r>
              <a:rPr spc="-10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80" dirty="0"/>
              <a:t> </a:t>
            </a:r>
            <a:r>
              <a:rPr dirty="0"/>
              <a:t>Claude</a:t>
            </a:r>
            <a:r>
              <a:rPr spc="-70" dirty="0"/>
              <a:t> </a:t>
            </a:r>
            <a:r>
              <a:rPr dirty="0"/>
              <a:t>Code</a:t>
            </a:r>
            <a:r>
              <a:rPr spc="-80" dirty="0"/>
              <a:t> </a:t>
            </a:r>
            <a:r>
              <a:rPr dirty="0"/>
              <a:t>for</a:t>
            </a:r>
            <a:r>
              <a:rPr spc="-75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spc="-10" dirty="0"/>
              <a:t>WAMY</a:t>
            </a:r>
            <a:r>
              <a:rPr spc="-70" dirty="0"/>
              <a:t> </a:t>
            </a:r>
            <a:r>
              <a:rPr dirty="0"/>
              <a:t>Finance</a:t>
            </a:r>
            <a:r>
              <a:rPr spc="-80" dirty="0"/>
              <a:t> </a:t>
            </a:r>
            <a:r>
              <a:rPr spc="-10" dirty="0"/>
              <a:t>Module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30740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90" dirty="0">
                <a:solidFill>
                  <a:srgbClr val="9FBFFF"/>
                </a:solidFill>
                <a:latin typeface="Arial"/>
                <a:cs typeface="Arial"/>
              </a:rPr>
              <a:t>Real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benefits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for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a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real 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Spring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Boot </a:t>
            </a: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+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80" dirty="0">
                <a:solidFill>
                  <a:srgbClr val="9FBFFF"/>
                </a:solidFill>
                <a:latin typeface="Arial"/>
                <a:cs typeface="Arial"/>
              </a:rPr>
              <a:t>React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95" dirty="0">
                <a:solidFill>
                  <a:srgbClr val="9FBFFF"/>
                </a:solidFill>
                <a:latin typeface="Arial"/>
                <a:cs typeface="Arial"/>
              </a:rPr>
              <a:t>+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10" dirty="0">
                <a:solidFill>
                  <a:srgbClr val="9FBFFF"/>
                </a:solidFill>
                <a:latin typeface="Arial"/>
                <a:cs typeface="Arial"/>
              </a:rPr>
              <a:t>MySQL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project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7" y="178160"/>
            <a:ext cx="825843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227"/>
            <a:ext cx="4507230" cy="1150620"/>
            <a:chOff x="242646" y="1038227"/>
            <a:chExt cx="4507230" cy="11506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06836" cy="115056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277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850684"/>
                  </a:lnTo>
                  <a:lnTo>
                    <a:pt x="939" y="865114"/>
                  </a:lnTo>
                  <a:lnTo>
                    <a:pt x="3735" y="879171"/>
                  </a:lnTo>
                  <a:lnTo>
                    <a:pt x="8301" y="892605"/>
                  </a:lnTo>
                  <a:lnTo>
                    <a:pt x="8352" y="892755"/>
                  </a:lnTo>
                  <a:lnTo>
                    <a:pt x="32213" y="928308"/>
                  </a:lnTo>
                  <a:lnTo>
                    <a:pt x="67882" y="952130"/>
                  </a:lnTo>
                  <a:lnTo>
                    <a:pt x="109791" y="960488"/>
                  </a:lnTo>
                  <a:lnTo>
                    <a:pt x="4206595" y="960488"/>
                  </a:lnTo>
                  <a:lnTo>
                    <a:pt x="4248666" y="952130"/>
                  </a:lnTo>
                  <a:lnTo>
                    <a:pt x="4284169" y="928308"/>
                  </a:lnTo>
                  <a:lnTo>
                    <a:pt x="4307966" y="892755"/>
                  </a:lnTo>
                  <a:lnTo>
                    <a:pt x="4308041" y="892605"/>
                  </a:lnTo>
                  <a:lnTo>
                    <a:pt x="4312647" y="879171"/>
                  </a:lnTo>
                  <a:lnTo>
                    <a:pt x="4315458" y="865114"/>
                  </a:lnTo>
                  <a:lnTo>
                    <a:pt x="4316399" y="850684"/>
                  </a:lnTo>
                  <a:lnTo>
                    <a:pt x="4316376" y="109804"/>
                  </a:lnTo>
                  <a:lnTo>
                    <a:pt x="4308041" y="68095"/>
                  </a:lnTo>
                  <a:lnTo>
                    <a:pt x="4284175" y="32535"/>
                  </a:lnTo>
                  <a:lnTo>
                    <a:pt x="4248516" y="8721"/>
                  </a:lnTo>
                  <a:lnTo>
                    <a:pt x="4206595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277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206595" y="368"/>
                  </a:lnTo>
                  <a:lnTo>
                    <a:pt x="4248516" y="8721"/>
                  </a:lnTo>
                  <a:lnTo>
                    <a:pt x="4284175" y="32535"/>
                  </a:lnTo>
                  <a:lnTo>
                    <a:pt x="4308041" y="68095"/>
                  </a:lnTo>
                  <a:lnTo>
                    <a:pt x="4316399" y="110159"/>
                  </a:lnTo>
                  <a:lnTo>
                    <a:pt x="4316399" y="850684"/>
                  </a:lnTo>
                  <a:lnTo>
                    <a:pt x="4315459" y="865108"/>
                  </a:lnTo>
                  <a:lnTo>
                    <a:pt x="4312662" y="879127"/>
                  </a:lnTo>
                  <a:lnTo>
                    <a:pt x="4293616" y="917477"/>
                  </a:lnTo>
                  <a:lnTo>
                    <a:pt x="4261675" y="945718"/>
                  </a:lnTo>
                  <a:lnTo>
                    <a:pt x="4221025" y="959548"/>
                  </a:lnTo>
                  <a:lnTo>
                    <a:pt x="4206595" y="960488"/>
                  </a:lnTo>
                  <a:lnTo>
                    <a:pt x="109791" y="960488"/>
                  </a:lnTo>
                  <a:lnTo>
                    <a:pt x="67882" y="952130"/>
                  </a:lnTo>
                  <a:lnTo>
                    <a:pt x="32213" y="928308"/>
                  </a:lnTo>
                  <a:lnTo>
                    <a:pt x="8352" y="892755"/>
                  </a:lnTo>
                  <a:lnTo>
                    <a:pt x="0" y="85068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0377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4977" y="1261410"/>
            <a:ext cx="37465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-1015" dirty="0">
                <a:latin typeface="MingLiU_HKSCS-ExtB"/>
                <a:cs typeface="MingLiU_HKSCS-ExtB"/>
              </a:rPr>
              <a:t>🏗️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1775" y="1228943"/>
            <a:ext cx="11664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Architecture</a:t>
            </a:r>
            <a:r>
              <a:rPr sz="1100" b="1" spc="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Design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1775" y="1608736"/>
            <a:ext cx="34359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Generate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full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ERD,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Spring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Boot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package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structure,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REST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API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contracts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from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the</a:t>
            </a:r>
            <a:r>
              <a:rPr sz="8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finance</a:t>
            </a:r>
            <a:r>
              <a:rPr sz="850" spc="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requirement</a:t>
            </a:r>
            <a:r>
              <a:rPr sz="850" spc="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doc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741557" y="1038227"/>
            <a:ext cx="4402455" cy="1150620"/>
            <a:chOff x="4741557" y="1038227"/>
            <a:chExt cx="4402455" cy="115062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557" y="1038227"/>
              <a:ext cx="4402074" cy="115056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818596" y="1115277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850684"/>
                  </a:lnTo>
                  <a:lnTo>
                    <a:pt x="939" y="865114"/>
                  </a:lnTo>
                  <a:lnTo>
                    <a:pt x="14770" y="905763"/>
                  </a:lnTo>
                  <a:lnTo>
                    <a:pt x="22686" y="917477"/>
                  </a:lnTo>
                  <a:lnTo>
                    <a:pt x="22788" y="917627"/>
                  </a:lnTo>
                  <a:lnTo>
                    <a:pt x="55079" y="945718"/>
                  </a:lnTo>
                  <a:lnTo>
                    <a:pt x="95379" y="959548"/>
                  </a:lnTo>
                  <a:lnTo>
                    <a:pt x="109804" y="960488"/>
                  </a:lnTo>
                  <a:lnTo>
                    <a:pt x="4206608" y="960488"/>
                  </a:lnTo>
                  <a:lnTo>
                    <a:pt x="4248672" y="952130"/>
                  </a:lnTo>
                  <a:lnTo>
                    <a:pt x="4284181" y="928308"/>
                  </a:lnTo>
                  <a:lnTo>
                    <a:pt x="4307971" y="892755"/>
                  </a:lnTo>
                  <a:lnTo>
                    <a:pt x="4316399" y="850684"/>
                  </a:lnTo>
                  <a:lnTo>
                    <a:pt x="4316376" y="109804"/>
                  </a:lnTo>
                  <a:lnTo>
                    <a:pt x="4308046" y="68095"/>
                  </a:lnTo>
                  <a:lnTo>
                    <a:pt x="4284186" y="32535"/>
                  </a:lnTo>
                  <a:lnTo>
                    <a:pt x="4248517" y="8721"/>
                  </a:lnTo>
                  <a:lnTo>
                    <a:pt x="4206608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18596" y="1115277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206608" y="368"/>
                  </a:lnTo>
                  <a:lnTo>
                    <a:pt x="4248517" y="8721"/>
                  </a:lnTo>
                  <a:lnTo>
                    <a:pt x="4284186" y="32535"/>
                  </a:lnTo>
                  <a:lnTo>
                    <a:pt x="4308046" y="68095"/>
                  </a:lnTo>
                  <a:lnTo>
                    <a:pt x="4316399" y="110159"/>
                  </a:lnTo>
                  <a:lnTo>
                    <a:pt x="4316399" y="850684"/>
                  </a:lnTo>
                  <a:lnTo>
                    <a:pt x="4315460" y="865108"/>
                  </a:lnTo>
                  <a:lnTo>
                    <a:pt x="4312664" y="879127"/>
                  </a:lnTo>
                  <a:lnTo>
                    <a:pt x="4293629" y="917477"/>
                  </a:lnTo>
                  <a:lnTo>
                    <a:pt x="4261688" y="945718"/>
                  </a:lnTo>
                  <a:lnTo>
                    <a:pt x="4221031" y="959548"/>
                  </a:lnTo>
                  <a:lnTo>
                    <a:pt x="4206608" y="960488"/>
                  </a:lnTo>
                  <a:lnTo>
                    <a:pt x="109804" y="960488"/>
                  </a:lnTo>
                  <a:lnTo>
                    <a:pt x="67882" y="952130"/>
                  </a:lnTo>
                  <a:lnTo>
                    <a:pt x="32224" y="928308"/>
                  </a:lnTo>
                  <a:lnTo>
                    <a:pt x="8358" y="892755"/>
                  </a:lnTo>
                  <a:lnTo>
                    <a:pt x="0" y="85068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003546" y="1261410"/>
            <a:ext cx="37465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📊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00700" y="1228943"/>
            <a:ext cx="11976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10</a:t>
            </a:r>
            <a:r>
              <a:rPr sz="1100" b="1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Financial</a:t>
            </a:r>
            <a:r>
              <a:rPr sz="110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Reports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00700" y="1608736"/>
            <a:ext cx="31032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Generate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all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report</a:t>
            </a:r>
            <a:r>
              <a:rPr sz="85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queries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(P&amp;L,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Balance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Sheet,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Cash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Flow...)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with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JPA</a:t>
            </a:r>
            <a:r>
              <a:rPr sz="8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repositories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and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service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layers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42646" y="2117142"/>
            <a:ext cx="4506595" cy="1150620"/>
            <a:chOff x="242646" y="2117142"/>
            <a:chExt cx="4506595" cy="115062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2117142"/>
              <a:ext cx="4506480" cy="115058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19684" y="2194206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850671"/>
                  </a:lnTo>
                  <a:lnTo>
                    <a:pt x="939" y="865101"/>
                  </a:lnTo>
                  <a:lnTo>
                    <a:pt x="14757" y="905751"/>
                  </a:lnTo>
                  <a:lnTo>
                    <a:pt x="22674" y="917464"/>
                  </a:lnTo>
                  <a:lnTo>
                    <a:pt x="22775" y="917614"/>
                  </a:lnTo>
                  <a:lnTo>
                    <a:pt x="55079" y="945718"/>
                  </a:lnTo>
                  <a:lnTo>
                    <a:pt x="95374" y="959535"/>
                  </a:lnTo>
                  <a:lnTo>
                    <a:pt x="109791" y="960475"/>
                  </a:lnTo>
                  <a:lnTo>
                    <a:pt x="4206595" y="960475"/>
                  </a:lnTo>
                  <a:lnTo>
                    <a:pt x="4248666" y="952122"/>
                  </a:lnTo>
                  <a:lnTo>
                    <a:pt x="4284169" y="928296"/>
                  </a:lnTo>
                  <a:lnTo>
                    <a:pt x="4307966" y="892742"/>
                  </a:lnTo>
                  <a:lnTo>
                    <a:pt x="4308041" y="892592"/>
                  </a:lnTo>
                  <a:lnTo>
                    <a:pt x="4312647" y="879159"/>
                  </a:lnTo>
                  <a:lnTo>
                    <a:pt x="4315458" y="865101"/>
                  </a:lnTo>
                  <a:lnTo>
                    <a:pt x="4316399" y="850671"/>
                  </a:lnTo>
                  <a:lnTo>
                    <a:pt x="4316375" y="109791"/>
                  </a:lnTo>
                  <a:lnTo>
                    <a:pt x="4308041" y="68088"/>
                  </a:lnTo>
                  <a:lnTo>
                    <a:pt x="4284175" y="32534"/>
                  </a:lnTo>
                  <a:lnTo>
                    <a:pt x="4248516" y="8708"/>
                  </a:lnTo>
                  <a:lnTo>
                    <a:pt x="4206595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9684" y="2194206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206595" y="355"/>
                  </a:lnTo>
                  <a:lnTo>
                    <a:pt x="4248516" y="8708"/>
                  </a:lnTo>
                  <a:lnTo>
                    <a:pt x="4284175" y="32534"/>
                  </a:lnTo>
                  <a:lnTo>
                    <a:pt x="4308041" y="68088"/>
                  </a:lnTo>
                  <a:lnTo>
                    <a:pt x="4316399" y="110159"/>
                  </a:lnTo>
                  <a:lnTo>
                    <a:pt x="4316399" y="850671"/>
                  </a:lnTo>
                  <a:lnTo>
                    <a:pt x="4315459" y="865096"/>
                  </a:lnTo>
                  <a:lnTo>
                    <a:pt x="4312662" y="879114"/>
                  </a:lnTo>
                  <a:lnTo>
                    <a:pt x="4293616" y="917464"/>
                  </a:lnTo>
                  <a:lnTo>
                    <a:pt x="4261675" y="945718"/>
                  </a:lnTo>
                  <a:lnTo>
                    <a:pt x="4221025" y="959535"/>
                  </a:lnTo>
                  <a:lnTo>
                    <a:pt x="4206595" y="960475"/>
                  </a:lnTo>
                  <a:lnTo>
                    <a:pt x="109791" y="960475"/>
                  </a:lnTo>
                  <a:lnTo>
                    <a:pt x="67882" y="952122"/>
                  </a:lnTo>
                  <a:lnTo>
                    <a:pt x="32213" y="928296"/>
                  </a:lnTo>
                  <a:lnTo>
                    <a:pt x="8352" y="892742"/>
                  </a:lnTo>
                  <a:lnTo>
                    <a:pt x="0" y="850671"/>
                  </a:lnTo>
                  <a:lnTo>
                    <a:pt x="355" y="109791"/>
                  </a:lnTo>
                  <a:close/>
                </a:path>
              </a:pathLst>
            </a:custGeom>
            <a:ln w="12599">
              <a:solidFill>
                <a:srgbClr val="0377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04977" y="2340695"/>
            <a:ext cx="37465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🔐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1775" y="2307871"/>
            <a:ext cx="8921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Spring</a:t>
            </a:r>
            <a:r>
              <a:rPr sz="1100" b="1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01775" y="2687665"/>
            <a:ext cx="300736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Generate</a:t>
            </a:r>
            <a:r>
              <a:rPr sz="85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JWT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auth,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role-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based</a:t>
            </a:r>
            <a:r>
              <a:rPr sz="85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access,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method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security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annotations</a:t>
            </a:r>
            <a:r>
              <a:rPr sz="8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(@PreAuthorize)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for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finance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roles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741557" y="2117142"/>
            <a:ext cx="4402455" cy="1150620"/>
            <a:chOff x="4741557" y="2117142"/>
            <a:chExt cx="4402455" cy="1150620"/>
          </a:xfrm>
        </p:grpSpPr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557" y="2117142"/>
              <a:ext cx="4402074" cy="115058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818596" y="2194206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5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850671"/>
                  </a:lnTo>
                  <a:lnTo>
                    <a:pt x="939" y="865101"/>
                  </a:lnTo>
                  <a:lnTo>
                    <a:pt x="14770" y="905751"/>
                  </a:lnTo>
                  <a:lnTo>
                    <a:pt x="43011" y="937698"/>
                  </a:lnTo>
                  <a:lnTo>
                    <a:pt x="81360" y="956740"/>
                  </a:lnTo>
                  <a:lnTo>
                    <a:pt x="109804" y="960475"/>
                  </a:lnTo>
                  <a:lnTo>
                    <a:pt x="4206608" y="960475"/>
                  </a:lnTo>
                  <a:lnTo>
                    <a:pt x="4248672" y="952122"/>
                  </a:lnTo>
                  <a:lnTo>
                    <a:pt x="4284181" y="928296"/>
                  </a:lnTo>
                  <a:lnTo>
                    <a:pt x="4307971" y="892742"/>
                  </a:lnTo>
                  <a:lnTo>
                    <a:pt x="4316399" y="850671"/>
                  </a:lnTo>
                  <a:lnTo>
                    <a:pt x="4316375" y="109791"/>
                  </a:lnTo>
                  <a:lnTo>
                    <a:pt x="4308046" y="68088"/>
                  </a:lnTo>
                  <a:lnTo>
                    <a:pt x="4284186" y="32534"/>
                  </a:lnTo>
                  <a:lnTo>
                    <a:pt x="4248517" y="8708"/>
                  </a:lnTo>
                  <a:lnTo>
                    <a:pt x="4206608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818596" y="2194206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5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206608" y="355"/>
                  </a:lnTo>
                  <a:lnTo>
                    <a:pt x="4248517" y="8708"/>
                  </a:lnTo>
                  <a:lnTo>
                    <a:pt x="4284186" y="32534"/>
                  </a:lnTo>
                  <a:lnTo>
                    <a:pt x="4308046" y="68088"/>
                  </a:lnTo>
                  <a:lnTo>
                    <a:pt x="4316399" y="110159"/>
                  </a:lnTo>
                  <a:lnTo>
                    <a:pt x="4316399" y="850671"/>
                  </a:lnTo>
                  <a:lnTo>
                    <a:pt x="4315460" y="865096"/>
                  </a:lnTo>
                  <a:lnTo>
                    <a:pt x="4312664" y="879114"/>
                  </a:lnTo>
                  <a:lnTo>
                    <a:pt x="4293629" y="917464"/>
                  </a:lnTo>
                  <a:lnTo>
                    <a:pt x="4261688" y="945718"/>
                  </a:lnTo>
                  <a:lnTo>
                    <a:pt x="4221031" y="959535"/>
                  </a:lnTo>
                  <a:lnTo>
                    <a:pt x="4206608" y="960475"/>
                  </a:lnTo>
                  <a:lnTo>
                    <a:pt x="109804" y="960475"/>
                  </a:lnTo>
                  <a:lnTo>
                    <a:pt x="67882" y="952122"/>
                  </a:lnTo>
                  <a:lnTo>
                    <a:pt x="32224" y="928296"/>
                  </a:lnTo>
                  <a:lnTo>
                    <a:pt x="8358" y="892742"/>
                  </a:lnTo>
                  <a:lnTo>
                    <a:pt x="0" y="850671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003546" y="2340695"/>
            <a:ext cx="37465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🧪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00700" y="2307871"/>
            <a:ext cx="5803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r>
              <a:rPr sz="1100" b="1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Suite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00700" y="2687665"/>
            <a:ext cx="306006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Generate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JUnit 5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Mockito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tests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 for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AccountingService,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double-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entry</a:t>
            </a:r>
            <a:r>
              <a:rPr sz="8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validation,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report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generation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42646" y="3196071"/>
            <a:ext cx="4506595" cy="1150620"/>
            <a:chOff x="242646" y="3196071"/>
            <a:chExt cx="4506595" cy="1150620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3196071"/>
              <a:ext cx="4506480" cy="115056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19684" y="3273122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4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850684"/>
                  </a:lnTo>
                  <a:lnTo>
                    <a:pt x="939" y="865107"/>
                  </a:lnTo>
                  <a:lnTo>
                    <a:pt x="14757" y="905764"/>
                  </a:lnTo>
                  <a:lnTo>
                    <a:pt x="22670" y="917471"/>
                  </a:lnTo>
                  <a:lnTo>
                    <a:pt x="22775" y="917627"/>
                  </a:lnTo>
                  <a:lnTo>
                    <a:pt x="55079" y="945718"/>
                  </a:lnTo>
                  <a:lnTo>
                    <a:pt x="95374" y="959535"/>
                  </a:lnTo>
                  <a:lnTo>
                    <a:pt x="109791" y="960475"/>
                  </a:lnTo>
                  <a:lnTo>
                    <a:pt x="4206595" y="960475"/>
                  </a:lnTo>
                  <a:lnTo>
                    <a:pt x="4248666" y="952122"/>
                  </a:lnTo>
                  <a:lnTo>
                    <a:pt x="4284167" y="928308"/>
                  </a:lnTo>
                  <a:lnTo>
                    <a:pt x="4307963" y="892748"/>
                  </a:lnTo>
                  <a:lnTo>
                    <a:pt x="4316399" y="850684"/>
                  </a:lnTo>
                  <a:lnTo>
                    <a:pt x="4316376" y="109804"/>
                  </a:lnTo>
                  <a:lnTo>
                    <a:pt x="4308041" y="68088"/>
                  </a:lnTo>
                  <a:lnTo>
                    <a:pt x="4284175" y="32535"/>
                  </a:lnTo>
                  <a:lnTo>
                    <a:pt x="4248516" y="8713"/>
                  </a:lnTo>
                  <a:lnTo>
                    <a:pt x="4206595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9684" y="3273122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4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206595" y="355"/>
                  </a:lnTo>
                  <a:lnTo>
                    <a:pt x="4248516" y="8713"/>
                  </a:lnTo>
                  <a:lnTo>
                    <a:pt x="4284175" y="32535"/>
                  </a:lnTo>
                  <a:lnTo>
                    <a:pt x="4308041" y="68088"/>
                  </a:lnTo>
                  <a:lnTo>
                    <a:pt x="4316399" y="110159"/>
                  </a:lnTo>
                  <a:lnTo>
                    <a:pt x="4316399" y="850684"/>
                  </a:lnTo>
                  <a:lnTo>
                    <a:pt x="4315459" y="865101"/>
                  </a:lnTo>
                  <a:lnTo>
                    <a:pt x="4312662" y="879116"/>
                  </a:lnTo>
                  <a:lnTo>
                    <a:pt x="4293616" y="917471"/>
                  </a:lnTo>
                  <a:lnTo>
                    <a:pt x="4261675" y="945718"/>
                  </a:lnTo>
                  <a:lnTo>
                    <a:pt x="4221025" y="959535"/>
                  </a:lnTo>
                  <a:lnTo>
                    <a:pt x="4206595" y="960475"/>
                  </a:lnTo>
                  <a:lnTo>
                    <a:pt x="109791" y="960475"/>
                  </a:lnTo>
                  <a:lnTo>
                    <a:pt x="67882" y="952122"/>
                  </a:lnTo>
                  <a:lnTo>
                    <a:pt x="32213" y="928308"/>
                  </a:lnTo>
                  <a:lnTo>
                    <a:pt x="8352" y="892748"/>
                  </a:lnTo>
                  <a:lnTo>
                    <a:pt x="0" y="85068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0377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04977" y="3419611"/>
            <a:ext cx="37465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⚡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01775" y="3386787"/>
            <a:ext cx="97916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DB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 Optimisation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01775" y="3766580"/>
            <a:ext cx="31419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Analyse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slow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report queries,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generate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MySQL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indexes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for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journal_lines,</a:t>
            </a:r>
            <a:r>
              <a:rPr sz="8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partitioning</a:t>
            </a:r>
            <a:r>
              <a:rPr sz="850" spc="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strategy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741557" y="3196071"/>
            <a:ext cx="4402455" cy="1150620"/>
            <a:chOff x="4741557" y="3196071"/>
            <a:chExt cx="4402455" cy="1150620"/>
          </a:xfrm>
        </p:grpSpPr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557" y="3196071"/>
              <a:ext cx="4402074" cy="115056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818596" y="3273122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4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850684"/>
                  </a:lnTo>
                  <a:lnTo>
                    <a:pt x="939" y="865107"/>
                  </a:lnTo>
                  <a:lnTo>
                    <a:pt x="3736" y="879162"/>
                  </a:lnTo>
                  <a:lnTo>
                    <a:pt x="8305" y="892592"/>
                  </a:lnTo>
                  <a:lnTo>
                    <a:pt x="8358" y="892748"/>
                  </a:lnTo>
                  <a:lnTo>
                    <a:pt x="14770" y="905764"/>
                  </a:lnTo>
                  <a:lnTo>
                    <a:pt x="22683" y="917471"/>
                  </a:lnTo>
                  <a:lnTo>
                    <a:pt x="22788" y="917627"/>
                  </a:lnTo>
                  <a:lnTo>
                    <a:pt x="55079" y="945718"/>
                  </a:lnTo>
                  <a:lnTo>
                    <a:pt x="95379" y="959535"/>
                  </a:lnTo>
                  <a:lnTo>
                    <a:pt x="109804" y="960475"/>
                  </a:lnTo>
                  <a:lnTo>
                    <a:pt x="4206608" y="960475"/>
                  </a:lnTo>
                  <a:lnTo>
                    <a:pt x="4248672" y="952122"/>
                  </a:lnTo>
                  <a:lnTo>
                    <a:pt x="4284180" y="928308"/>
                  </a:lnTo>
                  <a:lnTo>
                    <a:pt x="4307969" y="892748"/>
                  </a:lnTo>
                  <a:lnTo>
                    <a:pt x="4316399" y="850684"/>
                  </a:lnTo>
                  <a:lnTo>
                    <a:pt x="4316376" y="109804"/>
                  </a:lnTo>
                  <a:lnTo>
                    <a:pt x="4308046" y="68088"/>
                  </a:lnTo>
                  <a:lnTo>
                    <a:pt x="4284186" y="32535"/>
                  </a:lnTo>
                  <a:lnTo>
                    <a:pt x="4248517" y="8713"/>
                  </a:lnTo>
                  <a:lnTo>
                    <a:pt x="4206608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818596" y="3273122"/>
              <a:ext cx="4316730" cy="960755"/>
            </a:xfrm>
            <a:custGeom>
              <a:avLst/>
              <a:gdLst/>
              <a:ahLst/>
              <a:cxnLst/>
              <a:rect l="l" t="t" r="r" b="b"/>
              <a:pathLst>
                <a:path w="4316730" h="960754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206608" y="355"/>
                  </a:lnTo>
                  <a:lnTo>
                    <a:pt x="4248517" y="8713"/>
                  </a:lnTo>
                  <a:lnTo>
                    <a:pt x="4284186" y="32535"/>
                  </a:lnTo>
                  <a:lnTo>
                    <a:pt x="4308046" y="68088"/>
                  </a:lnTo>
                  <a:lnTo>
                    <a:pt x="4316399" y="110159"/>
                  </a:lnTo>
                  <a:lnTo>
                    <a:pt x="4316399" y="850684"/>
                  </a:lnTo>
                  <a:lnTo>
                    <a:pt x="4315460" y="865101"/>
                  </a:lnTo>
                  <a:lnTo>
                    <a:pt x="4312664" y="879116"/>
                  </a:lnTo>
                  <a:lnTo>
                    <a:pt x="4293629" y="917471"/>
                  </a:lnTo>
                  <a:lnTo>
                    <a:pt x="4261688" y="945718"/>
                  </a:lnTo>
                  <a:lnTo>
                    <a:pt x="4221031" y="959535"/>
                  </a:lnTo>
                  <a:lnTo>
                    <a:pt x="4206608" y="960475"/>
                  </a:lnTo>
                  <a:lnTo>
                    <a:pt x="109804" y="960475"/>
                  </a:lnTo>
                  <a:lnTo>
                    <a:pt x="67882" y="952122"/>
                  </a:lnTo>
                  <a:lnTo>
                    <a:pt x="32224" y="928308"/>
                  </a:lnTo>
                  <a:lnTo>
                    <a:pt x="8358" y="892748"/>
                  </a:lnTo>
                  <a:lnTo>
                    <a:pt x="0" y="85068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003546" y="3419611"/>
            <a:ext cx="37465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🚀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00700" y="3386787"/>
            <a:ext cx="8597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CI/CD</a:t>
            </a:r>
            <a:r>
              <a:rPr sz="110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Pipeline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00700" y="3766580"/>
            <a:ext cx="33972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Generate</a:t>
            </a:r>
            <a:r>
              <a:rPr sz="850" spc="-3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GitHub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Actions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workflow: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test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→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build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→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Docker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→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push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→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deploy</a:t>
            </a:r>
            <a:r>
              <a:rPr sz="8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to</a:t>
            </a:r>
            <a:r>
              <a:rPr sz="850" spc="-4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Robi</a:t>
            </a:r>
            <a:r>
              <a:rPr sz="850" spc="-3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Cloud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50" name="object 50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44144" y="4730580"/>
            <a:ext cx="649478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WAMY</a:t>
            </a:r>
            <a:r>
              <a:rPr sz="950" spc="-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estimate:</a:t>
            </a:r>
            <a:r>
              <a:rPr sz="950" spc="-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Claude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Code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reduces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WAMY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Finance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module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dev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time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from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~12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weeks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to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~4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weeks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for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2-developer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team.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798661" y="4914438"/>
            <a:ext cx="26543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7</a:t>
            </a:r>
            <a:r>
              <a:rPr sz="800" spc="-1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/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Project:</a:t>
            </a:r>
            <a:r>
              <a:rPr spc="-70" dirty="0"/>
              <a:t> </a:t>
            </a:r>
            <a:r>
              <a:rPr spc="-20" dirty="0"/>
              <a:t>WAMY</a:t>
            </a:r>
            <a:r>
              <a:rPr spc="-75" dirty="0"/>
              <a:t> </a:t>
            </a:r>
            <a:r>
              <a:rPr dirty="0"/>
              <a:t>NGO</a:t>
            </a:r>
            <a:r>
              <a:rPr spc="-75" dirty="0"/>
              <a:t> </a:t>
            </a:r>
            <a:r>
              <a:rPr dirty="0"/>
              <a:t>Finance</a:t>
            </a:r>
            <a:r>
              <a:rPr spc="-80" dirty="0"/>
              <a:t> </a:t>
            </a:r>
            <a:r>
              <a:rPr spc="-10" dirty="0"/>
              <a:t>Module</a:t>
            </a:r>
          </a:p>
        </p:txBody>
      </p:sp>
      <p:sp>
        <p:nvSpPr>
          <p:cNvPr id="4" name="object 4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72817" y="178161"/>
            <a:ext cx="857441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2646" y="1038227"/>
            <a:ext cx="4351655" cy="3775075"/>
            <a:chOff x="242646" y="1038227"/>
            <a:chExt cx="4351655" cy="37750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351324" cy="377497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384" y="1108978"/>
              <a:ext cx="4173475" cy="359747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45820" y="1590372"/>
            <a:ext cx="38163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Backend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5704" y="1642937"/>
            <a:ext cx="12382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Spring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Boot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3.2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Java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21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1418" y="2102652"/>
            <a:ext cx="41020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Frontend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95704" y="2155217"/>
            <a:ext cx="137731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React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19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TypeScript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Vite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7100" y="2614576"/>
            <a:ext cx="4203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95704" y="2667141"/>
            <a:ext cx="17500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MySQL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8.0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—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double-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entry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schema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1423" y="3126500"/>
            <a:ext cx="2311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0" dirty="0">
                <a:solidFill>
                  <a:srgbClr val="FFFFFF"/>
                </a:solidFill>
                <a:latin typeface="Calibri"/>
                <a:cs typeface="Calibri"/>
              </a:rPr>
              <a:t>Auth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95704" y="3179066"/>
            <a:ext cx="147320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Spring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JWT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(RS256)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0577" y="3638780"/>
            <a:ext cx="35242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DevOps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95704" y="3691346"/>
            <a:ext cx="132207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Git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GitHub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Actions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CI/CD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3460" y="4150692"/>
            <a:ext cx="3460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Hosting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95704" y="4203257"/>
            <a:ext cx="13131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Robi</a:t>
            </a:r>
            <a:r>
              <a:rPr sz="950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Cloud</a:t>
            </a:r>
            <a:r>
              <a:rPr sz="95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(containerised)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13016" y="1038227"/>
            <a:ext cx="8624570" cy="3978910"/>
            <a:chOff x="313016" y="1038227"/>
            <a:chExt cx="8624570" cy="397891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86046" y="1038227"/>
              <a:ext cx="4351324" cy="377497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016" y="1108978"/>
              <a:ext cx="8517243" cy="390815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44144" y="797663"/>
            <a:ext cx="6980555" cy="610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7680">
              <a:lnSpc>
                <a:spcPct val="100000"/>
              </a:lnSpc>
              <a:spcBef>
                <a:spcPts val="100"/>
              </a:spcBef>
            </a:pPr>
            <a:r>
              <a:rPr sz="1000" i="1" spc="-60" dirty="0">
                <a:solidFill>
                  <a:srgbClr val="9FBFFF"/>
                </a:solidFill>
                <a:latin typeface="+mn-lt"/>
                <a:cs typeface="Arial"/>
              </a:rPr>
              <a:t>Full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requirement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+mn-lt"/>
                <a:cs typeface="Arial"/>
              </a:rPr>
              <a:t>overview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+mn-lt"/>
                <a:cs typeface="Arial"/>
              </a:rPr>
              <a:t>before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+mn-lt"/>
                <a:cs typeface="Arial"/>
              </a:rPr>
              <a:t>we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start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building</a:t>
            </a:r>
            <a:endParaRPr sz="1000" dirty="0">
              <a:latin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355465" algn="l"/>
              </a:tabLst>
            </a:pPr>
            <a:r>
              <a:rPr sz="1400" spc="-590" dirty="0">
                <a:solidFill>
                  <a:srgbClr val="1D2660"/>
                </a:solidFill>
                <a:latin typeface="MingLiU_HKSCS-ExtB"/>
                <a:cs typeface="MingLiU_HKSCS-ExtB"/>
              </a:rPr>
              <a:t>🛠️</a:t>
            </a:r>
            <a:r>
              <a:rPr sz="1400" spc="-305" dirty="0">
                <a:solidFill>
                  <a:srgbClr val="1D2660"/>
                </a:solidFill>
                <a:latin typeface="MingLiU_HKSCS-ExtB"/>
                <a:cs typeface="MingLiU_HKSCS-ExtB"/>
              </a:rPr>
              <a:t> </a:t>
            </a:r>
            <a:r>
              <a:rPr sz="1200" b="1" spc="-25" dirty="0">
                <a:solidFill>
                  <a:srgbClr val="1D2660"/>
                </a:solidFill>
                <a:latin typeface="Calibri"/>
                <a:cs typeface="Calibri"/>
              </a:rPr>
              <a:t>Tech</a:t>
            </a:r>
            <a:r>
              <a:rPr sz="1200" b="1" spc="-30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D2660"/>
                </a:solidFill>
                <a:latin typeface="Calibri"/>
                <a:cs typeface="Calibri"/>
              </a:rPr>
              <a:t>Stack</a:t>
            </a:r>
            <a:r>
              <a:rPr sz="1200" b="1" dirty="0">
                <a:solidFill>
                  <a:srgbClr val="1D2660"/>
                </a:solidFill>
                <a:latin typeface="Calibri"/>
                <a:cs typeface="Calibri"/>
              </a:rPr>
              <a:t>	</a:t>
            </a:r>
            <a:r>
              <a:rPr sz="1400" spc="235" dirty="0">
                <a:solidFill>
                  <a:srgbClr val="1D2660"/>
                </a:solidFill>
                <a:latin typeface="MingLiU_HKSCS-ExtB"/>
                <a:cs typeface="MingLiU_HKSCS-ExtB"/>
              </a:rPr>
              <a:t>📊</a:t>
            </a:r>
            <a:r>
              <a:rPr sz="1400" spc="-305" dirty="0">
                <a:solidFill>
                  <a:srgbClr val="1D2660"/>
                </a:solidFill>
                <a:latin typeface="MingLiU_HKSCS-ExtB"/>
                <a:cs typeface="MingLiU_HKSCS-ExtB"/>
              </a:rPr>
              <a:t> </a:t>
            </a:r>
            <a:r>
              <a:rPr sz="1200" b="1" dirty="0">
                <a:solidFill>
                  <a:srgbClr val="1D2660"/>
                </a:solidFill>
                <a:latin typeface="Calibri"/>
                <a:cs typeface="Calibri"/>
              </a:rPr>
              <a:t>Key</a:t>
            </a:r>
            <a:r>
              <a:rPr sz="1200" b="1" spc="-70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D2660"/>
                </a:solidFill>
                <a:latin typeface="Calibri"/>
                <a:cs typeface="Calibri"/>
              </a:rPr>
              <a:t>Financial</a:t>
            </a:r>
            <a:r>
              <a:rPr sz="1200" b="1" spc="-55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D2660"/>
                </a:solidFill>
                <a:latin typeface="Calibri"/>
                <a:cs typeface="Calibri"/>
              </a:rPr>
              <a:t>Reports</a:t>
            </a:r>
            <a:r>
              <a:rPr sz="1200" b="1" spc="-35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1D2660"/>
                </a:solidFill>
                <a:latin typeface="Calibri"/>
                <a:cs typeface="Calibri"/>
              </a:rPr>
              <a:t>(10)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8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906340" y="1582460"/>
            <a:ext cx="12973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1.</a:t>
            </a:r>
            <a:r>
              <a:rPr sz="900" spc="18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Income</a:t>
            </a:r>
            <a:r>
              <a:rPr sz="90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Statement</a:t>
            </a:r>
            <a:r>
              <a:rPr sz="90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1D283A"/>
                </a:solidFill>
                <a:latin typeface="Calibri"/>
                <a:cs typeface="Calibri"/>
              </a:rPr>
              <a:t>(P&amp;L)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06340" y="1893508"/>
            <a:ext cx="817244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2.</a:t>
            </a:r>
            <a:r>
              <a:rPr sz="900" spc="17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Balance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Sheet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06340" y="2204188"/>
            <a:ext cx="11391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3.</a:t>
            </a:r>
            <a:r>
              <a:rPr sz="900" spc="18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Cash</a:t>
            </a:r>
            <a:r>
              <a:rPr sz="90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Flow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 Statement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06340" y="2515224"/>
            <a:ext cx="963294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4.</a:t>
            </a:r>
            <a:r>
              <a:rPr sz="900" spc="17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A/R</a:t>
            </a:r>
            <a:r>
              <a:rPr sz="90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Aging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 Report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06340" y="2826259"/>
            <a:ext cx="96011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5.</a:t>
            </a:r>
            <a:r>
              <a:rPr sz="900" spc="17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A/P</a:t>
            </a:r>
            <a:r>
              <a:rPr sz="90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Aging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 Report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06340" y="3136940"/>
            <a:ext cx="7486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6.</a:t>
            </a:r>
            <a:r>
              <a:rPr sz="900" spc="17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Trial Balance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06340" y="3447988"/>
            <a:ext cx="8686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7.</a:t>
            </a:r>
            <a:r>
              <a:rPr sz="900" spc="15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General</a:t>
            </a:r>
            <a:r>
              <a:rPr sz="9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Ledger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06340" y="3758668"/>
            <a:ext cx="93471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8.</a:t>
            </a:r>
            <a:r>
              <a:rPr sz="900" spc="16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Budget</a:t>
            </a:r>
            <a:r>
              <a:rPr sz="90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vs</a:t>
            </a:r>
            <a:r>
              <a:rPr sz="9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Actual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06340" y="4069704"/>
            <a:ext cx="10674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9.</a:t>
            </a:r>
            <a:r>
              <a:rPr sz="900" spc="17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Bank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Reconciliation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44144" y="4380739"/>
            <a:ext cx="6607809" cy="54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60680" algn="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10.</a:t>
            </a:r>
            <a:r>
              <a:rPr sz="900" spc="19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Comparative</a:t>
            </a:r>
            <a:r>
              <a:rPr sz="90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Multi-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Project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Report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All</a:t>
            </a:r>
            <a:r>
              <a:rPr sz="950" spc="-4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80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slides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use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this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project.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By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slide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80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you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will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have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complete implementation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plan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and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40+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ready-to-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use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Claude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Code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prompts.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5875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9356" y="502198"/>
            <a:ext cx="1280795" cy="329565"/>
          </a:xfrm>
          <a:custGeom>
            <a:avLst/>
            <a:gdLst/>
            <a:ahLst/>
            <a:cxnLst/>
            <a:rect l="l" t="t" r="r" b="b"/>
            <a:pathLst>
              <a:path w="1280795" h="329565">
                <a:moveTo>
                  <a:pt x="91808" y="0"/>
                </a:moveTo>
                <a:lnTo>
                  <a:pt x="46088" y="12242"/>
                </a:lnTo>
                <a:lnTo>
                  <a:pt x="12598" y="45720"/>
                </a:lnTo>
                <a:lnTo>
                  <a:pt x="368" y="91439"/>
                </a:lnTo>
                <a:lnTo>
                  <a:pt x="0" y="237959"/>
                </a:lnTo>
                <a:lnTo>
                  <a:pt x="798" y="249966"/>
                </a:lnTo>
                <a:lnTo>
                  <a:pt x="18843" y="293724"/>
                </a:lnTo>
                <a:lnTo>
                  <a:pt x="56512" y="322418"/>
                </a:lnTo>
                <a:lnTo>
                  <a:pt x="91439" y="329399"/>
                </a:lnTo>
                <a:lnTo>
                  <a:pt x="1189088" y="329399"/>
                </a:lnTo>
                <a:lnTo>
                  <a:pt x="1234808" y="317169"/>
                </a:lnTo>
                <a:lnTo>
                  <a:pt x="1268285" y="283679"/>
                </a:lnTo>
                <a:lnTo>
                  <a:pt x="1280528" y="237959"/>
                </a:lnTo>
                <a:lnTo>
                  <a:pt x="1280503" y="91439"/>
                </a:lnTo>
                <a:lnTo>
                  <a:pt x="1268285" y="46088"/>
                </a:lnTo>
                <a:lnTo>
                  <a:pt x="1234808" y="12598"/>
                </a:lnTo>
                <a:lnTo>
                  <a:pt x="1189088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2901" y="578067"/>
            <a:ext cx="6343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0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27024" y="1020142"/>
            <a:ext cx="418211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/>
              <a:t>Setup</a:t>
            </a:r>
            <a:r>
              <a:rPr sz="4200" spc="-95" dirty="0"/>
              <a:t> </a:t>
            </a:r>
            <a:r>
              <a:rPr sz="4200" dirty="0"/>
              <a:t>&amp;</a:t>
            </a:r>
            <a:r>
              <a:rPr sz="4200" spc="-85" dirty="0"/>
              <a:t> </a:t>
            </a:r>
            <a:r>
              <a:rPr sz="4200" dirty="0"/>
              <a:t>First</a:t>
            </a:r>
            <a:r>
              <a:rPr sz="4200" spc="-95" dirty="0"/>
              <a:t> </a:t>
            </a:r>
            <a:r>
              <a:rPr sz="4200" spc="-10" dirty="0"/>
              <a:t>Steps</a:t>
            </a:r>
            <a:endParaRPr sz="4200"/>
          </a:p>
        </p:txBody>
      </p:sp>
      <p:sp>
        <p:nvSpPr>
          <p:cNvPr id="6" name="object 6"/>
          <p:cNvSpPr txBox="1"/>
          <p:nvPr/>
        </p:nvSpPr>
        <p:spPr>
          <a:xfrm>
            <a:off x="627024" y="1838428"/>
            <a:ext cx="39287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50" dirty="0">
                <a:solidFill>
                  <a:srgbClr val="F49D0A"/>
                </a:solidFill>
                <a:latin typeface="Arial"/>
                <a:cs typeface="Arial"/>
              </a:rPr>
              <a:t>Install</a:t>
            </a:r>
            <a:r>
              <a:rPr sz="1500" i="1" spc="-5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25" dirty="0">
                <a:solidFill>
                  <a:srgbClr val="F49D0A"/>
                </a:solidFill>
                <a:latin typeface="Arial"/>
                <a:cs typeface="Arial"/>
              </a:rPr>
              <a:t>·</a:t>
            </a:r>
            <a:r>
              <a:rPr sz="1500" i="1" spc="-6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55" dirty="0">
                <a:solidFill>
                  <a:srgbClr val="F49D0A"/>
                </a:solidFill>
                <a:latin typeface="Arial"/>
                <a:cs typeface="Arial"/>
              </a:rPr>
              <a:t>Authenticate</a:t>
            </a:r>
            <a:r>
              <a:rPr sz="1500" i="1" spc="-6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25" dirty="0">
                <a:solidFill>
                  <a:srgbClr val="F49D0A"/>
                </a:solidFill>
                <a:latin typeface="Arial"/>
                <a:cs typeface="Arial"/>
              </a:rPr>
              <a:t>·</a:t>
            </a:r>
            <a:r>
              <a:rPr sz="1500" i="1" spc="-5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80" dirty="0">
                <a:solidFill>
                  <a:srgbClr val="F49D0A"/>
                </a:solidFill>
                <a:latin typeface="Arial"/>
                <a:cs typeface="Arial"/>
              </a:rPr>
              <a:t>Configure</a:t>
            </a:r>
            <a:r>
              <a:rPr sz="1500" i="1" spc="-60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25" dirty="0">
                <a:solidFill>
                  <a:srgbClr val="F49D0A"/>
                </a:solidFill>
                <a:latin typeface="Arial"/>
                <a:cs typeface="Arial"/>
              </a:rPr>
              <a:t>·</a:t>
            </a:r>
            <a:r>
              <a:rPr sz="1500" i="1" spc="-6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30" dirty="0">
                <a:solidFill>
                  <a:srgbClr val="F49D0A"/>
                </a:solidFill>
                <a:latin typeface="Arial"/>
                <a:cs typeface="Arial"/>
              </a:rPr>
              <a:t>Your</a:t>
            </a:r>
            <a:r>
              <a:rPr sz="1500" i="1" spc="-50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20" dirty="0">
                <a:solidFill>
                  <a:srgbClr val="F49D0A"/>
                </a:solidFill>
                <a:latin typeface="Arial"/>
                <a:cs typeface="Arial"/>
              </a:rPr>
              <a:t>first</a:t>
            </a:r>
            <a:r>
              <a:rPr sz="1500" i="1" spc="-5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0" dirty="0">
                <a:solidFill>
                  <a:srgbClr val="F49D0A"/>
                </a:solidFill>
                <a:latin typeface="Arial"/>
                <a:cs typeface="Arial"/>
              </a:rPr>
              <a:t>prompt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4800" y="2325422"/>
            <a:ext cx="2024380" cy="515620"/>
            <a:chOff x="633424" y="2325422"/>
            <a:chExt cx="2024380" cy="515620"/>
          </a:xfrm>
        </p:grpSpPr>
        <p:sp>
          <p:nvSpPr>
            <p:cNvPr id="8" name="object 8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191987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5" y="434789"/>
                  </a:lnTo>
                  <a:lnTo>
                    <a:pt x="3148" y="435149"/>
                  </a:lnTo>
                  <a:lnTo>
                    <a:pt x="6859" y="446051"/>
                  </a:lnTo>
                  <a:lnTo>
                    <a:pt x="35675" y="484083"/>
                  </a:lnTo>
                  <a:lnTo>
                    <a:pt x="79433" y="502121"/>
                  </a:lnTo>
                  <a:lnTo>
                    <a:pt x="91440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08402" y="435149"/>
                  </a:lnTo>
                  <a:lnTo>
                    <a:pt x="2008525" y="434789"/>
                  </a:lnTo>
                  <a:lnTo>
                    <a:pt x="2010806" y="423485"/>
                  </a:lnTo>
                  <a:lnTo>
                    <a:pt x="2010879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11" y="91439"/>
                  </a:lnTo>
                  <a:lnTo>
                    <a:pt x="1999081" y="45719"/>
                  </a:lnTo>
                  <a:lnTo>
                    <a:pt x="1965591" y="12242"/>
                  </a:lnTo>
                  <a:lnTo>
                    <a:pt x="1931878" y="798"/>
                  </a:lnTo>
                  <a:lnTo>
                    <a:pt x="1919871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0" y="91439"/>
                  </a:moveTo>
                  <a:lnTo>
                    <a:pt x="798" y="79434"/>
                  </a:lnTo>
                  <a:lnTo>
                    <a:pt x="3148" y="67770"/>
                  </a:lnTo>
                  <a:lnTo>
                    <a:pt x="26679" y="26681"/>
                  </a:lnTo>
                  <a:lnTo>
                    <a:pt x="67765" y="3149"/>
                  </a:lnTo>
                  <a:lnTo>
                    <a:pt x="91440" y="0"/>
                  </a:lnTo>
                  <a:lnTo>
                    <a:pt x="1919871" y="0"/>
                  </a:lnTo>
                  <a:lnTo>
                    <a:pt x="1965591" y="12242"/>
                  </a:lnTo>
                  <a:lnTo>
                    <a:pt x="1999081" y="45719"/>
                  </a:lnTo>
                  <a:lnTo>
                    <a:pt x="2011311" y="91439"/>
                  </a:lnTo>
                  <a:lnTo>
                    <a:pt x="2011679" y="411124"/>
                  </a:lnTo>
                  <a:lnTo>
                    <a:pt x="2010879" y="423124"/>
                  </a:lnTo>
                  <a:lnTo>
                    <a:pt x="2008525" y="434789"/>
                  </a:lnTo>
                  <a:lnTo>
                    <a:pt x="1984989" y="475873"/>
                  </a:lnTo>
                  <a:lnTo>
                    <a:pt x="1943904" y="499410"/>
                  </a:lnTo>
                  <a:lnTo>
                    <a:pt x="91440" y="502919"/>
                  </a:lnTo>
                  <a:lnTo>
                    <a:pt x="45720" y="490677"/>
                  </a:lnTo>
                  <a:lnTo>
                    <a:pt x="12230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71881" y="2497939"/>
            <a:ext cx="8883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Installation</a:t>
            </a:r>
            <a:r>
              <a:rPr sz="950" spc="4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(npm)</a:t>
            </a:r>
            <a:endParaRPr sz="95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80996" y="2325422"/>
            <a:ext cx="2024380" cy="515620"/>
            <a:chOff x="2809620" y="2325422"/>
            <a:chExt cx="2024380" cy="515620"/>
          </a:xfrm>
        </p:grpSpPr>
        <p:sp>
          <p:nvSpPr>
            <p:cNvPr id="12" name="object 12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76" y="484083"/>
                  </a:lnTo>
                  <a:lnTo>
                    <a:pt x="79433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79" y="411124"/>
                  </a:lnTo>
                  <a:lnTo>
                    <a:pt x="2010881" y="423124"/>
                  </a:lnTo>
                  <a:lnTo>
                    <a:pt x="2008530" y="434789"/>
                  </a:lnTo>
                  <a:lnTo>
                    <a:pt x="1984994" y="475873"/>
                  </a:lnTo>
                  <a:lnTo>
                    <a:pt x="1943909" y="499410"/>
                  </a:lnTo>
                  <a:lnTo>
                    <a:pt x="91439" y="502919"/>
                  </a:lnTo>
                  <a:lnTo>
                    <a:pt x="45719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17559" y="2497939"/>
            <a:ext cx="74930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Authentication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57192" y="2325422"/>
            <a:ext cx="2024380" cy="515620"/>
            <a:chOff x="4985816" y="2325422"/>
            <a:chExt cx="2024380" cy="515620"/>
          </a:xfrm>
        </p:grpSpPr>
        <p:sp>
          <p:nvSpPr>
            <p:cNvPr id="16" name="object 16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83" y="484083"/>
                  </a:lnTo>
                  <a:lnTo>
                    <a:pt x="79440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49" y="456844"/>
                  </a:lnTo>
                  <a:lnTo>
                    <a:pt x="2008409" y="435149"/>
                  </a:lnTo>
                  <a:lnTo>
                    <a:pt x="2008531" y="434789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80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9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90" y="26681"/>
                  </a:lnTo>
                  <a:lnTo>
                    <a:pt x="6777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80" y="411124"/>
                  </a:lnTo>
                  <a:lnTo>
                    <a:pt x="2010881" y="423124"/>
                  </a:lnTo>
                  <a:lnTo>
                    <a:pt x="2008531" y="434789"/>
                  </a:lnTo>
                  <a:lnTo>
                    <a:pt x="1985000" y="475873"/>
                  </a:lnTo>
                  <a:lnTo>
                    <a:pt x="1943914" y="499410"/>
                  </a:lnTo>
                  <a:lnTo>
                    <a:pt x="91439" y="502919"/>
                  </a:lnTo>
                  <a:lnTo>
                    <a:pt x="45720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293030" y="2497939"/>
            <a:ext cx="75247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IDE</a:t>
            </a:r>
            <a:r>
              <a:rPr sz="950" spc="-35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Integration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33755" y="2325422"/>
            <a:ext cx="1987550" cy="515620"/>
            <a:chOff x="7162379" y="2325422"/>
            <a:chExt cx="1987550" cy="515620"/>
          </a:xfrm>
        </p:grpSpPr>
        <p:sp>
          <p:nvSpPr>
            <p:cNvPr id="20" name="object 20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1988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12242" y="457200"/>
                  </a:lnTo>
                  <a:lnTo>
                    <a:pt x="45720" y="490677"/>
                  </a:lnTo>
                  <a:lnTo>
                    <a:pt x="91440" y="502919"/>
                  </a:lnTo>
                  <a:lnTo>
                    <a:pt x="1920240" y="502564"/>
                  </a:lnTo>
                  <a:lnTo>
                    <a:pt x="1965960" y="490321"/>
                  </a:lnTo>
                  <a:lnTo>
                    <a:pt x="1974951" y="484412"/>
                  </a:lnTo>
                  <a:lnTo>
                    <a:pt x="1974951" y="18383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74951" y="484412"/>
                  </a:moveTo>
                  <a:lnTo>
                    <a:pt x="1932245" y="501764"/>
                  </a:lnTo>
                  <a:lnTo>
                    <a:pt x="91440" y="502919"/>
                  </a:lnTo>
                  <a:lnTo>
                    <a:pt x="79434" y="502121"/>
                  </a:lnTo>
                  <a:lnTo>
                    <a:pt x="35676" y="484083"/>
                  </a:lnTo>
                  <a:lnTo>
                    <a:pt x="6986" y="446409"/>
                  </a:lnTo>
                  <a:lnTo>
                    <a:pt x="0" y="411479"/>
                  </a:lnTo>
                  <a:lnTo>
                    <a:pt x="0" y="91439"/>
                  </a:lnTo>
                  <a:lnTo>
                    <a:pt x="12242" y="45719"/>
                  </a:lnTo>
                  <a:lnTo>
                    <a:pt x="45720" y="12242"/>
                  </a:lnTo>
                  <a:lnTo>
                    <a:pt x="91440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74951" y="18383"/>
                  </a:lnTo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387870" y="2497939"/>
            <a:ext cx="91566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CLAUDE.md</a:t>
            </a:r>
            <a:r>
              <a:rPr sz="950" spc="-5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Setup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9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Claude</a:t>
            </a:r>
            <a:r>
              <a:rPr spc="-60" dirty="0"/>
              <a:t> </a:t>
            </a:r>
            <a:r>
              <a:rPr dirty="0"/>
              <a:t>Code</a:t>
            </a:r>
            <a:r>
              <a:rPr spc="-50" dirty="0"/>
              <a:t> </a:t>
            </a:r>
            <a:r>
              <a:rPr dirty="0"/>
              <a:t>—</a:t>
            </a:r>
            <a:r>
              <a:rPr spc="-55" dirty="0"/>
              <a:t> </a:t>
            </a:r>
            <a:r>
              <a:rPr spc="-10" dirty="0"/>
              <a:t>Installation</a:t>
            </a:r>
            <a:r>
              <a:rPr spc="-50" dirty="0"/>
              <a:t>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10" dirty="0"/>
              <a:t>Authentication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19977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3 </a:t>
            </a:r>
            <a:r>
              <a:rPr sz="1000" i="1" spc="-70" dirty="0">
                <a:solidFill>
                  <a:srgbClr val="9FBFFF"/>
                </a:solidFill>
                <a:latin typeface="Arial"/>
                <a:cs typeface="Arial"/>
              </a:rPr>
              <a:t>steps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9FBFFF"/>
                </a:solidFill>
                <a:latin typeface="Arial"/>
                <a:cs typeface="Arial"/>
              </a:rPr>
              <a:t>to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your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first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Arial"/>
                <a:cs typeface="Arial"/>
              </a:rPr>
              <a:t>AI-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assisted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commit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2646" y="1038227"/>
            <a:ext cx="4507230" cy="1854835"/>
            <a:chOff x="242646" y="1038227"/>
            <a:chExt cx="4507230" cy="18548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06836" cy="185437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19684" y="1115277"/>
              <a:ext cx="4316730" cy="1664970"/>
            </a:xfrm>
            <a:custGeom>
              <a:avLst/>
              <a:gdLst/>
              <a:ahLst/>
              <a:cxnLst/>
              <a:rect l="l" t="t" r="r" b="b"/>
              <a:pathLst>
                <a:path w="4316730" h="166497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1554848"/>
                  </a:lnTo>
                  <a:lnTo>
                    <a:pt x="939" y="1569271"/>
                  </a:lnTo>
                  <a:lnTo>
                    <a:pt x="3735" y="1583326"/>
                  </a:lnTo>
                  <a:lnTo>
                    <a:pt x="8300" y="1596757"/>
                  </a:lnTo>
                  <a:lnTo>
                    <a:pt x="8352" y="1596912"/>
                  </a:lnTo>
                  <a:lnTo>
                    <a:pt x="32213" y="1632472"/>
                  </a:lnTo>
                  <a:lnTo>
                    <a:pt x="67882" y="1656286"/>
                  </a:lnTo>
                  <a:lnTo>
                    <a:pt x="109791" y="1664639"/>
                  </a:lnTo>
                  <a:lnTo>
                    <a:pt x="4206595" y="1664639"/>
                  </a:lnTo>
                  <a:lnTo>
                    <a:pt x="4248666" y="1656286"/>
                  </a:lnTo>
                  <a:lnTo>
                    <a:pt x="4284167" y="1632472"/>
                  </a:lnTo>
                  <a:lnTo>
                    <a:pt x="4307963" y="1596912"/>
                  </a:lnTo>
                  <a:lnTo>
                    <a:pt x="4308041" y="1596757"/>
                  </a:lnTo>
                  <a:lnTo>
                    <a:pt x="4312647" y="1583326"/>
                  </a:lnTo>
                  <a:lnTo>
                    <a:pt x="4315458" y="1569271"/>
                  </a:lnTo>
                  <a:lnTo>
                    <a:pt x="4316399" y="1554848"/>
                  </a:lnTo>
                  <a:lnTo>
                    <a:pt x="4316376" y="109804"/>
                  </a:lnTo>
                  <a:lnTo>
                    <a:pt x="4308041" y="68095"/>
                  </a:lnTo>
                  <a:lnTo>
                    <a:pt x="4284175" y="32535"/>
                  </a:lnTo>
                  <a:lnTo>
                    <a:pt x="4248516" y="8721"/>
                  </a:lnTo>
                  <a:lnTo>
                    <a:pt x="4206595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9684" y="1115277"/>
              <a:ext cx="4316730" cy="1664970"/>
            </a:xfrm>
            <a:custGeom>
              <a:avLst/>
              <a:gdLst/>
              <a:ahLst/>
              <a:cxnLst/>
              <a:rect l="l" t="t" r="r" b="b"/>
              <a:pathLst>
                <a:path w="4316730" h="166497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206595" y="368"/>
                  </a:lnTo>
                  <a:lnTo>
                    <a:pt x="4248516" y="8721"/>
                  </a:lnTo>
                  <a:lnTo>
                    <a:pt x="4284175" y="32535"/>
                  </a:lnTo>
                  <a:lnTo>
                    <a:pt x="4308041" y="68095"/>
                  </a:lnTo>
                  <a:lnTo>
                    <a:pt x="4316399" y="110159"/>
                  </a:lnTo>
                  <a:lnTo>
                    <a:pt x="4316399" y="1554848"/>
                  </a:lnTo>
                  <a:lnTo>
                    <a:pt x="4315459" y="1569265"/>
                  </a:lnTo>
                  <a:lnTo>
                    <a:pt x="4312662" y="1583280"/>
                  </a:lnTo>
                  <a:lnTo>
                    <a:pt x="4293616" y="1621636"/>
                  </a:lnTo>
                  <a:lnTo>
                    <a:pt x="4261675" y="1649882"/>
                  </a:lnTo>
                  <a:lnTo>
                    <a:pt x="4221025" y="1663700"/>
                  </a:lnTo>
                  <a:lnTo>
                    <a:pt x="4206595" y="1664639"/>
                  </a:lnTo>
                  <a:lnTo>
                    <a:pt x="109791" y="1664639"/>
                  </a:lnTo>
                  <a:lnTo>
                    <a:pt x="67882" y="1656286"/>
                  </a:lnTo>
                  <a:lnTo>
                    <a:pt x="32213" y="1632472"/>
                  </a:lnTo>
                  <a:lnTo>
                    <a:pt x="8352" y="1596912"/>
                  </a:lnTo>
                  <a:lnTo>
                    <a:pt x="0" y="1554848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84556" y="1312813"/>
            <a:ext cx="13858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D283A"/>
                </a:solidFill>
                <a:latin typeface="Calibri"/>
                <a:cs typeface="Calibri"/>
              </a:rPr>
              <a:t>Prerequisites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4555" y="1645922"/>
            <a:ext cx="3977640" cy="960119"/>
          </a:xfrm>
          <a:custGeom>
            <a:avLst/>
            <a:gdLst/>
            <a:ahLst/>
            <a:cxnLst/>
            <a:rect l="l" t="t" r="r" b="b"/>
            <a:pathLst>
              <a:path w="3977640" h="960119">
                <a:moveTo>
                  <a:pt x="3904208" y="0"/>
                </a:moveTo>
                <a:lnTo>
                  <a:pt x="73088" y="0"/>
                </a:lnTo>
                <a:lnTo>
                  <a:pt x="63610" y="607"/>
                </a:lnTo>
                <a:lnTo>
                  <a:pt x="21431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887044"/>
                </a:lnTo>
                <a:lnTo>
                  <a:pt x="594" y="896315"/>
                </a:lnTo>
                <a:lnTo>
                  <a:pt x="607" y="896520"/>
                </a:lnTo>
                <a:lnTo>
                  <a:pt x="2395" y="905716"/>
                </a:lnTo>
                <a:lnTo>
                  <a:pt x="2430" y="905895"/>
                </a:lnTo>
                <a:lnTo>
                  <a:pt x="28555" y="945015"/>
                </a:lnTo>
                <a:lnTo>
                  <a:pt x="73088" y="960119"/>
                </a:lnTo>
                <a:lnTo>
                  <a:pt x="3904564" y="959764"/>
                </a:lnTo>
                <a:lnTo>
                  <a:pt x="3948941" y="944660"/>
                </a:lnTo>
                <a:lnTo>
                  <a:pt x="3972098" y="914935"/>
                </a:lnTo>
                <a:lnTo>
                  <a:pt x="3972175" y="914779"/>
                </a:lnTo>
                <a:lnTo>
                  <a:pt x="3975151" y="905895"/>
                </a:lnTo>
                <a:lnTo>
                  <a:pt x="3975211" y="905716"/>
                </a:lnTo>
                <a:lnTo>
                  <a:pt x="3976992" y="896520"/>
                </a:lnTo>
                <a:lnTo>
                  <a:pt x="3977032" y="896315"/>
                </a:lnTo>
                <a:lnTo>
                  <a:pt x="3977616" y="887044"/>
                </a:lnTo>
                <a:lnTo>
                  <a:pt x="3977640" y="886675"/>
                </a:lnTo>
                <a:lnTo>
                  <a:pt x="3977284" y="73075"/>
                </a:lnTo>
                <a:lnTo>
                  <a:pt x="3962185" y="28705"/>
                </a:lnTo>
                <a:lnTo>
                  <a:pt x="3923237" y="2428"/>
                </a:lnTo>
                <a:lnTo>
                  <a:pt x="3913840" y="607"/>
                </a:lnTo>
                <a:lnTo>
                  <a:pt x="3904208" y="0"/>
                </a:lnTo>
                <a:close/>
              </a:path>
            </a:pathLst>
          </a:custGeom>
          <a:solidFill>
            <a:srgbClr val="0E16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81659" y="1669582"/>
            <a:ext cx="986790" cy="43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node</a:t>
            </a:r>
            <a:r>
              <a:rPr sz="900" spc="-1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-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-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version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java</a:t>
            </a:r>
            <a:r>
              <a:rPr sz="900" spc="-1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-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-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version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mvn</a:t>
            </a:r>
            <a:r>
              <a:rPr sz="900" spc="-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-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-version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8532" y="1669582"/>
            <a:ext cx="1604010" cy="43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#</a:t>
            </a:r>
            <a:r>
              <a:rPr sz="900" spc="-1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Need</a:t>
            </a:r>
            <a:r>
              <a:rPr sz="900" spc="-1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Node.js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49DD7F"/>
                </a:solidFill>
                <a:latin typeface="Courier New"/>
                <a:cs typeface="Courier New"/>
              </a:rPr>
              <a:t>18+</a:t>
            </a:r>
            <a:endParaRPr sz="9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#</a:t>
            </a:r>
            <a:r>
              <a:rPr sz="900" spc="-2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Need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Java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21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for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49DD7F"/>
                </a:solidFill>
                <a:latin typeface="Courier New"/>
                <a:cs typeface="Courier New"/>
              </a:rPr>
              <a:t>WAMY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#</a:t>
            </a:r>
            <a:r>
              <a:rPr sz="900" spc="-2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Maven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49DD7F"/>
                </a:solidFill>
                <a:latin typeface="Courier New"/>
                <a:cs typeface="Courier New"/>
              </a:rPr>
              <a:t>3.9+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41557" y="1038227"/>
            <a:ext cx="4402455" cy="1854835"/>
            <a:chOff x="4741557" y="1038227"/>
            <a:chExt cx="4402455" cy="185483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557" y="1038227"/>
              <a:ext cx="4402074" cy="185437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818596" y="1115277"/>
              <a:ext cx="4316730" cy="1664970"/>
            </a:xfrm>
            <a:custGeom>
              <a:avLst/>
              <a:gdLst/>
              <a:ahLst/>
              <a:cxnLst/>
              <a:rect l="l" t="t" r="r" b="b"/>
              <a:pathLst>
                <a:path w="4316730" h="166497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554848"/>
                  </a:lnTo>
                  <a:lnTo>
                    <a:pt x="939" y="1569271"/>
                  </a:lnTo>
                  <a:lnTo>
                    <a:pt x="3736" y="1583326"/>
                  </a:lnTo>
                  <a:lnTo>
                    <a:pt x="8305" y="1596757"/>
                  </a:lnTo>
                  <a:lnTo>
                    <a:pt x="8358" y="1596912"/>
                  </a:lnTo>
                  <a:lnTo>
                    <a:pt x="14770" y="1609928"/>
                  </a:lnTo>
                  <a:lnTo>
                    <a:pt x="22683" y="1621636"/>
                  </a:lnTo>
                  <a:lnTo>
                    <a:pt x="22788" y="1621791"/>
                  </a:lnTo>
                  <a:lnTo>
                    <a:pt x="55079" y="1649882"/>
                  </a:lnTo>
                  <a:lnTo>
                    <a:pt x="95379" y="1663700"/>
                  </a:lnTo>
                  <a:lnTo>
                    <a:pt x="109804" y="1664639"/>
                  </a:lnTo>
                  <a:lnTo>
                    <a:pt x="4206608" y="1664639"/>
                  </a:lnTo>
                  <a:lnTo>
                    <a:pt x="4248672" y="1656286"/>
                  </a:lnTo>
                  <a:lnTo>
                    <a:pt x="4284180" y="1632472"/>
                  </a:lnTo>
                  <a:lnTo>
                    <a:pt x="4307969" y="1596912"/>
                  </a:lnTo>
                  <a:lnTo>
                    <a:pt x="4308046" y="1596757"/>
                  </a:lnTo>
                  <a:lnTo>
                    <a:pt x="4312648" y="1583326"/>
                  </a:lnTo>
                  <a:lnTo>
                    <a:pt x="4315459" y="1569271"/>
                  </a:lnTo>
                  <a:lnTo>
                    <a:pt x="4316399" y="1554848"/>
                  </a:lnTo>
                  <a:lnTo>
                    <a:pt x="4316376" y="109804"/>
                  </a:lnTo>
                  <a:lnTo>
                    <a:pt x="4308046" y="68095"/>
                  </a:lnTo>
                  <a:lnTo>
                    <a:pt x="4284186" y="32535"/>
                  </a:lnTo>
                  <a:lnTo>
                    <a:pt x="4248517" y="8721"/>
                  </a:lnTo>
                  <a:lnTo>
                    <a:pt x="4206608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18596" y="1115277"/>
              <a:ext cx="4316730" cy="1664970"/>
            </a:xfrm>
            <a:custGeom>
              <a:avLst/>
              <a:gdLst/>
              <a:ahLst/>
              <a:cxnLst/>
              <a:rect l="l" t="t" r="r" b="b"/>
              <a:pathLst>
                <a:path w="4316730" h="166497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206608" y="368"/>
                  </a:lnTo>
                  <a:lnTo>
                    <a:pt x="4248517" y="8721"/>
                  </a:lnTo>
                  <a:lnTo>
                    <a:pt x="4284186" y="32535"/>
                  </a:lnTo>
                  <a:lnTo>
                    <a:pt x="4308046" y="68095"/>
                  </a:lnTo>
                  <a:lnTo>
                    <a:pt x="4316399" y="110159"/>
                  </a:lnTo>
                  <a:lnTo>
                    <a:pt x="4316399" y="1554848"/>
                  </a:lnTo>
                  <a:lnTo>
                    <a:pt x="4315460" y="1569265"/>
                  </a:lnTo>
                  <a:lnTo>
                    <a:pt x="4312664" y="1583280"/>
                  </a:lnTo>
                  <a:lnTo>
                    <a:pt x="4293629" y="1621636"/>
                  </a:lnTo>
                  <a:lnTo>
                    <a:pt x="4261688" y="1649882"/>
                  </a:lnTo>
                  <a:lnTo>
                    <a:pt x="4221031" y="1663700"/>
                  </a:lnTo>
                  <a:lnTo>
                    <a:pt x="4206608" y="1664639"/>
                  </a:lnTo>
                  <a:lnTo>
                    <a:pt x="109804" y="1664639"/>
                  </a:lnTo>
                  <a:lnTo>
                    <a:pt x="67882" y="1656286"/>
                  </a:lnTo>
                  <a:lnTo>
                    <a:pt x="32224" y="1632472"/>
                  </a:lnTo>
                  <a:lnTo>
                    <a:pt x="8358" y="1596912"/>
                  </a:lnTo>
                  <a:lnTo>
                    <a:pt x="0" y="1554848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983479" y="1312813"/>
            <a:ext cx="17649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D283A"/>
                </a:solidFill>
                <a:latin typeface="Calibri"/>
                <a:cs typeface="Calibri"/>
              </a:rPr>
              <a:t>Install</a:t>
            </a:r>
            <a:r>
              <a:rPr sz="1200" b="1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D283A"/>
                </a:solidFill>
                <a:latin typeface="Calibri"/>
                <a:cs typeface="Calibri"/>
              </a:rPr>
              <a:t>Claude</a:t>
            </a:r>
            <a:r>
              <a:rPr sz="1200" b="1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1D283A"/>
                </a:solidFill>
                <a:latin typeface="Calibri"/>
                <a:cs typeface="Calibri"/>
              </a:rPr>
              <a:t>Code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83479" y="1645922"/>
            <a:ext cx="3977640" cy="960119"/>
          </a:xfrm>
          <a:custGeom>
            <a:avLst/>
            <a:gdLst/>
            <a:ahLst/>
            <a:cxnLst/>
            <a:rect l="l" t="t" r="r" b="b"/>
            <a:pathLst>
              <a:path w="3977640" h="960119">
                <a:moveTo>
                  <a:pt x="3904195" y="0"/>
                </a:moveTo>
                <a:lnTo>
                  <a:pt x="73075" y="0"/>
                </a:lnTo>
                <a:lnTo>
                  <a:pt x="63599" y="607"/>
                </a:lnTo>
                <a:lnTo>
                  <a:pt x="2142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887044"/>
                </a:lnTo>
                <a:lnTo>
                  <a:pt x="5412" y="914779"/>
                </a:lnTo>
                <a:lnTo>
                  <a:pt x="5464" y="914935"/>
                </a:lnTo>
                <a:lnTo>
                  <a:pt x="36360" y="950404"/>
                </a:lnTo>
                <a:lnTo>
                  <a:pt x="73075" y="960119"/>
                </a:lnTo>
                <a:lnTo>
                  <a:pt x="3904564" y="959764"/>
                </a:lnTo>
                <a:lnTo>
                  <a:pt x="3948934" y="944660"/>
                </a:lnTo>
                <a:lnTo>
                  <a:pt x="3975151" y="905895"/>
                </a:lnTo>
                <a:lnTo>
                  <a:pt x="3975211" y="905716"/>
                </a:lnTo>
                <a:lnTo>
                  <a:pt x="3976992" y="896520"/>
                </a:lnTo>
                <a:lnTo>
                  <a:pt x="3977032" y="896315"/>
                </a:lnTo>
                <a:lnTo>
                  <a:pt x="3977616" y="887044"/>
                </a:lnTo>
                <a:lnTo>
                  <a:pt x="3977640" y="886675"/>
                </a:lnTo>
                <a:lnTo>
                  <a:pt x="3977284" y="73075"/>
                </a:lnTo>
                <a:lnTo>
                  <a:pt x="3962180" y="28705"/>
                </a:lnTo>
                <a:lnTo>
                  <a:pt x="3923236" y="2428"/>
                </a:lnTo>
                <a:lnTo>
                  <a:pt x="3913835" y="607"/>
                </a:lnTo>
                <a:lnTo>
                  <a:pt x="3904195" y="0"/>
                </a:lnTo>
                <a:close/>
              </a:path>
            </a:pathLst>
          </a:custGeom>
          <a:solidFill>
            <a:srgbClr val="0E16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080584" y="1669582"/>
            <a:ext cx="2771140" cy="43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npm</a:t>
            </a:r>
            <a:r>
              <a:rPr sz="900" spc="3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install</a:t>
            </a:r>
            <a:r>
              <a:rPr sz="900" spc="4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-g</a:t>
            </a:r>
            <a:r>
              <a:rPr sz="900" spc="4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@anthropic-ai/claude-</a:t>
            </a:r>
            <a:r>
              <a:rPr sz="900" spc="-20" dirty="0">
                <a:solidFill>
                  <a:srgbClr val="49DD7F"/>
                </a:solidFill>
                <a:latin typeface="Courier New"/>
                <a:cs typeface="Courier New"/>
              </a:rPr>
              <a:t>code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#</a:t>
            </a:r>
            <a:r>
              <a:rPr sz="900" spc="-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Verify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claude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 -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-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version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42646" y="2821307"/>
            <a:ext cx="4507230" cy="1854835"/>
            <a:chOff x="242646" y="2821307"/>
            <a:chExt cx="4507230" cy="185483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2821307"/>
              <a:ext cx="4506836" cy="185473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19684" y="2898357"/>
              <a:ext cx="4316730" cy="1664970"/>
            </a:xfrm>
            <a:custGeom>
              <a:avLst/>
              <a:gdLst/>
              <a:ahLst/>
              <a:cxnLst/>
              <a:rect l="l" t="t" r="r" b="b"/>
              <a:pathLst>
                <a:path w="4316730" h="166497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1554848"/>
                  </a:lnTo>
                  <a:lnTo>
                    <a:pt x="939" y="1569271"/>
                  </a:lnTo>
                  <a:lnTo>
                    <a:pt x="3735" y="1583326"/>
                  </a:lnTo>
                  <a:lnTo>
                    <a:pt x="8300" y="1596757"/>
                  </a:lnTo>
                  <a:lnTo>
                    <a:pt x="8352" y="1596912"/>
                  </a:lnTo>
                  <a:lnTo>
                    <a:pt x="14757" y="1609928"/>
                  </a:lnTo>
                  <a:lnTo>
                    <a:pt x="22670" y="1621636"/>
                  </a:lnTo>
                  <a:lnTo>
                    <a:pt x="22775" y="1621791"/>
                  </a:lnTo>
                  <a:lnTo>
                    <a:pt x="55079" y="1649882"/>
                  </a:lnTo>
                  <a:lnTo>
                    <a:pt x="95374" y="1663700"/>
                  </a:lnTo>
                  <a:lnTo>
                    <a:pt x="109791" y="1664639"/>
                  </a:lnTo>
                  <a:lnTo>
                    <a:pt x="4206595" y="1664639"/>
                  </a:lnTo>
                  <a:lnTo>
                    <a:pt x="4248666" y="1656286"/>
                  </a:lnTo>
                  <a:lnTo>
                    <a:pt x="4284167" y="1632472"/>
                  </a:lnTo>
                  <a:lnTo>
                    <a:pt x="4307963" y="1596912"/>
                  </a:lnTo>
                  <a:lnTo>
                    <a:pt x="4316399" y="1554848"/>
                  </a:lnTo>
                  <a:lnTo>
                    <a:pt x="4316376" y="109804"/>
                  </a:lnTo>
                  <a:lnTo>
                    <a:pt x="4308041" y="68095"/>
                  </a:lnTo>
                  <a:lnTo>
                    <a:pt x="4284175" y="32535"/>
                  </a:lnTo>
                  <a:lnTo>
                    <a:pt x="4248516" y="8721"/>
                  </a:lnTo>
                  <a:lnTo>
                    <a:pt x="4206595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9684" y="2898357"/>
              <a:ext cx="4316730" cy="1664970"/>
            </a:xfrm>
            <a:custGeom>
              <a:avLst/>
              <a:gdLst/>
              <a:ahLst/>
              <a:cxnLst/>
              <a:rect l="l" t="t" r="r" b="b"/>
              <a:pathLst>
                <a:path w="4316730" h="166497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206595" y="368"/>
                  </a:lnTo>
                  <a:lnTo>
                    <a:pt x="4248516" y="8721"/>
                  </a:lnTo>
                  <a:lnTo>
                    <a:pt x="4284175" y="32535"/>
                  </a:lnTo>
                  <a:lnTo>
                    <a:pt x="4308041" y="68095"/>
                  </a:lnTo>
                  <a:lnTo>
                    <a:pt x="4316399" y="110159"/>
                  </a:lnTo>
                  <a:lnTo>
                    <a:pt x="4316399" y="1554848"/>
                  </a:lnTo>
                  <a:lnTo>
                    <a:pt x="4315459" y="1569265"/>
                  </a:lnTo>
                  <a:lnTo>
                    <a:pt x="4312662" y="1583280"/>
                  </a:lnTo>
                  <a:lnTo>
                    <a:pt x="4293616" y="1621636"/>
                  </a:lnTo>
                  <a:lnTo>
                    <a:pt x="4261675" y="1649882"/>
                  </a:lnTo>
                  <a:lnTo>
                    <a:pt x="4221025" y="1663700"/>
                  </a:lnTo>
                  <a:lnTo>
                    <a:pt x="4206595" y="1664639"/>
                  </a:lnTo>
                  <a:lnTo>
                    <a:pt x="109791" y="1664639"/>
                  </a:lnTo>
                  <a:lnTo>
                    <a:pt x="67882" y="1656286"/>
                  </a:lnTo>
                  <a:lnTo>
                    <a:pt x="32213" y="1632472"/>
                  </a:lnTo>
                  <a:lnTo>
                    <a:pt x="8352" y="1596912"/>
                  </a:lnTo>
                  <a:lnTo>
                    <a:pt x="0" y="1554848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84556" y="3095893"/>
            <a:ext cx="13795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D283A"/>
                </a:solidFill>
                <a:latin typeface="Calibri"/>
                <a:cs typeface="Calibri"/>
              </a:rPr>
              <a:t>Authenticate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4555" y="3429001"/>
            <a:ext cx="3977640" cy="960119"/>
          </a:xfrm>
          <a:custGeom>
            <a:avLst/>
            <a:gdLst/>
            <a:ahLst/>
            <a:cxnLst/>
            <a:rect l="l" t="t" r="r" b="b"/>
            <a:pathLst>
              <a:path w="3977640" h="960120">
                <a:moveTo>
                  <a:pt x="3904208" y="0"/>
                </a:moveTo>
                <a:lnTo>
                  <a:pt x="73088" y="0"/>
                </a:lnTo>
                <a:lnTo>
                  <a:pt x="63610" y="607"/>
                </a:lnTo>
                <a:lnTo>
                  <a:pt x="21431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887044"/>
                </a:lnTo>
                <a:lnTo>
                  <a:pt x="594" y="896315"/>
                </a:lnTo>
                <a:lnTo>
                  <a:pt x="607" y="896520"/>
                </a:lnTo>
                <a:lnTo>
                  <a:pt x="2395" y="905716"/>
                </a:lnTo>
                <a:lnTo>
                  <a:pt x="2430" y="905895"/>
                </a:lnTo>
                <a:lnTo>
                  <a:pt x="5417" y="914779"/>
                </a:lnTo>
                <a:lnTo>
                  <a:pt x="5470" y="914935"/>
                </a:lnTo>
                <a:lnTo>
                  <a:pt x="36360" y="950404"/>
                </a:lnTo>
                <a:lnTo>
                  <a:pt x="73088" y="960120"/>
                </a:lnTo>
                <a:lnTo>
                  <a:pt x="3904564" y="959764"/>
                </a:lnTo>
                <a:lnTo>
                  <a:pt x="3948941" y="944660"/>
                </a:lnTo>
                <a:lnTo>
                  <a:pt x="3975151" y="905895"/>
                </a:lnTo>
                <a:lnTo>
                  <a:pt x="3975211" y="905716"/>
                </a:lnTo>
                <a:lnTo>
                  <a:pt x="3976992" y="896520"/>
                </a:lnTo>
                <a:lnTo>
                  <a:pt x="3977032" y="896315"/>
                </a:lnTo>
                <a:lnTo>
                  <a:pt x="3977616" y="887044"/>
                </a:lnTo>
                <a:lnTo>
                  <a:pt x="3977640" y="886675"/>
                </a:lnTo>
                <a:lnTo>
                  <a:pt x="3977284" y="73075"/>
                </a:lnTo>
                <a:lnTo>
                  <a:pt x="3962185" y="28705"/>
                </a:lnTo>
                <a:lnTo>
                  <a:pt x="3923237" y="2428"/>
                </a:lnTo>
                <a:lnTo>
                  <a:pt x="3913840" y="607"/>
                </a:lnTo>
                <a:lnTo>
                  <a:pt x="3904208" y="0"/>
                </a:lnTo>
                <a:close/>
              </a:path>
            </a:pathLst>
          </a:custGeom>
          <a:solidFill>
            <a:srgbClr val="0E16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81659" y="3452662"/>
            <a:ext cx="2839720" cy="43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claude</a:t>
            </a:r>
            <a:r>
              <a:rPr sz="900" spc="-1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login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#</a:t>
            </a:r>
            <a:r>
              <a:rPr sz="900" spc="-1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Opens</a:t>
            </a:r>
            <a:r>
              <a:rPr sz="900" spc="-1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browser</a:t>
            </a:r>
            <a:r>
              <a:rPr sz="900" spc="-1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→</a:t>
            </a:r>
            <a:r>
              <a:rPr sz="900" spc="-1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Anthropic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49DD7F"/>
                </a:solidFill>
                <a:latin typeface="Courier New"/>
                <a:cs typeface="Courier New"/>
              </a:rPr>
              <a:t>OAuth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#</a:t>
            </a:r>
            <a:r>
              <a:rPr sz="900" spc="4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Or:</a:t>
            </a:r>
            <a:r>
              <a:rPr sz="900" spc="5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export</a:t>
            </a:r>
            <a:r>
              <a:rPr sz="900" spc="5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ANTHROPIC_API_KEY=sk-ant-</a:t>
            </a:r>
            <a:r>
              <a:rPr sz="900" spc="-25" dirty="0">
                <a:solidFill>
                  <a:srgbClr val="49DD7F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741557" y="2821307"/>
            <a:ext cx="4402455" cy="1854835"/>
            <a:chOff x="4741557" y="2821307"/>
            <a:chExt cx="4402455" cy="1854835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557" y="2821307"/>
              <a:ext cx="4402074" cy="185473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818596" y="2898357"/>
              <a:ext cx="4316730" cy="1664970"/>
            </a:xfrm>
            <a:custGeom>
              <a:avLst/>
              <a:gdLst/>
              <a:ahLst/>
              <a:cxnLst/>
              <a:rect l="l" t="t" r="r" b="b"/>
              <a:pathLst>
                <a:path w="4316730" h="166497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554848"/>
                  </a:lnTo>
                  <a:lnTo>
                    <a:pt x="939" y="1569271"/>
                  </a:lnTo>
                  <a:lnTo>
                    <a:pt x="3736" y="1583326"/>
                  </a:lnTo>
                  <a:lnTo>
                    <a:pt x="8305" y="1596757"/>
                  </a:lnTo>
                  <a:lnTo>
                    <a:pt x="8358" y="1596912"/>
                  </a:lnTo>
                  <a:lnTo>
                    <a:pt x="14770" y="1609928"/>
                  </a:lnTo>
                  <a:lnTo>
                    <a:pt x="22683" y="1621636"/>
                  </a:lnTo>
                  <a:lnTo>
                    <a:pt x="22788" y="1621791"/>
                  </a:lnTo>
                  <a:lnTo>
                    <a:pt x="55079" y="1649882"/>
                  </a:lnTo>
                  <a:lnTo>
                    <a:pt x="95379" y="1663700"/>
                  </a:lnTo>
                  <a:lnTo>
                    <a:pt x="109804" y="1664639"/>
                  </a:lnTo>
                  <a:lnTo>
                    <a:pt x="4206608" y="1664639"/>
                  </a:lnTo>
                  <a:lnTo>
                    <a:pt x="4248672" y="1656286"/>
                  </a:lnTo>
                  <a:lnTo>
                    <a:pt x="4284180" y="1632472"/>
                  </a:lnTo>
                  <a:lnTo>
                    <a:pt x="4307969" y="1596912"/>
                  </a:lnTo>
                  <a:lnTo>
                    <a:pt x="4316399" y="1554848"/>
                  </a:lnTo>
                  <a:lnTo>
                    <a:pt x="4316376" y="109804"/>
                  </a:lnTo>
                  <a:lnTo>
                    <a:pt x="4308046" y="68095"/>
                  </a:lnTo>
                  <a:lnTo>
                    <a:pt x="4284186" y="32535"/>
                  </a:lnTo>
                  <a:lnTo>
                    <a:pt x="4248517" y="8721"/>
                  </a:lnTo>
                  <a:lnTo>
                    <a:pt x="4206608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818596" y="2898357"/>
              <a:ext cx="4316730" cy="1664970"/>
            </a:xfrm>
            <a:custGeom>
              <a:avLst/>
              <a:gdLst/>
              <a:ahLst/>
              <a:cxnLst/>
              <a:rect l="l" t="t" r="r" b="b"/>
              <a:pathLst>
                <a:path w="4316730" h="166497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206608" y="368"/>
                  </a:lnTo>
                  <a:lnTo>
                    <a:pt x="4248517" y="8721"/>
                  </a:lnTo>
                  <a:lnTo>
                    <a:pt x="4284186" y="32535"/>
                  </a:lnTo>
                  <a:lnTo>
                    <a:pt x="4308046" y="68095"/>
                  </a:lnTo>
                  <a:lnTo>
                    <a:pt x="4316399" y="110159"/>
                  </a:lnTo>
                  <a:lnTo>
                    <a:pt x="4316399" y="1554848"/>
                  </a:lnTo>
                  <a:lnTo>
                    <a:pt x="4315460" y="1569265"/>
                  </a:lnTo>
                  <a:lnTo>
                    <a:pt x="4312664" y="1583280"/>
                  </a:lnTo>
                  <a:lnTo>
                    <a:pt x="4293629" y="1621636"/>
                  </a:lnTo>
                  <a:lnTo>
                    <a:pt x="4261688" y="1649882"/>
                  </a:lnTo>
                  <a:lnTo>
                    <a:pt x="4221031" y="1663700"/>
                  </a:lnTo>
                  <a:lnTo>
                    <a:pt x="4206608" y="1664639"/>
                  </a:lnTo>
                  <a:lnTo>
                    <a:pt x="109804" y="1664639"/>
                  </a:lnTo>
                  <a:lnTo>
                    <a:pt x="67882" y="1656286"/>
                  </a:lnTo>
                  <a:lnTo>
                    <a:pt x="32224" y="1632472"/>
                  </a:lnTo>
                  <a:lnTo>
                    <a:pt x="8358" y="1596912"/>
                  </a:lnTo>
                  <a:lnTo>
                    <a:pt x="0" y="1554848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983480" y="3095893"/>
            <a:ext cx="21580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D283A"/>
                </a:solidFill>
                <a:latin typeface="Calibri"/>
                <a:cs typeface="Calibri"/>
              </a:rPr>
              <a:t>Launch</a:t>
            </a:r>
            <a:r>
              <a:rPr sz="1200" b="1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D283A"/>
                </a:solidFill>
                <a:latin typeface="Calibri"/>
                <a:cs typeface="Calibri"/>
              </a:rPr>
              <a:t>on</a:t>
            </a:r>
            <a:r>
              <a:rPr sz="1200" b="1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D283A"/>
                </a:solidFill>
                <a:latin typeface="Calibri"/>
                <a:cs typeface="Calibri"/>
              </a:rPr>
              <a:t>WAMY</a:t>
            </a:r>
            <a:r>
              <a:rPr sz="1200" b="1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D283A"/>
                </a:solidFill>
                <a:latin typeface="Calibri"/>
                <a:cs typeface="Calibri"/>
              </a:rPr>
              <a:t>project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983479" y="3429001"/>
            <a:ext cx="3977640" cy="960119"/>
          </a:xfrm>
          <a:custGeom>
            <a:avLst/>
            <a:gdLst/>
            <a:ahLst/>
            <a:cxnLst/>
            <a:rect l="l" t="t" r="r" b="b"/>
            <a:pathLst>
              <a:path w="3977640" h="960120">
                <a:moveTo>
                  <a:pt x="3904195" y="0"/>
                </a:moveTo>
                <a:lnTo>
                  <a:pt x="73075" y="0"/>
                </a:lnTo>
                <a:lnTo>
                  <a:pt x="63599" y="607"/>
                </a:lnTo>
                <a:lnTo>
                  <a:pt x="2142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887044"/>
                </a:lnTo>
                <a:lnTo>
                  <a:pt x="15098" y="931414"/>
                </a:lnTo>
                <a:lnTo>
                  <a:pt x="54046" y="957691"/>
                </a:lnTo>
                <a:lnTo>
                  <a:pt x="73075" y="960120"/>
                </a:lnTo>
                <a:lnTo>
                  <a:pt x="3904564" y="959764"/>
                </a:lnTo>
                <a:lnTo>
                  <a:pt x="3948934" y="944660"/>
                </a:lnTo>
                <a:lnTo>
                  <a:pt x="3972098" y="914935"/>
                </a:lnTo>
                <a:lnTo>
                  <a:pt x="3972175" y="914779"/>
                </a:lnTo>
                <a:lnTo>
                  <a:pt x="3975151" y="905895"/>
                </a:lnTo>
                <a:lnTo>
                  <a:pt x="3975211" y="905716"/>
                </a:lnTo>
                <a:lnTo>
                  <a:pt x="3976992" y="896520"/>
                </a:lnTo>
                <a:lnTo>
                  <a:pt x="3977032" y="896315"/>
                </a:lnTo>
                <a:lnTo>
                  <a:pt x="3977616" y="887044"/>
                </a:lnTo>
                <a:lnTo>
                  <a:pt x="3977640" y="886675"/>
                </a:lnTo>
                <a:lnTo>
                  <a:pt x="3977284" y="73075"/>
                </a:lnTo>
                <a:lnTo>
                  <a:pt x="3962180" y="28705"/>
                </a:lnTo>
                <a:lnTo>
                  <a:pt x="3923236" y="2428"/>
                </a:lnTo>
                <a:lnTo>
                  <a:pt x="3913835" y="607"/>
                </a:lnTo>
                <a:lnTo>
                  <a:pt x="3904195" y="0"/>
                </a:lnTo>
                <a:close/>
              </a:path>
            </a:pathLst>
          </a:custGeom>
          <a:solidFill>
            <a:srgbClr val="0E16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080584" y="3452662"/>
            <a:ext cx="2427605" cy="43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7731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cd</a:t>
            </a:r>
            <a:r>
              <a:rPr sz="900" spc="3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wamy-finance claude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#</a:t>
            </a:r>
            <a:r>
              <a:rPr sz="900" spc="-1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Claude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scans</a:t>
            </a:r>
            <a:r>
              <a:rPr sz="900" spc="-1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project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and</a:t>
            </a:r>
            <a:r>
              <a:rPr sz="900" spc="-1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49DD7F"/>
                </a:solidFill>
                <a:latin typeface="Courier New"/>
                <a:cs typeface="Courier New"/>
              </a:rPr>
              <a:t>is</a:t>
            </a:r>
            <a:r>
              <a:rPr sz="900" spc="-1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49DD7F"/>
                </a:solidFill>
                <a:latin typeface="Courier New"/>
                <a:cs typeface="Courier New"/>
              </a:rPr>
              <a:t>ready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35" name="object 35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44144" y="4730580"/>
            <a:ext cx="660400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For</a:t>
            </a:r>
            <a:r>
              <a:rPr sz="950" spc="-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WAMY: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create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wamy-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finance/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root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folder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containing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both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Spring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Boot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backend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and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React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frontend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before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running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claude.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10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CLAUDE.md</a:t>
            </a:r>
            <a:r>
              <a:rPr spc="-85" dirty="0"/>
              <a:t> </a:t>
            </a:r>
            <a:r>
              <a:rPr dirty="0"/>
              <a:t>—</a:t>
            </a:r>
            <a:r>
              <a:rPr spc="-90" dirty="0"/>
              <a:t> </a:t>
            </a:r>
            <a:r>
              <a:rPr spc="-45" dirty="0"/>
              <a:t>Your</a:t>
            </a:r>
            <a:r>
              <a:rPr spc="-85" dirty="0"/>
              <a:t> </a:t>
            </a:r>
            <a:r>
              <a:rPr dirty="0"/>
              <a:t>Project</a:t>
            </a:r>
            <a:r>
              <a:rPr spc="-80" dirty="0"/>
              <a:t> </a:t>
            </a:r>
            <a:r>
              <a:rPr spc="-10" dirty="0"/>
              <a:t>Context</a:t>
            </a:r>
            <a:r>
              <a:rPr spc="-85" dirty="0"/>
              <a:t> </a:t>
            </a:r>
            <a:r>
              <a:rPr spc="-20" dirty="0"/>
              <a:t>File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42277" y="1038227"/>
            <a:ext cx="8695055" cy="3793490"/>
            <a:chOff x="242277" y="1038227"/>
            <a:chExt cx="8695055" cy="37934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038227"/>
              <a:ext cx="8694356" cy="69336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9316" y="1115277"/>
              <a:ext cx="8504555" cy="503555"/>
            </a:xfrm>
            <a:custGeom>
              <a:avLst/>
              <a:gdLst/>
              <a:ahLst/>
              <a:cxnLst/>
              <a:rect l="l" t="t" r="r" b="b"/>
              <a:pathLst>
                <a:path w="8504555" h="50355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393484"/>
                  </a:lnTo>
                  <a:lnTo>
                    <a:pt x="939" y="407914"/>
                  </a:lnTo>
                  <a:lnTo>
                    <a:pt x="3736" y="421971"/>
                  </a:lnTo>
                  <a:lnTo>
                    <a:pt x="8307" y="435405"/>
                  </a:lnTo>
                  <a:lnTo>
                    <a:pt x="8358" y="435555"/>
                  </a:lnTo>
                  <a:lnTo>
                    <a:pt x="32224" y="471108"/>
                  </a:lnTo>
                  <a:lnTo>
                    <a:pt x="67882" y="494930"/>
                  </a:lnTo>
                  <a:lnTo>
                    <a:pt x="109804" y="503288"/>
                  </a:lnTo>
                  <a:lnTo>
                    <a:pt x="8394484" y="503288"/>
                  </a:lnTo>
                  <a:lnTo>
                    <a:pt x="8436555" y="494930"/>
                  </a:lnTo>
                  <a:lnTo>
                    <a:pt x="8472057" y="471108"/>
                  </a:lnTo>
                  <a:lnTo>
                    <a:pt x="8495854" y="435555"/>
                  </a:lnTo>
                  <a:lnTo>
                    <a:pt x="8495930" y="435405"/>
                  </a:lnTo>
                  <a:lnTo>
                    <a:pt x="8500536" y="421971"/>
                  </a:lnTo>
                  <a:lnTo>
                    <a:pt x="8503347" y="407914"/>
                  </a:lnTo>
                  <a:lnTo>
                    <a:pt x="8504288" y="393484"/>
                  </a:lnTo>
                  <a:lnTo>
                    <a:pt x="8504265" y="109804"/>
                  </a:lnTo>
                  <a:lnTo>
                    <a:pt x="8495930" y="68095"/>
                  </a:lnTo>
                  <a:lnTo>
                    <a:pt x="8472063" y="32535"/>
                  </a:lnTo>
                  <a:lnTo>
                    <a:pt x="8436405" y="8721"/>
                  </a:lnTo>
                  <a:lnTo>
                    <a:pt x="839448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A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9316" y="1115277"/>
              <a:ext cx="8504555" cy="503555"/>
            </a:xfrm>
            <a:custGeom>
              <a:avLst/>
              <a:gdLst/>
              <a:ahLst/>
              <a:cxnLst/>
              <a:rect l="l" t="t" r="r" b="b"/>
              <a:pathLst>
                <a:path w="8504555" h="50355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68"/>
                  </a:lnTo>
                  <a:lnTo>
                    <a:pt x="8436405" y="8721"/>
                  </a:lnTo>
                  <a:lnTo>
                    <a:pt x="8472063" y="32535"/>
                  </a:lnTo>
                  <a:lnTo>
                    <a:pt x="8495930" y="68095"/>
                  </a:lnTo>
                  <a:lnTo>
                    <a:pt x="8504288" y="110159"/>
                  </a:lnTo>
                  <a:lnTo>
                    <a:pt x="8504288" y="393484"/>
                  </a:lnTo>
                  <a:lnTo>
                    <a:pt x="8503348" y="407908"/>
                  </a:lnTo>
                  <a:lnTo>
                    <a:pt x="8500551" y="421927"/>
                  </a:lnTo>
                  <a:lnTo>
                    <a:pt x="8481505" y="460277"/>
                  </a:lnTo>
                  <a:lnTo>
                    <a:pt x="8449564" y="488518"/>
                  </a:lnTo>
                  <a:lnTo>
                    <a:pt x="8408914" y="502348"/>
                  </a:lnTo>
                  <a:lnTo>
                    <a:pt x="8394484" y="503288"/>
                  </a:lnTo>
                  <a:lnTo>
                    <a:pt x="109804" y="503288"/>
                  </a:lnTo>
                  <a:lnTo>
                    <a:pt x="67882" y="494930"/>
                  </a:lnTo>
                  <a:lnTo>
                    <a:pt x="32224" y="471108"/>
                  </a:lnTo>
                  <a:lnTo>
                    <a:pt x="8358" y="435555"/>
                  </a:lnTo>
                  <a:lnTo>
                    <a:pt x="0" y="39348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1641591"/>
              <a:ext cx="8694724" cy="318960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718997"/>
              <a:ext cx="8503920" cy="2999740"/>
            </a:xfrm>
            <a:custGeom>
              <a:avLst/>
              <a:gdLst/>
              <a:ahLst/>
              <a:cxnLst/>
              <a:rect l="l" t="t" r="r" b="b"/>
              <a:pathLst>
                <a:path w="8503920" h="2999740">
                  <a:moveTo>
                    <a:pt x="841211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40"/>
                  </a:lnTo>
                  <a:lnTo>
                    <a:pt x="0" y="2907728"/>
                  </a:lnTo>
                  <a:lnTo>
                    <a:pt x="774" y="2919367"/>
                  </a:lnTo>
                  <a:lnTo>
                    <a:pt x="798" y="2919728"/>
                  </a:lnTo>
                  <a:lnTo>
                    <a:pt x="3075" y="2931034"/>
                  </a:lnTo>
                  <a:lnTo>
                    <a:pt x="3148" y="2931393"/>
                  </a:lnTo>
                  <a:lnTo>
                    <a:pt x="6858" y="2942294"/>
                  </a:lnTo>
                  <a:lnTo>
                    <a:pt x="35675" y="2980325"/>
                  </a:lnTo>
                  <a:lnTo>
                    <a:pt x="79433" y="2998369"/>
                  </a:lnTo>
                  <a:lnTo>
                    <a:pt x="91439" y="2999168"/>
                  </a:lnTo>
                  <a:lnTo>
                    <a:pt x="8412480" y="2998800"/>
                  </a:lnTo>
                  <a:lnTo>
                    <a:pt x="8458200" y="2986570"/>
                  </a:lnTo>
                  <a:lnTo>
                    <a:pt x="8491677" y="2953080"/>
                  </a:lnTo>
                  <a:lnTo>
                    <a:pt x="8503046" y="2919728"/>
                  </a:lnTo>
                  <a:lnTo>
                    <a:pt x="8503119" y="2919367"/>
                  </a:lnTo>
                  <a:lnTo>
                    <a:pt x="8503895" y="2907728"/>
                  </a:lnTo>
                  <a:lnTo>
                    <a:pt x="8503920" y="2907360"/>
                  </a:lnTo>
                  <a:lnTo>
                    <a:pt x="8503551" y="91440"/>
                  </a:lnTo>
                  <a:lnTo>
                    <a:pt x="8491321" y="45720"/>
                  </a:lnTo>
                  <a:lnTo>
                    <a:pt x="8457831" y="12242"/>
                  </a:lnTo>
                  <a:lnTo>
                    <a:pt x="8424118" y="798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718997"/>
              <a:ext cx="8503920" cy="2999740"/>
            </a:xfrm>
            <a:custGeom>
              <a:avLst/>
              <a:gdLst/>
              <a:ahLst/>
              <a:cxnLst/>
              <a:rect l="l" t="t" r="r" b="b"/>
              <a:pathLst>
                <a:path w="8503920" h="2999740">
                  <a:moveTo>
                    <a:pt x="0" y="91440"/>
                  </a:moveTo>
                  <a:lnTo>
                    <a:pt x="798" y="79440"/>
                  </a:lnTo>
                  <a:lnTo>
                    <a:pt x="3148" y="67775"/>
                  </a:lnTo>
                  <a:lnTo>
                    <a:pt x="26679" y="26690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8412111" y="0"/>
                  </a:lnTo>
                  <a:lnTo>
                    <a:pt x="8457831" y="12242"/>
                  </a:lnTo>
                  <a:lnTo>
                    <a:pt x="8491321" y="45720"/>
                  </a:lnTo>
                  <a:lnTo>
                    <a:pt x="8503551" y="91440"/>
                  </a:lnTo>
                  <a:lnTo>
                    <a:pt x="8503920" y="2907360"/>
                  </a:lnTo>
                  <a:lnTo>
                    <a:pt x="8503119" y="2919367"/>
                  </a:lnTo>
                  <a:lnTo>
                    <a:pt x="8500765" y="2931034"/>
                  </a:lnTo>
                  <a:lnTo>
                    <a:pt x="8477229" y="2972120"/>
                  </a:lnTo>
                  <a:lnTo>
                    <a:pt x="8436144" y="2995652"/>
                  </a:lnTo>
                  <a:lnTo>
                    <a:pt x="91439" y="2999168"/>
                  </a:lnTo>
                  <a:lnTo>
                    <a:pt x="45719" y="2986925"/>
                  </a:lnTo>
                  <a:lnTo>
                    <a:pt x="12230" y="2953448"/>
                  </a:lnTo>
                  <a:lnTo>
                    <a:pt x="0" y="2907728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495" y="797663"/>
            <a:ext cx="7733030" cy="3868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6570">
              <a:lnSpc>
                <a:spcPct val="100000"/>
              </a:lnSpc>
              <a:spcBef>
                <a:spcPts val="100"/>
              </a:spcBef>
            </a:pPr>
            <a:r>
              <a:rPr sz="1000" i="1" spc="-90" dirty="0">
                <a:solidFill>
                  <a:srgbClr val="9FBFFF"/>
                </a:solidFill>
                <a:latin typeface="Arial"/>
                <a:cs typeface="Arial"/>
              </a:rPr>
              <a:t>The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most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important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file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in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your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Arial"/>
                <a:cs typeface="Arial"/>
              </a:rPr>
              <a:t>AI-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assisted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project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000" dirty="0">
              <a:latin typeface="Arial"/>
              <a:cs typeface="Arial"/>
            </a:endParaRPr>
          </a:p>
          <a:p>
            <a:pPr marL="20955">
              <a:lnSpc>
                <a:spcPct val="100000"/>
              </a:lnSpc>
            </a:pPr>
            <a:r>
              <a:rPr sz="1200" spc="225" dirty="0">
                <a:solidFill>
                  <a:srgbClr val="1D283A"/>
                </a:solidFill>
                <a:latin typeface="MingLiU_HKSCS-ExtB"/>
                <a:cs typeface="MingLiU_HKSCS-ExtB"/>
              </a:rPr>
              <a:t>📄</a:t>
            </a:r>
            <a:r>
              <a:rPr sz="1200" spc="-280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1050" spc="-10" dirty="0">
                <a:solidFill>
                  <a:srgbClr val="1D283A"/>
                </a:solidFill>
                <a:latin typeface="Calibri"/>
                <a:cs typeface="Calibri"/>
              </a:rPr>
              <a:t>CLAUDE.md</a:t>
            </a:r>
            <a:r>
              <a:rPr sz="1050" spc="-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83A"/>
                </a:solidFill>
                <a:latin typeface="Calibri"/>
                <a:cs typeface="Calibri"/>
              </a:rPr>
              <a:t>tells</a:t>
            </a:r>
            <a:r>
              <a:rPr sz="1050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83A"/>
                </a:solidFill>
                <a:latin typeface="Calibri"/>
                <a:cs typeface="Calibri"/>
              </a:rPr>
              <a:t>Claude</a:t>
            </a:r>
            <a:r>
              <a:rPr sz="10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83A"/>
                </a:solidFill>
                <a:latin typeface="Calibri"/>
                <a:cs typeface="Calibri"/>
              </a:rPr>
              <a:t>Code</a:t>
            </a:r>
            <a:r>
              <a:rPr sz="10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83A"/>
                </a:solidFill>
                <a:latin typeface="Calibri"/>
                <a:cs typeface="Calibri"/>
              </a:rPr>
              <a:t>about</a:t>
            </a:r>
            <a:r>
              <a:rPr sz="10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83A"/>
                </a:solidFill>
                <a:latin typeface="Calibri"/>
                <a:cs typeface="Calibri"/>
              </a:rPr>
              <a:t>your</a:t>
            </a:r>
            <a:r>
              <a:rPr sz="10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83A"/>
                </a:solidFill>
                <a:latin typeface="Calibri"/>
                <a:cs typeface="Calibri"/>
              </a:rPr>
              <a:t>project</a:t>
            </a:r>
            <a:r>
              <a:rPr sz="10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83A"/>
                </a:solidFill>
                <a:latin typeface="Calibri"/>
                <a:cs typeface="Calibri"/>
              </a:rPr>
              <a:t>—</a:t>
            </a:r>
            <a:r>
              <a:rPr sz="10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83A"/>
                </a:solidFill>
                <a:latin typeface="Calibri"/>
                <a:cs typeface="Calibri"/>
              </a:rPr>
              <a:t>architecture,</a:t>
            </a:r>
            <a:r>
              <a:rPr sz="10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83A"/>
                </a:solidFill>
                <a:latin typeface="Calibri"/>
                <a:cs typeface="Calibri"/>
              </a:rPr>
              <a:t>standards,</a:t>
            </a:r>
            <a:r>
              <a:rPr sz="10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83A"/>
                </a:solidFill>
                <a:latin typeface="Calibri"/>
                <a:cs typeface="Calibri"/>
              </a:rPr>
              <a:t>team</a:t>
            </a:r>
            <a:r>
              <a:rPr sz="10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83A"/>
                </a:solidFill>
                <a:latin typeface="Calibri"/>
                <a:cs typeface="Calibri"/>
              </a:rPr>
              <a:t>conventions,</a:t>
            </a:r>
            <a:r>
              <a:rPr sz="10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83A"/>
                </a:solidFill>
                <a:latin typeface="Calibri"/>
                <a:cs typeface="Calibri"/>
              </a:rPr>
              <a:t>and</a:t>
            </a:r>
            <a:r>
              <a:rPr sz="10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83A"/>
                </a:solidFill>
                <a:latin typeface="Calibri"/>
                <a:cs typeface="Calibri"/>
              </a:rPr>
              <a:t>constraints.</a:t>
            </a:r>
            <a:r>
              <a:rPr sz="10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83A"/>
                </a:solidFill>
                <a:latin typeface="Calibri"/>
                <a:cs typeface="Calibri"/>
              </a:rPr>
              <a:t>Read</a:t>
            </a:r>
            <a:r>
              <a:rPr sz="10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83A"/>
                </a:solidFill>
                <a:latin typeface="Calibri"/>
                <a:cs typeface="Calibri"/>
              </a:rPr>
              <a:t>at</a:t>
            </a:r>
            <a:r>
              <a:rPr sz="10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83A"/>
                </a:solidFill>
                <a:latin typeface="Calibri"/>
                <a:cs typeface="Calibri"/>
              </a:rPr>
              <a:t>every</a:t>
            </a:r>
            <a:r>
              <a:rPr sz="10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83A"/>
                </a:solidFill>
                <a:latin typeface="Calibri"/>
                <a:cs typeface="Calibri"/>
              </a:rPr>
              <a:t>session</a:t>
            </a:r>
            <a:r>
              <a:rPr sz="10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83A"/>
                </a:solidFill>
                <a:latin typeface="Calibri"/>
                <a:cs typeface="Calibri"/>
              </a:rPr>
              <a:t>start.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0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WAMY</a:t>
            </a:r>
            <a:r>
              <a:rPr sz="900" b="1" spc="-2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Finance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CLAUDE.md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—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 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by:</a:t>
            </a:r>
            <a:r>
              <a:rPr sz="900" b="1" spc="-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claude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/init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WAMY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NGO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Finance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Module</a:t>
            </a:r>
            <a:endParaRPr sz="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##</a:t>
            </a:r>
            <a:r>
              <a:rPr sz="800" spc="1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Project</a:t>
            </a:r>
            <a:endParaRPr sz="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SaaS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monolithic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ERP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|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Finance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module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|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Laravel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→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Spring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Boot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3.2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React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19</a:t>
            </a:r>
            <a:endParaRPr sz="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##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Tech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Stack</a:t>
            </a:r>
            <a:endParaRPr sz="800" dirty="0">
              <a:latin typeface="Courier New"/>
              <a:cs typeface="Courier New"/>
            </a:endParaRPr>
          </a:p>
          <a:p>
            <a:pPr marL="134620" indent="-121920">
              <a:lnSpc>
                <a:spcPct val="100000"/>
              </a:lnSpc>
              <a:spcBef>
                <a:spcPts val="25"/>
              </a:spcBef>
              <a:buChar char="-"/>
              <a:tabLst>
                <a:tab pos="134620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Backend: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Spring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Boot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3.2,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Java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21,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Maven,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Spring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Security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(JWT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RS256)</a:t>
            </a:r>
            <a:endParaRPr sz="800" dirty="0">
              <a:latin typeface="Courier New"/>
              <a:cs typeface="Courier New"/>
            </a:endParaRPr>
          </a:p>
          <a:p>
            <a:pPr marL="134620" indent="-121920">
              <a:lnSpc>
                <a:spcPct val="100000"/>
              </a:lnSpc>
              <a:spcBef>
                <a:spcPts val="25"/>
              </a:spcBef>
              <a:buChar char="-"/>
              <a:tabLst>
                <a:tab pos="134620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Frontend: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React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19,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TypeScript,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Vite,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TanStack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Query,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Recharts</a:t>
            </a:r>
            <a:endParaRPr sz="800" dirty="0">
              <a:latin typeface="Courier New"/>
              <a:cs typeface="Courier New"/>
            </a:endParaRPr>
          </a:p>
          <a:p>
            <a:pPr marL="134620" indent="-121920">
              <a:lnSpc>
                <a:spcPct val="100000"/>
              </a:lnSpc>
              <a:spcBef>
                <a:spcPts val="20"/>
              </a:spcBef>
              <a:buChar char="-"/>
              <a:tabLst>
                <a:tab pos="134620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Database: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MySQL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8.0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double-entry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accounting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schema</a:t>
            </a:r>
            <a:endParaRPr sz="800" dirty="0">
              <a:latin typeface="Courier New"/>
              <a:cs typeface="Courier New"/>
            </a:endParaRPr>
          </a:p>
          <a:p>
            <a:pPr marL="134620" indent="-121920">
              <a:lnSpc>
                <a:spcPct val="100000"/>
              </a:lnSpc>
              <a:spcBef>
                <a:spcPts val="25"/>
              </a:spcBef>
              <a:buChar char="-"/>
              <a:tabLst>
                <a:tab pos="134620" algn="l"/>
                <a:tab pos="756285" algn="l"/>
              </a:tabLst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DevOps: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	GitHub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Actions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CI/CD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→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Robi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Cloud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(Docker)</a:t>
            </a:r>
            <a:endParaRPr sz="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E1E7EF"/>
              </a:buClr>
              <a:buFont typeface="Courier New"/>
              <a:buChar char="-"/>
            </a:pPr>
            <a:endParaRPr sz="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##</a:t>
            </a:r>
            <a:r>
              <a:rPr sz="800" spc="1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Architecture</a:t>
            </a:r>
            <a:endParaRPr sz="800" dirty="0">
              <a:latin typeface="Courier New"/>
              <a:cs typeface="Courier New"/>
            </a:endParaRPr>
          </a:p>
          <a:p>
            <a:pPr marL="134620" indent="-121920">
              <a:lnSpc>
                <a:spcPct val="100000"/>
              </a:lnSpc>
              <a:spcBef>
                <a:spcPts val="25"/>
              </a:spcBef>
              <a:buChar char="-"/>
              <a:tabLst>
                <a:tab pos="134620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REST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API: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/api/v1/**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with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versioning</a:t>
            </a:r>
            <a:endParaRPr sz="800" dirty="0">
              <a:latin typeface="Courier New"/>
              <a:cs typeface="Courier New"/>
            </a:endParaRPr>
          </a:p>
          <a:p>
            <a:pPr marL="134620" indent="-121920">
              <a:lnSpc>
                <a:spcPct val="100000"/>
              </a:lnSpc>
              <a:spcBef>
                <a:spcPts val="25"/>
              </a:spcBef>
              <a:buChar char="-"/>
              <a:tabLst>
                <a:tab pos="134620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Auth: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JWT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Bearer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tokens,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roles: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ADMIN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|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FINANCE_MANAGER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|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ACCOUNTANT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|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AUDITOR</a:t>
            </a:r>
            <a:endParaRPr sz="800" dirty="0">
              <a:latin typeface="Courier New"/>
              <a:cs typeface="Courier New"/>
            </a:endParaRPr>
          </a:p>
          <a:p>
            <a:pPr marL="134620" indent="-121920">
              <a:lnSpc>
                <a:spcPct val="100000"/>
              </a:lnSpc>
              <a:spcBef>
                <a:spcPts val="20"/>
              </a:spcBef>
              <a:buChar char="-"/>
              <a:tabLst>
                <a:tab pos="134620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DB: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journal_entries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journal_lines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(double-entry),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chart_of_accounts,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projects</a:t>
            </a:r>
            <a:endParaRPr sz="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E1E7EF"/>
              </a:buClr>
              <a:buFont typeface="Courier New"/>
              <a:buChar char="-"/>
            </a:pPr>
            <a:endParaRPr sz="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##</a:t>
            </a:r>
            <a:r>
              <a:rPr sz="800" spc="1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Standards</a:t>
            </a:r>
            <a:endParaRPr sz="800" dirty="0">
              <a:latin typeface="Courier New"/>
              <a:cs typeface="Courier New"/>
            </a:endParaRPr>
          </a:p>
          <a:p>
            <a:pPr marL="134620" indent="-121920">
              <a:lnSpc>
                <a:spcPct val="100000"/>
              </a:lnSpc>
              <a:spcBef>
                <a:spcPts val="20"/>
              </a:spcBef>
              <a:buChar char="-"/>
              <a:tabLst>
                <a:tab pos="134620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Java: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Google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Java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Style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Guide,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Lombok,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MapStruct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DTOs</a:t>
            </a:r>
            <a:endParaRPr sz="800" dirty="0">
              <a:latin typeface="Courier New"/>
              <a:cs typeface="Courier New"/>
            </a:endParaRPr>
          </a:p>
          <a:p>
            <a:pPr marL="134620" indent="-121920">
              <a:lnSpc>
                <a:spcPct val="100000"/>
              </a:lnSpc>
              <a:spcBef>
                <a:spcPts val="25"/>
              </a:spcBef>
              <a:buChar char="-"/>
              <a:tabLst>
                <a:tab pos="134620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React: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ESLint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Airbnb,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Prettier,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component-per-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file</a:t>
            </a:r>
            <a:endParaRPr sz="800" dirty="0">
              <a:latin typeface="Courier New"/>
              <a:cs typeface="Courier New"/>
            </a:endParaRPr>
          </a:p>
          <a:p>
            <a:pPr marL="134620" indent="-121920">
              <a:lnSpc>
                <a:spcPct val="100000"/>
              </a:lnSpc>
              <a:spcBef>
                <a:spcPts val="25"/>
              </a:spcBef>
              <a:buChar char="-"/>
              <a:tabLst>
                <a:tab pos="134620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Tests: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JUnit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5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Mockito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(backend),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Vitest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Testing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Library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(frontend)</a:t>
            </a:r>
            <a:endParaRPr sz="800" dirty="0">
              <a:latin typeface="Courier New"/>
              <a:cs typeface="Courier New"/>
            </a:endParaRPr>
          </a:p>
          <a:p>
            <a:pPr marL="134620" indent="-121920">
              <a:lnSpc>
                <a:spcPct val="100000"/>
              </a:lnSpc>
              <a:spcBef>
                <a:spcPts val="25"/>
              </a:spcBef>
              <a:buChar char="-"/>
              <a:tabLst>
                <a:tab pos="134620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Every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POST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journal_entries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requires: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debit_total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==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credit_total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(enforced)</a:t>
            </a:r>
            <a:endParaRPr sz="800" dirty="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3016" y="4728845"/>
            <a:ext cx="8517255" cy="360680"/>
            <a:chOff x="313016" y="4656786"/>
            <a:chExt cx="8517255" cy="360680"/>
          </a:xfrm>
        </p:grpSpPr>
        <p:sp>
          <p:nvSpPr>
            <p:cNvPr id="13" name="object 13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44144" y="4829727"/>
            <a:ext cx="5768340" cy="17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Run</a:t>
            </a:r>
            <a:r>
              <a:rPr sz="950" spc="-5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'claude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/init'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on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your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project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once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Claude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Code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scans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all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files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and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generates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this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CLAUDE.md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automatically.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11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IDE</a:t>
            </a:r>
            <a:r>
              <a:rPr spc="-50" dirty="0"/>
              <a:t> </a:t>
            </a:r>
            <a:r>
              <a:rPr spc="-20" dirty="0"/>
              <a:t>Integration</a:t>
            </a:r>
            <a:r>
              <a:rPr spc="-35" dirty="0"/>
              <a:t> </a:t>
            </a:r>
            <a:r>
              <a:rPr dirty="0"/>
              <a:t>—</a:t>
            </a:r>
            <a:r>
              <a:rPr spc="-50" dirty="0"/>
              <a:t> </a:t>
            </a:r>
            <a:r>
              <a:rPr dirty="0"/>
              <a:t>VS</a:t>
            </a:r>
            <a:r>
              <a:rPr spc="-40" dirty="0"/>
              <a:t> </a:t>
            </a:r>
            <a:r>
              <a:rPr dirty="0"/>
              <a:t>Code</a:t>
            </a:r>
            <a:r>
              <a:rPr spc="-45" dirty="0"/>
              <a:t> </a:t>
            </a:r>
            <a:r>
              <a:rPr dirty="0"/>
              <a:t>+</a:t>
            </a:r>
            <a:r>
              <a:rPr spc="-40" dirty="0"/>
              <a:t> </a:t>
            </a:r>
            <a:r>
              <a:rPr dirty="0"/>
              <a:t>Claude</a:t>
            </a:r>
            <a:r>
              <a:rPr spc="-40" dirty="0"/>
              <a:t> </a:t>
            </a:r>
            <a:r>
              <a:rPr spc="-20" dirty="0"/>
              <a:t>Code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4" y="797663"/>
            <a:ext cx="327130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Inline </a:t>
            </a:r>
            <a:r>
              <a:rPr sz="1000" i="1" spc="-60" dirty="0">
                <a:solidFill>
                  <a:srgbClr val="9FBFFF"/>
                </a:solidFill>
                <a:latin typeface="+mn-lt"/>
                <a:cs typeface="Arial"/>
              </a:rPr>
              <a:t>suggestions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95" dirty="0">
                <a:solidFill>
                  <a:srgbClr val="9FBFFF"/>
                </a:solidFill>
                <a:latin typeface="Arial"/>
                <a:cs typeface="Arial"/>
              </a:rPr>
              <a:t>·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lang="en-US" sz="1000" i="1" spc="-25" dirty="0">
                <a:solidFill>
                  <a:srgbClr val="9FBFFF"/>
                </a:solidFill>
                <a:latin typeface="Arial"/>
                <a:cs typeface="Arial"/>
              </a:rPr>
              <a:t>Side panel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95" dirty="0">
                <a:solidFill>
                  <a:srgbClr val="9FBFFF"/>
                </a:solidFill>
                <a:latin typeface="Arial"/>
                <a:cs typeface="Arial"/>
              </a:rPr>
              <a:t>·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File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context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95" dirty="0">
                <a:solidFill>
                  <a:srgbClr val="9FBFFF"/>
                </a:solidFill>
                <a:latin typeface="Arial"/>
                <a:cs typeface="Arial"/>
              </a:rPr>
              <a:t>·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Diff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review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2277" y="1038227"/>
            <a:ext cx="2934335" cy="1635760"/>
            <a:chOff x="242277" y="1038227"/>
            <a:chExt cx="2934335" cy="16357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038227"/>
              <a:ext cx="2934004" cy="163513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19316" y="1115277"/>
              <a:ext cx="2743835" cy="1445260"/>
            </a:xfrm>
            <a:custGeom>
              <a:avLst/>
              <a:gdLst/>
              <a:ahLst/>
              <a:cxnLst/>
              <a:rect l="l" t="t" r="r" b="b"/>
              <a:pathLst>
                <a:path w="2743835" h="144526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335239"/>
                  </a:lnTo>
                  <a:lnTo>
                    <a:pt x="939" y="1349670"/>
                  </a:lnTo>
                  <a:lnTo>
                    <a:pt x="14770" y="1390319"/>
                  </a:lnTo>
                  <a:lnTo>
                    <a:pt x="22686" y="1402033"/>
                  </a:lnTo>
                  <a:lnTo>
                    <a:pt x="22788" y="1402183"/>
                  </a:lnTo>
                  <a:lnTo>
                    <a:pt x="55079" y="1430286"/>
                  </a:lnTo>
                  <a:lnTo>
                    <a:pt x="95379" y="1444104"/>
                  </a:lnTo>
                  <a:lnTo>
                    <a:pt x="109804" y="1445044"/>
                  </a:lnTo>
                  <a:lnTo>
                    <a:pt x="2633764" y="1445044"/>
                  </a:lnTo>
                  <a:lnTo>
                    <a:pt x="2675835" y="1436691"/>
                  </a:lnTo>
                  <a:lnTo>
                    <a:pt x="2711337" y="1412865"/>
                  </a:lnTo>
                  <a:lnTo>
                    <a:pt x="2735134" y="1377311"/>
                  </a:lnTo>
                  <a:lnTo>
                    <a:pt x="2743568" y="1335239"/>
                  </a:lnTo>
                  <a:lnTo>
                    <a:pt x="2743545" y="109804"/>
                  </a:lnTo>
                  <a:lnTo>
                    <a:pt x="2735210" y="68095"/>
                  </a:lnTo>
                  <a:lnTo>
                    <a:pt x="2711343" y="32535"/>
                  </a:lnTo>
                  <a:lnTo>
                    <a:pt x="2675685" y="8721"/>
                  </a:lnTo>
                  <a:lnTo>
                    <a:pt x="26337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9316" y="1115277"/>
              <a:ext cx="2743835" cy="1445260"/>
            </a:xfrm>
            <a:custGeom>
              <a:avLst/>
              <a:gdLst/>
              <a:ahLst/>
              <a:cxnLst/>
              <a:rect l="l" t="t" r="r" b="b"/>
              <a:pathLst>
                <a:path w="2743835" h="144526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633764" y="368"/>
                  </a:lnTo>
                  <a:lnTo>
                    <a:pt x="2675685" y="8721"/>
                  </a:lnTo>
                  <a:lnTo>
                    <a:pt x="2711343" y="32535"/>
                  </a:lnTo>
                  <a:lnTo>
                    <a:pt x="2735210" y="68095"/>
                  </a:lnTo>
                  <a:lnTo>
                    <a:pt x="2743568" y="110159"/>
                  </a:lnTo>
                  <a:lnTo>
                    <a:pt x="2743568" y="1335239"/>
                  </a:lnTo>
                  <a:lnTo>
                    <a:pt x="2742628" y="1349664"/>
                  </a:lnTo>
                  <a:lnTo>
                    <a:pt x="2739831" y="1363683"/>
                  </a:lnTo>
                  <a:lnTo>
                    <a:pt x="2720785" y="1402033"/>
                  </a:lnTo>
                  <a:lnTo>
                    <a:pt x="2688844" y="1430286"/>
                  </a:lnTo>
                  <a:lnTo>
                    <a:pt x="2648194" y="1444104"/>
                  </a:lnTo>
                  <a:lnTo>
                    <a:pt x="2633764" y="1445044"/>
                  </a:lnTo>
                  <a:lnTo>
                    <a:pt x="109804" y="1445044"/>
                  </a:lnTo>
                  <a:lnTo>
                    <a:pt x="67882" y="1436691"/>
                  </a:lnTo>
                  <a:lnTo>
                    <a:pt x="32224" y="1412865"/>
                  </a:lnTo>
                  <a:lnTo>
                    <a:pt x="8358" y="1377311"/>
                  </a:lnTo>
                  <a:lnTo>
                    <a:pt x="0" y="133523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66459" y="1245051"/>
            <a:ext cx="313106" cy="33791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spc="-910" dirty="0">
                <a:latin typeface="MingLiU_HKSCS-ExtB"/>
                <a:cs typeface="MingLiU_HKSCS-ExtB"/>
              </a:rPr>
              <a:t>✏️</a:t>
            </a:r>
            <a:endParaRPr sz="2100" dirty="0">
              <a:latin typeface="MingLiU_HKSCS-ExtB"/>
              <a:cs typeface="MingLiU_HKSCS-ExtB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2695" y="1265303"/>
            <a:ext cx="6083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Inline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 Edit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5495" y="1870457"/>
            <a:ext cx="23723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Select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code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→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Ctrl+K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→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describe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change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→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Claude</a:t>
            </a:r>
            <a:r>
              <a:rPr sz="90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edits</a:t>
            </a:r>
            <a:r>
              <a:rPr sz="900" spc="-3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inline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with</a:t>
            </a:r>
            <a:r>
              <a:rPr sz="900" spc="-3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diff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68357" y="1038227"/>
            <a:ext cx="2934335" cy="1635760"/>
            <a:chOff x="3168357" y="1038227"/>
            <a:chExt cx="2934335" cy="163576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8357" y="1038227"/>
              <a:ext cx="2934004" cy="163513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45396" y="1115277"/>
              <a:ext cx="2743835" cy="1445260"/>
            </a:xfrm>
            <a:custGeom>
              <a:avLst/>
              <a:gdLst/>
              <a:ahLst/>
              <a:cxnLst/>
              <a:rect l="l" t="t" r="r" b="b"/>
              <a:pathLst>
                <a:path w="2743835" h="144526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335239"/>
                  </a:lnTo>
                  <a:lnTo>
                    <a:pt x="939" y="1349670"/>
                  </a:lnTo>
                  <a:lnTo>
                    <a:pt x="14770" y="1390319"/>
                  </a:lnTo>
                  <a:lnTo>
                    <a:pt x="43011" y="1422266"/>
                  </a:lnTo>
                  <a:lnTo>
                    <a:pt x="81360" y="1441308"/>
                  </a:lnTo>
                  <a:lnTo>
                    <a:pt x="109804" y="1445044"/>
                  </a:lnTo>
                  <a:lnTo>
                    <a:pt x="2633764" y="1445044"/>
                  </a:lnTo>
                  <a:lnTo>
                    <a:pt x="2675835" y="1436691"/>
                  </a:lnTo>
                  <a:lnTo>
                    <a:pt x="2711337" y="1412865"/>
                  </a:lnTo>
                  <a:lnTo>
                    <a:pt x="2735134" y="1377311"/>
                  </a:lnTo>
                  <a:lnTo>
                    <a:pt x="2735210" y="1377161"/>
                  </a:lnTo>
                  <a:lnTo>
                    <a:pt x="2739816" y="1363727"/>
                  </a:lnTo>
                  <a:lnTo>
                    <a:pt x="2742627" y="1349670"/>
                  </a:lnTo>
                  <a:lnTo>
                    <a:pt x="2743568" y="1335239"/>
                  </a:lnTo>
                  <a:lnTo>
                    <a:pt x="2743545" y="109804"/>
                  </a:lnTo>
                  <a:lnTo>
                    <a:pt x="2735210" y="68095"/>
                  </a:lnTo>
                  <a:lnTo>
                    <a:pt x="2711343" y="32535"/>
                  </a:lnTo>
                  <a:lnTo>
                    <a:pt x="2675685" y="8721"/>
                  </a:lnTo>
                  <a:lnTo>
                    <a:pt x="26337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45396" y="1115277"/>
              <a:ext cx="2743835" cy="1445260"/>
            </a:xfrm>
            <a:custGeom>
              <a:avLst/>
              <a:gdLst/>
              <a:ahLst/>
              <a:cxnLst/>
              <a:rect l="l" t="t" r="r" b="b"/>
              <a:pathLst>
                <a:path w="2743835" h="144526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633764" y="368"/>
                  </a:lnTo>
                  <a:lnTo>
                    <a:pt x="2675685" y="8721"/>
                  </a:lnTo>
                  <a:lnTo>
                    <a:pt x="2711343" y="32535"/>
                  </a:lnTo>
                  <a:lnTo>
                    <a:pt x="2735210" y="68095"/>
                  </a:lnTo>
                  <a:lnTo>
                    <a:pt x="2743568" y="110159"/>
                  </a:lnTo>
                  <a:lnTo>
                    <a:pt x="2743568" y="1335239"/>
                  </a:lnTo>
                  <a:lnTo>
                    <a:pt x="2742628" y="1349664"/>
                  </a:lnTo>
                  <a:lnTo>
                    <a:pt x="2739831" y="1363683"/>
                  </a:lnTo>
                  <a:lnTo>
                    <a:pt x="2720785" y="1402033"/>
                  </a:lnTo>
                  <a:lnTo>
                    <a:pt x="2688843" y="1430286"/>
                  </a:lnTo>
                  <a:lnTo>
                    <a:pt x="2648194" y="1444104"/>
                  </a:lnTo>
                  <a:lnTo>
                    <a:pt x="2633764" y="1445044"/>
                  </a:lnTo>
                  <a:lnTo>
                    <a:pt x="109804" y="1445044"/>
                  </a:lnTo>
                  <a:lnTo>
                    <a:pt x="67882" y="1436691"/>
                  </a:lnTo>
                  <a:lnTo>
                    <a:pt x="32224" y="1412865"/>
                  </a:lnTo>
                  <a:lnTo>
                    <a:pt x="8358" y="1377311"/>
                  </a:lnTo>
                  <a:lnTo>
                    <a:pt x="0" y="133523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818775" y="1265303"/>
            <a:ext cx="6235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Side</a:t>
            </a:r>
            <a:r>
              <a:rPr sz="1100" b="1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Panel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61575" y="1870457"/>
            <a:ext cx="23533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Ctrl+Shift+C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→ full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conversation</a:t>
            </a:r>
            <a:r>
              <a:rPr sz="90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with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code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context</a:t>
            </a:r>
            <a:r>
              <a:rPr sz="90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always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available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94438" y="1038227"/>
            <a:ext cx="2934335" cy="1635760"/>
            <a:chOff x="6094438" y="1038227"/>
            <a:chExt cx="2934335" cy="163576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4438" y="1038227"/>
              <a:ext cx="2934004" cy="163513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71476" y="1115277"/>
              <a:ext cx="2743835" cy="1445260"/>
            </a:xfrm>
            <a:custGeom>
              <a:avLst/>
              <a:gdLst/>
              <a:ahLst/>
              <a:cxnLst/>
              <a:rect l="l" t="t" r="r" b="b"/>
              <a:pathLst>
                <a:path w="2743834" h="144526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335239"/>
                  </a:lnTo>
                  <a:lnTo>
                    <a:pt x="939" y="1349670"/>
                  </a:lnTo>
                  <a:lnTo>
                    <a:pt x="14770" y="1390319"/>
                  </a:lnTo>
                  <a:lnTo>
                    <a:pt x="43011" y="1422266"/>
                  </a:lnTo>
                  <a:lnTo>
                    <a:pt x="81360" y="1441308"/>
                  </a:lnTo>
                  <a:lnTo>
                    <a:pt x="109804" y="1445044"/>
                  </a:lnTo>
                  <a:lnTo>
                    <a:pt x="2633764" y="1445044"/>
                  </a:lnTo>
                  <a:lnTo>
                    <a:pt x="2675835" y="1436691"/>
                  </a:lnTo>
                  <a:lnTo>
                    <a:pt x="2711337" y="1412865"/>
                  </a:lnTo>
                  <a:lnTo>
                    <a:pt x="2735134" y="1377311"/>
                  </a:lnTo>
                  <a:lnTo>
                    <a:pt x="2735210" y="1377161"/>
                  </a:lnTo>
                  <a:lnTo>
                    <a:pt x="2739816" y="1363727"/>
                  </a:lnTo>
                  <a:lnTo>
                    <a:pt x="2742627" y="1349670"/>
                  </a:lnTo>
                  <a:lnTo>
                    <a:pt x="2743568" y="1335239"/>
                  </a:lnTo>
                  <a:lnTo>
                    <a:pt x="2743545" y="109804"/>
                  </a:lnTo>
                  <a:lnTo>
                    <a:pt x="2735210" y="68095"/>
                  </a:lnTo>
                  <a:lnTo>
                    <a:pt x="2711343" y="32535"/>
                  </a:lnTo>
                  <a:lnTo>
                    <a:pt x="2675685" y="8721"/>
                  </a:lnTo>
                  <a:lnTo>
                    <a:pt x="26337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6171476" y="1115277"/>
              <a:ext cx="2743835" cy="1445260"/>
            </a:xfrm>
            <a:custGeom>
              <a:avLst/>
              <a:gdLst/>
              <a:ahLst/>
              <a:cxnLst/>
              <a:rect l="l" t="t" r="r" b="b"/>
              <a:pathLst>
                <a:path w="2743834" h="144526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633764" y="368"/>
                  </a:lnTo>
                  <a:lnTo>
                    <a:pt x="2675685" y="8721"/>
                  </a:lnTo>
                  <a:lnTo>
                    <a:pt x="2711343" y="32535"/>
                  </a:lnTo>
                  <a:lnTo>
                    <a:pt x="2735210" y="68095"/>
                  </a:lnTo>
                  <a:lnTo>
                    <a:pt x="2743568" y="110159"/>
                  </a:lnTo>
                  <a:lnTo>
                    <a:pt x="2743568" y="1335239"/>
                  </a:lnTo>
                  <a:lnTo>
                    <a:pt x="2742628" y="1349664"/>
                  </a:lnTo>
                  <a:lnTo>
                    <a:pt x="2739831" y="1363683"/>
                  </a:lnTo>
                  <a:lnTo>
                    <a:pt x="2720785" y="1402033"/>
                  </a:lnTo>
                  <a:lnTo>
                    <a:pt x="2688844" y="1430286"/>
                  </a:lnTo>
                  <a:lnTo>
                    <a:pt x="2648194" y="1444104"/>
                  </a:lnTo>
                  <a:lnTo>
                    <a:pt x="2633764" y="1445044"/>
                  </a:lnTo>
                  <a:lnTo>
                    <a:pt x="109804" y="1445044"/>
                  </a:lnTo>
                  <a:lnTo>
                    <a:pt x="67882" y="1436691"/>
                  </a:lnTo>
                  <a:lnTo>
                    <a:pt x="32224" y="1412865"/>
                  </a:lnTo>
                  <a:lnTo>
                    <a:pt x="8358" y="1377311"/>
                  </a:lnTo>
                  <a:lnTo>
                    <a:pt x="0" y="133523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392538" y="1245051"/>
            <a:ext cx="1789062" cy="66107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938145" algn="l"/>
              </a:tabLst>
            </a:pPr>
            <a:r>
              <a:rPr sz="2100" spc="305" dirty="0">
                <a:latin typeface="MingLiU_HKSCS-ExtB"/>
                <a:cs typeface="MingLiU_HKSCS-ExtB"/>
              </a:rPr>
              <a:t>💬</a:t>
            </a:r>
            <a:r>
              <a:rPr sz="2100" dirty="0">
                <a:latin typeface="MingLiU_HKSCS-ExtB"/>
                <a:cs typeface="MingLiU_HKSCS-ExtB"/>
              </a:rPr>
              <a:t>	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171476" y="1265303"/>
            <a:ext cx="198192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spc="295" dirty="0">
                <a:latin typeface="MingLiU_HKSCS-ExtB"/>
                <a:cs typeface="MingLiU_HKSCS-ExtB"/>
              </a:rPr>
              <a:t>📁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File</a:t>
            </a:r>
            <a:r>
              <a:rPr sz="110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Context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87655" y="1870457"/>
            <a:ext cx="2310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@filename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in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chat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→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adds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file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to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context;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/add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to</a:t>
            </a:r>
            <a:r>
              <a:rPr sz="90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bulk-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add</a:t>
            </a:r>
            <a:r>
              <a:rPr sz="900" spc="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folders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42277" y="2611071"/>
            <a:ext cx="2934335" cy="1635125"/>
            <a:chOff x="242277" y="2611071"/>
            <a:chExt cx="2934335" cy="163512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2611071"/>
              <a:ext cx="2934004" cy="163512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19316" y="2688122"/>
              <a:ext cx="2743835" cy="1445260"/>
            </a:xfrm>
            <a:custGeom>
              <a:avLst/>
              <a:gdLst/>
              <a:ahLst/>
              <a:cxnLst/>
              <a:rect l="l" t="t" r="r" b="b"/>
              <a:pathLst>
                <a:path w="2743835" h="1445260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335239"/>
                  </a:lnTo>
                  <a:lnTo>
                    <a:pt x="939" y="1349670"/>
                  </a:lnTo>
                  <a:lnTo>
                    <a:pt x="14770" y="1390319"/>
                  </a:lnTo>
                  <a:lnTo>
                    <a:pt x="43011" y="1422261"/>
                  </a:lnTo>
                  <a:lnTo>
                    <a:pt x="81360" y="1441307"/>
                  </a:lnTo>
                  <a:lnTo>
                    <a:pt x="109804" y="1445044"/>
                  </a:lnTo>
                  <a:lnTo>
                    <a:pt x="2633764" y="1445044"/>
                  </a:lnTo>
                  <a:lnTo>
                    <a:pt x="2675835" y="1436685"/>
                  </a:lnTo>
                  <a:lnTo>
                    <a:pt x="2711337" y="1412863"/>
                  </a:lnTo>
                  <a:lnTo>
                    <a:pt x="2735134" y="1377311"/>
                  </a:lnTo>
                  <a:lnTo>
                    <a:pt x="2743568" y="1335239"/>
                  </a:lnTo>
                  <a:lnTo>
                    <a:pt x="2743545" y="109804"/>
                  </a:lnTo>
                  <a:lnTo>
                    <a:pt x="2735210" y="68088"/>
                  </a:lnTo>
                  <a:lnTo>
                    <a:pt x="2711343" y="32535"/>
                  </a:lnTo>
                  <a:lnTo>
                    <a:pt x="2675685" y="8713"/>
                  </a:lnTo>
                  <a:lnTo>
                    <a:pt x="2633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19316" y="2688122"/>
              <a:ext cx="2743835" cy="1445260"/>
            </a:xfrm>
            <a:custGeom>
              <a:avLst/>
              <a:gdLst/>
              <a:ahLst/>
              <a:cxnLst/>
              <a:rect l="l" t="t" r="r" b="b"/>
              <a:pathLst>
                <a:path w="2743835" h="144526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633764" y="355"/>
                  </a:lnTo>
                  <a:lnTo>
                    <a:pt x="2675685" y="8713"/>
                  </a:lnTo>
                  <a:lnTo>
                    <a:pt x="2711343" y="32535"/>
                  </a:lnTo>
                  <a:lnTo>
                    <a:pt x="2735210" y="68088"/>
                  </a:lnTo>
                  <a:lnTo>
                    <a:pt x="2743568" y="110159"/>
                  </a:lnTo>
                  <a:lnTo>
                    <a:pt x="2743568" y="1335239"/>
                  </a:lnTo>
                  <a:lnTo>
                    <a:pt x="2742628" y="1349664"/>
                  </a:lnTo>
                  <a:lnTo>
                    <a:pt x="2739831" y="1363683"/>
                  </a:lnTo>
                  <a:lnTo>
                    <a:pt x="2720785" y="1402032"/>
                  </a:lnTo>
                  <a:lnTo>
                    <a:pt x="2688844" y="1430274"/>
                  </a:lnTo>
                  <a:lnTo>
                    <a:pt x="2648194" y="1444104"/>
                  </a:lnTo>
                  <a:lnTo>
                    <a:pt x="2633764" y="1445044"/>
                  </a:lnTo>
                  <a:lnTo>
                    <a:pt x="109804" y="1445044"/>
                  </a:lnTo>
                  <a:lnTo>
                    <a:pt x="67882" y="1436685"/>
                  </a:lnTo>
                  <a:lnTo>
                    <a:pt x="32224" y="1412863"/>
                  </a:lnTo>
                  <a:lnTo>
                    <a:pt x="8358" y="1377311"/>
                  </a:lnTo>
                  <a:lnTo>
                    <a:pt x="0" y="133523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66458" y="2817895"/>
            <a:ext cx="33972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spc="305" dirty="0">
                <a:latin typeface="MingLiU_HKSCS-ExtB"/>
                <a:cs typeface="MingLiU_HKSCS-ExtB"/>
              </a:rPr>
              <a:t>🔍</a:t>
            </a:r>
            <a:endParaRPr sz="2100">
              <a:latin typeface="MingLiU_HKSCS-ExtB"/>
              <a:cs typeface="MingLiU_HKSCS-ExtB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92695" y="2838147"/>
            <a:ext cx="6838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Diff</a:t>
            </a:r>
            <a:r>
              <a:rPr sz="1100" b="1" spc="-6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Review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5495" y="3443302"/>
            <a:ext cx="23787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Every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change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shown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as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diff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accept/reject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line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by</a:t>
            </a:r>
            <a:r>
              <a:rPr sz="90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line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or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all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at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once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168357" y="2611071"/>
            <a:ext cx="2934335" cy="1635125"/>
            <a:chOff x="3168357" y="2611071"/>
            <a:chExt cx="2934335" cy="1635125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8357" y="2611071"/>
              <a:ext cx="2934004" cy="163512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245396" y="2688122"/>
              <a:ext cx="2743835" cy="1445260"/>
            </a:xfrm>
            <a:custGeom>
              <a:avLst/>
              <a:gdLst/>
              <a:ahLst/>
              <a:cxnLst/>
              <a:rect l="l" t="t" r="r" b="b"/>
              <a:pathLst>
                <a:path w="2743835" h="1445260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335239"/>
                  </a:lnTo>
                  <a:lnTo>
                    <a:pt x="939" y="1349670"/>
                  </a:lnTo>
                  <a:lnTo>
                    <a:pt x="14770" y="1390319"/>
                  </a:lnTo>
                  <a:lnTo>
                    <a:pt x="22686" y="1402032"/>
                  </a:lnTo>
                  <a:lnTo>
                    <a:pt x="22788" y="1402182"/>
                  </a:lnTo>
                  <a:lnTo>
                    <a:pt x="55079" y="1430274"/>
                  </a:lnTo>
                  <a:lnTo>
                    <a:pt x="95379" y="1444104"/>
                  </a:lnTo>
                  <a:lnTo>
                    <a:pt x="109804" y="1445044"/>
                  </a:lnTo>
                  <a:lnTo>
                    <a:pt x="2633764" y="1445044"/>
                  </a:lnTo>
                  <a:lnTo>
                    <a:pt x="2675835" y="1436685"/>
                  </a:lnTo>
                  <a:lnTo>
                    <a:pt x="2711337" y="1412863"/>
                  </a:lnTo>
                  <a:lnTo>
                    <a:pt x="2735134" y="1377311"/>
                  </a:lnTo>
                  <a:lnTo>
                    <a:pt x="2743568" y="1335239"/>
                  </a:lnTo>
                  <a:lnTo>
                    <a:pt x="2743545" y="109804"/>
                  </a:lnTo>
                  <a:lnTo>
                    <a:pt x="2735210" y="68088"/>
                  </a:lnTo>
                  <a:lnTo>
                    <a:pt x="2711343" y="32535"/>
                  </a:lnTo>
                  <a:lnTo>
                    <a:pt x="2675685" y="8713"/>
                  </a:lnTo>
                  <a:lnTo>
                    <a:pt x="2633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45396" y="2688122"/>
              <a:ext cx="2743835" cy="1445260"/>
            </a:xfrm>
            <a:custGeom>
              <a:avLst/>
              <a:gdLst/>
              <a:ahLst/>
              <a:cxnLst/>
              <a:rect l="l" t="t" r="r" b="b"/>
              <a:pathLst>
                <a:path w="2743835" h="144526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633764" y="355"/>
                  </a:lnTo>
                  <a:lnTo>
                    <a:pt x="2675685" y="8713"/>
                  </a:lnTo>
                  <a:lnTo>
                    <a:pt x="2711343" y="32535"/>
                  </a:lnTo>
                  <a:lnTo>
                    <a:pt x="2735210" y="68088"/>
                  </a:lnTo>
                  <a:lnTo>
                    <a:pt x="2743568" y="110159"/>
                  </a:lnTo>
                  <a:lnTo>
                    <a:pt x="2743568" y="1335239"/>
                  </a:lnTo>
                  <a:lnTo>
                    <a:pt x="2742628" y="1349664"/>
                  </a:lnTo>
                  <a:lnTo>
                    <a:pt x="2739831" y="1363683"/>
                  </a:lnTo>
                  <a:lnTo>
                    <a:pt x="2720785" y="1402032"/>
                  </a:lnTo>
                  <a:lnTo>
                    <a:pt x="2688843" y="1430274"/>
                  </a:lnTo>
                  <a:lnTo>
                    <a:pt x="2648194" y="1444104"/>
                  </a:lnTo>
                  <a:lnTo>
                    <a:pt x="2633764" y="1445044"/>
                  </a:lnTo>
                  <a:lnTo>
                    <a:pt x="109804" y="1445044"/>
                  </a:lnTo>
                  <a:lnTo>
                    <a:pt x="67882" y="1436685"/>
                  </a:lnTo>
                  <a:lnTo>
                    <a:pt x="32224" y="1412863"/>
                  </a:lnTo>
                  <a:lnTo>
                    <a:pt x="8358" y="1377311"/>
                  </a:lnTo>
                  <a:lnTo>
                    <a:pt x="0" y="133523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392538" y="2817895"/>
            <a:ext cx="33972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spc="305" dirty="0">
                <a:latin typeface="MingLiU_HKSCS-ExtB"/>
                <a:cs typeface="MingLiU_HKSCS-ExtB"/>
              </a:rPr>
              <a:t>⚡</a:t>
            </a:r>
            <a:endParaRPr sz="2100">
              <a:latin typeface="MingLiU_HKSCS-ExtB"/>
              <a:cs typeface="MingLiU_HKSCS-ExtB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18775" y="2838147"/>
            <a:ext cx="5511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Quick</a:t>
            </a:r>
            <a:r>
              <a:rPr sz="1100" b="1" spc="-25" dirty="0">
                <a:solidFill>
                  <a:srgbClr val="1D283A"/>
                </a:solidFill>
                <a:latin typeface="Calibri"/>
                <a:cs typeface="Calibri"/>
              </a:rPr>
              <a:t> Fix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361575" y="3443302"/>
            <a:ext cx="22771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Red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squiggle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→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'Fix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with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Claude'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→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Claude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reads</a:t>
            </a:r>
            <a:r>
              <a:rPr sz="90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error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900" spc="-3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proposes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fix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094438" y="2611071"/>
            <a:ext cx="2934335" cy="1635125"/>
            <a:chOff x="6094438" y="2611071"/>
            <a:chExt cx="2934335" cy="1635125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4438" y="2611071"/>
              <a:ext cx="2934004" cy="163512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171476" y="2688122"/>
              <a:ext cx="2743835" cy="1445260"/>
            </a:xfrm>
            <a:custGeom>
              <a:avLst/>
              <a:gdLst/>
              <a:ahLst/>
              <a:cxnLst/>
              <a:rect l="l" t="t" r="r" b="b"/>
              <a:pathLst>
                <a:path w="2743834" h="1445260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335239"/>
                  </a:lnTo>
                  <a:lnTo>
                    <a:pt x="939" y="1349670"/>
                  </a:lnTo>
                  <a:lnTo>
                    <a:pt x="14770" y="1390319"/>
                  </a:lnTo>
                  <a:lnTo>
                    <a:pt x="22686" y="1402032"/>
                  </a:lnTo>
                  <a:lnTo>
                    <a:pt x="22788" y="1402182"/>
                  </a:lnTo>
                  <a:lnTo>
                    <a:pt x="55079" y="1430274"/>
                  </a:lnTo>
                  <a:lnTo>
                    <a:pt x="95379" y="1444104"/>
                  </a:lnTo>
                  <a:lnTo>
                    <a:pt x="109804" y="1445044"/>
                  </a:lnTo>
                  <a:lnTo>
                    <a:pt x="2633764" y="1445044"/>
                  </a:lnTo>
                  <a:lnTo>
                    <a:pt x="2675835" y="1436685"/>
                  </a:lnTo>
                  <a:lnTo>
                    <a:pt x="2711337" y="1412863"/>
                  </a:lnTo>
                  <a:lnTo>
                    <a:pt x="2735134" y="1377311"/>
                  </a:lnTo>
                  <a:lnTo>
                    <a:pt x="2743568" y="1335239"/>
                  </a:lnTo>
                  <a:lnTo>
                    <a:pt x="2743545" y="109804"/>
                  </a:lnTo>
                  <a:lnTo>
                    <a:pt x="2735210" y="68088"/>
                  </a:lnTo>
                  <a:lnTo>
                    <a:pt x="2711343" y="32535"/>
                  </a:lnTo>
                  <a:lnTo>
                    <a:pt x="2675685" y="8713"/>
                  </a:lnTo>
                  <a:lnTo>
                    <a:pt x="2633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171476" y="2688122"/>
              <a:ext cx="2743835" cy="1445260"/>
            </a:xfrm>
            <a:custGeom>
              <a:avLst/>
              <a:gdLst/>
              <a:ahLst/>
              <a:cxnLst/>
              <a:rect l="l" t="t" r="r" b="b"/>
              <a:pathLst>
                <a:path w="2743834" h="144526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633764" y="355"/>
                  </a:lnTo>
                  <a:lnTo>
                    <a:pt x="2675685" y="8713"/>
                  </a:lnTo>
                  <a:lnTo>
                    <a:pt x="2711343" y="32535"/>
                  </a:lnTo>
                  <a:lnTo>
                    <a:pt x="2735210" y="68088"/>
                  </a:lnTo>
                  <a:lnTo>
                    <a:pt x="2743568" y="110159"/>
                  </a:lnTo>
                  <a:lnTo>
                    <a:pt x="2743568" y="1335239"/>
                  </a:lnTo>
                  <a:lnTo>
                    <a:pt x="2742628" y="1349664"/>
                  </a:lnTo>
                  <a:lnTo>
                    <a:pt x="2739831" y="1363683"/>
                  </a:lnTo>
                  <a:lnTo>
                    <a:pt x="2720785" y="1402032"/>
                  </a:lnTo>
                  <a:lnTo>
                    <a:pt x="2688844" y="1430274"/>
                  </a:lnTo>
                  <a:lnTo>
                    <a:pt x="2648194" y="1444104"/>
                  </a:lnTo>
                  <a:lnTo>
                    <a:pt x="2633764" y="1445044"/>
                  </a:lnTo>
                  <a:lnTo>
                    <a:pt x="109804" y="1445044"/>
                  </a:lnTo>
                  <a:lnTo>
                    <a:pt x="67882" y="1436685"/>
                  </a:lnTo>
                  <a:lnTo>
                    <a:pt x="32224" y="1412863"/>
                  </a:lnTo>
                  <a:lnTo>
                    <a:pt x="8358" y="1377311"/>
                  </a:lnTo>
                  <a:lnTo>
                    <a:pt x="0" y="133523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318618" y="2817895"/>
            <a:ext cx="33972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spc="305" dirty="0">
                <a:latin typeface="MingLiU_HKSCS-ExtB"/>
                <a:cs typeface="MingLiU_HKSCS-ExtB"/>
              </a:rPr>
              <a:t>🧪</a:t>
            </a:r>
            <a:endParaRPr sz="2100">
              <a:latin typeface="MingLiU_HKSCS-ExtB"/>
              <a:cs typeface="MingLiU_HKSCS-ExtB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744855" y="2838147"/>
            <a:ext cx="7118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r>
              <a:rPr sz="1100" b="1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Runner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287655" y="3443302"/>
            <a:ext cx="22847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'Run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tests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with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Claude'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→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Claude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reads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failures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90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proposes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fixes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automatically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47" name="object 47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44144" y="4757668"/>
            <a:ext cx="6427470" cy="17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Tip:</a:t>
            </a:r>
            <a:r>
              <a:rPr sz="950" spc="-5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install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both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'Claude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Code'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VS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Code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extension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AND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use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terminal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terminal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is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more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powerful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for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multi-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file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tasks.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12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Prompt</a:t>
            </a:r>
            <a:r>
              <a:rPr spc="-70" dirty="0"/>
              <a:t> </a:t>
            </a:r>
            <a:r>
              <a:rPr spc="-25" dirty="0"/>
              <a:t>Patterns</a:t>
            </a:r>
            <a:r>
              <a:rPr spc="-75" dirty="0"/>
              <a:t> </a:t>
            </a:r>
            <a:r>
              <a:rPr dirty="0"/>
              <a:t>That</a:t>
            </a:r>
            <a:r>
              <a:rPr spc="-80" dirty="0"/>
              <a:t> </a:t>
            </a:r>
            <a:r>
              <a:rPr spc="-20" dirty="0"/>
              <a:t>Work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42277" y="1038227"/>
            <a:ext cx="8695055" cy="1727200"/>
            <a:chOff x="242277" y="1038227"/>
            <a:chExt cx="8695055" cy="1727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038227"/>
              <a:ext cx="8694724" cy="172657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9316" y="1115277"/>
              <a:ext cx="8504555" cy="1536700"/>
            </a:xfrm>
            <a:custGeom>
              <a:avLst/>
              <a:gdLst/>
              <a:ahLst/>
              <a:cxnLst/>
              <a:rect l="l" t="t" r="r" b="b"/>
              <a:pathLst>
                <a:path w="8504555" h="153670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426679"/>
                  </a:lnTo>
                  <a:lnTo>
                    <a:pt x="939" y="1441110"/>
                  </a:lnTo>
                  <a:lnTo>
                    <a:pt x="3736" y="1455167"/>
                  </a:lnTo>
                  <a:lnTo>
                    <a:pt x="8307" y="1468601"/>
                  </a:lnTo>
                  <a:lnTo>
                    <a:pt x="8358" y="1468751"/>
                  </a:lnTo>
                  <a:lnTo>
                    <a:pt x="14770" y="1481759"/>
                  </a:lnTo>
                  <a:lnTo>
                    <a:pt x="22686" y="1493473"/>
                  </a:lnTo>
                  <a:lnTo>
                    <a:pt x="22788" y="1493623"/>
                  </a:lnTo>
                  <a:lnTo>
                    <a:pt x="55079" y="1521726"/>
                  </a:lnTo>
                  <a:lnTo>
                    <a:pt x="95379" y="1535544"/>
                  </a:lnTo>
                  <a:lnTo>
                    <a:pt x="109804" y="1536484"/>
                  </a:lnTo>
                  <a:lnTo>
                    <a:pt x="8394484" y="1536484"/>
                  </a:lnTo>
                  <a:lnTo>
                    <a:pt x="8436555" y="1528131"/>
                  </a:lnTo>
                  <a:lnTo>
                    <a:pt x="8472057" y="1504305"/>
                  </a:lnTo>
                  <a:lnTo>
                    <a:pt x="8495854" y="1468751"/>
                  </a:lnTo>
                  <a:lnTo>
                    <a:pt x="8495930" y="1468601"/>
                  </a:lnTo>
                  <a:lnTo>
                    <a:pt x="8500536" y="1455167"/>
                  </a:lnTo>
                  <a:lnTo>
                    <a:pt x="8503347" y="1441110"/>
                  </a:lnTo>
                  <a:lnTo>
                    <a:pt x="8504288" y="1426679"/>
                  </a:lnTo>
                  <a:lnTo>
                    <a:pt x="8504265" y="109804"/>
                  </a:lnTo>
                  <a:lnTo>
                    <a:pt x="8495930" y="68095"/>
                  </a:lnTo>
                  <a:lnTo>
                    <a:pt x="8472063" y="32535"/>
                  </a:lnTo>
                  <a:lnTo>
                    <a:pt x="8436405" y="8721"/>
                  </a:lnTo>
                  <a:lnTo>
                    <a:pt x="839448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D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9316" y="1115277"/>
              <a:ext cx="8504555" cy="1536700"/>
            </a:xfrm>
            <a:custGeom>
              <a:avLst/>
              <a:gdLst/>
              <a:ahLst/>
              <a:cxnLst/>
              <a:rect l="l" t="t" r="r" b="b"/>
              <a:pathLst>
                <a:path w="8504555" h="153670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68"/>
                  </a:lnTo>
                  <a:lnTo>
                    <a:pt x="8436405" y="8721"/>
                  </a:lnTo>
                  <a:lnTo>
                    <a:pt x="8472063" y="32535"/>
                  </a:lnTo>
                  <a:lnTo>
                    <a:pt x="8495930" y="68095"/>
                  </a:lnTo>
                  <a:lnTo>
                    <a:pt x="8504288" y="110159"/>
                  </a:lnTo>
                  <a:lnTo>
                    <a:pt x="8504288" y="1426679"/>
                  </a:lnTo>
                  <a:lnTo>
                    <a:pt x="8503348" y="1441104"/>
                  </a:lnTo>
                  <a:lnTo>
                    <a:pt x="8500551" y="1455123"/>
                  </a:lnTo>
                  <a:lnTo>
                    <a:pt x="8481505" y="1493473"/>
                  </a:lnTo>
                  <a:lnTo>
                    <a:pt x="8449564" y="1521726"/>
                  </a:lnTo>
                  <a:lnTo>
                    <a:pt x="8408914" y="1535544"/>
                  </a:lnTo>
                  <a:lnTo>
                    <a:pt x="8394484" y="1536484"/>
                  </a:lnTo>
                  <a:lnTo>
                    <a:pt x="109804" y="1536484"/>
                  </a:lnTo>
                  <a:lnTo>
                    <a:pt x="67882" y="1528131"/>
                  </a:lnTo>
                  <a:lnTo>
                    <a:pt x="32224" y="1504305"/>
                  </a:lnTo>
                  <a:lnTo>
                    <a:pt x="8358" y="1468751"/>
                  </a:lnTo>
                  <a:lnTo>
                    <a:pt x="0" y="142667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0039" y="1115646"/>
              <a:ext cx="713740" cy="292735"/>
            </a:xfrm>
            <a:custGeom>
              <a:avLst/>
              <a:gdLst/>
              <a:ahLst/>
              <a:cxnLst/>
              <a:rect l="l" t="t" r="r" b="b"/>
              <a:pathLst>
                <a:path w="713740" h="292734">
                  <a:moveTo>
                    <a:pt x="621360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201231"/>
                  </a:lnTo>
                  <a:lnTo>
                    <a:pt x="774" y="212880"/>
                  </a:lnTo>
                  <a:lnTo>
                    <a:pt x="798" y="213238"/>
                  </a:lnTo>
                  <a:lnTo>
                    <a:pt x="3076" y="224545"/>
                  </a:lnTo>
                  <a:lnTo>
                    <a:pt x="3149" y="224905"/>
                  </a:lnTo>
                  <a:lnTo>
                    <a:pt x="26681" y="265991"/>
                  </a:lnTo>
                  <a:lnTo>
                    <a:pt x="67770" y="289523"/>
                  </a:lnTo>
                  <a:lnTo>
                    <a:pt x="91439" y="292671"/>
                  </a:lnTo>
                  <a:lnTo>
                    <a:pt x="621715" y="292315"/>
                  </a:lnTo>
                  <a:lnTo>
                    <a:pt x="667435" y="280073"/>
                  </a:lnTo>
                  <a:lnTo>
                    <a:pt x="700925" y="246595"/>
                  </a:lnTo>
                  <a:lnTo>
                    <a:pt x="713132" y="201231"/>
                  </a:lnTo>
                  <a:lnTo>
                    <a:pt x="713155" y="200875"/>
                  </a:lnTo>
                  <a:lnTo>
                    <a:pt x="712800" y="91439"/>
                  </a:lnTo>
                  <a:lnTo>
                    <a:pt x="700557" y="45720"/>
                  </a:lnTo>
                  <a:lnTo>
                    <a:pt x="667080" y="12230"/>
                  </a:lnTo>
                  <a:lnTo>
                    <a:pt x="633365" y="798"/>
                  </a:lnTo>
                  <a:lnTo>
                    <a:pt x="621360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8822" y="797663"/>
            <a:ext cx="3716654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100"/>
              </a:spcBef>
            </a:pP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How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9FBFFF"/>
                </a:solidFill>
                <a:latin typeface="Arial"/>
                <a:cs typeface="Arial"/>
              </a:rPr>
              <a:t>to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write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prompts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9FBFFF"/>
                </a:solidFill>
                <a:latin typeface="Arial"/>
                <a:cs typeface="Arial"/>
              </a:rPr>
              <a:t>that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get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great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results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Arial"/>
                <a:cs typeface="Arial"/>
              </a:rPr>
              <a:t>every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time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ts val="1300"/>
              </a:lnSpc>
              <a:spcBef>
                <a:spcPts val="5"/>
              </a:spcBef>
            </a:pPr>
            <a:r>
              <a:rPr sz="1100" b="1" spc="-25" dirty="0">
                <a:solidFill>
                  <a:srgbClr val="FFFFFF"/>
                </a:solidFill>
                <a:latin typeface="Calibri"/>
                <a:cs typeface="Calibri"/>
              </a:rPr>
              <a:t>BAD</a:t>
            </a:r>
            <a:endParaRPr sz="1100">
              <a:latin typeface="Calibri"/>
              <a:cs typeface="Calibri"/>
            </a:endParaRPr>
          </a:p>
          <a:p>
            <a:pPr marL="575945">
              <a:lnSpc>
                <a:spcPts val="1120"/>
              </a:lnSpc>
            </a:pPr>
            <a:r>
              <a:rPr sz="950" i="1" spc="-30" dirty="0">
                <a:solidFill>
                  <a:srgbClr val="1D283A"/>
                </a:solidFill>
                <a:latin typeface="Arial"/>
                <a:cs typeface="Arial"/>
              </a:rPr>
              <a:t>Write</a:t>
            </a:r>
            <a:r>
              <a:rPr sz="950" i="1" spc="-45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spc="-60" dirty="0">
                <a:solidFill>
                  <a:srgbClr val="1D283A"/>
                </a:solidFill>
                <a:latin typeface="Arial"/>
                <a:cs typeface="Arial"/>
              </a:rPr>
              <a:t>me</a:t>
            </a:r>
            <a:r>
              <a:rPr sz="950" i="1" spc="-40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spc="-45" dirty="0">
                <a:solidFill>
                  <a:srgbClr val="1D283A"/>
                </a:solidFill>
                <a:latin typeface="Arial"/>
                <a:cs typeface="Arial"/>
              </a:rPr>
              <a:t>a</a:t>
            </a:r>
            <a:r>
              <a:rPr sz="950" i="1" spc="-30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spc="-85" dirty="0">
                <a:solidFill>
                  <a:srgbClr val="1D283A"/>
                </a:solidFill>
                <a:latin typeface="Arial"/>
                <a:cs typeface="Arial"/>
              </a:rPr>
              <a:t>Java</a:t>
            </a:r>
            <a:r>
              <a:rPr sz="950" i="1" spc="-45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spc="-20" dirty="0">
                <a:solidFill>
                  <a:srgbClr val="1D283A"/>
                </a:solidFill>
                <a:latin typeface="Arial"/>
                <a:cs typeface="Arial"/>
              </a:rPr>
              <a:t>class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>
              <a:latin typeface="Arial"/>
              <a:cs typeface="Arial"/>
            </a:endParaRPr>
          </a:p>
          <a:p>
            <a:pPr marL="575945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EE4343"/>
                </a:solidFill>
                <a:latin typeface="Calibri"/>
                <a:cs typeface="Calibri"/>
              </a:rPr>
              <a:t>Why:</a:t>
            </a:r>
            <a:r>
              <a:rPr sz="900" spc="-2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EE4343"/>
                </a:solidFill>
                <a:latin typeface="Calibri"/>
                <a:cs typeface="Calibri"/>
              </a:rPr>
              <a:t>Too</a:t>
            </a:r>
            <a:r>
              <a:rPr sz="900" spc="-30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E4343"/>
                </a:solidFill>
                <a:latin typeface="Calibri"/>
                <a:cs typeface="Calibri"/>
              </a:rPr>
              <a:t>vague</a:t>
            </a:r>
            <a:r>
              <a:rPr sz="900" spc="-30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E4343"/>
                </a:solidFill>
                <a:latin typeface="Calibri"/>
                <a:cs typeface="Calibri"/>
              </a:rPr>
              <a:t>—</a:t>
            </a:r>
            <a:r>
              <a:rPr sz="900" spc="-20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E4343"/>
                </a:solidFill>
                <a:latin typeface="Calibri"/>
                <a:cs typeface="Calibri"/>
              </a:rPr>
              <a:t>Claude</a:t>
            </a:r>
            <a:r>
              <a:rPr sz="900" spc="-2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E4343"/>
                </a:solidFill>
                <a:latin typeface="Calibri"/>
                <a:cs typeface="Calibri"/>
              </a:rPr>
              <a:t>guesses</a:t>
            </a:r>
            <a:r>
              <a:rPr sz="900" spc="-30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E4343"/>
                </a:solidFill>
                <a:latin typeface="Calibri"/>
                <a:cs typeface="Calibri"/>
              </a:rPr>
              <a:t>your</a:t>
            </a:r>
            <a:r>
              <a:rPr sz="900" spc="-2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E4343"/>
                </a:solidFill>
                <a:latin typeface="Calibri"/>
                <a:cs typeface="Calibri"/>
              </a:rPr>
              <a:t>stack,</a:t>
            </a:r>
            <a:r>
              <a:rPr sz="900" spc="-30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E4343"/>
                </a:solidFill>
                <a:latin typeface="Calibri"/>
                <a:cs typeface="Calibri"/>
              </a:rPr>
              <a:t>pattern,</a:t>
            </a:r>
            <a:r>
              <a:rPr sz="900" spc="-30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E4343"/>
                </a:solidFill>
                <a:latin typeface="Calibri"/>
                <a:cs typeface="Calibri"/>
              </a:rPr>
              <a:t>and</a:t>
            </a:r>
            <a:r>
              <a:rPr sz="900" spc="-2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E4343"/>
                </a:solidFill>
                <a:latin typeface="Calibri"/>
                <a:cs typeface="Calibri"/>
              </a:rPr>
              <a:t>purpose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42277" y="2702511"/>
            <a:ext cx="8695055" cy="1726564"/>
            <a:chOff x="242277" y="2702511"/>
            <a:chExt cx="8695055" cy="1726564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2702511"/>
              <a:ext cx="8694724" cy="172656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19316" y="2779562"/>
              <a:ext cx="8504555" cy="1536700"/>
            </a:xfrm>
            <a:custGeom>
              <a:avLst/>
              <a:gdLst/>
              <a:ahLst/>
              <a:cxnLst/>
              <a:rect l="l" t="t" r="r" b="b"/>
              <a:pathLst>
                <a:path w="8504555" h="1536700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426679"/>
                  </a:lnTo>
                  <a:lnTo>
                    <a:pt x="939" y="1441110"/>
                  </a:lnTo>
                  <a:lnTo>
                    <a:pt x="14770" y="1481759"/>
                  </a:lnTo>
                  <a:lnTo>
                    <a:pt x="43011" y="1513701"/>
                  </a:lnTo>
                  <a:lnTo>
                    <a:pt x="81360" y="1532747"/>
                  </a:lnTo>
                  <a:lnTo>
                    <a:pt x="109804" y="1536484"/>
                  </a:lnTo>
                  <a:lnTo>
                    <a:pt x="8394484" y="1536484"/>
                  </a:lnTo>
                  <a:lnTo>
                    <a:pt x="8436555" y="1528125"/>
                  </a:lnTo>
                  <a:lnTo>
                    <a:pt x="8472057" y="1504303"/>
                  </a:lnTo>
                  <a:lnTo>
                    <a:pt x="8495854" y="1468751"/>
                  </a:lnTo>
                  <a:lnTo>
                    <a:pt x="8504288" y="1426679"/>
                  </a:lnTo>
                  <a:lnTo>
                    <a:pt x="8504265" y="109804"/>
                  </a:lnTo>
                  <a:lnTo>
                    <a:pt x="8495930" y="68088"/>
                  </a:lnTo>
                  <a:lnTo>
                    <a:pt x="8472063" y="32535"/>
                  </a:lnTo>
                  <a:lnTo>
                    <a:pt x="8436405" y="8713"/>
                  </a:lnTo>
                  <a:lnTo>
                    <a:pt x="8394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9316" y="2779562"/>
              <a:ext cx="8504555" cy="1536700"/>
            </a:xfrm>
            <a:custGeom>
              <a:avLst/>
              <a:gdLst/>
              <a:ahLst/>
              <a:cxnLst/>
              <a:rect l="l" t="t" r="r" b="b"/>
              <a:pathLst>
                <a:path w="8504555" h="153670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55"/>
                  </a:lnTo>
                  <a:lnTo>
                    <a:pt x="8436405" y="8713"/>
                  </a:lnTo>
                  <a:lnTo>
                    <a:pt x="8472063" y="32535"/>
                  </a:lnTo>
                  <a:lnTo>
                    <a:pt x="8495930" y="68088"/>
                  </a:lnTo>
                  <a:lnTo>
                    <a:pt x="8504288" y="110159"/>
                  </a:lnTo>
                  <a:lnTo>
                    <a:pt x="8504288" y="1426679"/>
                  </a:lnTo>
                  <a:lnTo>
                    <a:pt x="8503348" y="1441104"/>
                  </a:lnTo>
                  <a:lnTo>
                    <a:pt x="8500551" y="1455123"/>
                  </a:lnTo>
                  <a:lnTo>
                    <a:pt x="8481505" y="1493472"/>
                  </a:lnTo>
                  <a:lnTo>
                    <a:pt x="8449564" y="1521714"/>
                  </a:lnTo>
                  <a:lnTo>
                    <a:pt x="8408914" y="1535544"/>
                  </a:lnTo>
                  <a:lnTo>
                    <a:pt x="8394484" y="1536484"/>
                  </a:lnTo>
                  <a:lnTo>
                    <a:pt x="109804" y="1536484"/>
                  </a:lnTo>
                  <a:lnTo>
                    <a:pt x="67882" y="1528125"/>
                  </a:lnTo>
                  <a:lnTo>
                    <a:pt x="32224" y="1504303"/>
                  </a:lnTo>
                  <a:lnTo>
                    <a:pt x="8358" y="1468751"/>
                  </a:lnTo>
                  <a:lnTo>
                    <a:pt x="0" y="142667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39" y="2779917"/>
              <a:ext cx="713740" cy="292735"/>
            </a:xfrm>
            <a:custGeom>
              <a:avLst/>
              <a:gdLst/>
              <a:ahLst/>
              <a:cxnLst/>
              <a:rect l="l" t="t" r="r" b="b"/>
              <a:pathLst>
                <a:path w="713740" h="292735">
                  <a:moveTo>
                    <a:pt x="621360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43"/>
                  </a:lnTo>
                  <a:lnTo>
                    <a:pt x="6986" y="56512"/>
                  </a:lnTo>
                  <a:lnTo>
                    <a:pt x="0" y="91439"/>
                  </a:lnTo>
                  <a:lnTo>
                    <a:pt x="0" y="201244"/>
                  </a:lnTo>
                  <a:lnTo>
                    <a:pt x="774" y="212888"/>
                  </a:lnTo>
                  <a:lnTo>
                    <a:pt x="798" y="213249"/>
                  </a:lnTo>
                  <a:lnTo>
                    <a:pt x="3076" y="224553"/>
                  </a:lnTo>
                  <a:lnTo>
                    <a:pt x="3149" y="224913"/>
                  </a:lnTo>
                  <a:lnTo>
                    <a:pt x="6864" y="235816"/>
                  </a:lnTo>
                  <a:lnTo>
                    <a:pt x="6986" y="236173"/>
                  </a:lnTo>
                  <a:lnTo>
                    <a:pt x="35676" y="273847"/>
                  </a:lnTo>
                  <a:lnTo>
                    <a:pt x="79434" y="291885"/>
                  </a:lnTo>
                  <a:lnTo>
                    <a:pt x="91439" y="292684"/>
                  </a:lnTo>
                  <a:lnTo>
                    <a:pt x="621715" y="292328"/>
                  </a:lnTo>
                  <a:lnTo>
                    <a:pt x="667435" y="280085"/>
                  </a:lnTo>
                  <a:lnTo>
                    <a:pt x="700925" y="246608"/>
                  </a:lnTo>
                  <a:lnTo>
                    <a:pt x="709885" y="224913"/>
                  </a:lnTo>
                  <a:lnTo>
                    <a:pt x="710007" y="224553"/>
                  </a:lnTo>
                  <a:lnTo>
                    <a:pt x="712284" y="213249"/>
                  </a:lnTo>
                  <a:lnTo>
                    <a:pt x="712357" y="212888"/>
                  </a:lnTo>
                  <a:lnTo>
                    <a:pt x="713132" y="201244"/>
                  </a:lnTo>
                  <a:lnTo>
                    <a:pt x="712800" y="91439"/>
                  </a:lnTo>
                  <a:lnTo>
                    <a:pt x="700557" y="45719"/>
                  </a:lnTo>
                  <a:lnTo>
                    <a:pt x="667080" y="12242"/>
                  </a:lnTo>
                  <a:lnTo>
                    <a:pt x="633365" y="798"/>
                  </a:lnTo>
                  <a:lnTo>
                    <a:pt x="62136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80136" y="2829511"/>
            <a:ext cx="392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GOOD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02575" y="2847138"/>
            <a:ext cx="7301230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Create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Spring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Boot</a:t>
            </a:r>
            <a:r>
              <a:rPr sz="9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@Service class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AccountingService.java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in</a:t>
            </a:r>
            <a:r>
              <a:rPr sz="9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com.wamy.finance.service.</a:t>
            </a:r>
            <a:r>
              <a:rPr sz="9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Use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constructor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injection.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Method: postJournalEntry(JournalEntryRequest</a:t>
            </a:r>
            <a:r>
              <a:rPr sz="950" spc="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dto)</a:t>
            </a:r>
            <a:r>
              <a:rPr sz="95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that</a:t>
            </a:r>
            <a:r>
              <a:rPr sz="95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validates</a:t>
            </a:r>
            <a:r>
              <a:rPr sz="9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debit==credit,</a:t>
            </a:r>
            <a:r>
              <a:rPr sz="9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saves</a:t>
            </a:r>
            <a:r>
              <a:rPr sz="9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to</a:t>
            </a:r>
            <a:r>
              <a:rPr sz="950" spc="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journal_entries</a:t>
            </a:r>
            <a:r>
              <a:rPr sz="9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via</a:t>
            </a:r>
            <a:r>
              <a:rPr sz="9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JPA,</a:t>
            </a:r>
            <a:r>
              <a:rPr sz="9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publishes</a:t>
            </a:r>
            <a:r>
              <a:rPr sz="95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</a:t>
            </a:r>
            <a:r>
              <a:rPr sz="95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JournalEntryPostedEvent.</a:t>
            </a:r>
            <a:r>
              <a:rPr sz="9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Return JournalEntryResponse</a:t>
            </a:r>
            <a:r>
              <a:rPr sz="950" spc="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DTO.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02575" y="3420264"/>
            <a:ext cx="34455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55E45"/>
                </a:solidFill>
                <a:latin typeface="Calibri"/>
                <a:cs typeface="Calibri"/>
              </a:rPr>
              <a:t>Why:</a:t>
            </a:r>
            <a:r>
              <a:rPr sz="900" spc="-1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55E45"/>
                </a:solidFill>
                <a:latin typeface="Calibri"/>
                <a:cs typeface="Calibri"/>
              </a:rPr>
              <a:t>Specific:</a:t>
            </a:r>
            <a:r>
              <a:rPr sz="900" spc="-10" dirty="0">
                <a:solidFill>
                  <a:srgbClr val="055E45"/>
                </a:solidFill>
                <a:latin typeface="Calibri"/>
                <a:cs typeface="Calibri"/>
              </a:rPr>
              <a:t> package,</a:t>
            </a:r>
            <a:r>
              <a:rPr sz="900" spc="-1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55E45"/>
                </a:solidFill>
                <a:latin typeface="Calibri"/>
                <a:cs typeface="Calibri"/>
              </a:rPr>
              <a:t>pattern, </a:t>
            </a:r>
            <a:r>
              <a:rPr sz="900" dirty="0">
                <a:solidFill>
                  <a:srgbClr val="055E45"/>
                </a:solidFill>
                <a:latin typeface="Calibri"/>
                <a:cs typeface="Calibri"/>
              </a:rPr>
              <a:t>method</a:t>
            </a:r>
            <a:r>
              <a:rPr sz="900" spc="-10" dirty="0">
                <a:solidFill>
                  <a:srgbClr val="055E45"/>
                </a:solidFill>
                <a:latin typeface="Calibri"/>
                <a:cs typeface="Calibri"/>
              </a:rPr>
              <a:t> signature, validation,</a:t>
            </a:r>
            <a:r>
              <a:rPr sz="900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55E45"/>
                </a:solidFill>
                <a:latin typeface="Calibri"/>
                <a:cs typeface="Calibri"/>
              </a:rPr>
              <a:t>return </a:t>
            </a:r>
            <a:r>
              <a:rPr sz="900" spc="-20" dirty="0">
                <a:solidFill>
                  <a:srgbClr val="055E45"/>
                </a:solidFill>
                <a:latin typeface="Calibri"/>
                <a:cs typeface="Calibri"/>
              </a:rPr>
              <a:t>type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42277" y="4471107"/>
            <a:ext cx="8695055" cy="648970"/>
            <a:chOff x="242277" y="4494583"/>
            <a:chExt cx="8695055" cy="64897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4494583"/>
              <a:ext cx="8694724" cy="64874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19316" y="4571646"/>
              <a:ext cx="8504555" cy="476250"/>
            </a:xfrm>
            <a:custGeom>
              <a:avLst/>
              <a:gdLst/>
              <a:ahLst/>
              <a:cxnLst/>
              <a:rect l="l" t="t" r="r" b="b"/>
              <a:pathLst>
                <a:path w="8504555" h="47625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366115"/>
                  </a:lnTo>
                  <a:lnTo>
                    <a:pt x="939" y="380545"/>
                  </a:lnTo>
                  <a:lnTo>
                    <a:pt x="3736" y="394603"/>
                  </a:lnTo>
                  <a:lnTo>
                    <a:pt x="8307" y="408036"/>
                  </a:lnTo>
                  <a:lnTo>
                    <a:pt x="8358" y="408186"/>
                  </a:lnTo>
                  <a:lnTo>
                    <a:pt x="32224" y="443739"/>
                  </a:lnTo>
                  <a:lnTo>
                    <a:pt x="67882" y="467561"/>
                  </a:lnTo>
                  <a:lnTo>
                    <a:pt x="109804" y="475919"/>
                  </a:lnTo>
                  <a:lnTo>
                    <a:pt x="8394484" y="475919"/>
                  </a:lnTo>
                  <a:lnTo>
                    <a:pt x="8436555" y="467561"/>
                  </a:lnTo>
                  <a:lnTo>
                    <a:pt x="8472057" y="443739"/>
                  </a:lnTo>
                  <a:lnTo>
                    <a:pt x="8495854" y="408186"/>
                  </a:lnTo>
                  <a:lnTo>
                    <a:pt x="8504288" y="366115"/>
                  </a:lnTo>
                  <a:lnTo>
                    <a:pt x="8504264" y="109791"/>
                  </a:lnTo>
                  <a:lnTo>
                    <a:pt x="8495930" y="68088"/>
                  </a:lnTo>
                  <a:lnTo>
                    <a:pt x="8472063" y="32534"/>
                  </a:lnTo>
                  <a:lnTo>
                    <a:pt x="8436405" y="8708"/>
                  </a:lnTo>
                  <a:lnTo>
                    <a:pt x="8394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319316" y="4571646"/>
              <a:ext cx="8504555" cy="476250"/>
            </a:xfrm>
            <a:custGeom>
              <a:avLst/>
              <a:gdLst/>
              <a:ahLst/>
              <a:cxnLst/>
              <a:rect l="l" t="t" r="r" b="b"/>
              <a:pathLst>
                <a:path w="8504555" h="476250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55"/>
                  </a:lnTo>
                  <a:lnTo>
                    <a:pt x="8436405" y="8708"/>
                  </a:lnTo>
                  <a:lnTo>
                    <a:pt x="8472063" y="32534"/>
                  </a:lnTo>
                  <a:lnTo>
                    <a:pt x="8495930" y="68088"/>
                  </a:lnTo>
                  <a:lnTo>
                    <a:pt x="8504288" y="110159"/>
                  </a:lnTo>
                  <a:lnTo>
                    <a:pt x="8504288" y="366115"/>
                  </a:lnTo>
                  <a:lnTo>
                    <a:pt x="8503348" y="380540"/>
                  </a:lnTo>
                  <a:lnTo>
                    <a:pt x="8500551" y="394558"/>
                  </a:lnTo>
                  <a:lnTo>
                    <a:pt x="8481505" y="432908"/>
                  </a:lnTo>
                  <a:lnTo>
                    <a:pt x="8449564" y="461149"/>
                  </a:lnTo>
                  <a:lnTo>
                    <a:pt x="8408914" y="474980"/>
                  </a:lnTo>
                  <a:lnTo>
                    <a:pt x="8394484" y="475919"/>
                  </a:lnTo>
                  <a:lnTo>
                    <a:pt x="109804" y="475919"/>
                  </a:lnTo>
                  <a:lnTo>
                    <a:pt x="67882" y="467561"/>
                  </a:lnTo>
                  <a:lnTo>
                    <a:pt x="32224" y="443739"/>
                  </a:lnTo>
                  <a:lnTo>
                    <a:pt x="8358" y="408186"/>
                  </a:lnTo>
                  <a:lnTo>
                    <a:pt x="0" y="366115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44144" y="4726672"/>
            <a:ext cx="1830070" cy="18097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000" b="1" dirty="0">
                <a:solidFill>
                  <a:srgbClr val="0C9387"/>
                </a:solidFill>
                <a:latin typeface="Calibri"/>
                <a:cs typeface="Calibri"/>
              </a:rPr>
              <a:t>The</a:t>
            </a:r>
            <a:r>
              <a:rPr sz="1000" b="1" spc="-1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C9387"/>
                </a:solidFill>
                <a:latin typeface="Calibri"/>
                <a:cs typeface="Calibri"/>
              </a:rPr>
              <a:t>5</a:t>
            </a:r>
            <a:r>
              <a:rPr sz="1000" b="1" spc="-10" dirty="0">
                <a:solidFill>
                  <a:srgbClr val="0C9387"/>
                </a:solidFill>
                <a:latin typeface="Calibri"/>
                <a:cs typeface="Calibri"/>
              </a:rPr>
              <a:t> Elements</a:t>
            </a:r>
            <a:r>
              <a:rPr sz="1000" b="1" spc="-1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C9387"/>
                </a:solidFill>
                <a:latin typeface="Calibri"/>
                <a:cs typeface="Calibri"/>
              </a:rPr>
              <a:t>of</a:t>
            </a:r>
            <a:r>
              <a:rPr sz="1000" b="1" spc="-1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C9387"/>
                </a:solidFill>
                <a:latin typeface="Calibri"/>
                <a:cs typeface="Calibri"/>
              </a:rPr>
              <a:t>a</a:t>
            </a:r>
            <a:r>
              <a:rPr sz="1000" b="1" spc="-2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C9387"/>
                </a:solidFill>
                <a:latin typeface="Calibri"/>
                <a:cs typeface="Calibri"/>
              </a:rPr>
              <a:t>Great</a:t>
            </a:r>
            <a:r>
              <a:rPr sz="1000" b="1" spc="-1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0C9387"/>
                </a:solidFill>
                <a:latin typeface="Calibri"/>
                <a:cs typeface="Calibri"/>
              </a:rPr>
              <a:t>Prompt: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14600" y="4728274"/>
            <a:ext cx="817880" cy="15748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r>
              <a:rPr sz="8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File/Class</a:t>
            </a:r>
            <a:r>
              <a:rPr sz="85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36798" y="4728274"/>
            <a:ext cx="788670" cy="15748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r>
              <a:rPr sz="8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Package/folder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42002" y="4728274"/>
            <a:ext cx="993140" cy="15748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3.</a:t>
            </a:r>
            <a:r>
              <a:rPr sz="8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Framework/pattern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86513" y="4728274"/>
            <a:ext cx="916940" cy="15748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4.</a:t>
            </a:r>
            <a:r>
              <a:rPr sz="8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Method</a:t>
            </a:r>
            <a:r>
              <a:rPr sz="8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signature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xfrm>
            <a:off x="7251840" y="4728274"/>
            <a:ext cx="1151965" cy="312906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R="46990" algn="r">
              <a:lnSpc>
                <a:spcPct val="100000"/>
              </a:lnSpc>
              <a:spcBef>
                <a:spcPts val="60"/>
              </a:spcBef>
            </a:pPr>
            <a:r>
              <a:rPr sz="850" dirty="0">
                <a:solidFill>
                  <a:srgbClr val="FFFFFF"/>
                </a:solidFill>
              </a:rPr>
              <a:t>5.</a:t>
            </a:r>
            <a:r>
              <a:rPr sz="850" spc="-30" dirty="0">
                <a:solidFill>
                  <a:srgbClr val="FFFFFF"/>
                </a:solidFill>
              </a:rPr>
              <a:t> </a:t>
            </a:r>
            <a:r>
              <a:rPr sz="850" dirty="0">
                <a:solidFill>
                  <a:srgbClr val="FFFFFF"/>
                </a:solidFill>
              </a:rPr>
              <a:t>Expected</a:t>
            </a:r>
            <a:r>
              <a:rPr sz="850" spc="-30" dirty="0">
                <a:solidFill>
                  <a:srgbClr val="FFFFFF"/>
                </a:solidFill>
              </a:rPr>
              <a:t> </a:t>
            </a:r>
            <a:r>
              <a:rPr sz="850" spc="-10" dirty="0">
                <a:solidFill>
                  <a:srgbClr val="FFFFFF"/>
                </a:solidFill>
              </a:rPr>
              <a:t>behaviour</a:t>
            </a:r>
            <a:endParaRPr sz="850" dirty="0"/>
          </a:p>
          <a:p>
            <a:pPr marR="5080" algn="r">
              <a:lnSpc>
                <a:spcPct val="100000"/>
              </a:lnSpc>
              <a:spcBef>
                <a:spcPts val="445"/>
              </a:spcBef>
            </a:pPr>
            <a:endParaRPr spc="-25" dirty="0"/>
          </a:p>
        </p:txBody>
      </p:sp>
      <p:sp>
        <p:nvSpPr>
          <p:cNvPr id="30" name="object 50">
            <a:extLst>
              <a:ext uri="{FF2B5EF4-FFF2-40B4-BE49-F238E27FC236}">
                <a16:creationId xmlns:a16="http://schemas.microsoft.com/office/drawing/2014/main" id="{D95C16A8-80D4-00FA-5C28-EA52F43BE505}"/>
              </a:ext>
            </a:extLst>
          </p:cNvPr>
          <p:cNvSpPr txBox="1">
            <a:spLocks/>
          </p:cNvSpPr>
          <p:nvPr/>
        </p:nvSpPr>
        <p:spPr>
          <a:xfrm>
            <a:off x="8021421" y="4728274"/>
            <a:ext cx="1042899" cy="336024"/>
          </a:xfrm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>
            <a:defPPr>
              <a:defRPr kern="0"/>
            </a:defPPr>
            <a:lvl1pPr>
              <a:defRPr sz="8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737870">
              <a:spcBef>
                <a:spcPts val="60"/>
              </a:spcBef>
            </a:pPr>
            <a:fld id="{81D60167-4931-47E6-BA6A-407CBD079E47}" type="slidenum">
              <a:rPr lang="en-US" smtClean="0"/>
              <a:pPr marL="737870">
                <a:spcBef>
                  <a:spcPts val="60"/>
                </a:spcBef>
              </a:pPr>
              <a:t>13</a:t>
            </a:fld>
            <a:r>
              <a:rPr lang="en-US" spc="5" dirty="0"/>
              <a:t> </a:t>
            </a:r>
            <a:r>
              <a:rPr lang="en-US" dirty="0"/>
              <a:t>/ </a:t>
            </a:r>
            <a:r>
              <a:rPr lang="en-US" spc="-25" dirty="0"/>
              <a:t>80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Claude</a:t>
            </a:r>
            <a:r>
              <a:rPr spc="-85" dirty="0"/>
              <a:t> </a:t>
            </a:r>
            <a:r>
              <a:rPr dirty="0"/>
              <a:t>Code</a:t>
            </a:r>
            <a:r>
              <a:rPr spc="-75" dirty="0"/>
              <a:t> </a:t>
            </a:r>
            <a:r>
              <a:rPr spc="-10" dirty="0"/>
              <a:t>Essential</a:t>
            </a:r>
            <a:r>
              <a:rPr spc="-75" dirty="0"/>
              <a:t> </a:t>
            </a:r>
            <a:r>
              <a:rPr spc="-10" dirty="0"/>
              <a:t>Commands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3876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90" dirty="0">
                <a:solidFill>
                  <a:srgbClr val="9FBFFF"/>
                </a:solidFill>
                <a:latin typeface="Arial"/>
                <a:cs typeface="Arial"/>
              </a:rPr>
              <a:t>The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10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+mn-lt"/>
                <a:cs typeface="Arial"/>
              </a:rPr>
              <a:t>commands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every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developer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must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know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12966" y="1108927"/>
            <a:ext cx="8517255" cy="360680"/>
            <a:chOff x="312966" y="1108927"/>
            <a:chExt cx="8517255" cy="360680"/>
          </a:xfrm>
        </p:grpSpPr>
        <p:sp>
          <p:nvSpPr>
            <p:cNvPr id="6" name="object 6"/>
            <p:cNvSpPr/>
            <p:nvPr/>
          </p:nvSpPr>
          <p:spPr>
            <a:xfrm>
              <a:off x="319316" y="1115277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80">
                  <a:moveTo>
                    <a:pt x="64439" y="0"/>
                  </a:moveTo>
                  <a:lnTo>
                    <a:pt x="25402" y="13364"/>
                  </a:lnTo>
                  <a:lnTo>
                    <a:pt x="2524" y="47524"/>
                  </a:lnTo>
                  <a:lnTo>
                    <a:pt x="0" y="283679"/>
                  </a:lnTo>
                  <a:lnTo>
                    <a:pt x="540" y="292029"/>
                  </a:lnTo>
                  <a:lnTo>
                    <a:pt x="18743" y="328910"/>
                  </a:lnTo>
                  <a:lnTo>
                    <a:pt x="55734" y="347223"/>
                  </a:lnTo>
                  <a:lnTo>
                    <a:pt x="64084" y="347764"/>
                  </a:lnTo>
                  <a:lnTo>
                    <a:pt x="8440204" y="347764"/>
                  </a:lnTo>
                  <a:lnTo>
                    <a:pt x="8479241" y="334406"/>
                  </a:lnTo>
                  <a:lnTo>
                    <a:pt x="8502126" y="300243"/>
                  </a:lnTo>
                  <a:lnTo>
                    <a:pt x="8504288" y="283679"/>
                  </a:lnTo>
                  <a:lnTo>
                    <a:pt x="8504265" y="64084"/>
                  </a:lnTo>
                  <a:lnTo>
                    <a:pt x="8490923" y="25408"/>
                  </a:lnTo>
                  <a:lnTo>
                    <a:pt x="8456763" y="2524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9316" y="1115277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80">
                  <a:moveTo>
                    <a:pt x="368" y="64084"/>
                  </a:moveTo>
                  <a:lnTo>
                    <a:pt x="906" y="55736"/>
                  </a:lnTo>
                  <a:lnTo>
                    <a:pt x="2524" y="47524"/>
                  </a:lnTo>
                  <a:lnTo>
                    <a:pt x="25402" y="13364"/>
                  </a:lnTo>
                  <a:lnTo>
                    <a:pt x="64439" y="0"/>
                  </a:lnTo>
                  <a:lnTo>
                    <a:pt x="8440204" y="368"/>
                  </a:lnTo>
                  <a:lnTo>
                    <a:pt x="8479191" y="13570"/>
                  </a:lnTo>
                  <a:lnTo>
                    <a:pt x="8502126" y="47886"/>
                  </a:lnTo>
                  <a:lnTo>
                    <a:pt x="8504288" y="64439"/>
                  </a:lnTo>
                  <a:lnTo>
                    <a:pt x="8504288" y="283679"/>
                  </a:lnTo>
                  <a:lnTo>
                    <a:pt x="8503747" y="292029"/>
                  </a:lnTo>
                  <a:lnTo>
                    <a:pt x="8502126" y="300243"/>
                  </a:lnTo>
                  <a:lnTo>
                    <a:pt x="8479241" y="334406"/>
                  </a:lnTo>
                  <a:lnTo>
                    <a:pt x="8440204" y="347764"/>
                  </a:lnTo>
                  <a:lnTo>
                    <a:pt x="64084" y="347764"/>
                  </a:lnTo>
                  <a:lnTo>
                    <a:pt x="25097" y="334556"/>
                  </a:lnTo>
                  <a:lnTo>
                    <a:pt x="2162" y="300243"/>
                  </a:lnTo>
                  <a:lnTo>
                    <a:pt x="0" y="283679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9684" y="1115277"/>
              <a:ext cx="2240915" cy="347980"/>
            </a:xfrm>
            <a:custGeom>
              <a:avLst/>
              <a:gdLst/>
              <a:ahLst/>
              <a:cxnLst/>
              <a:rect l="l" t="t" r="r" b="b"/>
              <a:pathLst>
                <a:path w="2240915" h="347980">
                  <a:moveTo>
                    <a:pt x="64439" y="0"/>
                  </a:moveTo>
                  <a:lnTo>
                    <a:pt x="25397" y="13364"/>
                  </a:lnTo>
                  <a:lnTo>
                    <a:pt x="2516" y="47524"/>
                  </a:lnTo>
                  <a:lnTo>
                    <a:pt x="0" y="283679"/>
                  </a:lnTo>
                  <a:lnTo>
                    <a:pt x="538" y="292029"/>
                  </a:lnTo>
                  <a:lnTo>
                    <a:pt x="18735" y="328910"/>
                  </a:lnTo>
                  <a:lnTo>
                    <a:pt x="18851" y="329044"/>
                  </a:lnTo>
                  <a:lnTo>
                    <a:pt x="55728" y="347223"/>
                  </a:lnTo>
                  <a:lnTo>
                    <a:pt x="64071" y="347764"/>
                  </a:lnTo>
                  <a:lnTo>
                    <a:pt x="2176551" y="347764"/>
                  </a:lnTo>
                  <a:lnTo>
                    <a:pt x="2215593" y="334406"/>
                  </a:lnTo>
                  <a:lnTo>
                    <a:pt x="2238475" y="300243"/>
                  </a:lnTo>
                  <a:lnTo>
                    <a:pt x="2240635" y="283679"/>
                  </a:lnTo>
                  <a:lnTo>
                    <a:pt x="2240612" y="64084"/>
                  </a:lnTo>
                  <a:lnTo>
                    <a:pt x="2227277" y="25408"/>
                  </a:lnTo>
                  <a:lnTo>
                    <a:pt x="2193115" y="2524"/>
                  </a:lnTo>
                  <a:lnTo>
                    <a:pt x="2176551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243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98779" y="1204101"/>
            <a:ext cx="3860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49DD7F"/>
                </a:solidFill>
                <a:latin typeface="Courier New"/>
                <a:cs typeface="Courier New"/>
              </a:rPr>
              <a:t>/init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38704" y="1204101"/>
            <a:ext cx="3583304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Scan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project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and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generate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CLAUDE.md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context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file.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once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per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project.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2966" y="1511048"/>
            <a:ext cx="8517255" cy="360680"/>
            <a:chOff x="312966" y="1511048"/>
            <a:chExt cx="8517255" cy="360680"/>
          </a:xfrm>
        </p:grpSpPr>
        <p:sp>
          <p:nvSpPr>
            <p:cNvPr id="12" name="object 12"/>
            <p:cNvSpPr/>
            <p:nvPr/>
          </p:nvSpPr>
          <p:spPr>
            <a:xfrm>
              <a:off x="319316" y="1517398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80">
                  <a:moveTo>
                    <a:pt x="64439" y="0"/>
                  </a:moveTo>
                  <a:lnTo>
                    <a:pt x="25402" y="13364"/>
                  </a:lnTo>
                  <a:lnTo>
                    <a:pt x="2524" y="47524"/>
                  </a:lnTo>
                  <a:lnTo>
                    <a:pt x="0" y="283679"/>
                  </a:lnTo>
                  <a:lnTo>
                    <a:pt x="540" y="292029"/>
                  </a:lnTo>
                  <a:lnTo>
                    <a:pt x="18743" y="328910"/>
                  </a:lnTo>
                  <a:lnTo>
                    <a:pt x="55734" y="347223"/>
                  </a:lnTo>
                  <a:lnTo>
                    <a:pt x="64084" y="347764"/>
                  </a:lnTo>
                  <a:lnTo>
                    <a:pt x="8440204" y="347764"/>
                  </a:lnTo>
                  <a:lnTo>
                    <a:pt x="8479241" y="334406"/>
                  </a:lnTo>
                  <a:lnTo>
                    <a:pt x="8502126" y="300243"/>
                  </a:lnTo>
                  <a:lnTo>
                    <a:pt x="8504288" y="283679"/>
                  </a:lnTo>
                  <a:lnTo>
                    <a:pt x="8504265" y="64084"/>
                  </a:lnTo>
                  <a:lnTo>
                    <a:pt x="8490923" y="25402"/>
                  </a:lnTo>
                  <a:lnTo>
                    <a:pt x="8456763" y="2524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9316" y="1517398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80">
                  <a:moveTo>
                    <a:pt x="368" y="64084"/>
                  </a:moveTo>
                  <a:lnTo>
                    <a:pt x="906" y="55736"/>
                  </a:lnTo>
                  <a:lnTo>
                    <a:pt x="2524" y="47524"/>
                  </a:lnTo>
                  <a:lnTo>
                    <a:pt x="25402" y="13364"/>
                  </a:lnTo>
                  <a:lnTo>
                    <a:pt x="64439" y="0"/>
                  </a:lnTo>
                  <a:lnTo>
                    <a:pt x="8440204" y="368"/>
                  </a:lnTo>
                  <a:lnTo>
                    <a:pt x="8479191" y="13570"/>
                  </a:lnTo>
                  <a:lnTo>
                    <a:pt x="8502126" y="47885"/>
                  </a:lnTo>
                  <a:lnTo>
                    <a:pt x="8504288" y="64439"/>
                  </a:lnTo>
                  <a:lnTo>
                    <a:pt x="8504288" y="283679"/>
                  </a:lnTo>
                  <a:lnTo>
                    <a:pt x="8503747" y="292029"/>
                  </a:lnTo>
                  <a:lnTo>
                    <a:pt x="8502126" y="300243"/>
                  </a:lnTo>
                  <a:lnTo>
                    <a:pt x="8479241" y="334406"/>
                  </a:lnTo>
                  <a:lnTo>
                    <a:pt x="8440204" y="347764"/>
                  </a:lnTo>
                  <a:lnTo>
                    <a:pt x="64084" y="347764"/>
                  </a:lnTo>
                  <a:lnTo>
                    <a:pt x="25097" y="334556"/>
                  </a:lnTo>
                  <a:lnTo>
                    <a:pt x="2162" y="300243"/>
                  </a:lnTo>
                  <a:lnTo>
                    <a:pt x="0" y="283679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9684" y="1517398"/>
              <a:ext cx="2240915" cy="347980"/>
            </a:xfrm>
            <a:custGeom>
              <a:avLst/>
              <a:gdLst/>
              <a:ahLst/>
              <a:cxnLst/>
              <a:rect l="l" t="t" r="r" b="b"/>
              <a:pathLst>
                <a:path w="2240915" h="347980">
                  <a:moveTo>
                    <a:pt x="64439" y="0"/>
                  </a:moveTo>
                  <a:lnTo>
                    <a:pt x="25397" y="13364"/>
                  </a:lnTo>
                  <a:lnTo>
                    <a:pt x="2516" y="47524"/>
                  </a:lnTo>
                  <a:lnTo>
                    <a:pt x="0" y="283679"/>
                  </a:lnTo>
                  <a:lnTo>
                    <a:pt x="538" y="292029"/>
                  </a:lnTo>
                  <a:lnTo>
                    <a:pt x="18735" y="328910"/>
                  </a:lnTo>
                  <a:lnTo>
                    <a:pt x="18851" y="329044"/>
                  </a:lnTo>
                  <a:lnTo>
                    <a:pt x="55728" y="347223"/>
                  </a:lnTo>
                  <a:lnTo>
                    <a:pt x="64071" y="347764"/>
                  </a:lnTo>
                  <a:lnTo>
                    <a:pt x="2176551" y="347764"/>
                  </a:lnTo>
                  <a:lnTo>
                    <a:pt x="2215593" y="334406"/>
                  </a:lnTo>
                  <a:lnTo>
                    <a:pt x="2238475" y="300243"/>
                  </a:lnTo>
                  <a:lnTo>
                    <a:pt x="2240635" y="283679"/>
                  </a:lnTo>
                  <a:lnTo>
                    <a:pt x="2240612" y="64084"/>
                  </a:lnTo>
                  <a:lnTo>
                    <a:pt x="2227277" y="25402"/>
                  </a:lnTo>
                  <a:lnTo>
                    <a:pt x="2193115" y="2524"/>
                  </a:lnTo>
                  <a:lnTo>
                    <a:pt x="2176551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243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98779" y="1606221"/>
            <a:ext cx="132397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49DD7F"/>
                </a:solidFill>
                <a:latin typeface="Courier New"/>
                <a:cs typeface="Courier New"/>
              </a:rPr>
              <a:t>/add</a:t>
            </a:r>
            <a:r>
              <a:rPr sz="950" b="1" spc="-5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50" b="1" spc="-10" dirty="0">
                <a:solidFill>
                  <a:srgbClr val="49DD7F"/>
                </a:solidFill>
                <a:latin typeface="Courier New"/>
                <a:cs typeface="Courier New"/>
              </a:rPr>
              <a:t>&lt;file|folder&gt;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38704" y="1606221"/>
            <a:ext cx="321310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Add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file(s)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to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Claude's context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window.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Critical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for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multi-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file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tasks.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12966" y="1913536"/>
            <a:ext cx="8517255" cy="360680"/>
            <a:chOff x="312966" y="1913536"/>
            <a:chExt cx="8517255" cy="360680"/>
          </a:xfrm>
        </p:grpSpPr>
        <p:sp>
          <p:nvSpPr>
            <p:cNvPr id="18" name="object 18"/>
            <p:cNvSpPr/>
            <p:nvPr/>
          </p:nvSpPr>
          <p:spPr>
            <a:xfrm>
              <a:off x="319316" y="19198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8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283679"/>
                  </a:lnTo>
                  <a:lnTo>
                    <a:pt x="540" y="292022"/>
                  </a:lnTo>
                  <a:lnTo>
                    <a:pt x="18739" y="328898"/>
                  </a:lnTo>
                  <a:lnTo>
                    <a:pt x="55734" y="347212"/>
                  </a:lnTo>
                  <a:lnTo>
                    <a:pt x="64084" y="347751"/>
                  </a:lnTo>
                  <a:lnTo>
                    <a:pt x="8440204" y="347751"/>
                  </a:lnTo>
                  <a:lnTo>
                    <a:pt x="8479241" y="334393"/>
                  </a:lnTo>
                  <a:lnTo>
                    <a:pt x="8502126" y="300232"/>
                  </a:lnTo>
                  <a:lnTo>
                    <a:pt x="8504288" y="283679"/>
                  </a:lnTo>
                  <a:lnTo>
                    <a:pt x="8504264" y="64071"/>
                  </a:lnTo>
                  <a:lnTo>
                    <a:pt x="8490923" y="25397"/>
                  </a:lnTo>
                  <a:lnTo>
                    <a:pt x="845676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9316" y="19198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80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8440204" y="355"/>
                  </a:lnTo>
                  <a:lnTo>
                    <a:pt x="8479191" y="13563"/>
                  </a:lnTo>
                  <a:lnTo>
                    <a:pt x="8502126" y="47875"/>
                  </a:lnTo>
                  <a:lnTo>
                    <a:pt x="8504288" y="64439"/>
                  </a:lnTo>
                  <a:lnTo>
                    <a:pt x="8504288" y="283679"/>
                  </a:lnTo>
                  <a:lnTo>
                    <a:pt x="8503747" y="292022"/>
                  </a:lnTo>
                  <a:lnTo>
                    <a:pt x="8502126" y="300232"/>
                  </a:lnTo>
                  <a:lnTo>
                    <a:pt x="8479241" y="334393"/>
                  </a:lnTo>
                  <a:lnTo>
                    <a:pt x="8440204" y="347751"/>
                  </a:lnTo>
                  <a:lnTo>
                    <a:pt x="64084" y="347751"/>
                  </a:lnTo>
                  <a:lnTo>
                    <a:pt x="25097" y="334549"/>
                  </a:lnTo>
                  <a:lnTo>
                    <a:pt x="2162" y="300232"/>
                  </a:lnTo>
                  <a:lnTo>
                    <a:pt x="0" y="283679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9684" y="1919886"/>
              <a:ext cx="2240915" cy="347980"/>
            </a:xfrm>
            <a:custGeom>
              <a:avLst/>
              <a:gdLst/>
              <a:ahLst/>
              <a:cxnLst/>
              <a:rect l="l" t="t" r="r" b="b"/>
              <a:pathLst>
                <a:path w="2240915" h="347980">
                  <a:moveTo>
                    <a:pt x="64439" y="0"/>
                  </a:moveTo>
                  <a:lnTo>
                    <a:pt x="25397" y="13357"/>
                  </a:lnTo>
                  <a:lnTo>
                    <a:pt x="2516" y="47517"/>
                  </a:lnTo>
                  <a:lnTo>
                    <a:pt x="0" y="283679"/>
                  </a:lnTo>
                  <a:lnTo>
                    <a:pt x="538" y="292022"/>
                  </a:lnTo>
                  <a:lnTo>
                    <a:pt x="18731" y="328898"/>
                  </a:lnTo>
                  <a:lnTo>
                    <a:pt x="18851" y="329036"/>
                  </a:lnTo>
                  <a:lnTo>
                    <a:pt x="55728" y="347212"/>
                  </a:lnTo>
                  <a:lnTo>
                    <a:pt x="64071" y="347751"/>
                  </a:lnTo>
                  <a:lnTo>
                    <a:pt x="2176551" y="347751"/>
                  </a:lnTo>
                  <a:lnTo>
                    <a:pt x="2215593" y="334393"/>
                  </a:lnTo>
                  <a:lnTo>
                    <a:pt x="2238475" y="300232"/>
                  </a:lnTo>
                  <a:lnTo>
                    <a:pt x="2240635" y="283679"/>
                  </a:lnTo>
                  <a:lnTo>
                    <a:pt x="2240611" y="64071"/>
                  </a:lnTo>
                  <a:lnTo>
                    <a:pt x="2227277" y="25397"/>
                  </a:lnTo>
                  <a:lnTo>
                    <a:pt x="2193115" y="2516"/>
                  </a:lnTo>
                  <a:lnTo>
                    <a:pt x="2176551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243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98779" y="2008697"/>
            <a:ext cx="45910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49DD7F"/>
                </a:solidFill>
                <a:latin typeface="Courier New"/>
                <a:cs typeface="Courier New"/>
              </a:rPr>
              <a:t>/clear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38704" y="2008697"/>
            <a:ext cx="31864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Clear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conversation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history.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Start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fresh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while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keeping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CLAUDE.md.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12966" y="2316012"/>
            <a:ext cx="8517255" cy="360680"/>
            <a:chOff x="312966" y="2316012"/>
            <a:chExt cx="8517255" cy="360680"/>
          </a:xfrm>
        </p:grpSpPr>
        <p:sp>
          <p:nvSpPr>
            <p:cNvPr id="24" name="object 24"/>
            <p:cNvSpPr/>
            <p:nvPr/>
          </p:nvSpPr>
          <p:spPr>
            <a:xfrm>
              <a:off x="319316" y="2322362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80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283679"/>
                  </a:lnTo>
                  <a:lnTo>
                    <a:pt x="540" y="292027"/>
                  </a:lnTo>
                  <a:lnTo>
                    <a:pt x="18743" y="328904"/>
                  </a:lnTo>
                  <a:lnTo>
                    <a:pt x="55734" y="347223"/>
                  </a:lnTo>
                  <a:lnTo>
                    <a:pt x="64084" y="347764"/>
                  </a:lnTo>
                  <a:lnTo>
                    <a:pt x="8440204" y="347764"/>
                  </a:lnTo>
                  <a:lnTo>
                    <a:pt x="8479241" y="334399"/>
                  </a:lnTo>
                  <a:lnTo>
                    <a:pt x="8502126" y="300239"/>
                  </a:lnTo>
                  <a:lnTo>
                    <a:pt x="8504288" y="283679"/>
                  </a:lnTo>
                  <a:lnTo>
                    <a:pt x="8504265" y="64084"/>
                  </a:lnTo>
                  <a:lnTo>
                    <a:pt x="8490923" y="25402"/>
                  </a:lnTo>
                  <a:lnTo>
                    <a:pt x="8456763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9316" y="2322362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80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8440204" y="355"/>
                  </a:lnTo>
                  <a:lnTo>
                    <a:pt x="8479191" y="13570"/>
                  </a:lnTo>
                  <a:lnTo>
                    <a:pt x="8502126" y="47880"/>
                  </a:lnTo>
                  <a:lnTo>
                    <a:pt x="8504288" y="64439"/>
                  </a:lnTo>
                  <a:lnTo>
                    <a:pt x="8504288" y="283679"/>
                  </a:lnTo>
                  <a:lnTo>
                    <a:pt x="8503747" y="292027"/>
                  </a:lnTo>
                  <a:lnTo>
                    <a:pt x="8502126" y="300239"/>
                  </a:lnTo>
                  <a:lnTo>
                    <a:pt x="8479241" y="334399"/>
                  </a:lnTo>
                  <a:lnTo>
                    <a:pt x="8440204" y="347764"/>
                  </a:lnTo>
                  <a:lnTo>
                    <a:pt x="64084" y="347764"/>
                  </a:lnTo>
                  <a:lnTo>
                    <a:pt x="25097" y="334549"/>
                  </a:lnTo>
                  <a:lnTo>
                    <a:pt x="2162" y="300239"/>
                  </a:lnTo>
                  <a:lnTo>
                    <a:pt x="0" y="283679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19684" y="2322362"/>
              <a:ext cx="2240915" cy="347980"/>
            </a:xfrm>
            <a:custGeom>
              <a:avLst/>
              <a:gdLst/>
              <a:ahLst/>
              <a:cxnLst/>
              <a:rect l="l" t="t" r="r" b="b"/>
              <a:pathLst>
                <a:path w="2240915" h="347980">
                  <a:moveTo>
                    <a:pt x="64439" y="0"/>
                  </a:moveTo>
                  <a:lnTo>
                    <a:pt x="25397" y="13357"/>
                  </a:lnTo>
                  <a:lnTo>
                    <a:pt x="2516" y="47520"/>
                  </a:lnTo>
                  <a:lnTo>
                    <a:pt x="0" y="283679"/>
                  </a:lnTo>
                  <a:lnTo>
                    <a:pt x="538" y="292027"/>
                  </a:lnTo>
                  <a:lnTo>
                    <a:pt x="18735" y="328904"/>
                  </a:lnTo>
                  <a:lnTo>
                    <a:pt x="55728" y="347223"/>
                  </a:lnTo>
                  <a:lnTo>
                    <a:pt x="64071" y="347764"/>
                  </a:lnTo>
                  <a:lnTo>
                    <a:pt x="2176551" y="347764"/>
                  </a:lnTo>
                  <a:lnTo>
                    <a:pt x="2215593" y="334399"/>
                  </a:lnTo>
                  <a:lnTo>
                    <a:pt x="2238475" y="300239"/>
                  </a:lnTo>
                  <a:lnTo>
                    <a:pt x="2240635" y="283679"/>
                  </a:lnTo>
                  <a:lnTo>
                    <a:pt x="2240612" y="64084"/>
                  </a:lnTo>
                  <a:lnTo>
                    <a:pt x="2227277" y="25402"/>
                  </a:lnTo>
                  <a:lnTo>
                    <a:pt x="2193115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243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98779" y="2411185"/>
            <a:ext cx="3860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49DD7F"/>
                </a:solidFill>
                <a:latin typeface="Courier New"/>
                <a:cs typeface="Courier New"/>
              </a:rPr>
              <a:t>/undo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38704" y="2411185"/>
            <a:ext cx="260731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Undo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last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file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change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Claude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made.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Safe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rollback.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12966" y="2718132"/>
            <a:ext cx="8517255" cy="360680"/>
            <a:chOff x="312966" y="2718132"/>
            <a:chExt cx="8517255" cy="360680"/>
          </a:xfrm>
        </p:grpSpPr>
        <p:sp>
          <p:nvSpPr>
            <p:cNvPr id="30" name="object 30"/>
            <p:cNvSpPr/>
            <p:nvPr/>
          </p:nvSpPr>
          <p:spPr>
            <a:xfrm>
              <a:off x="319316" y="2724482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80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283679"/>
                  </a:lnTo>
                  <a:lnTo>
                    <a:pt x="540" y="292027"/>
                  </a:lnTo>
                  <a:lnTo>
                    <a:pt x="18743" y="328904"/>
                  </a:lnTo>
                  <a:lnTo>
                    <a:pt x="55734" y="347223"/>
                  </a:lnTo>
                  <a:lnTo>
                    <a:pt x="64084" y="347764"/>
                  </a:lnTo>
                  <a:lnTo>
                    <a:pt x="8440204" y="347764"/>
                  </a:lnTo>
                  <a:lnTo>
                    <a:pt x="8479241" y="334399"/>
                  </a:lnTo>
                  <a:lnTo>
                    <a:pt x="8502126" y="300239"/>
                  </a:lnTo>
                  <a:lnTo>
                    <a:pt x="8504288" y="283679"/>
                  </a:lnTo>
                  <a:lnTo>
                    <a:pt x="8504265" y="64084"/>
                  </a:lnTo>
                  <a:lnTo>
                    <a:pt x="8490923" y="25402"/>
                  </a:lnTo>
                  <a:lnTo>
                    <a:pt x="8456763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9316" y="2724482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80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8440204" y="355"/>
                  </a:lnTo>
                  <a:lnTo>
                    <a:pt x="8479191" y="13570"/>
                  </a:lnTo>
                  <a:lnTo>
                    <a:pt x="8502126" y="47880"/>
                  </a:lnTo>
                  <a:lnTo>
                    <a:pt x="8504288" y="64439"/>
                  </a:lnTo>
                  <a:lnTo>
                    <a:pt x="8504288" y="283679"/>
                  </a:lnTo>
                  <a:lnTo>
                    <a:pt x="8503747" y="292027"/>
                  </a:lnTo>
                  <a:lnTo>
                    <a:pt x="8502126" y="300239"/>
                  </a:lnTo>
                  <a:lnTo>
                    <a:pt x="8479241" y="334399"/>
                  </a:lnTo>
                  <a:lnTo>
                    <a:pt x="8440204" y="347764"/>
                  </a:lnTo>
                  <a:lnTo>
                    <a:pt x="64084" y="347764"/>
                  </a:lnTo>
                  <a:lnTo>
                    <a:pt x="25097" y="334549"/>
                  </a:lnTo>
                  <a:lnTo>
                    <a:pt x="2162" y="300239"/>
                  </a:lnTo>
                  <a:lnTo>
                    <a:pt x="0" y="283679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9684" y="2724482"/>
              <a:ext cx="2240915" cy="347980"/>
            </a:xfrm>
            <a:custGeom>
              <a:avLst/>
              <a:gdLst/>
              <a:ahLst/>
              <a:cxnLst/>
              <a:rect l="l" t="t" r="r" b="b"/>
              <a:pathLst>
                <a:path w="2240915" h="347980">
                  <a:moveTo>
                    <a:pt x="64439" y="0"/>
                  </a:moveTo>
                  <a:lnTo>
                    <a:pt x="25397" y="13357"/>
                  </a:lnTo>
                  <a:lnTo>
                    <a:pt x="2516" y="47520"/>
                  </a:lnTo>
                  <a:lnTo>
                    <a:pt x="0" y="283679"/>
                  </a:lnTo>
                  <a:lnTo>
                    <a:pt x="538" y="292027"/>
                  </a:lnTo>
                  <a:lnTo>
                    <a:pt x="18735" y="328904"/>
                  </a:lnTo>
                  <a:lnTo>
                    <a:pt x="55728" y="347223"/>
                  </a:lnTo>
                  <a:lnTo>
                    <a:pt x="64071" y="347764"/>
                  </a:lnTo>
                  <a:lnTo>
                    <a:pt x="2176551" y="347764"/>
                  </a:lnTo>
                  <a:lnTo>
                    <a:pt x="2215593" y="334399"/>
                  </a:lnTo>
                  <a:lnTo>
                    <a:pt x="2238475" y="300239"/>
                  </a:lnTo>
                  <a:lnTo>
                    <a:pt x="2240635" y="283679"/>
                  </a:lnTo>
                  <a:lnTo>
                    <a:pt x="2240612" y="64084"/>
                  </a:lnTo>
                  <a:lnTo>
                    <a:pt x="2227277" y="25402"/>
                  </a:lnTo>
                  <a:lnTo>
                    <a:pt x="2193115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243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98779" y="2813305"/>
            <a:ext cx="3860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49DD7F"/>
                </a:solidFill>
                <a:latin typeface="Courier New"/>
                <a:cs typeface="Courier New"/>
              </a:rPr>
              <a:t>/diff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38704" y="2813305"/>
            <a:ext cx="30441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Show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pending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changes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Claude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has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made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but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not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yet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saved.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12966" y="3120607"/>
            <a:ext cx="8517255" cy="360680"/>
            <a:chOff x="312966" y="3120607"/>
            <a:chExt cx="8517255" cy="360680"/>
          </a:xfrm>
        </p:grpSpPr>
        <p:sp>
          <p:nvSpPr>
            <p:cNvPr id="36" name="object 36"/>
            <p:cNvSpPr/>
            <p:nvPr/>
          </p:nvSpPr>
          <p:spPr>
            <a:xfrm>
              <a:off x="319316" y="3126957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64439" y="0"/>
                  </a:moveTo>
                  <a:lnTo>
                    <a:pt x="25402" y="13364"/>
                  </a:lnTo>
                  <a:lnTo>
                    <a:pt x="2524" y="47524"/>
                  </a:lnTo>
                  <a:lnTo>
                    <a:pt x="0" y="283679"/>
                  </a:lnTo>
                  <a:lnTo>
                    <a:pt x="540" y="292029"/>
                  </a:lnTo>
                  <a:lnTo>
                    <a:pt x="18743" y="328910"/>
                  </a:lnTo>
                  <a:lnTo>
                    <a:pt x="55734" y="347223"/>
                  </a:lnTo>
                  <a:lnTo>
                    <a:pt x="64084" y="347764"/>
                  </a:lnTo>
                  <a:lnTo>
                    <a:pt x="8440204" y="347764"/>
                  </a:lnTo>
                  <a:lnTo>
                    <a:pt x="8479241" y="334406"/>
                  </a:lnTo>
                  <a:lnTo>
                    <a:pt x="8502126" y="300243"/>
                  </a:lnTo>
                  <a:lnTo>
                    <a:pt x="8504288" y="283679"/>
                  </a:lnTo>
                  <a:lnTo>
                    <a:pt x="8504265" y="64084"/>
                  </a:lnTo>
                  <a:lnTo>
                    <a:pt x="8490923" y="25408"/>
                  </a:lnTo>
                  <a:lnTo>
                    <a:pt x="8456763" y="2524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19316" y="3126957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64084"/>
                  </a:moveTo>
                  <a:lnTo>
                    <a:pt x="906" y="55736"/>
                  </a:lnTo>
                  <a:lnTo>
                    <a:pt x="2524" y="47524"/>
                  </a:lnTo>
                  <a:lnTo>
                    <a:pt x="25402" y="13364"/>
                  </a:lnTo>
                  <a:lnTo>
                    <a:pt x="64439" y="0"/>
                  </a:lnTo>
                  <a:lnTo>
                    <a:pt x="8440204" y="368"/>
                  </a:lnTo>
                  <a:lnTo>
                    <a:pt x="8479191" y="13570"/>
                  </a:lnTo>
                  <a:lnTo>
                    <a:pt x="8502126" y="47886"/>
                  </a:lnTo>
                  <a:lnTo>
                    <a:pt x="8504288" y="64439"/>
                  </a:lnTo>
                  <a:lnTo>
                    <a:pt x="8504288" y="283679"/>
                  </a:lnTo>
                  <a:lnTo>
                    <a:pt x="8503747" y="292029"/>
                  </a:lnTo>
                  <a:lnTo>
                    <a:pt x="8502126" y="300243"/>
                  </a:lnTo>
                  <a:lnTo>
                    <a:pt x="8479241" y="334406"/>
                  </a:lnTo>
                  <a:lnTo>
                    <a:pt x="8440204" y="347764"/>
                  </a:lnTo>
                  <a:lnTo>
                    <a:pt x="64084" y="347764"/>
                  </a:lnTo>
                  <a:lnTo>
                    <a:pt x="25097" y="334556"/>
                  </a:lnTo>
                  <a:lnTo>
                    <a:pt x="2162" y="300243"/>
                  </a:lnTo>
                  <a:lnTo>
                    <a:pt x="0" y="283679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9684" y="3126957"/>
              <a:ext cx="2240915" cy="347980"/>
            </a:xfrm>
            <a:custGeom>
              <a:avLst/>
              <a:gdLst/>
              <a:ahLst/>
              <a:cxnLst/>
              <a:rect l="l" t="t" r="r" b="b"/>
              <a:pathLst>
                <a:path w="2240915" h="347979">
                  <a:moveTo>
                    <a:pt x="64439" y="0"/>
                  </a:moveTo>
                  <a:lnTo>
                    <a:pt x="25397" y="13364"/>
                  </a:lnTo>
                  <a:lnTo>
                    <a:pt x="2516" y="47524"/>
                  </a:lnTo>
                  <a:lnTo>
                    <a:pt x="0" y="283679"/>
                  </a:lnTo>
                  <a:lnTo>
                    <a:pt x="538" y="292029"/>
                  </a:lnTo>
                  <a:lnTo>
                    <a:pt x="18735" y="328910"/>
                  </a:lnTo>
                  <a:lnTo>
                    <a:pt x="18851" y="329044"/>
                  </a:lnTo>
                  <a:lnTo>
                    <a:pt x="55728" y="347223"/>
                  </a:lnTo>
                  <a:lnTo>
                    <a:pt x="64071" y="347764"/>
                  </a:lnTo>
                  <a:lnTo>
                    <a:pt x="2176551" y="347764"/>
                  </a:lnTo>
                  <a:lnTo>
                    <a:pt x="2215593" y="334406"/>
                  </a:lnTo>
                  <a:lnTo>
                    <a:pt x="2238475" y="300243"/>
                  </a:lnTo>
                  <a:lnTo>
                    <a:pt x="2240635" y="283679"/>
                  </a:lnTo>
                  <a:lnTo>
                    <a:pt x="2240612" y="64084"/>
                  </a:lnTo>
                  <a:lnTo>
                    <a:pt x="2227277" y="25408"/>
                  </a:lnTo>
                  <a:lnTo>
                    <a:pt x="2193115" y="2524"/>
                  </a:lnTo>
                  <a:lnTo>
                    <a:pt x="2176551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243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98779" y="3215781"/>
            <a:ext cx="7467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49DD7F"/>
                </a:solidFill>
                <a:latin typeface="Courier New"/>
                <a:cs typeface="Courier New"/>
              </a:rPr>
              <a:t>/run</a:t>
            </a:r>
            <a:r>
              <a:rPr sz="950" b="1" spc="-5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50" b="1" spc="-10" dirty="0">
                <a:solidFill>
                  <a:srgbClr val="49DD7F"/>
                </a:solidFill>
                <a:latin typeface="Courier New"/>
                <a:cs typeface="Courier New"/>
              </a:rPr>
              <a:t>&lt;cmd&gt;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38704" y="3215781"/>
            <a:ext cx="3418204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shell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command.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Claude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sees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output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and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can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react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to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errors.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12966" y="3522727"/>
            <a:ext cx="8517255" cy="360680"/>
            <a:chOff x="312966" y="3522727"/>
            <a:chExt cx="8517255" cy="360680"/>
          </a:xfrm>
        </p:grpSpPr>
        <p:sp>
          <p:nvSpPr>
            <p:cNvPr id="42" name="object 42"/>
            <p:cNvSpPr/>
            <p:nvPr/>
          </p:nvSpPr>
          <p:spPr>
            <a:xfrm>
              <a:off x="319316" y="3529077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64439" y="0"/>
                  </a:moveTo>
                  <a:lnTo>
                    <a:pt x="25402" y="13364"/>
                  </a:lnTo>
                  <a:lnTo>
                    <a:pt x="2524" y="47524"/>
                  </a:lnTo>
                  <a:lnTo>
                    <a:pt x="0" y="283679"/>
                  </a:lnTo>
                  <a:lnTo>
                    <a:pt x="540" y="292029"/>
                  </a:lnTo>
                  <a:lnTo>
                    <a:pt x="18743" y="328910"/>
                  </a:lnTo>
                  <a:lnTo>
                    <a:pt x="18859" y="329044"/>
                  </a:lnTo>
                  <a:lnTo>
                    <a:pt x="55734" y="347223"/>
                  </a:lnTo>
                  <a:lnTo>
                    <a:pt x="64084" y="347764"/>
                  </a:lnTo>
                  <a:lnTo>
                    <a:pt x="8440204" y="347764"/>
                  </a:lnTo>
                  <a:lnTo>
                    <a:pt x="8479241" y="334406"/>
                  </a:lnTo>
                  <a:lnTo>
                    <a:pt x="8502126" y="300243"/>
                  </a:lnTo>
                  <a:lnTo>
                    <a:pt x="8504288" y="283679"/>
                  </a:lnTo>
                  <a:lnTo>
                    <a:pt x="8504265" y="64084"/>
                  </a:lnTo>
                  <a:lnTo>
                    <a:pt x="8490923" y="25402"/>
                  </a:lnTo>
                  <a:lnTo>
                    <a:pt x="8456763" y="2524"/>
                  </a:lnTo>
                  <a:lnTo>
                    <a:pt x="8440204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19316" y="3529077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64084"/>
                  </a:moveTo>
                  <a:lnTo>
                    <a:pt x="906" y="55736"/>
                  </a:lnTo>
                  <a:lnTo>
                    <a:pt x="2524" y="47524"/>
                  </a:lnTo>
                  <a:lnTo>
                    <a:pt x="25402" y="13364"/>
                  </a:lnTo>
                  <a:lnTo>
                    <a:pt x="64439" y="0"/>
                  </a:lnTo>
                  <a:lnTo>
                    <a:pt x="8440204" y="368"/>
                  </a:lnTo>
                  <a:lnTo>
                    <a:pt x="8479191" y="13570"/>
                  </a:lnTo>
                  <a:lnTo>
                    <a:pt x="8502126" y="47885"/>
                  </a:lnTo>
                  <a:lnTo>
                    <a:pt x="8504288" y="64439"/>
                  </a:lnTo>
                  <a:lnTo>
                    <a:pt x="8504288" y="283679"/>
                  </a:lnTo>
                  <a:lnTo>
                    <a:pt x="8503747" y="292029"/>
                  </a:lnTo>
                  <a:lnTo>
                    <a:pt x="8502126" y="300243"/>
                  </a:lnTo>
                  <a:lnTo>
                    <a:pt x="8479241" y="334406"/>
                  </a:lnTo>
                  <a:lnTo>
                    <a:pt x="8440204" y="347764"/>
                  </a:lnTo>
                  <a:lnTo>
                    <a:pt x="64084" y="347764"/>
                  </a:lnTo>
                  <a:lnTo>
                    <a:pt x="25097" y="334556"/>
                  </a:lnTo>
                  <a:lnTo>
                    <a:pt x="2162" y="300243"/>
                  </a:lnTo>
                  <a:lnTo>
                    <a:pt x="0" y="283679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19684" y="3529077"/>
              <a:ext cx="2240915" cy="347980"/>
            </a:xfrm>
            <a:custGeom>
              <a:avLst/>
              <a:gdLst/>
              <a:ahLst/>
              <a:cxnLst/>
              <a:rect l="l" t="t" r="r" b="b"/>
              <a:pathLst>
                <a:path w="2240915" h="347979">
                  <a:moveTo>
                    <a:pt x="64439" y="0"/>
                  </a:moveTo>
                  <a:lnTo>
                    <a:pt x="25397" y="13364"/>
                  </a:lnTo>
                  <a:lnTo>
                    <a:pt x="2516" y="47524"/>
                  </a:lnTo>
                  <a:lnTo>
                    <a:pt x="0" y="283679"/>
                  </a:lnTo>
                  <a:lnTo>
                    <a:pt x="538" y="292029"/>
                  </a:lnTo>
                  <a:lnTo>
                    <a:pt x="18735" y="328910"/>
                  </a:lnTo>
                  <a:lnTo>
                    <a:pt x="55728" y="347223"/>
                  </a:lnTo>
                  <a:lnTo>
                    <a:pt x="64071" y="347764"/>
                  </a:lnTo>
                  <a:lnTo>
                    <a:pt x="2176551" y="347764"/>
                  </a:lnTo>
                  <a:lnTo>
                    <a:pt x="2215593" y="334406"/>
                  </a:lnTo>
                  <a:lnTo>
                    <a:pt x="2238475" y="300243"/>
                  </a:lnTo>
                  <a:lnTo>
                    <a:pt x="2240635" y="283679"/>
                  </a:lnTo>
                  <a:lnTo>
                    <a:pt x="2240612" y="64084"/>
                  </a:lnTo>
                  <a:lnTo>
                    <a:pt x="2227277" y="25402"/>
                  </a:lnTo>
                  <a:lnTo>
                    <a:pt x="2193115" y="2524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243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98779" y="3617902"/>
            <a:ext cx="3860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49DD7F"/>
                </a:solidFill>
                <a:latin typeface="Courier New"/>
                <a:cs typeface="Courier New"/>
              </a:rPr>
              <a:t>/test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638704" y="3617902"/>
            <a:ext cx="297561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your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suite.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Claude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reads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failures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and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proposes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fixes.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12966" y="3925216"/>
            <a:ext cx="8517255" cy="360680"/>
            <a:chOff x="312966" y="3925216"/>
            <a:chExt cx="8517255" cy="360680"/>
          </a:xfrm>
        </p:grpSpPr>
        <p:sp>
          <p:nvSpPr>
            <p:cNvPr id="48" name="object 48"/>
            <p:cNvSpPr/>
            <p:nvPr/>
          </p:nvSpPr>
          <p:spPr>
            <a:xfrm>
              <a:off x="319316" y="393156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283679"/>
                  </a:lnTo>
                  <a:lnTo>
                    <a:pt x="540" y="292022"/>
                  </a:lnTo>
                  <a:lnTo>
                    <a:pt x="18739" y="328898"/>
                  </a:lnTo>
                  <a:lnTo>
                    <a:pt x="55734" y="347212"/>
                  </a:lnTo>
                  <a:lnTo>
                    <a:pt x="64084" y="347751"/>
                  </a:lnTo>
                  <a:lnTo>
                    <a:pt x="8440204" y="347751"/>
                  </a:lnTo>
                  <a:lnTo>
                    <a:pt x="8479241" y="334393"/>
                  </a:lnTo>
                  <a:lnTo>
                    <a:pt x="8502126" y="300232"/>
                  </a:lnTo>
                  <a:lnTo>
                    <a:pt x="8504288" y="283679"/>
                  </a:lnTo>
                  <a:lnTo>
                    <a:pt x="8504264" y="64071"/>
                  </a:lnTo>
                  <a:lnTo>
                    <a:pt x="8490923" y="25397"/>
                  </a:lnTo>
                  <a:lnTo>
                    <a:pt x="845676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19316" y="393156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8440204" y="355"/>
                  </a:lnTo>
                  <a:lnTo>
                    <a:pt x="8479191" y="13563"/>
                  </a:lnTo>
                  <a:lnTo>
                    <a:pt x="8502126" y="47875"/>
                  </a:lnTo>
                  <a:lnTo>
                    <a:pt x="8504288" y="64439"/>
                  </a:lnTo>
                  <a:lnTo>
                    <a:pt x="8504288" y="283679"/>
                  </a:lnTo>
                  <a:lnTo>
                    <a:pt x="8503747" y="292022"/>
                  </a:lnTo>
                  <a:lnTo>
                    <a:pt x="8502126" y="300232"/>
                  </a:lnTo>
                  <a:lnTo>
                    <a:pt x="8479241" y="334393"/>
                  </a:lnTo>
                  <a:lnTo>
                    <a:pt x="8440204" y="347751"/>
                  </a:lnTo>
                  <a:lnTo>
                    <a:pt x="64084" y="347751"/>
                  </a:lnTo>
                  <a:lnTo>
                    <a:pt x="25097" y="334549"/>
                  </a:lnTo>
                  <a:lnTo>
                    <a:pt x="2162" y="300232"/>
                  </a:lnTo>
                  <a:lnTo>
                    <a:pt x="0" y="283679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19684" y="3931566"/>
              <a:ext cx="2240915" cy="347980"/>
            </a:xfrm>
            <a:custGeom>
              <a:avLst/>
              <a:gdLst/>
              <a:ahLst/>
              <a:cxnLst/>
              <a:rect l="l" t="t" r="r" b="b"/>
              <a:pathLst>
                <a:path w="2240915" h="347979">
                  <a:moveTo>
                    <a:pt x="64439" y="0"/>
                  </a:moveTo>
                  <a:lnTo>
                    <a:pt x="25397" y="13357"/>
                  </a:lnTo>
                  <a:lnTo>
                    <a:pt x="2516" y="47517"/>
                  </a:lnTo>
                  <a:lnTo>
                    <a:pt x="0" y="283679"/>
                  </a:lnTo>
                  <a:lnTo>
                    <a:pt x="538" y="292022"/>
                  </a:lnTo>
                  <a:lnTo>
                    <a:pt x="18731" y="328898"/>
                  </a:lnTo>
                  <a:lnTo>
                    <a:pt x="18851" y="329036"/>
                  </a:lnTo>
                  <a:lnTo>
                    <a:pt x="55728" y="347212"/>
                  </a:lnTo>
                  <a:lnTo>
                    <a:pt x="64071" y="347751"/>
                  </a:lnTo>
                  <a:lnTo>
                    <a:pt x="2176551" y="347751"/>
                  </a:lnTo>
                  <a:lnTo>
                    <a:pt x="2215593" y="334393"/>
                  </a:lnTo>
                  <a:lnTo>
                    <a:pt x="2238475" y="300232"/>
                  </a:lnTo>
                  <a:lnTo>
                    <a:pt x="2240635" y="283679"/>
                  </a:lnTo>
                  <a:lnTo>
                    <a:pt x="2240611" y="64071"/>
                  </a:lnTo>
                  <a:lnTo>
                    <a:pt x="2227277" y="25397"/>
                  </a:lnTo>
                  <a:lnTo>
                    <a:pt x="2193115" y="2516"/>
                  </a:lnTo>
                  <a:lnTo>
                    <a:pt x="2176551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243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98779" y="4020377"/>
            <a:ext cx="5308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49DD7F"/>
                </a:solidFill>
                <a:latin typeface="Courier New"/>
                <a:cs typeface="Courier New"/>
              </a:rPr>
              <a:t>/commit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638704" y="4020377"/>
            <a:ext cx="376301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Stage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and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commit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Claude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changes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with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an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AI-generated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commit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message.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12966" y="4327692"/>
            <a:ext cx="8517255" cy="360680"/>
            <a:chOff x="312966" y="4327692"/>
            <a:chExt cx="8517255" cy="360680"/>
          </a:xfrm>
        </p:grpSpPr>
        <p:sp>
          <p:nvSpPr>
            <p:cNvPr id="54" name="object 54"/>
            <p:cNvSpPr/>
            <p:nvPr/>
          </p:nvSpPr>
          <p:spPr>
            <a:xfrm>
              <a:off x="319316" y="4334042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283679"/>
                  </a:lnTo>
                  <a:lnTo>
                    <a:pt x="540" y="292027"/>
                  </a:lnTo>
                  <a:lnTo>
                    <a:pt x="18743" y="328904"/>
                  </a:lnTo>
                  <a:lnTo>
                    <a:pt x="55734" y="347223"/>
                  </a:lnTo>
                  <a:lnTo>
                    <a:pt x="64084" y="347764"/>
                  </a:lnTo>
                  <a:lnTo>
                    <a:pt x="8440204" y="347764"/>
                  </a:lnTo>
                  <a:lnTo>
                    <a:pt x="8479241" y="334399"/>
                  </a:lnTo>
                  <a:lnTo>
                    <a:pt x="8502126" y="300239"/>
                  </a:lnTo>
                  <a:lnTo>
                    <a:pt x="8504288" y="283679"/>
                  </a:lnTo>
                  <a:lnTo>
                    <a:pt x="8504265" y="64084"/>
                  </a:lnTo>
                  <a:lnTo>
                    <a:pt x="8490923" y="25402"/>
                  </a:lnTo>
                  <a:lnTo>
                    <a:pt x="8456763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19316" y="4334042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8440204" y="355"/>
                  </a:lnTo>
                  <a:lnTo>
                    <a:pt x="8479191" y="13570"/>
                  </a:lnTo>
                  <a:lnTo>
                    <a:pt x="8502126" y="47880"/>
                  </a:lnTo>
                  <a:lnTo>
                    <a:pt x="8504288" y="64439"/>
                  </a:lnTo>
                  <a:lnTo>
                    <a:pt x="8504288" y="283679"/>
                  </a:lnTo>
                  <a:lnTo>
                    <a:pt x="8503747" y="292027"/>
                  </a:lnTo>
                  <a:lnTo>
                    <a:pt x="8502126" y="300239"/>
                  </a:lnTo>
                  <a:lnTo>
                    <a:pt x="8479241" y="334399"/>
                  </a:lnTo>
                  <a:lnTo>
                    <a:pt x="8440204" y="347764"/>
                  </a:lnTo>
                  <a:lnTo>
                    <a:pt x="64084" y="347764"/>
                  </a:lnTo>
                  <a:lnTo>
                    <a:pt x="25097" y="334549"/>
                  </a:lnTo>
                  <a:lnTo>
                    <a:pt x="2162" y="300239"/>
                  </a:lnTo>
                  <a:lnTo>
                    <a:pt x="0" y="283679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19684" y="4334042"/>
              <a:ext cx="2240915" cy="347980"/>
            </a:xfrm>
            <a:custGeom>
              <a:avLst/>
              <a:gdLst/>
              <a:ahLst/>
              <a:cxnLst/>
              <a:rect l="l" t="t" r="r" b="b"/>
              <a:pathLst>
                <a:path w="2240915" h="347979">
                  <a:moveTo>
                    <a:pt x="64439" y="0"/>
                  </a:moveTo>
                  <a:lnTo>
                    <a:pt x="25397" y="13357"/>
                  </a:lnTo>
                  <a:lnTo>
                    <a:pt x="2516" y="47520"/>
                  </a:lnTo>
                  <a:lnTo>
                    <a:pt x="0" y="283679"/>
                  </a:lnTo>
                  <a:lnTo>
                    <a:pt x="538" y="292027"/>
                  </a:lnTo>
                  <a:lnTo>
                    <a:pt x="18735" y="328904"/>
                  </a:lnTo>
                  <a:lnTo>
                    <a:pt x="55728" y="347223"/>
                  </a:lnTo>
                  <a:lnTo>
                    <a:pt x="64071" y="347764"/>
                  </a:lnTo>
                  <a:lnTo>
                    <a:pt x="2176551" y="347764"/>
                  </a:lnTo>
                  <a:lnTo>
                    <a:pt x="2215593" y="334399"/>
                  </a:lnTo>
                  <a:lnTo>
                    <a:pt x="2238475" y="300239"/>
                  </a:lnTo>
                  <a:lnTo>
                    <a:pt x="2240635" y="283679"/>
                  </a:lnTo>
                  <a:lnTo>
                    <a:pt x="2240612" y="64084"/>
                  </a:lnTo>
                  <a:lnTo>
                    <a:pt x="2227277" y="25402"/>
                  </a:lnTo>
                  <a:lnTo>
                    <a:pt x="2193115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243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98779" y="4422866"/>
            <a:ext cx="505587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2345" algn="l"/>
              </a:tabLst>
            </a:pPr>
            <a:r>
              <a:rPr sz="950" b="1" dirty="0">
                <a:solidFill>
                  <a:srgbClr val="49DD7F"/>
                </a:solidFill>
                <a:latin typeface="Courier New"/>
                <a:cs typeface="Courier New"/>
              </a:rPr>
              <a:t>/search</a:t>
            </a:r>
            <a:r>
              <a:rPr sz="950" b="1" spc="-9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950" b="1" spc="-10" dirty="0">
                <a:solidFill>
                  <a:srgbClr val="49DD7F"/>
                </a:solidFill>
                <a:latin typeface="Courier New"/>
                <a:cs typeface="Courier New"/>
              </a:rPr>
              <a:t>&lt;term&gt;</a:t>
            </a:r>
            <a:r>
              <a:rPr sz="950" b="1" dirty="0">
                <a:solidFill>
                  <a:srgbClr val="49DD7F"/>
                </a:solidFill>
                <a:latin typeface="Courier New"/>
                <a:cs typeface="Courier New"/>
              </a:rPr>
              <a:t>	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Search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codebase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for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term.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Claude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uses</a:t>
            </a:r>
            <a:r>
              <a:rPr sz="95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results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as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context.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19672" y="4629495"/>
            <a:ext cx="8504555" cy="421056"/>
            <a:chOff x="319316" y="4663086"/>
            <a:chExt cx="8504555" cy="421056"/>
          </a:xfrm>
        </p:grpSpPr>
        <p:sp>
          <p:nvSpPr>
            <p:cNvPr id="59" name="object 59"/>
            <p:cNvSpPr/>
            <p:nvPr/>
          </p:nvSpPr>
          <p:spPr>
            <a:xfrm>
              <a:off x="319316" y="4736162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283679"/>
                  </a:lnTo>
                  <a:lnTo>
                    <a:pt x="540" y="292027"/>
                  </a:lnTo>
                  <a:lnTo>
                    <a:pt x="18743" y="328904"/>
                  </a:lnTo>
                  <a:lnTo>
                    <a:pt x="55734" y="347223"/>
                  </a:lnTo>
                  <a:lnTo>
                    <a:pt x="64084" y="347764"/>
                  </a:lnTo>
                  <a:lnTo>
                    <a:pt x="8440204" y="347764"/>
                  </a:lnTo>
                  <a:lnTo>
                    <a:pt x="8479241" y="334399"/>
                  </a:lnTo>
                  <a:lnTo>
                    <a:pt x="8502126" y="300239"/>
                  </a:lnTo>
                  <a:lnTo>
                    <a:pt x="8504288" y="283679"/>
                  </a:lnTo>
                  <a:lnTo>
                    <a:pt x="8504265" y="64084"/>
                  </a:lnTo>
                  <a:lnTo>
                    <a:pt x="8490923" y="25402"/>
                  </a:lnTo>
                  <a:lnTo>
                    <a:pt x="8456763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19316" y="4736162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8440204" y="355"/>
                  </a:lnTo>
                  <a:lnTo>
                    <a:pt x="8479191" y="13570"/>
                  </a:lnTo>
                  <a:lnTo>
                    <a:pt x="8502126" y="47880"/>
                  </a:lnTo>
                  <a:lnTo>
                    <a:pt x="8504288" y="64439"/>
                  </a:lnTo>
                  <a:lnTo>
                    <a:pt x="8504288" y="283679"/>
                  </a:lnTo>
                  <a:lnTo>
                    <a:pt x="8503747" y="292027"/>
                  </a:lnTo>
                  <a:lnTo>
                    <a:pt x="8502126" y="300239"/>
                  </a:lnTo>
                  <a:lnTo>
                    <a:pt x="8479241" y="334399"/>
                  </a:lnTo>
                  <a:lnTo>
                    <a:pt x="8440204" y="347764"/>
                  </a:lnTo>
                  <a:lnTo>
                    <a:pt x="64084" y="347764"/>
                  </a:lnTo>
                  <a:lnTo>
                    <a:pt x="25097" y="334549"/>
                  </a:lnTo>
                  <a:lnTo>
                    <a:pt x="2162" y="300239"/>
                  </a:lnTo>
                  <a:lnTo>
                    <a:pt x="0" y="283679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19684" y="4736162"/>
              <a:ext cx="2240915" cy="347980"/>
            </a:xfrm>
            <a:custGeom>
              <a:avLst/>
              <a:gdLst/>
              <a:ahLst/>
              <a:cxnLst/>
              <a:rect l="l" t="t" r="r" b="b"/>
              <a:pathLst>
                <a:path w="2240915" h="347979">
                  <a:moveTo>
                    <a:pt x="64439" y="0"/>
                  </a:moveTo>
                  <a:lnTo>
                    <a:pt x="25397" y="13357"/>
                  </a:lnTo>
                  <a:lnTo>
                    <a:pt x="2516" y="47520"/>
                  </a:lnTo>
                  <a:lnTo>
                    <a:pt x="0" y="283679"/>
                  </a:lnTo>
                  <a:lnTo>
                    <a:pt x="538" y="292027"/>
                  </a:lnTo>
                  <a:lnTo>
                    <a:pt x="18735" y="328904"/>
                  </a:lnTo>
                  <a:lnTo>
                    <a:pt x="55728" y="347223"/>
                  </a:lnTo>
                  <a:lnTo>
                    <a:pt x="64071" y="347764"/>
                  </a:lnTo>
                  <a:lnTo>
                    <a:pt x="2176551" y="347764"/>
                  </a:lnTo>
                  <a:lnTo>
                    <a:pt x="2215593" y="334399"/>
                  </a:lnTo>
                  <a:lnTo>
                    <a:pt x="2238475" y="300239"/>
                  </a:lnTo>
                  <a:lnTo>
                    <a:pt x="2240635" y="283679"/>
                  </a:lnTo>
                  <a:lnTo>
                    <a:pt x="2240612" y="64084"/>
                  </a:lnTo>
                  <a:lnTo>
                    <a:pt x="2227277" y="25402"/>
                  </a:lnTo>
                  <a:lnTo>
                    <a:pt x="2193115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243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19316" y="466591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398779" y="4730580"/>
            <a:ext cx="5250815" cy="264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7785">
              <a:lnSpc>
                <a:spcPts val="1025"/>
              </a:lnSpc>
              <a:spcBef>
                <a:spcPts val="114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Keyboard</a:t>
            </a:r>
            <a:r>
              <a:rPr sz="950" spc="-4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shortcut: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↑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arrow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Claude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Code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terminal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recalls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previous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prompts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just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like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bash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history.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ts val="844"/>
              </a:lnSpc>
              <a:tabLst>
                <a:tab pos="2252345" algn="l"/>
              </a:tabLst>
            </a:pPr>
            <a:r>
              <a:rPr sz="950" b="1" spc="-10" dirty="0">
                <a:solidFill>
                  <a:srgbClr val="49DD7F"/>
                </a:solidFill>
                <a:latin typeface="Courier New"/>
                <a:cs typeface="Courier New"/>
              </a:rPr>
              <a:t>/help</a:t>
            </a:r>
            <a:r>
              <a:rPr sz="950" b="1" dirty="0">
                <a:solidFill>
                  <a:srgbClr val="49DD7F"/>
                </a:solidFill>
                <a:latin typeface="Courier New"/>
                <a:cs typeface="Courier New"/>
              </a:rPr>
              <a:t>	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List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all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available</a:t>
            </a:r>
            <a:r>
              <a:rPr sz="9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commands.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Always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 up to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date.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14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60" dirty="0"/>
              <a:t> </a:t>
            </a:r>
            <a:r>
              <a:rPr dirty="0"/>
              <a:t>Daily</a:t>
            </a:r>
            <a:r>
              <a:rPr spc="-60" dirty="0"/>
              <a:t> </a:t>
            </a:r>
            <a:r>
              <a:rPr spc="-10" dirty="0"/>
              <a:t>Developer</a:t>
            </a:r>
            <a:r>
              <a:rPr spc="-55" dirty="0"/>
              <a:t> </a:t>
            </a:r>
            <a:r>
              <a:rPr spc="-10" dirty="0"/>
              <a:t>Workflow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31222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How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5" dirty="0">
                <a:solidFill>
                  <a:srgbClr val="9FBFFF"/>
                </a:solidFill>
                <a:latin typeface="Arial"/>
                <a:cs typeface="Arial"/>
              </a:rPr>
              <a:t>Claude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95" dirty="0">
                <a:solidFill>
                  <a:srgbClr val="9FBFFF"/>
                </a:solidFill>
                <a:latin typeface="Arial"/>
                <a:cs typeface="Arial"/>
              </a:rPr>
              <a:t>Code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fits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into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your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existing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development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2646" y="1038227"/>
            <a:ext cx="1334135" cy="3802379"/>
            <a:chOff x="242646" y="1038227"/>
            <a:chExt cx="1334135" cy="380237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1333804" cy="380232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19684" y="1115277"/>
              <a:ext cx="1143635" cy="3612515"/>
            </a:xfrm>
            <a:custGeom>
              <a:avLst/>
              <a:gdLst/>
              <a:ahLst/>
              <a:cxnLst/>
              <a:rect l="l" t="t" r="r" b="b"/>
              <a:pathLst>
                <a:path w="1143635" h="361251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502444"/>
                  </a:lnTo>
                  <a:lnTo>
                    <a:pt x="939" y="3516874"/>
                  </a:lnTo>
                  <a:lnTo>
                    <a:pt x="3735" y="3530931"/>
                  </a:lnTo>
                  <a:lnTo>
                    <a:pt x="8301" y="3544365"/>
                  </a:lnTo>
                  <a:lnTo>
                    <a:pt x="8352" y="3544515"/>
                  </a:lnTo>
                  <a:lnTo>
                    <a:pt x="32213" y="3580068"/>
                  </a:lnTo>
                  <a:lnTo>
                    <a:pt x="67882" y="3603890"/>
                  </a:lnTo>
                  <a:lnTo>
                    <a:pt x="109791" y="3612248"/>
                  </a:lnTo>
                  <a:lnTo>
                    <a:pt x="1033551" y="3612248"/>
                  </a:lnTo>
                  <a:lnTo>
                    <a:pt x="1075622" y="3603890"/>
                  </a:lnTo>
                  <a:lnTo>
                    <a:pt x="1111126" y="3580068"/>
                  </a:lnTo>
                  <a:lnTo>
                    <a:pt x="1134927" y="3544515"/>
                  </a:lnTo>
                  <a:lnTo>
                    <a:pt x="1143355" y="3502444"/>
                  </a:lnTo>
                  <a:lnTo>
                    <a:pt x="1143332" y="109804"/>
                  </a:lnTo>
                  <a:lnTo>
                    <a:pt x="1135002" y="68095"/>
                  </a:lnTo>
                  <a:lnTo>
                    <a:pt x="1111132" y="32535"/>
                  </a:lnTo>
                  <a:lnTo>
                    <a:pt x="1075472" y="8721"/>
                  </a:lnTo>
                  <a:lnTo>
                    <a:pt x="103355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9684" y="1115277"/>
              <a:ext cx="1143635" cy="3612515"/>
            </a:xfrm>
            <a:custGeom>
              <a:avLst/>
              <a:gdLst/>
              <a:ahLst/>
              <a:cxnLst/>
              <a:rect l="l" t="t" r="r" b="b"/>
              <a:pathLst>
                <a:path w="1143635" h="361251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033551" y="368"/>
                  </a:lnTo>
                  <a:lnTo>
                    <a:pt x="1075472" y="8721"/>
                  </a:lnTo>
                  <a:lnTo>
                    <a:pt x="1111132" y="32535"/>
                  </a:lnTo>
                  <a:lnTo>
                    <a:pt x="1135002" y="68095"/>
                  </a:lnTo>
                  <a:lnTo>
                    <a:pt x="1143355" y="110159"/>
                  </a:lnTo>
                  <a:lnTo>
                    <a:pt x="1143355" y="3502444"/>
                  </a:lnTo>
                  <a:lnTo>
                    <a:pt x="1142415" y="3516868"/>
                  </a:lnTo>
                  <a:lnTo>
                    <a:pt x="1139620" y="3530887"/>
                  </a:lnTo>
                  <a:lnTo>
                    <a:pt x="1120578" y="3569237"/>
                  </a:lnTo>
                  <a:lnTo>
                    <a:pt x="1088631" y="3597478"/>
                  </a:lnTo>
                  <a:lnTo>
                    <a:pt x="1047981" y="3611308"/>
                  </a:lnTo>
                  <a:lnTo>
                    <a:pt x="1033551" y="3612248"/>
                  </a:lnTo>
                  <a:lnTo>
                    <a:pt x="109791" y="3612248"/>
                  </a:lnTo>
                  <a:lnTo>
                    <a:pt x="67882" y="3603890"/>
                  </a:lnTo>
                  <a:lnTo>
                    <a:pt x="32213" y="3580068"/>
                  </a:lnTo>
                  <a:lnTo>
                    <a:pt x="8352" y="3544515"/>
                  </a:lnTo>
                  <a:lnTo>
                    <a:pt x="0" y="350244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10259" y="1306705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8497" y="1700246"/>
            <a:ext cx="37465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🌅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8777" y="2341348"/>
            <a:ext cx="6343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D283A"/>
                </a:solidFill>
                <a:latin typeface="Calibri"/>
                <a:cs typeface="Calibri"/>
              </a:rPr>
              <a:t>Start Session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8340" y="3004098"/>
            <a:ext cx="101473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 marR="95250" algn="ctr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cd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465468"/>
                </a:solidFill>
                <a:latin typeface="Calibri"/>
                <a:cs typeface="Calibri"/>
              </a:rPr>
              <a:t>wamy-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finance </a:t>
            </a:r>
            <a:r>
              <a:rPr sz="750" spc="-25" dirty="0">
                <a:solidFill>
                  <a:srgbClr val="465468"/>
                </a:solidFill>
                <a:latin typeface="Calibri"/>
                <a:cs typeface="Calibri"/>
              </a:rPr>
              <a:t>&amp;&amp;</a:t>
            </a:r>
            <a:r>
              <a:rPr sz="7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claude</a:t>
            </a:r>
            <a:endParaRPr sz="75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</a:pP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Claude</a:t>
            </a:r>
            <a:r>
              <a:rPr sz="750" spc="-3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reads</a:t>
            </a:r>
            <a:r>
              <a:rPr sz="750" spc="-3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CLAUDE.md</a:t>
            </a:r>
            <a:r>
              <a:rPr sz="7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automatically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49984" y="2638693"/>
            <a:ext cx="163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34" dirty="0">
                <a:solidFill>
                  <a:srgbClr val="0C9387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86077" y="1038227"/>
            <a:ext cx="1334135" cy="3802379"/>
            <a:chOff x="1486077" y="1038227"/>
            <a:chExt cx="1334135" cy="3802379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6077" y="1038227"/>
              <a:ext cx="1333804" cy="380232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563115" y="1115277"/>
              <a:ext cx="1143635" cy="3612515"/>
            </a:xfrm>
            <a:custGeom>
              <a:avLst/>
              <a:gdLst/>
              <a:ahLst/>
              <a:cxnLst/>
              <a:rect l="l" t="t" r="r" b="b"/>
              <a:pathLst>
                <a:path w="1143635" h="361251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3502444"/>
                  </a:lnTo>
                  <a:lnTo>
                    <a:pt x="939" y="3516874"/>
                  </a:lnTo>
                  <a:lnTo>
                    <a:pt x="3736" y="3530931"/>
                  </a:lnTo>
                  <a:lnTo>
                    <a:pt x="8307" y="3544365"/>
                  </a:lnTo>
                  <a:lnTo>
                    <a:pt x="8358" y="3544515"/>
                  </a:lnTo>
                  <a:lnTo>
                    <a:pt x="32224" y="3580068"/>
                  </a:lnTo>
                  <a:lnTo>
                    <a:pt x="67882" y="3603890"/>
                  </a:lnTo>
                  <a:lnTo>
                    <a:pt x="109804" y="3612248"/>
                  </a:lnTo>
                  <a:lnTo>
                    <a:pt x="1033564" y="3612248"/>
                  </a:lnTo>
                  <a:lnTo>
                    <a:pt x="1075635" y="3603890"/>
                  </a:lnTo>
                  <a:lnTo>
                    <a:pt x="1111137" y="3580068"/>
                  </a:lnTo>
                  <a:lnTo>
                    <a:pt x="1134934" y="3544515"/>
                  </a:lnTo>
                  <a:lnTo>
                    <a:pt x="1143368" y="3502444"/>
                  </a:lnTo>
                  <a:lnTo>
                    <a:pt x="1143345" y="109804"/>
                  </a:lnTo>
                  <a:lnTo>
                    <a:pt x="1135010" y="68095"/>
                  </a:lnTo>
                  <a:lnTo>
                    <a:pt x="1111143" y="32535"/>
                  </a:lnTo>
                  <a:lnTo>
                    <a:pt x="1075485" y="8721"/>
                  </a:lnTo>
                  <a:lnTo>
                    <a:pt x="10335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63115" y="1115277"/>
              <a:ext cx="1143635" cy="3612515"/>
            </a:xfrm>
            <a:custGeom>
              <a:avLst/>
              <a:gdLst/>
              <a:ahLst/>
              <a:cxnLst/>
              <a:rect l="l" t="t" r="r" b="b"/>
              <a:pathLst>
                <a:path w="1143635" h="361251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033564" y="368"/>
                  </a:lnTo>
                  <a:lnTo>
                    <a:pt x="1075485" y="8721"/>
                  </a:lnTo>
                  <a:lnTo>
                    <a:pt x="1111143" y="32535"/>
                  </a:lnTo>
                  <a:lnTo>
                    <a:pt x="1135010" y="68095"/>
                  </a:lnTo>
                  <a:lnTo>
                    <a:pt x="1143368" y="110159"/>
                  </a:lnTo>
                  <a:lnTo>
                    <a:pt x="1143368" y="3502444"/>
                  </a:lnTo>
                  <a:lnTo>
                    <a:pt x="1142428" y="3516868"/>
                  </a:lnTo>
                  <a:lnTo>
                    <a:pt x="1139631" y="3530887"/>
                  </a:lnTo>
                  <a:lnTo>
                    <a:pt x="1120585" y="3569237"/>
                  </a:lnTo>
                  <a:lnTo>
                    <a:pt x="1088644" y="3597478"/>
                  </a:lnTo>
                  <a:lnTo>
                    <a:pt x="1047994" y="3611308"/>
                  </a:lnTo>
                  <a:lnTo>
                    <a:pt x="1033564" y="3612248"/>
                  </a:lnTo>
                  <a:lnTo>
                    <a:pt x="109804" y="3612248"/>
                  </a:lnTo>
                  <a:lnTo>
                    <a:pt x="67882" y="3603890"/>
                  </a:lnTo>
                  <a:lnTo>
                    <a:pt x="32224" y="3580068"/>
                  </a:lnTo>
                  <a:lnTo>
                    <a:pt x="8358" y="3544515"/>
                  </a:lnTo>
                  <a:lnTo>
                    <a:pt x="0" y="350244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054059" y="1306705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21941" y="1700246"/>
            <a:ext cx="37465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📋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06384" y="2341348"/>
            <a:ext cx="6661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D283A"/>
                </a:solidFill>
                <a:latin typeface="Calibri"/>
                <a:cs typeface="Calibri"/>
              </a:rPr>
              <a:t>Describe</a:t>
            </a:r>
            <a:r>
              <a:rPr sz="900" b="1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1D283A"/>
                </a:solidFill>
                <a:latin typeface="Calibri"/>
                <a:cs typeface="Calibri"/>
              </a:rPr>
              <a:t>Task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20342" y="3004098"/>
            <a:ext cx="83756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935" marR="5080" indent="-22987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Type</a:t>
            </a:r>
            <a:r>
              <a:rPr sz="7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in</a:t>
            </a:r>
            <a:r>
              <a:rPr sz="7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plain</a:t>
            </a:r>
            <a:r>
              <a:rPr sz="7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English:</a:t>
            </a:r>
            <a:r>
              <a:rPr sz="7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'Add</a:t>
            </a:r>
            <a:r>
              <a:rPr sz="75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465468"/>
                </a:solidFill>
                <a:latin typeface="Calibri"/>
                <a:cs typeface="Calibri"/>
              </a:rPr>
              <a:t>GET</a:t>
            </a:r>
            <a:endParaRPr sz="750">
              <a:latin typeface="Calibri"/>
              <a:cs typeface="Calibri"/>
            </a:endParaRPr>
          </a:p>
          <a:p>
            <a:pPr marL="231775" marR="54610" indent="-170180">
              <a:lnSpc>
                <a:spcPct val="100000"/>
              </a:lnSpc>
            </a:pP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/api/v1/reports/pl</a:t>
            </a:r>
            <a:r>
              <a:rPr sz="7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endpoint'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93416" y="2638693"/>
            <a:ext cx="163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34" dirty="0">
                <a:solidFill>
                  <a:srgbClr val="0C9387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29877" y="1038227"/>
            <a:ext cx="1334135" cy="3802379"/>
            <a:chOff x="2729877" y="1038227"/>
            <a:chExt cx="1334135" cy="3802379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9877" y="1038227"/>
              <a:ext cx="1333804" cy="380232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806915" y="1115277"/>
              <a:ext cx="1143635" cy="3612515"/>
            </a:xfrm>
            <a:custGeom>
              <a:avLst/>
              <a:gdLst/>
              <a:ahLst/>
              <a:cxnLst/>
              <a:rect l="l" t="t" r="r" b="b"/>
              <a:pathLst>
                <a:path w="1143635" h="361251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3502444"/>
                  </a:lnTo>
                  <a:lnTo>
                    <a:pt x="939" y="3516874"/>
                  </a:lnTo>
                  <a:lnTo>
                    <a:pt x="14770" y="3557524"/>
                  </a:lnTo>
                  <a:lnTo>
                    <a:pt x="43011" y="3589465"/>
                  </a:lnTo>
                  <a:lnTo>
                    <a:pt x="81360" y="3608511"/>
                  </a:lnTo>
                  <a:lnTo>
                    <a:pt x="109804" y="3612248"/>
                  </a:lnTo>
                  <a:lnTo>
                    <a:pt x="1033564" y="3612248"/>
                  </a:lnTo>
                  <a:lnTo>
                    <a:pt x="1075635" y="3603890"/>
                  </a:lnTo>
                  <a:lnTo>
                    <a:pt x="1111137" y="3580068"/>
                  </a:lnTo>
                  <a:lnTo>
                    <a:pt x="1134934" y="3544515"/>
                  </a:lnTo>
                  <a:lnTo>
                    <a:pt x="1143368" y="3502444"/>
                  </a:lnTo>
                  <a:lnTo>
                    <a:pt x="1143345" y="109804"/>
                  </a:lnTo>
                  <a:lnTo>
                    <a:pt x="1135010" y="68095"/>
                  </a:lnTo>
                  <a:lnTo>
                    <a:pt x="1111143" y="32535"/>
                  </a:lnTo>
                  <a:lnTo>
                    <a:pt x="1075485" y="8721"/>
                  </a:lnTo>
                  <a:lnTo>
                    <a:pt x="10335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06915" y="1115277"/>
              <a:ext cx="1143635" cy="3612515"/>
            </a:xfrm>
            <a:custGeom>
              <a:avLst/>
              <a:gdLst/>
              <a:ahLst/>
              <a:cxnLst/>
              <a:rect l="l" t="t" r="r" b="b"/>
              <a:pathLst>
                <a:path w="1143635" h="361251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033564" y="368"/>
                  </a:lnTo>
                  <a:lnTo>
                    <a:pt x="1075485" y="8721"/>
                  </a:lnTo>
                  <a:lnTo>
                    <a:pt x="1111143" y="32535"/>
                  </a:lnTo>
                  <a:lnTo>
                    <a:pt x="1135010" y="68095"/>
                  </a:lnTo>
                  <a:lnTo>
                    <a:pt x="1143368" y="110159"/>
                  </a:lnTo>
                  <a:lnTo>
                    <a:pt x="1143368" y="3502444"/>
                  </a:lnTo>
                  <a:lnTo>
                    <a:pt x="1142428" y="3516868"/>
                  </a:lnTo>
                  <a:lnTo>
                    <a:pt x="1139631" y="3530887"/>
                  </a:lnTo>
                  <a:lnTo>
                    <a:pt x="1120585" y="3569237"/>
                  </a:lnTo>
                  <a:lnTo>
                    <a:pt x="1088644" y="3597478"/>
                  </a:lnTo>
                  <a:lnTo>
                    <a:pt x="1047994" y="3611308"/>
                  </a:lnTo>
                  <a:lnTo>
                    <a:pt x="1033564" y="3612248"/>
                  </a:lnTo>
                  <a:lnTo>
                    <a:pt x="109804" y="3612248"/>
                  </a:lnTo>
                  <a:lnTo>
                    <a:pt x="67882" y="3603890"/>
                  </a:lnTo>
                  <a:lnTo>
                    <a:pt x="32224" y="3580068"/>
                  </a:lnTo>
                  <a:lnTo>
                    <a:pt x="8358" y="3544515"/>
                  </a:lnTo>
                  <a:lnTo>
                    <a:pt x="0" y="350244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297504" y="1306705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65741" y="1700246"/>
            <a:ext cx="37465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🤖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52978" y="2341348"/>
            <a:ext cx="8610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D283A"/>
                </a:solidFill>
                <a:latin typeface="Calibri"/>
                <a:cs typeface="Calibri"/>
              </a:rPr>
              <a:t>Claude</a:t>
            </a:r>
            <a:r>
              <a:rPr sz="900" b="1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D283A"/>
                </a:solidFill>
                <a:latin typeface="Calibri"/>
                <a:cs typeface="Calibri"/>
              </a:rPr>
              <a:t>Generates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50095" y="3004098"/>
            <a:ext cx="864869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Claude</a:t>
            </a:r>
            <a:r>
              <a:rPr sz="750" spc="-3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reads</a:t>
            </a:r>
            <a:r>
              <a:rPr sz="750" spc="-3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context,</a:t>
            </a:r>
            <a:r>
              <a:rPr sz="7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generates</a:t>
            </a:r>
            <a:endParaRPr sz="750">
              <a:latin typeface="Calibri"/>
              <a:cs typeface="Calibri"/>
            </a:endParaRPr>
          </a:p>
          <a:p>
            <a:pPr marL="16510" marR="8890" algn="ctr">
              <a:lnSpc>
                <a:spcPct val="100000"/>
              </a:lnSpc>
            </a:pP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Controller</a:t>
            </a:r>
            <a:r>
              <a:rPr sz="750" spc="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7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Service</a:t>
            </a:r>
            <a:r>
              <a:rPr sz="750" spc="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7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Repository</a:t>
            </a:r>
            <a:r>
              <a:rPr sz="750" spc="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750" spc="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Tests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37215" y="2638693"/>
            <a:ext cx="163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34" dirty="0">
                <a:solidFill>
                  <a:srgbClr val="0C9387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973321" y="1038227"/>
            <a:ext cx="1334135" cy="3802379"/>
            <a:chOff x="3973321" y="1038227"/>
            <a:chExt cx="1334135" cy="3802379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73321" y="1038227"/>
              <a:ext cx="1333804" cy="380232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050360" y="1115277"/>
              <a:ext cx="1143635" cy="3612515"/>
            </a:xfrm>
            <a:custGeom>
              <a:avLst/>
              <a:gdLst/>
              <a:ahLst/>
              <a:cxnLst/>
              <a:rect l="l" t="t" r="r" b="b"/>
              <a:pathLst>
                <a:path w="1143635" h="3612515">
                  <a:moveTo>
                    <a:pt x="110159" y="0"/>
                  </a:moveTo>
                  <a:lnTo>
                    <a:pt x="68088" y="8358"/>
                  </a:lnTo>
                  <a:lnTo>
                    <a:pt x="32535" y="32224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3502444"/>
                  </a:lnTo>
                  <a:lnTo>
                    <a:pt x="939" y="3516874"/>
                  </a:lnTo>
                  <a:lnTo>
                    <a:pt x="14757" y="3557524"/>
                  </a:lnTo>
                  <a:lnTo>
                    <a:pt x="43010" y="3589465"/>
                  </a:lnTo>
                  <a:lnTo>
                    <a:pt x="81360" y="3608511"/>
                  </a:lnTo>
                  <a:lnTo>
                    <a:pt x="109804" y="3612248"/>
                  </a:lnTo>
                  <a:lnTo>
                    <a:pt x="1033564" y="3612248"/>
                  </a:lnTo>
                  <a:lnTo>
                    <a:pt x="1075628" y="3603890"/>
                  </a:lnTo>
                  <a:lnTo>
                    <a:pt x="1111137" y="3580068"/>
                  </a:lnTo>
                  <a:lnTo>
                    <a:pt x="1134927" y="3544515"/>
                  </a:lnTo>
                  <a:lnTo>
                    <a:pt x="1135002" y="3544365"/>
                  </a:lnTo>
                  <a:lnTo>
                    <a:pt x="1139604" y="3530931"/>
                  </a:lnTo>
                  <a:lnTo>
                    <a:pt x="1142414" y="3516874"/>
                  </a:lnTo>
                  <a:lnTo>
                    <a:pt x="1143355" y="3502444"/>
                  </a:lnTo>
                  <a:lnTo>
                    <a:pt x="1143332" y="109804"/>
                  </a:lnTo>
                  <a:lnTo>
                    <a:pt x="1135002" y="68095"/>
                  </a:lnTo>
                  <a:lnTo>
                    <a:pt x="1111142" y="32535"/>
                  </a:lnTo>
                  <a:lnTo>
                    <a:pt x="1075472" y="8721"/>
                  </a:lnTo>
                  <a:lnTo>
                    <a:pt x="10335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050360" y="1115277"/>
              <a:ext cx="1143635" cy="3612515"/>
            </a:xfrm>
            <a:custGeom>
              <a:avLst/>
              <a:gdLst/>
              <a:ahLst/>
              <a:cxnLst/>
              <a:rect l="l" t="t" r="r" b="b"/>
              <a:pathLst>
                <a:path w="1143635" h="3612515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033564" y="368"/>
                  </a:lnTo>
                  <a:lnTo>
                    <a:pt x="1075472" y="8721"/>
                  </a:lnTo>
                  <a:lnTo>
                    <a:pt x="1111142" y="32535"/>
                  </a:lnTo>
                  <a:lnTo>
                    <a:pt x="1135002" y="68095"/>
                  </a:lnTo>
                  <a:lnTo>
                    <a:pt x="1143355" y="110159"/>
                  </a:lnTo>
                  <a:lnTo>
                    <a:pt x="1143355" y="3502444"/>
                  </a:lnTo>
                  <a:lnTo>
                    <a:pt x="1142415" y="3516868"/>
                  </a:lnTo>
                  <a:lnTo>
                    <a:pt x="1139620" y="3530887"/>
                  </a:lnTo>
                  <a:lnTo>
                    <a:pt x="1120585" y="3569237"/>
                  </a:lnTo>
                  <a:lnTo>
                    <a:pt x="1088644" y="3597478"/>
                  </a:lnTo>
                  <a:lnTo>
                    <a:pt x="1047987" y="3611308"/>
                  </a:lnTo>
                  <a:lnTo>
                    <a:pt x="1033564" y="3612248"/>
                  </a:lnTo>
                  <a:lnTo>
                    <a:pt x="109804" y="3612248"/>
                  </a:lnTo>
                  <a:lnTo>
                    <a:pt x="67882" y="3603890"/>
                  </a:lnTo>
                  <a:lnTo>
                    <a:pt x="32223" y="3580068"/>
                  </a:lnTo>
                  <a:lnTo>
                    <a:pt x="8352" y="3544515"/>
                  </a:lnTo>
                  <a:lnTo>
                    <a:pt x="0" y="350244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540935" y="1306705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09185" y="1700246"/>
            <a:ext cx="37465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🔍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44377" y="2341348"/>
            <a:ext cx="5645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D283A"/>
                </a:solidFill>
                <a:latin typeface="Calibri"/>
                <a:cs typeface="Calibri"/>
              </a:rPr>
              <a:t>Review </a:t>
            </a:r>
            <a:r>
              <a:rPr sz="900" b="1" spc="-20" dirty="0">
                <a:solidFill>
                  <a:srgbClr val="1D283A"/>
                </a:solidFill>
                <a:latin typeface="Calibri"/>
                <a:cs typeface="Calibri"/>
              </a:rPr>
              <a:t>Diff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09300" y="3118575"/>
            <a:ext cx="103505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 marR="5080" indent="-4318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Review</a:t>
            </a:r>
            <a:r>
              <a:rPr sz="7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every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changed</a:t>
            </a:r>
            <a:r>
              <a:rPr sz="750" spc="-20" dirty="0">
                <a:solidFill>
                  <a:srgbClr val="465468"/>
                </a:solidFill>
                <a:latin typeface="Calibri"/>
                <a:cs typeface="Calibri"/>
              </a:rPr>
              <a:t> file</a:t>
            </a:r>
            <a:r>
              <a:rPr sz="7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Accept</a:t>
            </a:r>
            <a:r>
              <a:rPr sz="7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/</a:t>
            </a:r>
            <a:r>
              <a:rPr sz="7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reject</a:t>
            </a:r>
            <a:r>
              <a:rPr sz="7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/</a:t>
            </a:r>
            <a:r>
              <a:rPr sz="7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modify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180660" y="2638693"/>
            <a:ext cx="163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34" dirty="0">
                <a:solidFill>
                  <a:srgbClr val="0C9387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217121" y="1038227"/>
            <a:ext cx="1334135" cy="3802379"/>
            <a:chOff x="5217121" y="1038227"/>
            <a:chExt cx="1334135" cy="3802379"/>
          </a:xfrm>
        </p:grpSpPr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7121" y="1038227"/>
              <a:ext cx="1333804" cy="380232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294160" y="1115277"/>
              <a:ext cx="1143635" cy="3612515"/>
            </a:xfrm>
            <a:custGeom>
              <a:avLst/>
              <a:gdLst/>
              <a:ahLst/>
              <a:cxnLst/>
              <a:rect l="l" t="t" r="r" b="b"/>
              <a:pathLst>
                <a:path w="1143635" h="3612515">
                  <a:moveTo>
                    <a:pt x="110159" y="0"/>
                  </a:moveTo>
                  <a:lnTo>
                    <a:pt x="68088" y="8358"/>
                  </a:lnTo>
                  <a:lnTo>
                    <a:pt x="32535" y="32224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3502444"/>
                  </a:lnTo>
                  <a:lnTo>
                    <a:pt x="939" y="3516874"/>
                  </a:lnTo>
                  <a:lnTo>
                    <a:pt x="14757" y="3557524"/>
                  </a:lnTo>
                  <a:lnTo>
                    <a:pt x="43010" y="3589465"/>
                  </a:lnTo>
                  <a:lnTo>
                    <a:pt x="81360" y="3608511"/>
                  </a:lnTo>
                  <a:lnTo>
                    <a:pt x="109804" y="3612248"/>
                  </a:lnTo>
                  <a:lnTo>
                    <a:pt x="1033564" y="3612248"/>
                  </a:lnTo>
                  <a:lnTo>
                    <a:pt x="1075628" y="3603890"/>
                  </a:lnTo>
                  <a:lnTo>
                    <a:pt x="1111137" y="3580068"/>
                  </a:lnTo>
                  <a:lnTo>
                    <a:pt x="1134927" y="3544515"/>
                  </a:lnTo>
                  <a:lnTo>
                    <a:pt x="1135002" y="3544365"/>
                  </a:lnTo>
                  <a:lnTo>
                    <a:pt x="1139604" y="3530931"/>
                  </a:lnTo>
                  <a:lnTo>
                    <a:pt x="1142414" y="3516874"/>
                  </a:lnTo>
                  <a:lnTo>
                    <a:pt x="1143355" y="3502444"/>
                  </a:lnTo>
                  <a:lnTo>
                    <a:pt x="1143332" y="109804"/>
                  </a:lnTo>
                  <a:lnTo>
                    <a:pt x="1135002" y="68095"/>
                  </a:lnTo>
                  <a:lnTo>
                    <a:pt x="1111142" y="32535"/>
                  </a:lnTo>
                  <a:lnTo>
                    <a:pt x="1075472" y="8721"/>
                  </a:lnTo>
                  <a:lnTo>
                    <a:pt x="10335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294160" y="1115277"/>
              <a:ext cx="1143635" cy="3612515"/>
            </a:xfrm>
            <a:custGeom>
              <a:avLst/>
              <a:gdLst/>
              <a:ahLst/>
              <a:cxnLst/>
              <a:rect l="l" t="t" r="r" b="b"/>
              <a:pathLst>
                <a:path w="1143635" h="3612515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033564" y="368"/>
                  </a:lnTo>
                  <a:lnTo>
                    <a:pt x="1075472" y="8721"/>
                  </a:lnTo>
                  <a:lnTo>
                    <a:pt x="1111142" y="32535"/>
                  </a:lnTo>
                  <a:lnTo>
                    <a:pt x="1135002" y="68095"/>
                  </a:lnTo>
                  <a:lnTo>
                    <a:pt x="1143355" y="110159"/>
                  </a:lnTo>
                  <a:lnTo>
                    <a:pt x="1143355" y="3502444"/>
                  </a:lnTo>
                  <a:lnTo>
                    <a:pt x="1142415" y="3516868"/>
                  </a:lnTo>
                  <a:lnTo>
                    <a:pt x="1139620" y="3530887"/>
                  </a:lnTo>
                  <a:lnTo>
                    <a:pt x="1120585" y="3569237"/>
                  </a:lnTo>
                  <a:lnTo>
                    <a:pt x="1088644" y="3597478"/>
                  </a:lnTo>
                  <a:lnTo>
                    <a:pt x="1047987" y="3611308"/>
                  </a:lnTo>
                  <a:lnTo>
                    <a:pt x="1033564" y="3612248"/>
                  </a:lnTo>
                  <a:lnTo>
                    <a:pt x="109804" y="3612248"/>
                  </a:lnTo>
                  <a:lnTo>
                    <a:pt x="67882" y="3603890"/>
                  </a:lnTo>
                  <a:lnTo>
                    <a:pt x="32223" y="3580068"/>
                  </a:lnTo>
                  <a:lnTo>
                    <a:pt x="8352" y="3544515"/>
                  </a:lnTo>
                  <a:lnTo>
                    <a:pt x="0" y="350244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784735" y="1306705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652985" y="1700246"/>
            <a:ext cx="37465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🧪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633897" y="2341348"/>
            <a:ext cx="4724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D283A"/>
                </a:solidFill>
                <a:latin typeface="Calibri"/>
                <a:cs typeface="Calibri"/>
              </a:rPr>
              <a:t>Run</a:t>
            </a:r>
            <a:r>
              <a:rPr sz="900" b="1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D283A"/>
                </a:solidFill>
                <a:latin typeface="Calibri"/>
                <a:cs typeface="Calibri"/>
              </a:rPr>
              <a:t>Tests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380101" y="3004098"/>
            <a:ext cx="97853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 marR="72390" algn="ctr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/test</a:t>
            </a:r>
            <a:r>
              <a:rPr sz="7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7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Claude</a:t>
            </a:r>
            <a:r>
              <a:rPr sz="7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reads</a:t>
            </a:r>
            <a:r>
              <a:rPr sz="7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failures</a:t>
            </a:r>
            <a:endParaRPr sz="75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</a:pP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and</a:t>
            </a:r>
            <a:r>
              <a:rPr sz="75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auto-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fixes</a:t>
            </a:r>
            <a:r>
              <a:rPr sz="7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until</a:t>
            </a:r>
            <a:r>
              <a:rPr sz="75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465468"/>
                </a:solidFill>
                <a:latin typeface="Calibri"/>
                <a:cs typeface="Calibri"/>
              </a:rPr>
              <a:t>tests</a:t>
            </a:r>
            <a:r>
              <a:rPr sz="7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465468"/>
                </a:solidFill>
                <a:latin typeface="Calibri"/>
                <a:cs typeface="Calibri"/>
              </a:rPr>
              <a:t>pass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424460" y="2638693"/>
            <a:ext cx="163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34" dirty="0">
                <a:solidFill>
                  <a:srgbClr val="0C9387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460566" y="1038227"/>
            <a:ext cx="1334135" cy="3802379"/>
            <a:chOff x="6460566" y="1038227"/>
            <a:chExt cx="1334135" cy="3802379"/>
          </a:xfrm>
        </p:grpSpPr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0566" y="1038227"/>
              <a:ext cx="1333804" cy="380232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537604" y="1115277"/>
              <a:ext cx="1143635" cy="3612515"/>
            </a:xfrm>
            <a:custGeom>
              <a:avLst/>
              <a:gdLst/>
              <a:ahLst/>
              <a:cxnLst/>
              <a:rect l="l" t="t" r="r" b="b"/>
              <a:pathLst>
                <a:path w="1143634" h="361251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502444"/>
                  </a:lnTo>
                  <a:lnTo>
                    <a:pt x="939" y="3516874"/>
                  </a:lnTo>
                  <a:lnTo>
                    <a:pt x="14757" y="3557524"/>
                  </a:lnTo>
                  <a:lnTo>
                    <a:pt x="22674" y="3569237"/>
                  </a:lnTo>
                  <a:lnTo>
                    <a:pt x="22775" y="3569387"/>
                  </a:lnTo>
                  <a:lnTo>
                    <a:pt x="55079" y="3597478"/>
                  </a:lnTo>
                  <a:lnTo>
                    <a:pt x="95374" y="3611308"/>
                  </a:lnTo>
                  <a:lnTo>
                    <a:pt x="109791" y="3612248"/>
                  </a:lnTo>
                  <a:lnTo>
                    <a:pt x="1033551" y="3612248"/>
                  </a:lnTo>
                  <a:lnTo>
                    <a:pt x="1075622" y="3603890"/>
                  </a:lnTo>
                  <a:lnTo>
                    <a:pt x="1111126" y="3580068"/>
                  </a:lnTo>
                  <a:lnTo>
                    <a:pt x="1134927" y="3544515"/>
                  </a:lnTo>
                  <a:lnTo>
                    <a:pt x="1143355" y="3502444"/>
                  </a:lnTo>
                  <a:lnTo>
                    <a:pt x="1143332" y="109804"/>
                  </a:lnTo>
                  <a:lnTo>
                    <a:pt x="1135002" y="68095"/>
                  </a:lnTo>
                  <a:lnTo>
                    <a:pt x="1111132" y="32535"/>
                  </a:lnTo>
                  <a:lnTo>
                    <a:pt x="1075472" y="8721"/>
                  </a:lnTo>
                  <a:lnTo>
                    <a:pt x="103355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537604" y="1115277"/>
              <a:ext cx="1143635" cy="3612515"/>
            </a:xfrm>
            <a:custGeom>
              <a:avLst/>
              <a:gdLst/>
              <a:ahLst/>
              <a:cxnLst/>
              <a:rect l="l" t="t" r="r" b="b"/>
              <a:pathLst>
                <a:path w="1143634" h="361251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033551" y="368"/>
                  </a:lnTo>
                  <a:lnTo>
                    <a:pt x="1075472" y="8721"/>
                  </a:lnTo>
                  <a:lnTo>
                    <a:pt x="1111132" y="32535"/>
                  </a:lnTo>
                  <a:lnTo>
                    <a:pt x="1135002" y="68095"/>
                  </a:lnTo>
                  <a:lnTo>
                    <a:pt x="1143355" y="110159"/>
                  </a:lnTo>
                  <a:lnTo>
                    <a:pt x="1143355" y="3502444"/>
                  </a:lnTo>
                  <a:lnTo>
                    <a:pt x="1142415" y="3516868"/>
                  </a:lnTo>
                  <a:lnTo>
                    <a:pt x="1139620" y="3530887"/>
                  </a:lnTo>
                  <a:lnTo>
                    <a:pt x="1120578" y="3569237"/>
                  </a:lnTo>
                  <a:lnTo>
                    <a:pt x="1088631" y="3597478"/>
                  </a:lnTo>
                  <a:lnTo>
                    <a:pt x="1047981" y="3611308"/>
                  </a:lnTo>
                  <a:lnTo>
                    <a:pt x="1033551" y="3612248"/>
                  </a:lnTo>
                  <a:lnTo>
                    <a:pt x="109791" y="3612248"/>
                  </a:lnTo>
                  <a:lnTo>
                    <a:pt x="67882" y="3603890"/>
                  </a:lnTo>
                  <a:lnTo>
                    <a:pt x="32213" y="3580068"/>
                  </a:lnTo>
                  <a:lnTo>
                    <a:pt x="8352" y="3544515"/>
                  </a:lnTo>
                  <a:lnTo>
                    <a:pt x="0" y="350244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028180" y="1306705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896417" y="1700246"/>
            <a:ext cx="37465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📦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913333" y="2341348"/>
            <a:ext cx="4013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D283A"/>
                </a:solidFill>
                <a:latin typeface="Calibri"/>
                <a:cs typeface="Calibri"/>
              </a:rPr>
              <a:t>Commit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626783" y="3061337"/>
            <a:ext cx="973455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/commit</a:t>
            </a:r>
            <a:r>
              <a:rPr sz="7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7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AI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 generates</a:t>
            </a:r>
            <a:r>
              <a:rPr sz="7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conventional</a:t>
            </a:r>
            <a:r>
              <a:rPr sz="750" spc="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commit</a:t>
            </a:r>
            <a:r>
              <a:rPr sz="7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message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667904" y="2638693"/>
            <a:ext cx="163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34" dirty="0">
                <a:solidFill>
                  <a:srgbClr val="0C9387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703997" y="1038227"/>
            <a:ext cx="1334135" cy="3802379"/>
            <a:chOff x="7703997" y="1038227"/>
            <a:chExt cx="1334135" cy="3802379"/>
          </a:xfrm>
        </p:grpSpPr>
        <p:pic>
          <p:nvPicPr>
            <p:cNvPr id="60" name="object 6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03997" y="1038227"/>
              <a:ext cx="1333804" cy="3802329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7781036" y="1115277"/>
              <a:ext cx="1143635" cy="3612515"/>
            </a:xfrm>
            <a:custGeom>
              <a:avLst/>
              <a:gdLst/>
              <a:ahLst/>
              <a:cxnLst/>
              <a:rect l="l" t="t" r="r" b="b"/>
              <a:pathLst>
                <a:path w="1143634" h="361251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3502444"/>
                  </a:lnTo>
                  <a:lnTo>
                    <a:pt x="939" y="3516874"/>
                  </a:lnTo>
                  <a:lnTo>
                    <a:pt x="3736" y="3530931"/>
                  </a:lnTo>
                  <a:lnTo>
                    <a:pt x="8307" y="3544365"/>
                  </a:lnTo>
                  <a:lnTo>
                    <a:pt x="8358" y="3544515"/>
                  </a:lnTo>
                  <a:lnTo>
                    <a:pt x="32224" y="3580068"/>
                  </a:lnTo>
                  <a:lnTo>
                    <a:pt x="67882" y="3603890"/>
                  </a:lnTo>
                  <a:lnTo>
                    <a:pt x="109804" y="3612248"/>
                  </a:lnTo>
                  <a:lnTo>
                    <a:pt x="1033564" y="3612248"/>
                  </a:lnTo>
                  <a:lnTo>
                    <a:pt x="1075635" y="3603890"/>
                  </a:lnTo>
                  <a:lnTo>
                    <a:pt x="1111137" y="3580068"/>
                  </a:lnTo>
                  <a:lnTo>
                    <a:pt x="1134934" y="3544515"/>
                  </a:lnTo>
                  <a:lnTo>
                    <a:pt x="1143368" y="3502444"/>
                  </a:lnTo>
                  <a:lnTo>
                    <a:pt x="1143345" y="109804"/>
                  </a:lnTo>
                  <a:lnTo>
                    <a:pt x="1135010" y="68095"/>
                  </a:lnTo>
                  <a:lnTo>
                    <a:pt x="1111143" y="32535"/>
                  </a:lnTo>
                  <a:lnTo>
                    <a:pt x="1075485" y="8721"/>
                  </a:lnTo>
                  <a:lnTo>
                    <a:pt x="10335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781036" y="1115277"/>
              <a:ext cx="1143635" cy="3612515"/>
            </a:xfrm>
            <a:custGeom>
              <a:avLst/>
              <a:gdLst/>
              <a:ahLst/>
              <a:cxnLst/>
              <a:rect l="l" t="t" r="r" b="b"/>
              <a:pathLst>
                <a:path w="1143634" h="361251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033564" y="368"/>
                  </a:lnTo>
                  <a:lnTo>
                    <a:pt x="1075485" y="8721"/>
                  </a:lnTo>
                  <a:lnTo>
                    <a:pt x="1111143" y="32535"/>
                  </a:lnTo>
                  <a:lnTo>
                    <a:pt x="1135010" y="68095"/>
                  </a:lnTo>
                  <a:lnTo>
                    <a:pt x="1143368" y="110159"/>
                  </a:lnTo>
                  <a:lnTo>
                    <a:pt x="1143368" y="3502444"/>
                  </a:lnTo>
                  <a:lnTo>
                    <a:pt x="1142428" y="3516868"/>
                  </a:lnTo>
                  <a:lnTo>
                    <a:pt x="1139631" y="3530887"/>
                  </a:lnTo>
                  <a:lnTo>
                    <a:pt x="1120585" y="3569237"/>
                  </a:lnTo>
                  <a:lnTo>
                    <a:pt x="1088644" y="3597478"/>
                  </a:lnTo>
                  <a:lnTo>
                    <a:pt x="1047994" y="3611308"/>
                  </a:lnTo>
                  <a:lnTo>
                    <a:pt x="1033564" y="3612248"/>
                  </a:lnTo>
                  <a:lnTo>
                    <a:pt x="109804" y="3612248"/>
                  </a:lnTo>
                  <a:lnTo>
                    <a:pt x="67882" y="3603890"/>
                  </a:lnTo>
                  <a:lnTo>
                    <a:pt x="32224" y="3580068"/>
                  </a:lnTo>
                  <a:lnTo>
                    <a:pt x="8358" y="3544515"/>
                  </a:lnTo>
                  <a:lnTo>
                    <a:pt x="0" y="350244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8271979" y="1306705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139862" y="1700246"/>
            <a:ext cx="37465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🚀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996935" y="2341348"/>
            <a:ext cx="7207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D283A"/>
                </a:solidFill>
                <a:latin typeface="Calibri"/>
                <a:cs typeface="Calibri"/>
              </a:rPr>
              <a:t>Push</a:t>
            </a:r>
            <a:r>
              <a:rPr sz="900" b="1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1D283A"/>
                </a:solidFill>
                <a:latin typeface="Calibri"/>
                <a:cs typeface="Calibri"/>
              </a:rPr>
              <a:t>&amp;</a:t>
            </a:r>
            <a:r>
              <a:rPr sz="900" b="1" spc="-10" dirty="0">
                <a:solidFill>
                  <a:srgbClr val="1D283A"/>
                </a:solidFill>
                <a:latin typeface="Calibri"/>
                <a:cs typeface="Calibri"/>
              </a:rPr>
              <a:t> Deploy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831696" y="3061337"/>
            <a:ext cx="105029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git</a:t>
            </a:r>
            <a:r>
              <a:rPr sz="7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push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→</a:t>
            </a:r>
            <a:r>
              <a:rPr sz="7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GitHub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 Actions</a:t>
            </a:r>
            <a:r>
              <a:rPr sz="7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automatically</a:t>
            </a:r>
            <a:r>
              <a:rPr sz="750" spc="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deploys</a:t>
            </a:r>
            <a:r>
              <a:rPr sz="750" spc="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465468"/>
                </a:solidFill>
                <a:latin typeface="Calibri"/>
                <a:cs typeface="Calibri"/>
              </a:rPr>
              <a:t>to</a:t>
            </a:r>
            <a:r>
              <a:rPr sz="7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Robi</a:t>
            </a:r>
            <a:r>
              <a:rPr sz="750" spc="-4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Cloud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68" name="object 68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444144" y="4730580"/>
            <a:ext cx="641223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5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key</a:t>
            </a:r>
            <a:r>
              <a:rPr sz="950" spc="-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insight: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Claude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Code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fits</a:t>
            </a:r>
            <a:r>
              <a:rPr sz="950" spc="-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INTO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your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existing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git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workflow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you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still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review,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test,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and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commit.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AI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accelerates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every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step.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1" name="object 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15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9356" y="502198"/>
            <a:ext cx="1280795" cy="329565"/>
          </a:xfrm>
          <a:custGeom>
            <a:avLst/>
            <a:gdLst/>
            <a:ahLst/>
            <a:cxnLst/>
            <a:rect l="l" t="t" r="r" b="b"/>
            <a:pathLst>
              <a:path w="1280795" h="329565">
                <a:moveTo>
                  <a:pt x="91808" y="0"/>
                </a:moveTo>
                <a:lnTo>
                  <a:pt x="46088" y="12242"/>
                </a:lnTo>
                <a:lnTo>
                  <a:pt x="12598" y="45720"/>
                </a:lnTo>
                <a:lnTo>
                  <a:pt x="368" y="91439"/>
                </a:lnTo>
                <a:lnTo>
                  <a:pt x="0" y="237959"/>
                </a:lnTo>
                <a:lnTo>
                  <a:pt x="798" y="249966"/>
                </a:lnTo>
                <a:lnTo>
                  <a:pt x="18843" y="293724"/>
                </a:lnTo>
                <a:lnTo>
                  <a:pt x="56512" y="322418"/>
                </a:lnTo>
                <a:lnTo>
                  <a:pt x="91439" y="329399"/>
                </a:lnTo>
                <a:lnTo>
                  <a:pt x="1189088" y="329399"/>
                </a:lnTo>
                <a:lnTo>
                  <a:pt x="1234808" y="317169"/>
                </a:lnTo>
                <a:lnTo>
                  <a:pt x="1268285" y="283679"/>
                </a:lnTo>
                <a:lnTo>
                  <a:pt x="1280528" y="237959"/>
                </a:lnTo>
                <a:lnTo>
                  <a:pt x="1280503" y="91439"/>
                </a:lnTo>
                <a:lnTo>
                  <a:pt x="1268285" y="46088"/>
                </a:lnTo>
                <a:lnTo>
                  <a:pt x="1234808" y="12598"/>
                </a:lnTo>
                <a:lnTo>
                  <a:pt x="1189088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2901" y="578067"/>
            <a:ext cx="6343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0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27024" y="1020142"/>
            <a:ext cx="533463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/>
              <a:t>Project</a:t>
            </a:r>
            <a:r>
              <a:rPr sz="4200" spc="-100" dirty="0"/>
              <a:t> </a:t>
            </a:r>
            <a:r>
              <a:rPr sz="4200" dirty="0"/>
              <a:t>Planning</a:t>
            </a:r>
            <a:r>
              <a:rPr sz="4200" spc="-100" dirty="0"/>
              <a:t> </a:t>
            </a:r>
            <a:r>
              <a:rPr sz="4200" dirty="0"/>
              <a:t>with</a:t>
            </a:r>
            <a:r>
              <a:rPr sz="4200" spc="-105" dirty="0"/>
              <a:t> </a:t>
            </a:r>
            <a:r>
              <a:rPr sz="4200" spc="-25" dirty="0"/>
              <a:t>AI</a:t>
            </a:r>
            <a:endParaRPr sz="4200"/>
          </a:p>
        </p:txBody>
      </p:sp>
      <p:sp>
        <p:nvSpPr>
          <p:cNvPr id="6" name="object 6"/>
          <p:cNvSpPr txBox="1"/>
          <p:nvPr/>
        </p:nvSpPr>
        <p:spPr>
          <a:xfrm>
            <a:off x="627024" y="1838428"/>
            <a:ext cx="43630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105" dirty="0">
                <a:solidFill>
                  <a:srgbClr val="F49D0A"/>
                </a:solidFill>
                <a:latin typeface="Arial"/>
                <a:cs typeface="Arial"/>
              </a:rPr>
              <a:t>From</a:t>
            </a:r>
            <a:r>
              <a:rPr sz="1500" i="1" spc="-60" dirty="0">
                <a:solidFill>
                  <a:srgbClr val="F49D0A"/>
                </a:solidFill>
                <a:latin typeface="Arial"/>
                <a:cs typeface="Arial"/>
              </a:rPr>
              <a:t> requirement </a:t>
            </a:r>
            <a:r>
              <a:rPr sz="1500" i="1" dirty="0">
                <a:solidFill>
                  <a:srgbClr val="F49D0A"/>
                </a:solidFill>
                <a:latin typeface="Arial"/>
                <a:cs typeface="Arial"/>
              </a:rPr>
              <a:t>to</a:t>
            </a:r>
            <a:r>
              <a:rPr sz="1500" i="1" spc="-60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45" dirty="0">
                <a:solidFill>
                  <a:srgbClr val="F49D0A"/>
                </a:solidFill>
                <a:latin typeface="Arial"/>
                <a:cs typeface="Arial"/>
              </a:rPr>
              <a:t>sprint</a:t>
            </a:r>
            <a:r>
              <a:rPr sz="1500" i="1" spc="-60" dirty="0">
                <a:solidFill>
                  <a:srgbClr val="F49D0A"/>
                </a:solidFill>
                <a:latin typeface="Arial"/>
                <a:cs typeface="Arial"/>
              </a:rPr>
              <a:t> plan</a:t>
            </a:r>
            <a:r>
              <a:rPr sz="1500" i="1" spc="-4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40" dirty="0">
                <a:solidFill>
                  <a:srgbClr val="F49D0A"/>
                </a:solidFill>
                <a:latin typeface="Arial"/>
                <a:cs typeface="Arial"/>
              </a:rPr>
              <a:t>in</a:t>
            </a:r>
            <a:r>
              <a:rPr sz="1500" i="1" spc="-50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70" dirty="0">
                <a:solidFill>
                  <a:srgbClr val="F49D0A"/>
                </a:solidFill>
                <a:latin typeface="Arial"/>
                <a:cs typeface="Arial"/>
              </a:rPr>
              <a:t>minutes</a:t>
            </a:r>
            <a:r>
              <a:rPr sz="1500" i="1" spc="-5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50" dirty="0">
                <a:solidFill>
                  <a:srgbClr val="F49D0A"/>
                </a:solidFill>
                <a:latin typeface="Arial"/>
                <a:cs typeface="Arial"/>
              </a:rPr>
              <a:t>—</a:t>
            </a:r>
            <a:r>
              <a:rPr sz="1500" i="1" spc="-60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20" dirty="0">
                <a:solidFill>
                  <a:srgbClr val="F49D0A"/>
                </a:solidFill>
                <a:latin typeface="Arial"/>
                <a:cs typeface="Arial"/>
              </a:rPr>
              <a:t>not</a:t>
            </a:r>
            <a:r>
              <a:rPr sz="1500" i="1" spc="-5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50" dirty="0">
                <a:solidFill>
                  <a:srgbClr val="F49D0A"/>
                </a:solidFill>
                <a:latin typeface="Arial"/>
                <a:cs typeface="Arial"/>
              </a:rPr>
              <a:t>weeks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6495" y="2325422"/>
            <a:ext cx="2024380" cy="515620"/>
            <a:chOff x="633424" y="2325422"/>
            <a:chExt cx="2024380" cy="515620"/>
          </a:xfrm>
        </p:grpSpPr>
        <p:sp>
          <p:nvSpPr>
            <p:cNvPr id="8" name="object 8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191987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5" y="434789"/>
                  </a:lnTo>
                  <a:lnTo>
                    <a:pt x="3148" y="435149"/>
                  </a:lnTo>
                  <a:lnTo>
                    <a:pt x="6859" y="446051"/>
                  </a:lnTo>
                  <a:lnTo>
                    <a:pt x="35675" y="484083"/>
                  </a:lnTo>
                  <a:lnTo>
                    <a:pt x="79433" y="502121"/>
                  </a:lnTo>
                  <a:lnTo>
                    <a:pt x="91440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08402" y="435149"/>
                  </a:lnTo>
                  <a:lnTo>
                    <a:pt x="2008525" y="434789"/>
                  </a:lnTo>
                  <a:lnTo>
                    <a:pt x="2010806" y="423485"/>
                  </a:lnTo>
                  <a:lnTo>
                    <a:pt x="2010879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11" y="91439"/>
                  </a:lnTo>
                  <a:lnTo>
                    <a:pt x="1999081" y="45719"/>
                  </a:lnTo>
                  <a:lnTo>
                    <a:pt x="1965591" y="12242"/>
                  </a:lnTo>
                  <a:lnTo>
                    <a:pt x="1931878" y="798"/>
                  </a:lnTo>
                  <a:lnTo>
                    <a:pt x="1919871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0" y="91439"/>
                  </a:moveTo>
                  <a:lnTo>
                    <a:pt x="798" y="79434"/>
                  </a:lnTo>
                  <a:lnTo>
                    <a:pt x="3148" y="67770"/>
                  </a:lnTo>
                  <a:lnTo>
                    <a:pt x="26679" y="26681"/>
                  </a:lnTo>
                  <a:lnTo>
                    <a:pt x="67765" y="3149"/>
                  </a:lnTo>
                  <a:lnTo>
                    <a:pt x="91440" y="0"/>
                  </a:lnTo>
                  <a:lnTo>
                    <a:pt x="1919871" y="0"/>
                  </a:lnTo>
                  <a:lnTo>
                    <a:pt x="1965591" y="12242"/>
                  </a:lnTo>
                  <a:lnTo>
                    <a:pt x="1999081" y="45719"/>
                  </a:lnTo>
                  <a:lnTo>
                    <a:pt x="2011311" y="91439"/>
                  </a:lnTo>
                  <a:lnTo>
                    <a:pt x="2011679" y="411124"/>
                  </a:lnTo>
                  <a:lnTo>
                    <a:pt x="2010879" y="423124"/>
                  </a:lnTo>
                  <a:lnTo>
                    <a:pt x="2008525" y="434789"/>
                  </a:lnTo>
                  <a:lnTo>
                    <a:pt x="1984989" y="475873"/>
                  </a:lnTo>
                  <a:lnTo>
                    <a:pt x="1943904" y="499410"/>
                  </a:lnTo>
                  <a:lnTo>
                    <a:pt x="91440" y="502919"/>
                  </a:lnTo>
                  <a:lnTo>
                    <a:pt x="45720" y="490677"/>
                  </a:lnTo>
                  <a:lnTo>
                    <a:pt x="12230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55689" y="2497939"/>
            <a:ext cx="8045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BRD</a:t>
            </a:r>
            <a:r>
              <a:rPr sz="950" spc="-3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Generation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22691" y="2325422"/>
            <a:ext cx="2024380" cy="515620"/>
            <a:chOff x="2809620" y="2325422"/>
            <a:chExt cx="2024380" cy="515620"/>
          </a:xfrm>
        </p:grpSpPr>
        <p:sp>
          <p:nvSpPr>
            <p:cNvPr id="12" name="object 12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76" y="484083"/>
                  </a:lnTo>
                  <a:lnTo>
                    <a:pt x="79433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79" y="411124"/>
                  </a:lnTo>
                  <a:lnTo>
                    <a:pt x="2010881" y="423124"/>
                  </a:lnTo>
                  <a:lnTo>
                    <a:pt x="2008530" y="434789"/>
                  </a:lnTo>
                  <a:lnTo>
                    <a:pt x="1984994" y="475873"/>
                  </a:lnTo>
                  <a:lnTo>
                    <a:pt x="1943909" y="499410"/>
                  </a:lnTo>
                  <a:lnTo>
                    <a:pt x="91439" y="502919"/>
                  </a:lnTo>
                  <a:lnTo>
                    <a:pt x="45719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42324" y="2497939"/>
            <a:ext cx="7842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FRS</a:t>
            </a:r>
            <a:r>
              <a:rPr sz="950" spc="-4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Documents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98887" y="2325422"/>
            <a:ext cx="2024380" cy="515620"/>
            <a:chOff x="4985816" y="2325422"/>
            <a:chExt cx="2024380" cy="515620"/>
          </a:xfrm>
        </p:grpSpPr>
        <p:sp>
          <p:nvSpPr>
            <p:cNvPr id="16" name="object 16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83" y="484083"/>
                  </a:lnTo>
                  <a:lnTo>
                    <a:pt x="79440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49" y="456844"/>
                  </a:lnTo>
                  <a:lnTo>
                    <a:pt x="2008409" y="435149"/>
                  </a:lnTo>
                  <a:lnTo>
                    <a:pt x="2008531" y="434789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80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9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90" y="26681"/>
                  </a:lnTo>
                  <a:lnTo>
                    <a:pt x="6777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80" y="411124"/>
                  </a:lnTo>
                  <a:lnTo>
                    <a:pt x="2010881" y="423124"/>
                  </a:lnTo>
                  <a:lnTo>
                    <a:pt x="2008531" y="434789"/>
                  </a:lnTo>
                  <a:lnTo>
                    <a:pt x="1985000" y="475873"/>
                  </a:lnTo>
                  <a:lnTo>
                    <a:pt x="1943914" y="499410"/>
                  </a:lnTo>
                  <a:lnTo>
                    <a:pt x="91439" y="502919"/>
                  </a:lnTo>
                  <a:lnTo>
                    <a:pt x="45720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04575" y="2497939"/>
            <a:ext cx="61150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User</a:t>
            </a:r>
            <a:r>
              <a:rPr sz="950" spc="-4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Stories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75450" y="2325422"/>
            <a:ext cx="1987550" cy="515620"/>
            <a:chOff x="7162379" y="2325422"/>
            <a:chExt cx="1987550" cy="515620"/>
          </a:xfrm>
        </p:grpSpPr>
        <p:sp>
          <p:nvSpPr>
            <p:cNvPr id="20" name="object 20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1988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12242" y="457200"/>
                  </a:lnTo>
                  <a:lnTo>
                    <a:pt x="45720" y="490677"/>
                  </a:lnTo>
                  <a:lnTo>
                    <a:pt x="91440" y="502919"/>
                  </a:lnTo>
                  <a:lnTo>
                    <a:pt x="1920240" y="502564"/>
                  </a:lnTo>
                  <a:lnTo>
                    <a:pt x="1965960" y="490321"/>
                  </a:lnTo>
                  <a:lnTo>
                    <a:pt x="1974951" y="484412"/>
                  </a:lnTo>
                  <a:lnTo>
                    <a:pt x="1974951" y="18383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74951" y="484412"/>
                  </a:moveTo>
                  <a:lnTo>
                    <a:pt x="1932245" y="501764"/>
                  </a:lnTo>
                  <a:lnTo>
                    <a:pt x="91440" y="502919"/>
                  </a:lnTo>
                  <a:lnTo>
                    <a:pt x="79434" y="502121"/>
                  </a:lnTo>
                  <a:lnTo>
                    <a:pt x="35676" y="484083"/>
                  </a:lnTo>
                  <a:lnTo>
                    <a:pt x="6986" y="446409"/>
                  </a:lnTo>
                  <a:lnTo>
                    <a:pt x="0" y="411479"/>
                  </a:lnTo>
                  <a:lnTo>
                    <a:pt x="0" y="91439"/>
                  </a:lnTo>
                  <a:lnTo>
                    <a:pt x="12242" y="45719"/>
                  </a:lnTo>
                  <a:lnTo>
                    <a:pt x="45720" y="12242"/>
                  </a:lnTo>
                  <a:lnTo>
                    <a:pt x="91440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74951" y="18383"/>
                  </a:lnTo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405169" y="2497939"/>
            <a:ext cx="7645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Sprint</a:t>
            </a:r>
            <a:r>
              <a:rPr sz="950" spc="-4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Planning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16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Generate</a:t>
            </a:r>
            <a:r>
              <a:rPr spc="-70" dirty="0"/>
              <a:t> </a:t>
            </a:r>
            <a:r>
              <a:rPr dirty="0"/>
              <a:t>BRD</a:t>
            </a:r>
            <a:r>
              <a:rPr spc="-70" dirty="0"/>
              <a:t> </a:t>
            </a:r>
            <a:r>
              <a:rPr dirty="0"/>
              <a:t>—</a:t>
            </a:r>
            <a:r>
              <a:rPr spc="-60" dirty="0"/>
              <a:t> </a:t>
            </a:r>
            <a:r>
              <a:rPr dirty="0"/>
              <a:t>Business</a:t>
            </a:r>
            <a:r>
              <a:rPr spc="-65" dirty="0"/>
              <a:t> </a:t>
            </a:r>
            <a:r>
              <a:rPr spc="-10" dirty="0"/>
              <a:t>Requirements</a:t>
            </a:r>
            <a:r>
              <a:rPr spc="-65" dirty="0"/>
              <a:t> </a:t>
            </a:r>
            <a:r>
              <a:rPr spc="-10" dirty="0"/>
              <a:t>Document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30422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WAMY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Finance: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turn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raw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requirements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into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structured</a:t>
            </a:r>
            <a:r>
              <a:rPr sz="1000" i="1" spc="-1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BRD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8474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277" y="1038227"/>
            <a:ext cx="5219700" cy="1397635"/>
            <a:chOff x="242277" y="1038227"/>
            <a:chExt cx="5219700" cy="139763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038227"/>
              <a:ext cx="5219636" cy="139717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646"/>
              <a:ext cx="5029200" cy="1207135"/>
            </a:xfrm>
            <a:custGeom>
              <a:avLst/>
              <a:gdLst/>
              <a:ahLst/>
              <a:cxnLst/>
              <a:rect l="l" t="t" r="r" b="b"/>
              <a:pathLst>
                <a:path w="5029200" h="1207135">
                  <a:moveTo>
                    <a:pt x="493739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1115631"/>
                  </a:lnTo>
                  <a:lnTo>
                    <a:pt x="774" y="1127280"/>
                  </a:lnTo>
                  <a:lnTo>
                    <a:pt x="798" y="1127638"/>
                  </a:lnTo>
                  <a:lnTo>
                    <a:pt x="3075" y="1138945"/>
                  </a:lnTo>
                  <a:lnTo>
                    <a:pt x="3148" y="1139305"/>
                  </a:lnTo>
                  <a:lnTo>
                    <a:pt x="6858" y="1150205"/>
                  </a:lnTo>
                  <a:lnTo>
                    <a:pt x="35675" y="1188240"/>
                  </a:lnTo>
                  <a:lnTo>
                    <a:pt x="79433" y="1206273"/>
                  </a:lnTo>
                  <a:lnTo>
                    <a:pt x="91439" y="1207071"/>
                  </a:lnTo>
                  <a:lnTo>
                    <a:pt x="4937759" y="1206715"/>
                  </a:lnTo>
                  <a:lnTo>
                    <a:pt x="4983480" y="1194473"/>
                  </a:lnTo>
                  <a:lnTo>
                    <a:pt x="5016957" y="1160995"/>
                  </a:lnTo>
                  <a:lnTo>
                    <a:pt x="5025922" y="1139305"/>
                  </a:lnTo>
                  <a:lnTo>
                    <a:pt x="5026045" y="1138945"/>
                  </a:lnTo>
                  <a:lnTo>
                    <a:pt x="5028327" y="1127638"/>
                  </a:lnTo>
                  <a:lnTo>
                    <a:pt x="5028399" y="1127280"/>
                  </a:lnTo>
                  <a:lnTo>
                    <a:pt x="5029176" y="1115631"/>
                  </a:lnTo>
                  <a:lnTo>
                    <a:pt x="5028831" y="91439"/>
                  </a:lnTo>
                  <a:lnTo>
                    <a:pt x="5016601" y="45720"/>
                  </a:lnTo>
                  <a:lnTo>
                    <a:pt x="4983111" y="12230"/>
                  </a:lnTo>
                  <a:lnTo>
                    <a:pt x="4949398" y="798"/>
                  </a:lnTo>
                  <a:lnTo>
                    <a:pt x="4937391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646"/>
              <a:ext cx="5029200" cy="1207135"/>
            </a:xfrm>
            <a:custGeom>
              <a:avLst/>
              <a:gdLst/>
              <a:ahLst/>
              <a:cxnLst/>
              <a:rect l="l" t="t" r="r" b="b"/>
              <a:pathLst>
                <a:path w="5029200" h="1207135">
                  <a:moveTo>
                    <a:pt x="0" y="91439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39" y="0"/>
                  </a:lnTo>
                  <a:lnTo>
                    <a:pt x="4937391" y="0"/>
                  </a:lnTo>
                  <a:lnTo>
                    <a:pt x="4983111" y="12230"/>
                  </a:lnTo>
                  <a:lnTo>
                    <a:pt x="5016601" y="45720"/>
                  </a:lnTo>
                  <a:lnTo>
                    <a:pt x="5028831" y="91439"/>
                  </a:lnTo>
                  <a:lnTo>
                    <a:pt x="5029200" y="1115275"/>
                  </a:lnTo>
                  <a:lnTo>
                    <a:pt x="5028399" y="1127280"/>
                  </a:lnTo>
                  <a:lnTo>
                    <a:pt x="5026045" y="1138945"/>
                  </a:lnTo>
                  <a:lnTo>
                    <a:pt x="5002509" y="1180034"/>
                  </a:lnTo>
                  <a:lnTo>
                    <a:pt x="4961424" y="1203566"/>
                  </a:lnTo>
                  <a:lnTo>
                    <a:pt x="91439" y="1207071"/>
                  </a:lnTo>
                  <a:lnTo>
                    <a:pt x="45719" y="1194841"/>
                  </a:lnTo>
                  <a:lnTo>
                    <a:pt x="12230" y="1161351"/>
                  </a:lnTo>
                  <a:lnTo>
                    <a:pt x="0" y="1115631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495" y="1093565"/>
            <a:ext cx="4689475" cy="71628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5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BRD</a:t>
            </a:r>
            <a:r>
              <a:rPr sz="850" b="1" spc="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Generation</a:t>
            </a:r>
            <a:r>
              <a:rPr sz="850" b="1" spc="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"I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am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building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10" dirty="0">
                <a:solidFill>
                  <a:srgbClr val="FCE589"/>
                </a:solidFill>
                <a:latin typeface="Arial"/>
                <a:cs typeface="Arial"/>
              </a:rPr>
              <a:t>NGO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module.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Requirements: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[paste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requirement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text].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Generate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50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complete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20" dirty="0">
                <a:solidFill>
                  <a:srgbClr val="FCE589"/>
                </a:solidFill>
                <a:latin typeface="Arial"/>
                <a:cs typeface="Arial"/>
              </a:rPr>
              <a:t>BRD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including: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executive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summary,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business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objectives,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scope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(in/out),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stakeholder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list,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functional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requirements</a:t>
            </a:r>
            <a:r>
              <a:rPr sz="850" i="1" spc="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(numbered),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non-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functional</a:t>
            </a:r>
            <a:r>
              <a:rPr sz="850" i="1" spc="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requirements,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assumptions,</a:t>
            </a:r>
            <a:r>
              <a:rPr sz="850" i="1" spc="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constraints."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318386"/>
            <a:ext cx="5219700" cy="2476500"/>
            <a:chOff x="242646" y="2318386"/>
            <a:chExt cx="5219700" cy="247650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318386"/>
              <a:ext cx="5219636" cy="247609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395437"/>
              <a:ext cx="5029200" cy="2286000"/>
            </a:xfrm>
            <a:custGeom>
              <a:avLst/>
              <a:gdLst/>
              <a:ahLst/>
              <a:cxnLst/>
              <a:rect l="l" t="t" r="r" b="b"/>
              <a:pathLst>
                <a:path w="5029200" h="2286000">
                  <a:moveTo>
                    <a:pt x="4937759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39"/>
                  </a:lnTo>
                  <a:lnTo>
                    <a:pt x="0" y="2194560"/>
                  </a:lnTo>
                  <a:lnTo>
                    <a:pt x="12230" y="2240279"/>
                  </a:lnTo>
                  <a:lnTo>
                    <a:pt x="45719" y="2273769"/>
                  </a:lnTo>
                  <a:lnTo>
                    <a:pt x="91439" y="2286000"/>
                  </a:lnTo>
                  <a:lnTo>
                    <a:pt x="4937759" y="2286000"/>
                  </a:lnTo>
                  <a:lnTo>
                    <a:pt x="4983480" y="2273769"/>
                  </a:lnTo>
                  <a:lnTo>
                    <a:pt x="5016957" y="2240279"/>
                  </a:lnTo>
                  <a:lnTo>
                    <a:pt x="5029200" y="2194560"/>
                  </a:lnTo>
                  <a:lnTo>
                    <a:pt x="5029200" y="91439"/>
                  </a:lnTo>
                  <a:lnTo>
                    <a:pt x="5016957" y="45719"/>
                  </a:lnTo>
                  <a:lnTo>
                    <a:pt x="4983480" y="12242"/>
                  </a:lnTo>
                  <a:lnTo>
                    <a:pt x="4937759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395437"/>
              <a:ext cx="5029200" cy="2286000"/>
            </a:xfrm>
            <a:custGeom>
              <a:avLst/>
              <a:gdLst/>
              <a:ahLst/>
              <a:cxnLst/>
              <a:rect l="l" t="t" r="r" b="b"/>
              <a:pathLst>
                <a:path w="5029200" h="2286000">
                  <a:moveTo>
                    <a:pt x="0" y="91439"/>
                  </a:moveTo>
                  <a:lnTo>
                    <a:pt x="798" y="79440"/>
                  </a:lnTo>
                  <a:lnTo>
                    <a:pt x="3148" y="67775"/>
                  </a:lnTo>
                  <a:lnTo>
                    <a:pt x="26679" y="26690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4937759" y="0"/>
                  </a:lnTo>
                  <a:lnTo>
                    <a:pt x="4983480" y="12242"/>
                  </a:lnTo>
                  <a:lnTo>
                    <a:pt x="5016957" y="45719"/>
                  </a:lnTo>
                  <a:lnTo>
                    <a:pt x="5029200" y="91439"/>
                  </a:lnTo>
                  <a:lnTo>
                    <a:pt x="5029200" y="2194560"/>
                  </a:lnTo>
                  <a:lnTo>
                    <a:pt x="5028399" y="2206566"/>
                  </a:lnTo>
                  <a:lnTo>
                    <a:pt x="5026045" y="2218234"/>
                  </a:lnTo>
                  <a:lnTo>
                    <a:pt x="5002509" y="2259320"/>
                  </a:lnTo>
                  <a:lnTo>
                    <a:pt x="4961424" y="2282851"/>
                  </a:lnTo>
                  <a:lnTo>
                    <a:pt x="4937759" y="2286000"/>
                  </a:lnTo>
                  <a:lnTo>
                    <a:pt x="91439" y="2286000"/>
                  </a:lnTo>
                  <a:lnTo>
                    <a:pt x="45719" y="2273769"/>
                  </a:lnTo>
                  <a:lnTo>
                    <a:pt x="12230" y="2240279"/>
                  </a:lnTo>
                  <a:lnTo>
                    <a:pt x="0" y="2194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495" y="2384597"/>
            <a:ext cx="3251835" cy="83439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BRD</a:t>
            </a:r>
            <a:r>
              <a:rPr sz="900" b="1" spc="-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Structure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BRD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WAMY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NGO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Finance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Module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v1.0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═══════════════════════════════════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1.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Executive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Summary</a:t>
            </a:r>
            <a:endParaRPr sz="800">
              <a:latin typeface="Courier New"/>
              <a:cs typeface="Courier New"/>
            </a:endParaRPr>
          </a:p>
          <a:p>
            <a:pPr marL="19812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NGO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finance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system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for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project-based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budgeting...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495" y="3318029"/>
            <a:ext cx="3314065" cy="5251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2.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Business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Objectives</a:t>
            </a:r>
            <a:endParaRPr sz="800">
              <a:latin typeface="Courier New"/>
              <a:cs typeface="Courier New"/>
            </a:endParaRPr>
          </a:p>
          <a:p>
            <a:pPr marL="19812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BO-01: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Enable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real-time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project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financial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tracking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BO-02: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Generate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10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standard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financial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reports</a:t>
            </a:r>
            <a:endParaRPr sz="800">
              <a:latin typeface="Courier New"/>
              <a:cs typeface="Courier New"/>
            </a:endParaRPr>
          </a:p>
          <a:p>
            <a:pPr marL="19812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BO-03: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Enforce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double-entry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accounting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compliance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5495" y="3942628"/>
            <a:ext cx="3499485" cy="6502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3.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Functional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Requirements</a:t>
            </a:r>
            <a:endParaRPr sz="800">
              <a:latin typeface="Courier New"/>
              <a:cs typeface="Courier New"/>
            </a:endParaRPr>
          </a:p>
          <a:p>
            <a:pPr marL="19812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FR-01: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System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shall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support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project-based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CoA</a:t>
            </a:r>
            <a:endParaRPr sz="800">
              <a:latin typeface="Courier New"/>
              <a:cs typeface="Courier New"/>
            </a:endParaRPr>
          </a:p>
          <a:p>
            <a:pPr marL="19812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FR-02: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System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shall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validate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debit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==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credit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on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entry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FR-03: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System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shall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generate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P&amp;L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by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project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period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[...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FR-04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through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FR-28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generated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...]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1258" y="4817061"/>
            <a:ext cx="2693670" cy="275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NFR-01: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Report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generation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&lt;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3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seconds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(p95)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NFR-02: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99.5%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uptime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Robi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Cloud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454357" y="1037871"/>
            <a:ext cx="3482975" cy="3756660"/>
            <a:chOff x="5454357" y="1037871"/>
            <a:chExt cx="3482975" cy="375666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4357" y="1037871"/>
              <a:ext cx="3482644" cy="375660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531395" y="1114922"/>
              <a:ext cx="3292475" cy="3566795"/>
            </a:xfrm>
            <a:custGeom>
              <a:avLst/>
              <a:gdLst/>
              <a:ahLst/>
              <a:cxnLst/>
              <a:rect l="l" t="t" r="r" b="b"/>
              <a:pathLst>
                <a:path w="3292475" h="3566795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932"/>
                  </a:lnTo>
                  <a:lnTo>
                    <a:pt x="368" y="109804"/>
                  </a:lnTo>
                  <a:lnTo>
                    <a:pt x="0" y="3456724"/>
                  </a:lnTo>
                  <a:lnTo>
                    <a:pt x="929" y="3470991"/>
                  </a:lnTo>
                  <a:lnTo>
                    <a:pt x="939" y="3471147"/>
                  </a:lnTo>
                  <a:lnTo>
                    <a:pt x="3701" y="3485022"/>
                  </a:lnTo>
                  <a:lnTo>
                    <a:pt x="3736" y="3485202"/>
                  </a:lnTo>
                  <a:lnTo>
                    <a:pt x="8288" y="3498582"/>
                  </a:lnTo>
                  <a:lnTo>
                    <a:pt x="8358" y="3498788"/>
                  </a:lnTo>
                  <a:lnTo>
                    <a:pt x="14770" y="3511804"/>
                  </a:lnTo>
                  <a:lnTo>
                    <a:pt x="22683" y="3523511"/>
                  </a:lnTo>
                  <a:lnTo>
                    <a:pt x="22788" y="3523667"/>
                  </a:lnTo>
                  <a:lnTo>
                    <a:pt x="55079" y="3551758"/>
                  </a:lnTo>
                  <a:lnTo>
                    <a:pt x="95534" y="3565575"/>
                  </a:lnTo>
                  <a:lnTo>
                    <a:pt x="109804" y="3566515"/>
                  </a:lnTo>
                  <a:lnTo>
                    <a:pt x="3182404" y="3566515"/>
                  </a:lnTo>
                  <a:lnTo>
                    <a:pt x="3224475" y="3558162"/>
                  </a:lnTo>
                  <a:lnTo>
                    <a:pt x="3259975" y="3534348"/>
                  </a:lnTo>
                  <a:lnTo>
                    <a:pt x="3283747" y="3498788"/>
                  </a:lnTo>
                  <a:lnTo>
                    <a:pt x="3283850" y="3498582"/>
                  </a:lnTo>
                  <a:lnTo>
                    <a:pt x="3288410" y="3485202"/>
                  </a:lnTo>
                  <a:lnTo>
                    <a:pt x="3288471" y="3485022"/>
                  </a:lnTo>
                  <a:lnTo>
                    <a:pt x="3291237" y="3471147"/>
                  </a:lnTo>
                  <a:lnTo>
                    <a:pt x="3291268" y="3470991"/>
                  </a:lnTo>
                  <a:lnTo>
                    <a:pt x="3292208" y="3456724"/>
                  </a:lnTo>
                  <a:lnTo>
                    <a:pt x="3292185" y="109804"/>
                  </a:lnTo>
                  <a:lnTo>
                    <a:pt x="3291268" y="95729"/>
                  </a:lnTo>
                  <a:lnTo>
                    <a:pt x="3277438" y="55079"/>
                  </a:lnTo>
                  <a:lnTo>
                    <a:pt x="3249197" y="23138"/>
                  </a:lnTo>
                  <a:lnTo>
                    <a:pt x="3210709" y="4092"/>
                  </a:lnTo>
                  <a:lnTo>
                    <a:pt x="318240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31395" y="1114922"/>
              <a:ext cx="3292475" cy="3566795"/>
            </a:xfrm>
            <a:custGeom>
              <a:avLst/>
              <a:gdLst/>
              <a:ahLst/>
              <a:cxnLst/>
              <a:rect l="l" t="t" r="r" b="b"/>
              <a:pathLst>
                <a:path w="3292475" h="3566795">
                  <a:moveTo>
                    <a:pt x="368" y="109804"/>
                  </a:moveTo>
                  <a:lnTo>
                    <a:pt x="1307" y="95529"/>
                  </a:lnTo>
                  <a:lnTo>
                    <a:pt x="4103" y="81494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182404" y="355"/>
                  </a:lnTo>
                  <a:lnTo>
                    <a:pt x="3224273" y="8713"/>
                  </a:lnTo>
                  <a:lnTo>
                    <a:pt x="3259983" y="32535"/>
                  </a:lnTo>
                  <a:lnTo>
                    <a:pt x="3283850" y="68088"/>
                  </a:lnTo>
                  <a:lnTo>
                    <a:pt x="3292208" y="110159"/>
                  </a:lnTo>
                  <a:lnTo>
                    <a:pt x="3292208" y="3456724"/>
                  </a:lnTo>
                  <a:lnTo>
                    <a:pt x="3291268" y="3470991"/>
                  </a:lnTo>
                  <a:lnTo>
                    <a:pt x="3288471" y="3485022"/>
                  </a:lnTo>
                  <a:lnTo>
                    <a:pt x="3269425" y="3523511"/>
                  </a:lnTo>
                  <a:lnTo>
                    <a:pt x="3237483" y="3551758"/>
                  </a:lnTo>
                  <a:lnTo>
                    <a:pt x="3196834" y="3565575"/>
                  </a:lnTo>
                  <a:lnTo>
                    <a:pt x="3182404" y="3566515"/>
                  </a:lnTo>
                  <a:lnTo>
                    <a:pt x="109804" y="3566515"/>
                  </a:lnTo>
                  <a:lnTo>
                    <a:pt x="67934" y="3558162"/>
                  </a:lnTo>
                  <a:lnTo>
                    <a:pt x="32224" y="3534348"/>
                  </a:lnTo>
                  <a:lnTo>
                    <a:pt x="8358" y="3498788"/>
                  </a:lnTo>
                  <a:lnTo>
                    <a:pt x="0" y="345672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656224" y="1176898"/>
            <a:ext cx="101536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1D2660"/>
                </a:solidFill>
                <a:latin typeface="MingLiU_HKSCS-ExtB"/>
                <a:cs typeface="MingLiU_HKSCS-ExtB"/>
              </a:rPr>
              <a:t>📋</a:t>
            </a:r>
            <a:r>
              <a:rPr sz="1300" spc="-290" dirty="0">
                <a:solidFill>
                  <a:srgbClr val="1D2660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1D2660"/>
                </a:solidFill>
                <a:latin typeface="Calibri"/>
                <a:cs typeface="Calibri"/>
              </a:rPr>
              <a:t>BRD</a:t>
            </a:r>
            <a:r>
              <a:rPr sz="1100" b="1" spc="-10" dirty="0">
                <a:solidFill>
                  <a:srgbClr val="1D2660"/>
                </a:solidFill>
                <a:latin typeface="Calibri"/>
                <a:cs typeface="Calibri"/>
              </a:rPr>
              <a:t> Benefits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56224" y="1615581"/>
            <a:ext cx="279717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Stakeholder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alignment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document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ready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in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10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minutes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56224" y="1982065"/>
            <a:ext cx="242570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Numbered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requirements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 →</a:t>
            </a:r>
            <a:r>
              <a:rPr sz="95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traceable</a:t>
            </a:r>
            <a:r>
              <a:rPr sz="9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through development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56224" y="2493266"/>
            <a:ext cx="23736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In-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scope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/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out-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of-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scope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prevents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scope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creep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56224" y="2932457"/>
            <a:ext cx="27266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Non-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functional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requirements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often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missed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manually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56224" y="3371305"/>
            <a:ext cx="24987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Can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be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exported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to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Word/PDF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for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client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sign-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off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56224" y="3810141"/>
            <a:ext cx="231521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Feed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BRD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back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to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Claude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for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FRS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generation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32" name="object 32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10095" y="4730580"/>
            <a:ext cx="669544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200" spc="-585" baseline="41666" dirty="0">
                <a:solidFill>
                  <a:srgbClr val="E1E7EF"/>
                </a:solidFill>
                <a:latin typeface="Courier New"/>
                <a:cs typeface="Courier New"/>
              </a:rPr>
              <a:t>4</a:t>
            </a:r>
            <a:r>
              <a:rPr sz="1100" spc="-73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200" spc="37" baseline="41666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r>
              <a:rPr sz="1200" spc="7" baseline="41666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1200" spc="-419" baseline="41666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17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472" baseline="41666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660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1200" spc="-15" baseline="41666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1200" spc="-472" baseline="41666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950" spc="-21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22" baseline="41666" dirty="0">
                <a:solidFill>
                  <a:srgbClr val="E1E7EF"/>
                </a:solidFill>
                <a:latin typeface="Courier New"/>
                <a:cs typeface="Courier New"/>
              </a:rPr>
              <a:t>F</a:t>
            </a:r>
            <a:r>
              <a:rPr sz="950" spc="-21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322" baseline="41666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950" spc="-21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322" baseline="41666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215" dirty="0">
                <a:solidFill>
                  <a:srgbClr val="774409"/>
                </a:solidFill>
                <a:latin typeface="Calibri"/>
                <a:cs typeface="Calibri"/>
              </a:rPr>
              <a:t>v</a:t>
            </a:r>
            <a:r>
              <a:rPr sz="1200" spc="-322" baseline="41666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950" spc="-21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22" baseline="41666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215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322" baseline="41666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215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950" spc="-10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577" baseline="41666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7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330" baseline="41666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550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1200" spc="-22" baseline="41666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1200" spc="-644" baseline="41666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3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682" baseline="41666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45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1200" spc="-682" baseline="41666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215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1200" spc="-419" baseline="41666" dirty="0">
                <a:solidFill>
                  <a:srgbClr val="E1E7EF"/>
                </a:solidFill>
                <a:latin typeface="Courier New"/>
                <a:cs typeface="Courier New"/>
              </a:rPr>
              <a:t>q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950" spc="-375" dirty="0">
                <a:solidFill>
                  <a:srgbClr val="774409"/>
                </a:solidFill>
                <a:latin typeface="Calibri"/>
                <a:cs typeface="Calibri"/>
              </a:rPr>
              <a:t>y</a:t>
            </a:r>
            <a:r>
              <a:rPr sz="1200" spc="-7" baseline="41666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1200" spc="-569" baseline="41666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290" dirty="0">
                <a:solidFill>
                  <a:srgbClr val="774409"/>
                </a:solidFill>
                <a:latin typeface="Calibri"/>
                <a:cs typeface="Calibri"/>
              </a:rPr>
              <a:t>w</a:t>
            </a:r>
            <a:r>
              <a:rPr sz="1200" spc="-307" baseline="41666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12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540" baseline="41666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475" dirty="0">
                <a:solidFill>
                  <a:srgbClr val="774409"/>
                </a:solidFill>
                <a:latin typeface="Calibri"/>
                <a:cs typeface="Calibri"/>
              </a:rPr>
              <a:t>tt</a:t>
            </a:r>
            <a:r>
              <a:rPr sz="1200" spc="-82" baseline="41666" dirty="0">
                <a:solidFill>
                  <a:srgbClr val="E1E7EF"/>
                </a:solidFill>
                <a:latin typeface="Courier New"/>
                <a:cs typeface="Courier New"/>
              </a:rPr>
              <a:t>m</a:t>
            </a:r>
            <a:r>
              <a:rPr sz="950" spc="-44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82" baseline="41666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45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7" baseline="41666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1200" spc="-487" baseline="41666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B</a:t>
            </a:r>
            <a:r>
              <a:rPr sz="1200" spc="-450" baseline="41666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for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WAMY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Finance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module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takes 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2–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3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days.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Claude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Code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generates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first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draft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4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minutes.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17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spc="-70" dirty="0"/>
              <a:t> </a:t>
            </a:r>
            <a:r>
              <a:rPr dirty="0"/>
              <a:t>Stories</a:t>
            </a:r>
            <a:r>
              <a:rPr spc="-70" dirty="0"/>
              <a:t> </a:t>
            </a:r>
            <a:r>
              <a:rPr dirty="0"/>
              <a:t>&amp;</a:t>
            </a:r>
            <a:r>
              <a:rPr spc="-75" dirty="0"/>
              <a:t> </a:t>
            </a:r>
            <a:r>
              <a:rPr dirty="0"/>
              <a:t>Sprint</a:t>
            </a:r>
            <a:r>
              <a:rPr spc="-70" dirty="0"/>
              <a:t> </a:t>
            </a:r>
            <a:r>
              <a:rPr spc="-10" dirty="0"/>
              <a:t>Planning</a:t>
            </a:r>
          </a:p>
        </p:txBody>
      </p:sp>
      <p:sp>
        <p:nvSpPr>
          <p:cNvPr id="4" name="object 4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72817" y="178160"/>
            <a:ext cx="857441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2277" y="1038227"/>
            <a:ext cx="8695055" cy="1087120"/>
            <a:chOff x="242277" y="1038227"/>
            <a:chExt cx="8695055" cy="10871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038227"/>
              <a:ext cx="8694724" cy="108649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9316" y="1115277"/>
              <a:ext cx="8504555" cy="896619"/>
            </a:xfrm>
            <a:custGeom>
              <a:avLst/>
              <a:gdLst/>
              <a:ahLst/>
              <a:cxnLst/>
              <a:rect l="l" t="t" r="r" b="b"/>
              <a:pathLst>
                <a:path w="8504555" h="896619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804964"/>
                  </a:lnTo>
                  <a:lnTo>
                    <a:pt x="798" y="816969"/>
                  </a:lnTo>
                  <a:lnTo>
                    <a:pt x="18843" y="860728"/>
                  </a:lnTo>
                  <a:lnTo>
                    <a:pt x="56512" y="889417"/>
                  </a:lnTo>
                  <a:lnTo>
                    <a:pt x="91440" y="896404"/>
                  </a:lnTo>
                  <a:lnTo>
                    <a:pt x="8412848" y="896404"/>
                  </a:lnTo>
                  <a:lnTo>
                    <a:pt x="8458568" y="884161"/>
                  </a:lnTo>
                  <a:lnTo>
                    <a:pt x="8492045" y="850684"/>
                  </a:lnTo>
                  <a:lnTo>
                    <a:pt x="8504288" y="804964"/>
                  </a:lnTo>
                  <a:lnTo>
                    <a:pt x="8504263" y="91439"/>
                  </a:lnTo>
                  <a:lnTo>
                    <a:pt x="8492045" y="46088"/>
                  </a:lnTo>
                  <a:lnTo>
                    <a:pt x="8458568" y="12598"/>
                  </a:lnTo>
                  <a:lnTo>
                    <a:pt x="841284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9316" y="1115277"/>
              <a:ext cx="8504555" cy="896619"/>
            </a:xfrm>
            <a:custGeom>
              <a:avLst/>
              <a:gdLst/>
              <a:ahLst/>
              <a:cxnLst/>
              <a:rect l="l" t="t" r="r" b="b"/>
              <a:pathLst>
                <a:path w="8504555" h="896619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8412848" y="368"/>
                  </a:lnTo>
                  <a:lnTo>
                    <a:pt x="8458568" y="12598"/>
                  </a:lnTo>
                  <a:lnTo>
                    <a:pt x="8492045" y="46088"/>
                  </a:lnTo>
                  <a:lnTo>
                    <a:pt x="8504288" y="91808"/>
                  </a:lnTo>
                  <a:lnTo>
                    <a:pt x="8504288" y="804964"/>
                  </a:lnTo>
                  <a:lnTo>
                    <a:pt x="8503488" y="816969"/>
                  </a:lnTo>
                  <a:lnTo>
                    <a:pt x="8501133" y="828633"/>
                  </a:lnTo>
                  <a:lnTo>
                    <a:pt x="8477597" y="869722"/>
                  </a:lnTo>
                  <a:lnTo>
                    <a:pt x="8436513" y="893254"/>
                  </a:lnTo>
                  <a:lnTo>
                    <a:pt x="8412848" y="896404"/>
                  </a:lnTo>
                  <a:lnTo>
                    <a:pt x="91440" y="896404"/>
                  </a:lnTo>
                  <a:lnTo>
                    <a:pt x="45719" y="884161"/>
                  </a:lnTo>
                  <a:lnTo>
                    <a:pt x="12242" y="850684"/>
                  </a:lnTo>
                  <a:lnTo>
                    <a:pt x="0" y="804964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5495" y="797663"/>
            <a:ext cx="8239125" cy="882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6570">
              <a:lnSpc>
                <a:spcPct val="100000"/>
              </a:lnSpc>
              <a:spcBef>
                <a:spcPts val="100"/>
              </a:spcBef>
            </a:pP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WAMY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Finance: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from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45" dirty="0">
                <a:solidFill>
                  <a:srgbClr val="9FBFFF"/>
                </a:solidFill>
                <a:latin typeface="Arial"/>
                <a:cs typeface="Arial"/>
              </a:rPr>
              <a:t>BRD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9FBFFF"/>
                </a:solidFill>
                <a:latin typeface="Arial"/>
                <a:cs typeface="Arial"/>
              </a:rPr>
              <a:t>to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sprint-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ready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backlog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lang="en-US" sz="1000" dirty="0">
              <a:latin typeface="Arial"/>
              <a:cs typeface="Arial"/>
            </a:endParaRPr>
          </a:p>
          <a:p>
            <a:pPr marL="450850">
              <a:lnSpc>
                <a:spcPct val="100000"/>
              </a:lnSpc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User</a:t>
            </a:r>
            <a:r>
              <a:rPr sz="850" b="1" spc="-4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Stories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"Convert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20" dirty="0">
                <a:solidFill>
                  <a:srgbClr val="FCE589"/>
                </a:solidFill>
                <a:latin typeface="Arial"/>
                <a:cs typeface="Arial"/>
              </a:rPr>
              <a:t>BRD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functional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requirements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5" dirty="0">
                <a:solidFill>
                  <a:srgbClr val="FCE589"/>
                </a:solidFill>
                <a:latin typeface="Arial"/>
                <a:cs typeface="Arial"/>
              </a:rPr>
              <a:t>(FR-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01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to </a:t>
            </a:r>
            <a:r>
              <a:rPr sz="850" i="1" spc="-114" dirty="0">
                <a:solidFill>
                  <a:srgbClr val="FCE589"/>
                </a:solidFill>
                <a:latin typeface="Arial"/>
                <a:cs typeface="Arial"/>
              </a:rPr>
              <a:t>FR-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28)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into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Jira-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ready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user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stories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with: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role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(As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[Finance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Manager/Accountant/Auditor]),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goal,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acceptance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criteria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(3-5</a:t>
            </a:r>
            <a:r>
              <a:rPr sz="850" i="1" spc="50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each),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story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point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estimate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(Fibonacci),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sprint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assignment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3-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developer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team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2-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week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sprints."</a:t>
            </a:r>
            <a:endParaRPr sz="850" dirty="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2646" y="2007351"/>
            <a:ext cx="5266055" cy="2796540"/>
            <a:chOff x="242646" y="2007351"/>
            <a:chExt cx="5266055" cy="279654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007351"/>
              <a:ext cx="5265724" cy="279648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0040" y="2084757"/>
              <a:ext cx="5074920" cy="2606040"/>
            </a:xfrm>
            <a:custGeom>
              <a:avLst/>
              <a:gdLst/>
              <a:ahLst/>
              <a:cxnLst/>
              <a:rect l="l" t="t" r="r" b="b"/>
              <a:pathLst>
                <a:path w="5074920" h="2606040">
                  <a:moveTo>
                    <a:pt x="498312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43"/>
                  </a:lnTo>
                  <a:lnTo>
                    <a:pt x="6986" y="56512"/>
                  </a:lnTo>
                  <a:lnTo>
                    <a:pt x="0" y="91439"/>
                  </a:lnTo>
                  <a:lnTo>
                    <a:pt x="0" y="2514600"/>
                  </a:lnTo>
                  <a:lnTo>
                    <a:pt x="6863" y="2549173"/>
                  </a:lnTo>
                  <a:lnTo>
                    <a:pt x="6986" y="2549534"/>
                  </a:lnTo>
                  <a:lnTo>
                    <a:pt x="35676" y="2587209"/>
                  </a:lnTo>
                  <a:lnTo>
                    <a:pt x="79434" y="2605241"/>
                  </a:lnTo>
                  <a:lnTo>
                    <a:pt x="91439" y="2606040"/>
                  </a:lnTo>
                  <a:lnTo>
                    <a:pt x="4983480" y="2605684"/>
                  </a:lnTo>
                  <a:lnTo>
                    <a:pt x="5029200" y="2593441"/>
                  </a:lnTo>
                  <a:lnTo>
                    <a:pt x="5062677" y="2559964"/>
                  </a:lnTo>
                  <a:lnTo>
                    <a:pt x="5071647" y="2538274"/>
                  </a:lnTo>
                  <a:lnTo>
                    <a:pt x="5071770" y="2537914"/>
                  </a:lnTo>
                  <a:lnTo>
                    <a:pt x="5074049" y="2526606"/>
                  </a:lnTo>
                  <a:lnTo>
                    <a:pt x="5074121" y="2526249"/>
                  </a:lnTo>
                  <a:lnTo>
                    <a:pt x="5074896" y="2514600"/>
                  </a:lnTo>
                  <a:lnTo>
                    <a:pt x="5074564" y="91440"/>
                  </a:lnTo>
                  <a:lnTo>
                    <a:pt x="5062321" y="45720"/>
                  </a:lnTo>
                  <a:lnTo>
                    <a:pt x="5028844" y="12242"/>
                  </a:lnTo>
                  <a:lnTo>
                    <a:pt x="4995124" y="798"/>
                  </a:lnTo>
                  <a:lnTo>
                    <a:pt x="4983124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40" y="2084757"/>
              <a:ext cx="5074920" cy="2606040"/>
            </a:xfrm>
            <a:custGeom>
              <a:avLst/>
              <a:gdLst/>
              <a:ahLst/>
              <a:cxnLst/>
              <a:rect l="l" t="t" r="r" b="b"/>
              <a:pathLst>
                <a:path w="5074920" h="2606040">
                  <a:moveTo>
                    <a:pt x="0" y="91440"/>
                  </a:moveTo>
                  <a:lnTo>
                    <a:pt x="798" y="79440"/>
                  </a:lnTo>
                  <a:lnTo>
                    <a:pt x="3149" y="67775"/>
                  </a:lnTo>
                  <a:lnTo>
                    <a:pt x="26681" y="26690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4983124" y="0"/>
                  </a:lnTo>
                  <a:lnTo>
                    <a:pt x="5028844" y="12242"/>
                  </a:lnTo>
                  <a:lnTo>
                    <a:pt x="5062321" y="45720"/>
                  </a:lnTo>
                  <a:lnTo>
                    <a:pt x="5074564" y="91440"/>
                  </a:lnTo>
                  <a:lnTo>
                    <a:pt x="5074920" y="2514244"/>
                  </a:lnTo>
                  <a:lnTo>
                    <a:pt x="5074121" y="2526249"/>
                  </a:lnTo>
                  <a:lnTo>
                    <a:pt x="5071770" y="2537914"/>
                  </a:lnTo>
                  <a:lnTo>
                    <a:pt x="5048238" y="2578998"/>
                  </a:lnTo>
                  <a:lnTo>
                    <a:pt x="5007149" y="2602534"/>
                  </a:lnTo>
                  <a:lnTo>
                    <a:pt x="91439" y="2606040"/>
                  </a:lnTo>
                  <a:lnTo>
                    <a:pt x="45720" y="2593809"/>
                  </a:lnTo>
                  <a:lnTo>
                    <a:pt x="12242" y="2560320"/>
                  </a:lnTo>
                  <a:lnTo>
                    <a:pt x="0" y="2514600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35140" y="2072594"/>
            <a:ext cx="3251835" cy="14605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Sample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User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Stories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US-001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[5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pts]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Sprint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1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As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Finance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Manager,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want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create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Chart</a:t>
            </a:r>
            <a:endParaRPr sz="800">
              <a:latin typeface="Courier New"/>
              <a:cs typeface="Courier New"/>
            </a:endParaRPr>
          </a:p>
          <a:p>
            <a:pPr marL="12700" marR="12827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of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Accounts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so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that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can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organise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financial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data.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Acceptance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Criteria:</a:t>
            </a:r>
            <a:endParaRPr sz="800">
              <a:latin typeface="Courier New"/>
              <a:cs typeface="Courier New"/>
            </a:endParaRPr>
          </a:p>
          <a:p>
            <a:pPr marL="260985" marR="127635" indent="-125095">
              <a:lnSpc>
                <a:spcPct val="102499"/>
              </a:lnSpc>
              <a:buFont typeface="SimSun-ExtB"/>
              <a:buChar char="✓"/>
              <a:tabLst>
                <a:tab pos="26098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CoA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supports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5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account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types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(Asset/Liability/ Equity/Revenue/Expense)</a:t>
            </a:r>
            <a:endParaRPr sz="800">
              <a:latin typeface="Courier New"/>
              <a:cs typeface="Courier New"/>
            </a:endParaRPr>
          </a:p>
          <a:p>
            <a:pPr marL="260350" indent="-124460">
              <a:lnSpc>
                <a:spcPct val="100000"/>
              </a:lnSpc>
              <a:spcBef>
                <a:spcPts val="25"/>
              </a:spcBef>
              <a:buFont typeface="SimSun-ExtB"/>
              <a:buChar char="✓"/>
              <a:tabLst>
                <a:tab pos="260350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Account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codes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follow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1000-5999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pattern</a:t>
            </a:r>
            <a:endParaRPr sz="800">
              <a:latin typeface="Courier New"/>
              <a:cs typeface="Courier New"/>
            </a:endParaRPr>
          </a:p>
          <a:p>
            <a:pPr marL="260350" indent="-124460">
              <a:lnSpc>
                <a:spcPct val="100000"/>
              </a:lnSpc>
              <a:spcBef>
                <a:spcPts val="25"/>
              </a:spcBef>
              <a:buFont typeface="SimSun-ExtB"/>
              <a:buChar char="✓"/>
              <a:tabLst>
                <a:tab pos="260350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Parent-child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hierarchy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supported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(3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levels)</a:t>
            </a:r>
            <a:endParaRPr sz="800">
              <a:latin typeface="Courier New"/>
              <a:cs typeface="Courier New"/>
            </a:endParaRPr>
          </a:p>
          <a:p>
            <a:pPr marL="260350" indent="-124460">
              <a:lnSpc>
                <a:spcPct val="100000"/>
              </a:lnSpc>
              <a:spcBef>
                <a:spcPts val="20"/>
              </a:spcBef>
              <a:buFont typeface="SimSun-ExtB"/>
              <a:buChar char="✓"/>
              <a:tabLst>
                <a:tab pos="260350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Inactive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accounts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cannot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receive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entries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5140" y="3632303"/>
            <a:ext cx="3253104" cy="10248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US-002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[8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pts]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Sprint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1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As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Accountant,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want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post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entries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so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that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transactions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are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recorded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with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double-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entry.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Acceptance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Criteria:</a:t>
            </a:r>
            <a:endParaRPr sz="800">
              <a:latin typeface="Courier New"/>
              <a:cs typeface="Courier New"/>
            </a:endParaRPr>
          </a:p>
          <a:p>
            <a:pPr marL="260350" indent="-124460">
              <a:lnSpc>
                <a:spcPct val="100000"/>
              </a:lnSpc>
              <a:spcBef>
                <a:spcPts val="25"/>
              </a:spcBef>
              <a:buFont typeface="SimSun-ExtB"/>
              <a:buChar char="✓"/>
              <a:tabLst>
                <a:tab pos="260350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System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validates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SUM(debit)==SUM(credit)</a:t>
            </a:r>
            <a:endParaRPr sz="800">
              <a:latin typeface="Courier New"/>
              <a:cs typeface="Courier New"/>
            </a:endParaRPr>
          </a:p>
          <a:p>
            <a:pPr marL="260350" indent="-124460">
              <a:lnSpc>
                <a:spcPct val="100000"/>
              </a:lnSpc>
              <a:spcBef>
                <a:spcPts val="25"/>
              </a:spcBef>
              <a:buFont typeface="SimSun-ExtB"/>
              <a:buChar char="✓"/>
              <a:tabLst>
                <a:tab pos="260350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Entry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requires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minimum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2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line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items</a:t>
            </a:r>
            <a:endParaRPr sz="800">
              <a:latin typeface="Courier New"/>
              <a:cs typeface="Courier New"/>
            </a:endParaRPr>
          </a:p>
          <a:p>
            <a:pPr marL="260350" indent="-124460">
              <a:lnSpc>
                <a:spcPct val="100000"/>
              </a:lnSpc>
              <a:spcBef>
                <a:spcPts val="20"/>
              </a:spcBef>
              <a:buFont typeface="SimSun-ExtB"/>
              <a:buChar char="✓"/>
              <a:tabLst>
                <a:tab pos="260350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Supports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multi-currency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(BDT,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USD)</a:t>
            </a:r>
            <a:endParaRPr sz="800">
              <a:latin typeface="Courier New"/>
              <a:cs typeface="Courier New"/>
            </a:endParaRPr>
          </a:p>
          <a:p>
            <a:pPr marL="260350" indent="-124460">
              <a:lnSpc>
                <a:spcPct val="100000"/>
              </a:lnSpc>
              <a:spcBef>
                <a:spcPts val="25"/>
              </a:spcBef>
              <a:buFont typeface="SimSun-ExtB"/>
              <a:buChar char="✓"/>
              <a:tabLst>
                <a:tab pos="260350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Posted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entries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are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immutable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(locked)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13016" y="2007351"/>
            <a:ext cx="8624570" cy="3009900"/>
            <a:chOff x="313016" y="2007351"/>
            <a:chExt cx="8624570" cy="300990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0446" y="2007351"/>
              <a:ext cx="3436924" cy="279648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3016" y="2078102"/>
              <a:ext cx="8517243" cy="293903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702300" y="2146022"/>
            <a:ext cx="2920758" cy="5251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055E45"/>
                </a:solidFill>
                <a:latin typeface="MingLiU_HKSCS-ExtB"/>
                <a:cs typeface="MingLiU_HKSCS-ExtB"/>
              </a:rPr>
              <a:t>📅</a:t>
            </a:r>
            <a:r>
              <a:rPr sz="1300" spc="-290" dirty="0">
                <a:solidFill>
                  <a:srgbClr val="055E45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Sprint</a:t>
            </a:r>
            <a:r>
              <a:rPr sz="1100" b="1" spc="-30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Plan</a:t>
            </a:r>
            <a:r>
              <a:rPr sz="1100" b="1" spc="-1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Output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100" dirty="0">
              <a:latin typeface="Calibri"/>
              <a:cs typeface="Calibri"/>
            </a:endParaRPr>
          </a:p>
          <a:p>
            <a:pPr marL="103505">
              <a:lnSpc>
                <a:spcPct val="100000"/>
              </a:lnSpc>
              <a:tabLst>
                <a:tab pos="770890" algn="l"/>
              </a:tabLst>
            </a:pPr>
            <a:r>
              <a:rPr sz="850" b="1" dirty="0">
                <a:solidFill>
                  <a:srgbClr val="1D2660"/>
                </a:solidFill>
                <a:latin typeface="Calibri"/>
                <a:cs typeface="Calibri"/>
              </a:rPr>
              <a:t>Sprint</a:t>
            </a:r>
            <a:r>
              <a:rPr sz="850" b="1" spc="-25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850" b="1" spc="-50" dirty="0">
                <a:solidFill>
                  <a:srgbClr val="1D2660"/>
                </a:solidFill>
                <a:latin typeface="Calibri"/>
                <a:cs typeface="Calibri"/>
              </a:rPr>
              <a:t>1</a:t>
            </a:r>
            <a:r>
              <a:rPr sz="850" b="1" dirty="0">
                <a:solidFill>
                  <a:srgbClr val="1D2660"/>
                </a:solidFill>
                <a:latin typeface="Calibri"/>
                <a:cs typeface="Calibri"/>
              </a:rPr>
              <a:t>	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34 </a:t>
            </a:r>
            <a:r>
              <a:rPr sz="850" b="1" spc="-25" dirty="0">
                <a:solidFill>
                  <a:srgbClr val="0C9387"/>
                </a:solidFill>
                <a:latin typeface="Calibri"/>
                <a:cs typeface="Calibri"/>
              </a:rPr>
              <a:t>pts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46544" y="2478496"/>
            <a:ext cx="14992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Foundation:</a:t>
            </a:r>
            <a:r>
              <a:rPr sz="7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CoA, Users, Auth,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Journal</a:t>
            </a:r>
            <a:r>
              <a:rPr sz="7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Entries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93384" y="2893938"/>
            <a:ext cx="37274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1D2660"/>
                </a:solidFill>
                <a:latin typeface="Calibri"/>
                <a:cs typeface="Calibri"/>
              </a:rPr>
              <a:t>Sprint</a:t>
            </a:r>
            <a:r>
              <a:rPr sz="850" b="1" spc="-25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850" b="1" spc="-50" dirty="0">
                <a:solidFill>
                  <a:srgbClr val="1D2660"/>
                </a:solidFill>
                <a:latin typeface="Calibri"/>
                <a:cs typeface="Calibri"/>
              </a:rPr>
              <a:t>2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60820" y="2893938"/>
            <a:ext cx="2971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32 </a:t>
            </a:r>
            <a:r>
              <a:rPr sz="850" b="1" spc="-25" dirty="0">
                <a:solidFill>
                  <a:srgbClr val="0C9387"/>
                </a:solidFill>
                <a:latin typeface="Calibri"/>
                <a:cs typeface="Calibri"/>
              </a:rPr>
              <a:t>pts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46544" y="2844256"/>
            <a:ext cx="141414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Reporting: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P&amp;L,</a:t>
            </a:r>
            <a:r>
              <a:rPr sz="7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Balance Sheet,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465468"/>
                </a:solidFill>
                <a:latin typeface="Calibri"/>
                <a:cs typeface="Calibri"/>
              </a:rPr>
              <a:t>Trial</a:t>
            </a:r>
            <a:r>
              <a:rPr sz="7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Balance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93384" y="3259698"/>
            <a:ext cx="37274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1D2660"/>
                </a:solidFill>
                <a:latin typeface="Calibri"/>
                <a:cs typeface="Calibri"/>
              </a:rPr>
              <a:t>Sprint</a:t>
            </a:r>
            <a:r>
              <a:rPr sz="850" b="1" spc="-25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850" b="1" spc="-50" dirty="0">
                <a:solidFill>
                  <a:srgbClr val="1D2660"/>
                </a:solidFill>
                <a:latin typeface="Calibri"/>
                <a:cs typeface="Calibri"/>
              </a:rPr>
              <a:t>3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60820" y="3259698"/>
            <a:ext cx="2971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30 </a:t>
            </a:r>
            <a:r>
              <a:rPr sz="850" b="1" spc="-25" dirty="0">
                <a:solidFill>
                  <a:srgbClr val="0C9387"/>
                </a:solidFill>
                <a:latin typeface="Calibri"/>
                <a:cs typeface="Calibri"/>
              </a:rPr>
              <a:t>pts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46544" y="3267254"/>
            <a:ext cx="16205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0" dirty="0">
                <a:solidFill>
                  <a:srgbClr val="465468"/>
                </a:solidFill>
                <a:latin typeface="Calibri"/>
                <a:cs typeface="Calibri"/>
              </a:rPr>
              <a:t>AP/AR</a:t>
            </a:r>
            <a:r>
              <a:rPr sz="7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aging,</a:t>
            </a:r>
            <a:r>
              <a:rPr sz="7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Cash</a:t>
            </a:r>
            <a:r>
              <a:rPr sz="7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465468"/>
                </a:solidFill>
                <a:latin typeface="Calibri"/>
                <a:cs typeface="Calibri"/>
              </a:rPr>
              <a:t>Flow,</a:t>
            </a:r>
            <a:r>
              <a:rPr sz="7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Budget vs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Actual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93384" y="3625458"/>
            <a:ext cx="37274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1D2660"/>
                </a:solidFill>
                <a:latin typeface="Calibri"/>
                <a:cs typeface="Calibri"/>
              </a:rPr>
              <a:t>Sprint</a:t>
            </a:r>
            <a:r>
              <a:rPr sz="850" b="1" spc="-25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850" b="1" spc="-50" dirty="0">
                <a:solidFill>
                  <a:srgbClr val="1D2660"/>
                </a:solidFill>
                <a:latin typeface="Calibri"/>
                <a:cs typeface="Calibri"/>
              </a:rPr>
              <a:t>4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60820" y="3625458"/>
            <a:ext cx="2971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28 </a:t>
            </a:r>
            <a:r>
              <a:rPr sz="850" b="1" spc="-25" dirty="0">
                <a:solidFill>
                  <a:srgbClr val="0C9387"/>
                </a:solidFill>
                <a:latin typeface="Calibri"/>
                <a:cs typeface="Calibri"/>
              </a:rPr>
              <a:t>pts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46544" y="3575775"/>
            <a:ext cx="133794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Bank</a:t>
            </a:r>
            <a:r>
              <a:rPr sz="750" spc="3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Reconciliation,</a:t>
            </a:r>
            <a:r>
              <a:rPr sz="750" spc="3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multi-project</a:t>
            </a:r>
            <a:r>
              <a:rPr sz="7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reports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793384" y="3991218"/>
            <a:ext cx="37274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1D2660"/>
                </a:solidFill>
                <a:latin typeface="Calibri"/>
                <a:cs typeface="Calibri"/>
              </a:rPr>
              <a:t>Sprint</a:t>
            </a:r>
            <a:r>
              <a:rPr sz="850" b="1" spc="-25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850" b="1" spc="-50" dirty="0">
                <a:solidFill>
                  <a:srgbClr val="1D2660"/>
                </a:solidFill>
                <a:latin typeface="Calibri"/>
                <a:cs typeface="Calibri"/>
              </a:rPr>
              <a:t>5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60820" y="3991218"/>
            <a:ext cx="2971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26 </a:t>
            </a:r>
            <a:r>
              <a:rPr sz="850" b="1" spc="-25" dirty="0">
                <a:solidFill>
                  <a:srgbClr val="0C9387"/>
                </a:solidFill>
                <a:latin typeface="Calibri"/>
                <a:cs typeface="Calibri"/>
              </a:rPr>
              <a:t>pts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46544" y="3941536"/>
            <a:ext cx="130048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React</a:t>
            </a:r>
            <a:r>
              <a:rPr sz="7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dashboards,</a:t>
            </a:r>
            <a:r>
              <a:rPr sz="7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charts,</a:t>
            </a:r>
            <a:r>
              <a:rPr sz="7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export</a:t>
            </a:r>
            <a:r>
              <a:rPr sz="7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PDF/Excel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93384" y="4356978"/>
            <a:ext cx="37274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1D2660"/>
                </a:solidFill>
                <a:latin typeface="Calibri"/>
                <a:cs typeface="Calibri"/>
              </a:rPr>
              <a:t>Sprint</a:t>
            </a:r>
            <a:r>
              <a:rPr sz="850" b="1" spc="-25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850" b="1" spc="-50" dirty="0">
                <a:solidFill>
                  <a:srgbClr val="1D2660"/>
                </a:solidFill>
                <a:latin typeface="Calibri"/>
                <a:cs typeface="Calibri"/>
              </a:rPr>
              <a:t>6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60820" y="4356978"/>
            <a:ext cx="2971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24 </a:t>
            </a:r>
            <a:r>
              <a:rPr sz="850" b="1" spc="-25" dirty="0">
                <a:solidFill>
                  <a:srgbClr val="0C9387"/>
                </a:solidFill>
                <a:latin typeface="Calibri"/>
                <a:cs typeface="Calibri"/>
              </a:rPr>
              <a:t>pts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46544" y="4307296"/>
            <a:ext cx="153352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Testing,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 security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hardening,</a:t>
            </a:r>
            <a:r>
              <a:rPr sz="7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465468"/>
                </a:solidFill>
                <a:latin typeface="Calibri"/>
                <a:cs typeface="Calibri"/>
              </a:rPr>
              <a:t>Robi </a:t>
            </a:r>
            <a:r>
              <a:rPr sz="750" spc="-20" dirty="0">
                <a:solidFill>
                  <a:srgbClr val="465468"/>
                </a:solidFill>
                <a:latin typeface="Calibri"/>
                <a:cs typeface="Calibri"/>
              </a:rPr>
              <a:t>Cloud</a:t>
            </a:r>
            <a:r>
              <a:rPr sz="7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465468"/>
                </a:solidFill>
                <a:latin typeface="Calibri"/>
                <a:cs typeface="Calibri"/>
              </a:rPr>
              <a:t>deploy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4144" y="4730580"/>
            <a:ext cx="650684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Total:</a:t>
            </a:r>
            <a:r>
              <a:rPr sz="950" spc="-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174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story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points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across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6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sprints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(12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weeks)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for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3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developers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Claude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Code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estimates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this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is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achievable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with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AI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assistance.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18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Functional</a:t>
            </a:r>
            <a:r>
              <a:rPr spc="-45" dirty="0"/>
              <a:t> </a:t>
            </a:r>
            <a:r>
              <a:rPr spc="-10" dirty="0"/>
              <a:t>Requirements</a:t>
            </a:r>
            <a:r>
              <a:rPr spc="-45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dirty="0"/>
              <a:t>API</a:t>
            </a:r>
            <a:r>
              <a:rPr spc="-50" dirty="0"/>
              <a:t> </a:t>
            </a:r>
            <a:r>
              <a:rPr spc="-10" dirty="0"/>
              <a:t>Contract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5488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60" dirty="0">
                <a:solidFill>
                  <a:srgbClr val="9FBFFF"/>
                </a:solidFill>
                <a:latin typeface="Arial"/>
                <a:cs typeface="Arial"/>
              </a:rPr>
              <a:t>Generate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95" dirty="0">
                <a:solidFill>
                  <a:srgbClr val="9FBFFF"/>
                </a:solidFill>
                <a:latin typeface="Arial"/>
                <a:cs typeface="Arial"/>
              </a:rPr>
              <a:t>FRS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and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85" dirty="0">
                <a:solidFill>
                  <a:srgbClr val="9FBFFF"/>
                </a:solidFill>
                <a:latin typeface="Arial"/>
                <a:cs typeface="Arial"/>
              </a:rPr>
              <a:t>OpenAPI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85" dirty="0">
                <a:solidFill>
                  <a:srgbClr val="9FBFFF"/>
                </a:solidFill>
                <a:latin typeface="Arial"/>
                <a:cs typeface="Arial"/>
              </a:rPr>
              <a:t>spec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from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user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stories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8474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277" y="1038227"/>
            <a:ext cx="5220335" cy="1059180"/>
            <a:chOff x="242277" y="1038227"/>
            <a:chExt cx="5220335" cy="105918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038227"/>
              <a:ext cx="5220004" cy="105912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316" y="1115277"/>
              <a:ext cx="5029835" cy="869315"/>
            </a:xfrm>
            <a:custGeom>
              <a:avLst/>
              <a:gdLst/>
              <a:ahLst/>
              <a:cxnLst/>
              <a:rect l="l" t="t" r="r" b="b"/>
              <a:pathLst>
                <a:path w="5029835" h="869314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777608"/>
                  </a:lnTo>
                  <a:lnTo>
                    <a:pt x="798" y="789608"/>
                  </a:lnTo>
                  <a:lnTo>
                    <a:pt x="18843" y="833365"/>
                  </a:lnTo>
                  <a:lnTo>
                    <a:pt x="56512" y="862061"/>
                  </a:lnTo>
                  <a:lnTo>
                    <a:pt x="91440" y="869048"/>
                  </a:lnTo>
                  <a:lnTo>
                    <a:pt x="4938128" y="869048"/>
                  </a:lnTo>
                  <a:lnTo>
                    <a:pt x="4983848" y="856805"/>
                  </a:lnTo>
                  <a:lnTo>
                    <a:pt x="5017325" y="823328"/>
                  </a:lnTo>
                  <a:lnTo>
                    <a:pt x="5029568" y="777608"/>
                  </a:lnTo>
                  <a:lnTo>
                    <a:pt x="5029543" y="91439"/>
                  </a:lnTo>
                  <a:lnTo>
                    <a:pt x="5017325" y="46088"/>
                  </a:lnTo>
                  <a:lnTo>
                    <a:pt x="4983848" y="12598"/>
                  </a:lnTo>
                  <a:lnTo>
                    <a:pt x="493812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316" y="1115277"/>
              <a:ext cx="5029835" cy="869315"/>
            </a:xfrm>
            <a:custGeom>
              <a:avLst/>
              <a:gdLst/>
              <a:ahLst/>
              <a:cxnLst/>
              <a:rect l="l" t="t" r="r" b="b"/>
              <a:pathLst>
                <a:path w="5029835" h="869314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4938128" y="368"/>
                  </a:lnTo>
                  <a:lnTo>
                    <a:pt x="4983848" y="12598"/>
                  </a:lnTo>
                  <a:lnTo>
                    <a:pt x="5017325" y="46088"/>
                  </a:lnTo>
                  <a:lnTo>
                    <a:pt x="5029568" y="91808"/>
                  </a:lnTo>
                  <a:lnTo>
                    <a:pt x="5029568" y="777608"/>
                  </a:lnTo>
                  <a:lnTo>
                    <a:pt x="5028768" y="789608"/>
                  </a:lnTo>
                  <a:lnTo>
                    <a:pt x="5026413" y="801273"/>
                  </a:lnTo>
                  <a:lnTo>
                    <a:pt x="5002877" y="842357"/>
                  </a:lnTo>
                  <a:lnTo>
                    <a:pt x="4961793" y="865898"/>
                  </a:lnTo>
                  <a:lnTo>
                    <a:pt x="4938128" y="869048"/>
                  </a:lnTo>
                  <a:lnTo>
                    <a:pt x="91440" y="869048"/>
                  </a:lnTo>
                  <a:lnTo>
                    <a:pt x="45719" y="856805"/>
                  </a:lnTo>
                  <a:lnTo>
                    <a:pt x="12242" y="823328"/>
                  </a:lnTo>
                  <a:lnTo>
                    <a:pt x="0" y="777608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495" y="1093565"/>
            <a:ext cx="4610735" cy="71628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5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API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Contract</a:t>
            </a:r>
            <a:r>
              <a:rPr sz="850" b="1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540"/>
              </a:spcBef>
            </a:pP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"Based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on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user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stories,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generate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complete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OpenAPI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3.0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specification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60" dirty="0">
                <a:solidFill>
                  <a:srgbClr val="FCE589"/>
                </a:solidFill>
                <a:latin typeface="Arial"/>
                <a:cs typeface="Arial"/>
              </a:rPr>
              <a:t>REST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API.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Include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all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endpoints,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request/response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schemas,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authentication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headers,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error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responses,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examples."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277" y="1979995"/>
            <a:ext cx="5220335" cy="2823845"/>
            <a:chOff x="242277" y="1979995"/>
            <a:chExt cx="5220335" cy="282384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1979995"/>
              <a:ext cx="5220004" cy="282384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316" y="2057046"/>
              <a:ext cx="5029835" cy="2633980"/>
            </a:xfrm>
            <a:custGeom>
              <a:avLst/>
              <a:gdLst/>
              <a:ahLst/>
              <a:cxnLst/>
              <a:rect l="l" t="t" r="r" b="b"/>
              <a:pathLst>
                <a:path w="5029835" h="2633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42311"/>
                  </a:lnTo>
                  <a:lnTo>
                    <a:pt x="798" y="2554318"/>
                  </a:lnTo>
                  <a:lnTo>
                    <a:pt x="18843" y="2598075"/>
                  </a:lnTo>
                  <a:lnTo>
                    <a:pt x="56512" y="2626770"/>
                  </a:lnTo>
                  <a:lnTo>
                    <a:pt x="91440" y="2633751"/>
                  </a:lnTo>
                  <a:lnTo>
                    <a:pt x="4938128" y="2633751"/>
                  </a:lnTo>
                  <a:lnTo>
                    <a:pt x="4983848" y="2621521"/>
                  </a:lnTo>
                  <a:lnTo>
                    <a:pt x="5017325" y="2588031"/>
                  </a:lnTo>
                  <a:lnTo>
                    <a:pt x="5029568" y="2542311"/>
                  </a:lnTo>
                  <a:lnTo>
                    <a:pt x="5029544" y="91439"/>
                  </a:lnTo>
                  <a:lnTo>
                    <a:pt x="5017325" y="46075"/>
                  </a:lnTo>
                  <a:lnTo>
                    <a:pt x="4983848" y="12598"/>
                  </a:lnTo>
                  <a:lnTo>
                    <a:pt x="493812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316" y="2057046"/>
              <a:ext cx="5029835" cy="2633980"/>
            </a:xfrm>
            <a:custGeom>
              <a:avLst/>
              <a:gdLst/>
              <a:ahLst/>
              <a:cxnLst/>
              <a:rect l="l" t="t" r="r" b="b"/>
              <a:pathLst>
                <a:path w="5029835" h="2633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4938128" y="355"/>
                  </a:lnTo>
                  <a:lnTo>
                    <a:pt x="4983848" y="12598"/>
                  </a:lnTo>
                  <a:lnTo>
                    <a:pt x="5017325" y="46075"/>
                  </a:lnTo>
                  <a:lnTo>
                    <a:pt x="5029568" y="91795"/>
                  </a:lnTo>
                  <a:lnTo>
                    <a:pt x="5029568" y="2542311"/>
                  </a:lnTo>
                  <a:lnTo>
                    <a:pt x="5028768" y="2554318"/>
                  </a:lnTo>
                  <a:lnTo>
                    <a:pt x="5026413" y="2565985"/>
                  </a:lnTo>
                  <a:lnTo>
                    <a:pt x="5002877" y="2607071"/>
                  </a:lnTo>
                  <a:lnTo>
                    <a:pt x="4961793" y="2630603"/>
                  </a:lnTo>
                  <a:lnTo>
                    <a:pt x="4938128" y="2633751"/>
                  </a:lnTo>
                  <a:lnTo>
                    <a:pt x="91440" y="2633751"/>
                  </a:lnTo>
                  <a:lnTo>
                    <a:pt x="45719" y="2621521"/>
                  </a:lnTo>
                  <a:lnTo>
                    <a:pt x="12242" y="2588031"/>
                  </a:lnTo>
                  <a:lnTo>
                    <a:pt x="0" y="2542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495" y="2045715"/>
            <a:ext cx="3873500" cy="27089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OpenAPI</a:t>
            </a:r>
            <a:r>
              <a:rPr sz="900" b="1" spc="-4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Spec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 (excerpt)</a:t>
            </a:r>
            <a:endParaRPr sz="900">
              <a:latin typeface="Calibri"/>
              <a:cs typeface="Calibri"/>
            </a:endParaRPr>
          </a:p>
          <a:p>
            <a:pPr marL="12700" marR="2983865">
              <a:lnSpc>
                <a:spcPct val="102499"/>
              </a:lnSpc>
              <a:spcBef>
                <a:spcPts val="50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openapi: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3.0.3 info:</a:t>
            </a:r>
            <a:endParaRPr sz="800">
              <a:latin typeface="Courier New"/>
              <a:cs typeface="Courier New"/>
            </a:endParaRPr>
          </a:p>
          <a:p>
            <a:pPr marL="135890" marR="230251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title: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WAMY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Finance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API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version: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1.0.0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paths:</a:t>
            </a:r>
            <a:endParaRPr sz="800">
              <a:latin typeface="Courier New"/>
              <a:cs typeface="Courier New"/>
            </a:endParaRPr>
          </a:p>
          <a:p>
            <a:pPr marL="260985" marR="2240280" indent="-12509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/api/v1/journal-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entries: post:</a:t>
            </a:r>
            <a:endParaRPr sz="800">
              <a:latin typeface="Courier New"/>
              <a:cs typeface="Courier New"/>
            </a:endParaRPr>
          </a:p>
          <a:p>
            <a:pPr marL="384175" marR="143383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summary: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Post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new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entry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security: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[bearerAuth: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[]]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requestBody:</a:t>
            </a:r>
            <a:endParaRPr sz="800">
              <a:latin typeface="Courier New"/>
              <a:cs typeface="Courier New"/>
            </a:endParaRPr>
          </a:p>
          <a:p>
            <a:pPr marL="634365" marR="2176780" indent="-125095">
              <a:lnSpc>
                <a:spcPct val="102499"/>
              </a:lnSpc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content: application/json:</a:t>
            </a:r>
            <a:endParaRPr sz="800">
              <a:latin typeface="Courier New"/>
              <a:cs typeface="Courier New"/>
            </a:endParaRPr>
          </a:p>
          <a:p>
            <a:pPr marL="757555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schema:</a:t>
            </a:r>
            <a:endParaRPr sz="800">
              <a:latin typeface="Courier New"/>
              <a:cs typeface="Courier New"/>
            </a:endParaRPr>
          </a:p>
          <a:p>
            <a:pPr marL="757555" marR="5080" indent="12446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$ref: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'#/components/schemas/JournalEntryRequest' example:</a:t>
            </a:r>
            <a:endParaRPr sz="800">
              <a:latin typeface="Courier New"/>
              <a:cs typeface="Courier New"/>
            </a:endParaRPr>
          </a:p>
          <a:p>
            <a:pPr marL="88265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date: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"2024-01-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15"</a:t>
            </a:r>
            <a:endParaRPr sz="800">
              <a:latin typeface="Courier New"/>
              <a:cs typeface="Courier New"/>
            </a:endParaRPr>
          </a:p>
          <a:p>
            <a:pPr marL="882650" marR="87312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description: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"Office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rent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payment"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projectId:</a:t>
            </a:r>
            <a:r>
              <a:rPr sz="800" spc="11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"PROJ-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001"</a:t>
            </a:r>
            <a:endParaRPr sz="800">
              <a:latin typeface="Courier New"/>
              <a:cs typeface="Courier New"/>
            </a:endParaRPr>
          </a:p>
          <a:p>
            <a:pPr marL="88265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lines: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454357" y="1038227"/>
            <a:ext cx="3482975" cy="3765550"/>
            <a:chOff x="5454357" y="1038227"/>
            <a:chExt cx="3482975" cy="376555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4357" y="1038227"/>
              <a:ext cx="3482644" cy="376525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531395" y="1115277"/>
              <a:ext cx="3292475" cy="3575685"/>
            </a:xfrm>
            <a:custGeom>
              <a:avLst/>
              <a:gdLst/>
              <a:ahLst/>
              <a:cxnLst/>
              <a:rect l="l" t="t" r="r" b="b"/>
              <a:pathLst>
                <a:path w="3292475" h="357568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934"/>
                  </a:lnTo>
                  <a:lnTo>
                    <a:pt x="368" y="109804"/>
                  </a:lnTo>
                  <a:lnTo>
                    <a:pt x="0" y="3465728"/>
                  </a:lnTo>
                  <a:lnTo>
                    <a:pt x="929" y="3479995"/>
                  </a:lnTo>
                  <a:lnTo>
                    <a:pt x="939" y="3480151"/>
                  </a:lnTo>
                  <a:lnTo>
                    <a:pt x="14770" y="3520808"/>
                  </a:lnTo>
                  <a:lnTo>
                    <a:pt x="22683" y="3532516"/>
                  </a:lnTo>
                  <a:lnTo>
                    <a:pt x="22788" y="3532671"/>
                  </a:lnTo>
                  <a:lnTo>
                    <a:pt x="55079" y="3560762"/>
                  </a:lnTo>
                  <a:lnTo>
                    <a:pt x="95534" y="3574580"/>
                  </a:lnTo>
                  <a:lnTo>
                    <a:pt x="109804" y="3575519"/>
                  </a:lnTo>
                  <a:lnTo>
                    <a:pt x="3182404" y="3575519"/>
                  </a:lnTo>
                  <a:lnTo>
                    <a:pt x="3224475" y="3567167"/>
                  </a:lnTo>
                  <a:lnTo>
                    <a:pt x="3259975" y="3543352"/>
                  </a:lnTo>
                  <a:lnTo>
                    <a:pt x="3283747" y="3507792"/>
                  </a:lnTo>
                  <a:lnTo>
                    <a:pt x="3283850" y="3507587"/>
                  </a:lnTo>
                  <a:lnTo>
                    <a:pt x="3288410" y="3494206"/>
                  </a:lnTo>
                  <a:lnTo>
                    <a:pt x="3288471" y="3494027"/>
                  </a:lnTo>
                  <a:lnTo>
                    <a:pt x="3291237" y="3480151"/>
                  </a:lnTo>
                  <a:lnTo>
                    <a:pt x="3291268" y="3479995"/>
                  </a:lnTo>
                  <a:lnTo>
                    <a:pt x="3292208" y="3465728"/>
                  </a:lnTo>
                  <a:lnTo>
                    <a:pt x="3292185" y="109804"/>
                  </a:lnTo>
                  <a:lnTo>
                    <a:pt x="3291268" y="95736"/>
                  </a:lnTo>
                  <a:lnTo>
                    <a:pt x="3277438" y="55079"/>
                  </a:lnTo>
                  <a:lnTo>
                    <a:pt x="3249197" y="23138"/>
                  </a:lnTo>
                  <a:lnTo>
                    <a:pt x="3210709" y="4103"/>
                  </a:lnTo>
                  <a:lnTo>
                    <a:pt x="318240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4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31395" y="1115277"/>
              <a:ext cx="3292475" cy="3575685"/>
            </a:xfrm>
            <a:custGeom>
              <a:avLst/>
              <a:gdLst/>
              <a:ahLst/>
              <a:cxnLst/>
              <a:rect l="l" t="t" r="r" b="b"/>
              <a:pathLst>
                <a:path w="3292475" h="3575685">
                  <a:moveTo>
                    <a:pt x="368" y="109804"/>
                  </a:moveTo>
                  <a:lnTo>
                    <a:pt x="1307" y="95534"/>
                  </a:lnTo>
                  <a:lnTo>
                    <a:pt x="4103" y="81499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182404" y="368"/>
                  </a:lnTo>
                  <a:lnTo>
                    <a:pt x="3224273" y="8721"/>
                  </a:lnTo>
                  <a:lnTo>
                    <a:pt x="3259983" y="32535"/>
                  </a:lnTo>
                  <a:lnTo>
                    <a:pt x="3283850" y="68095"/>
                  </a:lnTo>
                  <a:lnTo>
                    <a:pt x="3292208" y="110159"/>
                  </a:lnTo>
                  <a:lnTo>
                    <a:pt x="3292208" y="3465728"/>
                  </a:lnTo>
                  <a:lnTo>
                    <a:pt x="3291268" y="3479995"/>
                  </a:lnTo>
                  <a:lnTo>
                    <a:pt x="3288471" y="3494027"/>
                  </a:lnTo>
                  <a:lnTo>
                    <a:pt x="3269425" y="3532516"/>
                  </a:lnTo>
                  <a:lnTo>
                    <a:pt x="3237483" y="3560762"/>
                  </a:lnTo>
                  <a:lnTo>
                    <a:pt x="3196834" y="3574580"/>
                  </a:lnTo>
                  <a:lnTo>
                    <a:pt x="3182404" y="3575519"/>
                  </a:lnTo>
                  <a:lnTo>
                    <a:pt x="109804" y="3575519"/>
                  </a:lnTo>
                  <a:lnTo>
                    <a:pt x="67934" y="3567167"/>
                  </a:lnTo>
                  <a:lnTo>
                    <a:pt x="32224" y="3543352"/>
                  </a:lnTo>
                  <a:lnTo>
                    <a:pt x="8358" y="3507792"/>
                  </a:lnTo>
                  <a:lnTo>
                    <a:pt x="0" y="3465728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656224" y="1167538"/>
            <a:ext cx="24209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7B39EC"/>
                </a:solidFill>
                <a:latin typeface="MingLiU_HKSCS-ExtB"/>
                <a:cs typeface="MingLiU_HKSCS-ExtB"/>
              </a:rPr>
              <a:t>📑</a:t>
            </a:r>
            <a:r>
              <a:rPr sz="1300" spc="-290" dirty="0">
                <a:solidFill>
                  <a:srgbClr val="7B39EC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7B39EC"/>
                </a:solidFill>
                <a:latin typeface="Calibri"/>
                <a:cs typeface="Calibri"/>
              </a:rPr>
              <a:t>FRS</a:t>
            </a:r>
            <a:r>
              <a:rPr sz="1100" b="1" spc="-5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7B39EC"/>
                </a:solidFill>
                <a:latin typeface="Calibri"/>
                <a:cs typeface="Calibri"/>
              </a:rPr>
              <a:t>Document</a:t>
            </a:r>
            <a:r>
              <a:rPr sz="1100" b="1" spc="-2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7B39EC"/>
                </a:solidFill>
                <a:latin typeface="Calibri"/>
                <a:cs typeface="Calibri"/>
              </a:rPr>
              <a:t>Sections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56224" y="1536740"/>
            <a:ext cx="9753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6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900" spc="17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System Overview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56224" y="1847420"/>
            <a:ext cx="13500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6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900" spc="17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User</a:t>
            </a:r>
            <a:r>
              <a:rPr sz="9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Roles</a:t>
            </a:r>
            <a:r>
              <a:rPr sz="9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&amp;</a:t>
            </a:r>
            <a:r>
              <a:rPr sz="9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Permissions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56224" y="2158468"/>
            <a:ext cx="177927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6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900" spc="2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Module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Specifications</a:t>
            </a:r>
            <a:r>
              <a:rPr sz="90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(8</a:t>
            </a:r>
            <a:r>
              <a:rPr sz="900" spc="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modules)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56224" y="2469504"/>
            <a:ext cx="12693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6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900" spc="16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API</a:t>
            </a:r>
            <a:r>
              <a:rPr sz="9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Endpoint</a:t>
            </a:r>
            <a:r>
              <a:rPr sz="90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Catalogue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56224" y="2780184"/>
            <a:ext cx="12496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6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900" spc="15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Model</a:t>
            </a:r>
            <a:r>
              <a:rPr sz="9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Definitions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56224" y="3091220"/>
            <a:ext cx="15544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6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900" spc="20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Business</a:t>
            </a:r>
            <a:r>
              <a:rPr sz="90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Rules</a:t>
            </a:r>
            <a:r>
              <a:rPr sz="90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(double-entry)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56224" y="3401900"/>
            <a:ext cx="17303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6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900" spc="2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Report</a:t>
            </a:r>
            <a:r>
              <a:rPr sz="900" spc="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Specifications</a:t>
            </a:r>
            <a:r>
              <a:rPr sz="90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(10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reports)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56224" y="3712948"/>
            <a:ext cx="10007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6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900" spc="19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Integration</a:t>
            </a:r>
            <a:r>
              <a:rPr sz="900" spc="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Points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56224" y="4023984"/>
            <a:ext cx="13392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6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900" spc="19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Error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Handling</a:t>
            </a:r>
            <a:r>
              <a:rPr sz="90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Standards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56224" y="4334664"/>
            <a:ext cx="145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6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900" spc="204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Performance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Requirements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33" name="object 33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18744" y="4730580"/>
            <a:ext cx="7554074" cy="38151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ts val="1145"/>
              </a:lnSpc>
              <a:spcBef>
                <a:spcPts val="114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 err="1">
                <a:solidFill>
                  <a:srgbClr val="774409"/>
                </a:solidFill>
                <a:latin typeface="Calibri"/>
                <a:cs typeface="Calibri"/>
              </a:rPr>
              <a:t>OpenAPI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lang="en-US" sz="950" spc="5" dirty="0">
                <a:solidFill>
                  <a:srgbClr val="774409"/>
                </a:solidFill>
                <a:latin typeface="Calibri"/>
                <a:cs typeface="Calibri"/>
              </a:rPr>
              <a:t>spec generated here becomes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contract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between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Spring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Boot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backend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and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React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frontend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no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manual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coordination needed.</a:t>
            </a:r>
            <a:endParaRPr sz="950" dirty="0">
              <a:latin typeface="Calibri"/>
              <a:cs typeface="Calibri"/>
            </a:endParaRPr>
          </a:p>
          <a:p>
            <a:pPr marL="1147445">
              <a:lnSpc>
                <a:spcPts val="785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debit: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50000.00</a:t>
            </a:r>
            <a:endParaRPr sz="800" dirty="0">
              <a:latin typeface="Courier New"/>
              <a:cs typeface="Courier New"/>
            </a:endParaRPr>
          </a:p>
          <a:p>
            <a:pPr marL="114744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credit: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19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Roadmap</a:t>
            </a:r>
            <a:r>
              <a:rPr spc="-80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spc="-10" dirty="0"/>
              <a:t>Timeline</a:t>
            </a:r>
          </a:p>
        </p:txBody>
      </p:sp>
      <p:sp>
        <p:nvSpPr>
          <p:cNvPr id="4" name="object 4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72818" y="178160"/>
            <a:ext cx="8474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2277" y="1038227"/>
            <a:ext cx="8694420" cy="940435"/>
            <a:chOff x="242277" y="1038227"/>
            <a:chExt cx="8694420" cy="9404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038227"/>
              <a:ext cx="8694356" cy="94033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9684" y="1115646"/>
              <a:ext cx="8503920" cy="749935"/>
            </a:xfrm>
            <a:custGeom>
              <a:avLst/>
              <a:gdLst/>
              <a:ahLst/>
              <a:cxnLst/>
              <a:rect l="l" t="t" r="r" b="b"/>
              <a:pathLst>
                <a:path w="8503920" h="749935">
                  <a:moveTo>
                    <a:pt x="841211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658431"/>
                  </a:lnTo>
                  <a:lnTo>
                    <a:pt x="774" y="670080"/>
                  </a:lnTo>
                  <a:lnTo>
                    <a:pt x="798" y="670438"/>
                  </a:lnTo>
                  <a:lnTo>
                    <a:pt x="3075" y="681745"/>
                  </a:lnTo>
                  <a:lnTo>
                    <a:pt x="3148" y="682105"/>
                  </a:lnTo>
                  <a:lnTo>
                    <a:pt x="26679" y="723191"/>
                  </a:lnTo>
                  <a:lnTo>
                    <a:pt x="67765" y="746723"/>
                  </a:lnTo>
                  <a:lnTo>
                    <a:pt x="91439" y="749871"/>
                  </a:lnTo>
                  <a:lnTo>
                    <a:pt x="8412480" y="749515"/>
                  </a:lnTo>
                  <a:lnTo>
                    <a:pt x="8458200" y="737273"/>
                  </a:lnTo>
                  <a:lnTo>
                    <a:pt x="8491677" y="703795"/>
                  </a:lnTo>
                  <a:lnTo>
                    <a:pt x="8500642" y="682105"/>
                  </a:lnTo>
                  <a:lnTo>
                    <a:pt x="8500765" y="681745"/>
                  </a:lnTo>
                  <a:lnTo>
                    <a:pt x="8503047" y="670438"/>
                  </a:lnTo>
                  <a:lnTo>
                    <a:pt x="8503119" y="670080"/>
                  </a:lnTo>
                  <a:lnTo>
                    <a:pt x="8503896" y="658431"/>
                  </a:lnTo>
                  <a:lnTo>
                    <a:pt x="8503551" y="91439"/>
                  </a:lnTo>
                  <a:lnTo>
                    <a:pt x="8491321" y="45720"/>
                  </a:lnTo>
                  <a:lnTo>
                    <a:pt x="8457831" y="12230"/>
                  </a:lnTo>
                  <a:lnTo>
                    <a:pt x="8424118" y="798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9684" y="1115646"/>
              <a:ext cx="8503920" cy="749935"/>
            </a:xfrm>
            <a:custGeom>
              <a:avLst/>
              <a:gdLst/>
              <a:ahLst/>
              <a:cxnLst/>
              <a:rect l="l" t="t" r="r" b="b"/>
              <a:pathLst>
                <a:path w="8503920" h="749935">
                  <a:moveTo>
                    <a:pt x="0" y="91439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39" y="0"/>
                  </a:lnTo>
                  <a:lnTo>
                    <a:pt x="8412111" y="0"/>
                  </a:lnTo>
                  <a:lnTo>
                    <a:pt x="8457831" y="12230"/>
                  </a:lnTo>
                  <a:lnTo>
                    <a:pt x="8491321" y="45720"/>
                  </a:lnTo>
                  <a:lnTo>
                    <a:pt x="8503551" y="91439"/>
                  </a:lnTo>
                  <a:lnTo>
                    <a:pt x="8503920" y="658075"/>
                  </a:lnTo>
                  <a:lnTo>
                    <a:pt x="8503119" y="670080"/>
                  </a:lnTo>
                  <a:lnTo>
                    <a:pt x="8500765" y="681745"/>
                  </a:lnTo>
                  <a:lnTo>
                    <a:pt x="8477229" y="722834"/>
                  </a:lnTo>
                  <a:lnTo>
                    <a:pt x="8436144" y="746366"/>
                  </a:lnTo>
                  <a:lnTo>
                    <a:pt x="91439" y="749871"/>
                  </a:lnTo>
                  <a:lnTo>
                    <a:pt x="45719" y="737641"/>
                  </a:lnTo>
                  <a:lnTo>
                    <a:pt x="12230" y="704151"/>
                  </a:lnTo>
                  <a:lnTo>
                    <a:pt x="0" y="658431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5495" y="797663"/>
            <a:ext cx="8086725" cy="882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6570">
              <a:lnSpc>
                <a:spcPct val="100000"/>
              </a:lnSpc>
              <a:spcBef>
                <a:spcPts val="100"/>
              </a:spcBef>
            </a:pP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WAMY</a:t>
            </a:r>
            <a:r>
              <a:rPr sz="1000" i="1" spc="-1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Finance: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12-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week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development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plan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000" dirty="0">
              <a:latin typeface="Arial"/>
              <a:cs typeface="Arial"/>
            </a:endParaRPr>
          </a:p>
          <a:p>
            <a:pPr marL="450850">
              <a:lnSpc>
                <a:spcPct val="100000"/>
              </a:lnSpc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Roadmap</a:t>
            </a:r>
            <a:r>
              <a:rPr sz="850" b="1" spc="-4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 </a:t>
            </a:r>
            <a:r>
              <a:rPr lang="en-US" sz="850" i="1" spc="-50" dirty="0">
                <a:solidFill>
                  <a:srgbClr val="FCE589"/>
                </a:solidFill>
                <a:latin typeface="Arial"/>
                <a:cs typeface="Arial"/>
              </a:rPr>
              <a:t>7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-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week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project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roadmap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module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3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developers.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Include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milestones,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dependencies,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risk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areas,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and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key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deliverables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per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sprint.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Format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as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a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Gantt-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style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timeline."</a:t>
            </a:r>
            <a:endParaRPr sz="850" dirty="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2646" y="1860831"/>
            <a:ext cx="8858885" cy="2961005"/>
            <a:chOff x="242646" y="1860831"/>
            <a:chExt cx="8858885" cy="296100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1860831"/>
              <a:ext cx="1544040" cy="296100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384" y="1931582"/>
              <a:ext cx="1366191" cy="278352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5686" y="1860831"/>
              <a:ext cx="1544040" cy="296100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6424" y="1931582"/>
              <a:ext cx="1366191" cy="278352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8726" y="1860831"/>
              <a:ext cx="1543684" cy="296100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39464" y="1931582"/>
              <a:ext cx="1366191" cy="278352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1766" y="1860831"/>
              <a:ext cx="1544040" cy="296100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02504" y="1931582"/>
              <a:ext cx="1366191" cy="278352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4806" y="1860831"/>
              <a:ext cx="1543685" cy="296100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65544" y="1931582"/>
              <a:ext cx="1366191" cy="278352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57846" y="1860831"/>
              <a:ext cx="1543684" cy="296100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28584" y="1931582"/>
              <a:ext cx="1366191" cy="2783523"/>
            </a:xfrm>
            <a:prstGeom prst="rect">
              <a:avLst/>
            </a:prstGeom>
          </p:spPr>
        </p:pic>
      </p:grpSp>
      <p:graphicFrame>
        <p:nvGraphicFramePr>
          <p:cNvPr id="24" name="object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211879"/>
              </p:ext>
            </p:extLst>
          </p:nvPr>
        </p:nvGraphicFramePr>
        <p:xfrm>
          <a:off x="398094" y="1983050"/>
          <a:ext cx="8256903" cy="2348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4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19050" algn="ctr">
                        <a:lnSpc>
                          <a:spcPts val="919"/>
                        </a:lnSpc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Wk</a:t>
                      </a:r>
                      <a:r>
                        <a:rPr sz="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1-</a:t>
                      </a:r>
                      <a:r>
                        <a:rPr sz="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  <a:p>
                      <a:pPr marL="2095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Foundation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0029" algn="ctr">
                        <a:lnSpc>
                          <a:spcPts val="919"/>
                        </a:lnSpc>
                      </a:pPr>
                      <a:r>
                        <a:rPr sz="800" b="1" dirty="0" err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Wk</a:t>
                      </a:r>
                      <a:r>
                        <a:rPr sz="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  <a:p>
                      <a:pPr marL="24130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Core</a:t>
                      </a:r>
                      <a:r>
                        <a:rPr sz="9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Accounting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3360" algn="ctr">
                        <a:lnSpc>
                          <a:spcPts val="919"/>
                        </a:lnSpc>
                      </a:pPr>
                      <a:r>
                        <a:rPr sz="800" b="1" dirty="0" err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Wk</a:t>
                      </a:r>
                      <a:r>
                        <a:rPr sz="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lang="en-US" sz="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  <a:p>
                      <a:pPr marL="21399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Reporting</a:t>
                      </a:r>
                      <a:r>
                        <a:rPr sz="9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Pt1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3840" algn="ctr">
                        <a:lnSpc>
                          <a:spcPts val="919"/>
                        </a:lnSpc>
                      </a:pPr>
                      <a:r>
                        <a:rPr sz="800" b="1" dirty="0" err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Wk</a:t>
                      </a:r>
                      <a:r>
                        <a:rPr sz="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lang="en-US" sz="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  <a:p>
                      <a:pPr marL="24511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Reporting</a:t>
                      </a:r>
                      <a:r>
                        <a:rPr sz="9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Pt2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8180">
                        <a:lnSpc>
                          <a:spcPts val="919"/>
                        </a:lnSpc>
                      </a:pPr>
                      <a:r>
                        <a:rPr sz="800" b="1" dirty="0" err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Wk</a:t>
                      </a:r>
                      <a:r>
                        <a:rPr sz="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lang="en-US" sz="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  <a:p>
                      <a:pPr marL="6381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Frontend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7690" algn="ctr">
                        <a:lnSpc>
                          <a:spcPts val="919"/>
                        </a:lnSpc>
                      </a:pPr>
                      <a:r>
                        <a:rPr sz="800" b="1" dirty="0" err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Wk</a:t>
                      </a:r>
                      <a:r>
                        <a:rPr sz="800" b="1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800" b="1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lang="en-US"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  <a:p>
                      <a:pPr marL="57023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QA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Deploy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Spring</a:t>
                      </a:r>
                      <a:r>
                        <a:rPr sz="750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Boot</a:t>
                      </a:r>
                      <a:r>
                        <a:rPr sz="75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init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750" dirty="0">
                        <a:latin typeface="Times New Roman"/>
                        <a:cs typeface="Times New Roman"/>
                      </a:endParaRPr>
                    </a:p>
                    <a:p>
                      <a:pPr marL="309880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Journal</a:t>
                      </a:r>
                      <a:r>
                        <a:rPr sz="75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entries</a:t>
                      </a:r>
                      <a:endParaRPr sz="750" dirty="0">
                        <a:latin typeface="Calibri"/>
                        <a:cs typeface="Calibri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750" dirty="0">
                        <a:latin typeface="Times New Roman"/>
                        <a:cs typeface="Times New Roman"/>
                      </a:endParaRPr>
                    </a:p>
                    <a:p>
                      <a:pPr marL="252095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Cash</a:t>
                      </a:r>
                      <a:r>
                        <a:rPr sz="75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Flow</a:t>
                      </a:r>
                      <a:endParaRPr sz="750" dirty="0">
                        <a:latin typeface="Calibri"/>
                        <a:cs typeface="Calibri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283210">
                        <a:lnSpc>
                          <a:spcPct val="100000"/>
                        </a:lnSpc>
                      </a:pP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Budget</a:t>
                      </a:r>
                      <a:r>
                        <a:rPr sz="750" spc="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vs</a:t>
                      </a:r>
                      <a:r>
                        <a:rPr sz="750" spc="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Actual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283210">
                        <a:lnSpc>
                          <a:spcPct val="100000"/>
                        </a:lnSpc>
                      </a:pP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Dashboard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37820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750" spc="-3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review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88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DB</a:t>
                      </a:r>
                      <a:r>
                        <a:rPr sz="750" spc="-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schema</a:t>
                      </a:r>
                      <a:r>
                        <a:rPr sz="750" spc="-1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v1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098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Validation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2520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Trial</a:t>
                      </a:r>
                      <a:r>
                        <a:rPr sz="75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Balance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 dirty="0">
                        <a:latin typeface="Times New Roman"/>
                        <a:cs typeface="Times New Roman"/>
                      </a:endParaRPr>
                    </a:p>
                    <a:p>
                      <a:pPr marL="2832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Bank</a:t>
                      </a:r>
                      <a:r>
                        <a:rPr sz="75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recon</a:t>
                      </a:r>
                      <a:endParaRPr sz="750" dirty="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 dirty="0">
                        <a:latin typeface="Times New Roman"/>
                        <a:cs typeface="Times New Roman"/>
                      </a:endParaRPr>
                    </a:p>
                    <a:p>
                      <a:pPr marL="2832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Charts</a:t>
                      </a:r>
                      <a:r>
                        <a:rPr sz="75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(Recharts)</a:t>
                      </a:r>
                      <a:endParaRPr sz="750" dirty="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378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CoA</a:t>
                      </a:r>
                      <a:r>
                        <a:rPr sz="750" spc="-1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API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098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GL</a:t>
                      </a: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queries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2520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AR/AP</a:t>
                      </a:r>
                      <a:r>
                        <a:rPr sz="750" spc="-4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aging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2832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Multi-project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2832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Report</a:t>
                      </a:r>
                      <a:r>
                        <a:rPr sz="750" spc="-4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UI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378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Robi</a:t>
                      </a:r>
                      <a:r>
                        <a:rPr sz="750" spc="-4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CI/CD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JWT </a:t>
                      </a:r>
                      <a:r>
                        <a:rPr sz="75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auth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09880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P&amp;L </a:t>
                      </a: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report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252095">
                        <a:lnSpc>
                          <a:spcPct val="100000"/>
                        </a:lnSpc>
                      </a:pP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Budget</a:t>
                      </a:r>
                      <a:r>
                        <a:rPr sz="750" spc="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283210">
                        <a:lnSpc>
                          <a:spcPct val="100000"/>
                        </a:lnSpc>
                      </a:pP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Period</a:t>
                      </a:r>
                      <a:r>
                        <a:rPr sz="750" spc="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close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283210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Excel</a:t>
                      </a:r>
                      <a:r>
                        <a:rPr sz="750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export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37820">
                        <a:lnSpc>
                          <a:spcPct val="100000"/>
                        </a:lnSpc>
                      </a:pPr>
                      <a:r>
                        <a:rPr sz="750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UAT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850"/>
                        </a:lnSpc>
                        <a:spcBef>
                          <a:spcPts val="5"/>
                        </a:spcBef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React</a:t>
                      </a:r>
                      <a:r>
                        <a:rPr sz="750" spc="-4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setup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09880">
                        <a:lnSpc>
                          <a:spcPts val="850"/>
                        </a:lnSpc>
                        <a:spcBef>
                          <a:spcPts val="5"/>
                        </a:spcBef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Balance</a:t>
                      </a:r>
                      <a:r>
                        <a:rPr sz="75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Sheet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252095">
                        <a:lnSpc>
                          <a:spcPts val="850"/>
                        </a:lnSpc>
                        <a:spcBef>
                          <a:spcPts val="5"/>
                        </a:spcBef>
                      </a:pP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Budget</a:t>
                      </a:r>
                      <a:r>
                        <a:rPr sz="750" spc="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API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283210">
                        <a:lnSpc>
                          <a:spcPts val="850"/>
                        </a:lnSpc>
                        <a:spcBef>
                          <a:spcPts val="5"/>
                        </a:spcBef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Audit</a:t>
                      </a:r>
                      <a:r>
                        <a:rPr sz="750" spc="-3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log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283210">
                        <a:lnSpc>
                          <a:spcPts val="850"/>
                        </a:lnSpc>
                        <a:spcBef>
                          <a:spcPts val="5"/>
                        </a:spcBef>
                      </a:pPr>
                      <a:r>
                        <a:rPr sz="75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PDF</a:t>
                      </a:r>
                      <a:r>
                        <a:rPr sz="750" spc="-1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export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 dirty="0">
                        <a:latin typeface="Times New Roman"/>
                        <a:cs typeface="Times New Roman"/>
                      </a:endParaRPr>
                    </a:p>
                    <a:p>
                      <a:pPr marL="337820">
                        <a:lnSpc>
                          <a:spcPts val="850"/>
                        </a:lnSpc>
                        <a:spcBef>
                          <a:spcPts val="5"/>
                        </a:spcBef>
                      </a:pPr>
                      <a:r>
                        <a:rPr sz="75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Go-</a:t>
                      </a:r>
                      <a:r>
                        <a:rPr sz="75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live</a:t>
                      </a:r>
                      <a:endParaRPr sz="750" dirty="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5" name="object 25"/>
          <p:cNvGrpSpPr/>
          <p:nvPr/>
        </p:nvGrpSpPr>
        <p:grpSpPr>
          <a:xfrm>
            <a:off x="242277" y="4695471"/>
            <a:ext cx="8695055" cy="448309"/>
            <a:chOff x="242277" y="4695471"/>
            <a:chExt cx="8695055" cy="448309"/>
          </a:xfrm>
        </p:grpSpPr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2277" y="4695471"/>
              <a:ext cx="8694724" cy="44785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19316" y="4772522"/>
              <a:ext cx="8504555" cy="329565"/>
            </a:xfrm>
            <a:custGeom>
              <a:avLst/>
              <a:gdLst/>
              <a:ahLst/>
              <a:cxnLst/>
              <a:rect l="l" t="t" r="r" b="b"/>
              <a:pathLst>
                <a:path w="8504555" h="329564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932"/>
                  </a:lnTo>
                  <a:lnTo>
                    <a:pt x="368" y="109804"/>
                  </a:lnTo>
                  <a:lnTo>
                    <a:pt x="0" y="219595"/>
                  </a:lnTo>
                  <a:lnTo>
                    <a:pt x="929" y="233870"/>
                  </a:lnTo>
                  <a:lnTo>
                    <a:pt x="939" y="234025"/>
                  </a:lnTo>
                  <a:lnTo>
                    <a:pt x="3701" y="247905"/>
                  </a:lnTo>
                  <a:lnTo>
                    <a:pt x="3736" y="248083"/>
                  </a:lnTo>
                  <a:lnTo>
                    <a:pt x="8290" y="261467"/>
                  </a:lnTo>
                  <a:lnTo>
                    <a:pt x="8358" y="261667"/>
                  </a:lnTo>
                  <a:lnTo>
                    <a:pt x="14770" y="274675"/>
                  </a:lnTo>
                  <a:lnTo>
                    <a:pt x="22686" y="286388"/>
                  </a:lnTo>
                  <a:lnTo>
                    <a:pt x="22788" y="286538"/>
                  </a:lnTo>
                  <a:lnTo>
                    <a:pt x="55079" y="314642"/>
                  </a:lnTo>
                  <a:lnTo>
                    <a:pt x="95534" y="328460"/>
                  </a:lnTo>
                  <a:lnTo>
                    <a:pt x="109804" y="329399"/>
                  </a:lnTo>
                  <a:lnTo>
                    <a:pt x="8394484" y="329399"/>
                  </a:lnTo>
                  <a:lnTo>
                    <a:pt x="8436555" y="321047"/>
                  </a:lnTo>
                  <a:lnTo>
                    <a:pt x="8472057" y="297221"/>
                  </a:lnTo>
                  <a:lnTo>
                    <a:pt x="8495830" y="261667"/>
                  </a:lnTo>
                  <a:lnTo>
                    <a:pt x="8500490" y="248083"/>
                  </a:lnTo>
                  <a:lnTo>
                    <a:pt x="8500551" y="247905"/>
                  </a:lnTo>
                  <a:lnTo>
                    <a:pt x="8503317" y="234025"/>
                  </a:lnTo>
                  <a:lnTo>
                    <a:pt x="8503348" y="233870"/>
                  </a:lnTo>
                  <a:lnTo>
                    <a:pt x="8504288" y="219595"/>
                  </a:lnTo>
                  <a:lnTo>
                    <a:pt x="8504265" y="109804"/>
                  </a:lnTo>
                  <a:lnTo>
                    <a:pt x="8495930" y="68088"/>
                  </a:lnTo>
                  <a:lnTo>
                    <a:pt x="8472063" y="32535"/>
                  </a:lnTo>
                  <a:lnTo>
                    <a:pt x="8436353" y="8713"/>
                  </a:lnTo>
                  <a:lnTo>
                    <a:pt x="8394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19316" y="4772522"/>
              <a:ext cx="8504555" cy="329565"/>
            </a:xfrm>
            <a:custGeom>
              <a:avLst/>
              <a:gdLst/>
              <a:ahLst/>
              <a:cxnLst/>
              <a:rect l="l" t="t" r="r" b="b"/>
              <a:pathLst>
                <a:path w="8504555" h="329564">
                  <a:moveTo>
                    <a:pt x="368" y="109804"/>
                  </a:moveTo>
                  <a:lnTo>
                    <a:pt x="1307" y="95529"/>
                  </a:lnTo>
                  <a:lnTo>
                    <a:pt x="4103" y="81494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55"/>
                  </a:lnTo>
                  <a:lnTo>
                    <a:pt x="8436353" y="8713"/>
                  </a:lnTo>
                  <a:lnTo>
                    <a:pt x="8472063" y="32535"/>
                  </a:lnTo>
                  <a:lnTo>
                    <a:pt x="8495930" y="68088"/>
                  </a:lnTo>
                  <a:lnTo>
                    <a:pt x="8504288" y="110159"/>
                  </a:lnTo>
                  <a:lnTo>
                    <a:pt x="8504288" y="219595"/>
                  </a:lnTo>
                  <a:lnTo>
                    <a:pt x="8503348" y="233870"/>
                  </a:lnTo>
                  <a:lnTo>
                    <a:pt x="8500551" y="247905"/>
                  </a:lnTo>
                  <a:lnTo>
                    <a:pt x="8481505" y="286388"/>
                  </a:lnTo>
                  <a:lnTo>
                    <a:pt x="8449564" y="314642"/>
                  </a:lnTo>
                  <a:lnTo>
                    <a:pt x="8408914" y="328460"/>
                  </a:lnTo>
                  <a:lnTo>
                    <a:pt x="8394484" y="329399"/>
                  </a:lnTo>
                  <a:lnTo>
                    <a:pt x="109804" y="329399"/>
                  </a:lnTo>
                  <a:lnTo>
                    <a:pt x="67934" y="321047"/>
                  </a:lnTo>
                  <a:lnTo>
                    <a:pt x="32224" y="297221"/>
                  </a:lnTo>
                  <a:lnTo>
                    <a:pt x="8358" y="261667"/>
                  </a:lnTo>
                  <a:lnTo>
                    <a:pt x="0" y="219595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44144" y="4858112"/>
            <a:ext cx="5893435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spc="195" dirty="0">
                <a:solidFill>
                  <a:srgbClr val="FFFFFF"/>
                </a:solidFill>
                <a:latin typeface="MingLiU_HKSCS-ExtB"/>
                <a:cs typeface="MingLiU_HKSCS-ExtB"/>
              </a:rPr>
              <a:t>🎯</a:t>
            </a:r>
            <a:r>
              <a:rPr sz="1100" spc="-260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Milestone: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r>
              <a:rPr sz="9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950" spc="-5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9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Production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deployment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Robi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9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financial</a:t>
            </a:r>
            <a:r>
              <a:rPr sz="9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reports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live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security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hardened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20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Risk</a:t>
            </a:r>
            <a:r>
              <a:rPr spc="-65" dirty="0"/>
              <a:t> </a:t>
            </a:r>
            <a:r>
              <a:rPr spc="-20" dirty="0"/>
              <a:t>Register</a:t>
            </a:r>
            <a:r>
              <a:rPr spc="-65" dirty="0"/>
              <a:t> </a:t>
            </a:r>
            <a:r>
              <a:rPr dirty="0"/>
              <a:t>&amp;</a:t>
            </a:r>
            <a:r>
              <a:rPr spc="-70" dirty="0"/>
              <a:t> </a:t>
            </a:r>
            <a:r>
              <a:rPr spc="-10" dirty="0"/>
              <a:t>Mitigation</a:t>
            </a:r>
            <a:r>
              <a:rPr spc="-65" dirty="0"/>
              <a:t> </a:t>
            </a:r>
            <a:r>
              <a:rPr spc="-20" dirty="0"/>
              <a:t>Plan</a:t>
            </a:r>
          </a:p>
        </p:txBody>
      </p:sp>
      <p:sp>
        <p:nvSpPr>
          <p:cNvPr id="4" name="object 4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72818" y="178160"/>
            <a:ext cx="8474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9684" y="1115277"/>
            <a:ext cx="8503920" cy="457200"/>
          </a:xfrm>
          <a:custGeom>
            <a:avLst/>
            <a:gdLst/>
            <a:ahLst/>
            <a:cxnLst/>
            <a:rect l="l" t="t" r="r" b="b"/>
            <a:pathLst>
              <a:path w="8503920" h="457200">
                <a:moveTo>
                  <a:pt x="8503551" y="0"/>
                </a:moveTo>
                <a:lnTo>
                  <a:pt x="0" y="0"/>
                </a:lnTo>
                <a:lnTo>
                  <a:pt x="0" y="456844"/>
                </a:lnTo>
                <a:lnTo>
                  <a:pt x="4251959" y="456844"/>
                </a:lnTo>
                <a:lnTo>
                  <a:pt x="8503551" y="456844"/>
                </a:lnTo>
                <a:lnTo>
                  <a:pt x="8503551" y="0"/>
                </a:lnTo>
                <a:close/>
              </a:path>
            </a:pathLst>
          </a:custGeom>
          <a:solidFill>
            <a:srgbClr val="FDF2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6984" y="797663"/>
            <a:ext cx="6090920" cy="631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4840">
              <a:lnSpc>
                <a:spcPct val="100000"/>
              </a:lnSpc>
              <a:spcBef>
                <a:spcPts val="100"/>
              </a:spcBef>
            </a:pPr>
            <a:r>
              <a:rPr sz="1000" i="1" spc="-75" dirty="0">
                <a:solidFill>
                  <a:srgbClr val="9FBFFF"/>
                </a:solidFill>
                <a:latin typeface="Arial"/>
                <a:cs typeface="Arial"/>
              </a:rPr>
              <a:t>Claude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95" dirty="0">
                <a:solidFill>
                  <a:srgbClr val="9FBFFF"/>
                </a:solidFill>
                <a:latin typeface="Arial"/>
                <a:cs typeface="Arial"/>
              </a:rPr>
              <a:t>Code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identifies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project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risks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before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they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happen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50" i="1" spc="-40" dirty="0">
                <a:solidFill>
                  <a:srgbClr val="1D283A"/>
                </a:solidFill>
                <a:latin typeface="Arial"/>
                <a:cs typeface="Arial"/>
              </a:rPr>
              <a:t>Prompt:</a:t>
            </a:r>
            <a:r>
              <a:rPr sz="950" i="1" spc="-20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spc="-55" dirty="0">
                <a:solidFill>
                  <a:srgbClr val="1D283A"/>
                </a:solidFill>
                <a:latin typeface="Arial"/>
                <a:cs typeface="Arial"/>
              </a:rPr>
              <a:t>"Analyze</a:t>
            </a:r>
            <a:r>
              <a:rPr sz="950" i="1" spc="-10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spc="-25" dirty="0">
                <a:solidFill>
                  <a:srgbClr val="1D283A"/>
                </a:solidFill>
                <a:latin typeface="Arial"/>
                <a:cs typeface="Arial"/>
              </a:rPr>
              <a:t>the</a:t>
            </a:r>
            <a:r>
              <a:rPr sz="950" i="1" spc="-10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spc="-100" dirty="0">
                <a:solidFill>
                  <a:srgbClr val="1D283A"/>
                </a:solidFill>
                <a:latin typeface="Arial"/>
                <a:cs typeface="Arial"/>
              </a:rPr>
              <a:t>WAMY</a:t>
            </a:r>
            <a:r>
              <a:rPr sz="950" i="1" spc="-25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spc="-70" dirty="0">
                <a:solidFill>
                  <a:srgbClr val="1D283A"/>
                </a:solidFill>
                <a:latin typeface="Arial"/>
                <a:cs typeface="Arial"/>
              </a:rPr>
              <a:t>Finance</a:t>
            </a:r>
            <a:r>
              <a:rPr sz="950" i="1" spc="-20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spc="-30" dirty="0">
                <a:solidFill>
                  <a:srgbClr val="1D283A"/>
                </a:solidFill>
                <a:latin typeface="Arial"/>
                <a:cs typeface="Arial"/>
              </a:rPr>
              <a:t>project</a:t>
            </a:r>
            <a:r>
              <a:rPr sz="950" i="1" spc="-25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spc="-50" dirty="0">
                <a:solidFill>
                  <a:srgbClr val="1D283A"/>
                </a:solidFill>
                <a:latin typeface="Arial"/>
                <a:cs typeface="Arial"/>
              </a:rPr>
              <a:t>and</a:t>
            </a:r>
            <a:r>
              <a:rPr sz="950" i="1" spc="-10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spc="-45" dirty="0">
                <a:solidFill>
                  <a:srgbClr val="1D283A"/>
                </a:solidFill>
                <a:latin typeface="Arial"/>
                <a:cs typeface="Arial"/>
              </a:rPr>
              <a:t>generate</a:t>
            </a:r>
            <a:r>
              <a:rPr sz="950" i="1" spc="-10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spc="-40" dirty="0">
                <a:solidFill>
                  <a:srgbClr val="1D283A"/>
                </a:solidFill>
                <a:latin typeface="Arial"/>
                <a:cs typeface="Arial"/>
              </a:rPr>
              <a:t>a</a:t>
            </a:r>
            <a:r>
              <a:rPr sz="950" i="1" spc="-25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spc="-40" dirty="0">
                <a:solidFill>
                  <a:srgbClr val="1D283A"/>
                </a:solidFill>
                <a:latin typeface="Arial"/>
                <a:cs typeface="Arial"/>
              </a:rPr>
              <a:t>risk</a:t>
            </a:r>
            <a:r>
              <a:rPr sz="950" i="1" spc="-10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spc="-40" dirty="0">
                <a:solidFill>
                  <a:srgbClr val="1D283A"/>
                </a:solidFill>
                <a:latin typeface="Arial"/>
                <a:cs typeface="Arial"/>
              </a:rPr>
              <a:t>register</a:t>
            </a:r>
            <a:r>
              <a:rPr sz="950" i="1" spc="-10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1D283A"/>
                </a:solidFill>
                <a:latin typeface="Arial"/>
                <a:cs typeface="Arial"/>
              </a:rPr>
              <a:t>with</a:t>
            </a:r>
            <a:r>
              <a:rPr sz="950" i="1" spc="-25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spc="-30" dirty="0">
                <a:solidFill>
                  <a:srgbClr val="1D283A"/>
                </a:solidFill>
                <a:latin typeface="Arial"/>
                <a:cs typeface="Arial"/>
              </a:rPr>
              <a:t>probability,</a:t>
            </a:r>
            <a:r>
              <a:rPr sz="950" i="1" spc="-20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spc="-30" dirty="0">
                <a:solidFill>
                  <a:srgbClr val="1D283A"/>
                </a:solidFill>
                <a:latin typeface="Arial"/>
                <a:cs typeface="Arial"/>
              </a:rPr>
              <a:t>impact,</a:t>
            </a:r>
            <a:r>
              <a:rPr sz="950" i="1" spc="-10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spc="-50" dirty="0">
                <a:solidFill>
                  <a:srgbClr val="1D283A"/>
                </a:solidFill>
                <a:latin typeface="Arial"/>
                <a:cs typeface="Arial"/>
              </a:rPr>
              <a:t>and</a:t>
            </a:r>
            <a:r>
              <a:rPr sz="950" i="1" spc="-15" dirty="0">
                <a:solidFill>
                  <a:srgbClr val="1D283A"/>
                </a:solidFill>
                <a:latin typeface="Arial"/>
                <a:cs typeface="Arial"/>
              </a:rPr>
              <a:t> </a:t>
            </a:r>
            <a:r>
              <a:rPr sz="950" i="1" spc="-20" dirty="0">
                <a:solidFill>
                  <a:srgbClr val="1D283A"/>
                </a:solidFill>
                <a:latin typeface="Arial"/>
                <a:cs typeface="Arial"/>
              </a:rPr>
              <a:t>mitigation</a:t>
            </a:r>
            <a:r>
              <a:rPr sz="950" i="1" spc="-10" dirty="0">
                <a:solidFill>
                  <a:srgbClr val="1D283A"/>
                </a:solidFill>
                <a:latin typeface="Arial"/>
                <a:cs typeface="Arial"/>
              </a:rPr>
              <a:t> strategies."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9684" y="1645922"/>
            <a:ext cx="3200400" cy="292735"/>
          </a:xfrm>
          <a:custGeom>
            <a:avLst/>
            <a:gdLst/>
            <a:ahLst/>
            <a:cxnLst/>
            <a:rect l="l" t="t" r="r" b="b"/>
            <a:pathLst>
              <a:path w="3200400" h="292735">
                <a:moveTo>
                  <a:pt x="3200031" y="0"/>
                </a:moveTo>
                <a:lnTo>
                  <a:pt x="0" y="0"/>
                </a:lnTo>
                <a:lnTo>
                  <a:pt x="0" y="292315"/>
                </a:lnTo>
                <a:lnTo>
                  <a:pt x="1600200" y="292315"/>
                </a:lnTo>
                <a:lnTo>
                  <a:pt x="3200031" y="292315"/>
                </a:lnTo>
                <a:lnTo>
                  <a:pt x="32000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05660" y="1707021"/>
            <a:ext cx="2279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Risk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20084" y="1645922"/>
            <a:ext cx="1005840" cy="292735"/>
          </a:xfrm>
          <a:custGeom>
            <a:avLst/>
            <a:gdLst/>
            <a:ahLst/>
            <a:cxnLst/>
            <a:rect l="l" t="t" r="r" b="b"/>
            <a:pathLst>
              <a:path w="1005839" h="292735">
                <a:moveTo>
                  <a:pt x="1005471" y="0"/>
                </a:moveTo>
                <a:lnTo>
                  <a:pt x="0" y="0"/>
                </a:lnTo>
                <a:lnTo>
                  <a:pt x="0" y="292315"/>
                </a:lnTo>
                <a:lnTo>
                  <a:pt x="502919" y="292315"/>
                </a:lnTo>
                <a:lnTo>
                  <a:pt x="1005471" y="292315"/>
                </a:lnTo>
                <a:lnTo>
                  <a:pt x="100547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37063" y="1707021"/>
            <a:ext cx="57150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Probability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25924" y="1645922"/>
            <a:ext cx="1005840" cy="292735"/>
          </a:xfrm>
          <a:custGeom>
            <a:avLst/>
            <a:gdLst/>
            <a:ahLst/>
            <a:cxnLst/>
            <a:rect l="l" t="t" r="r" b="b"/>
            <a:pathLst>
              <a:path w="1005839" h="292735">
                <a:moveTo>
                  <a:pt x="1005471" y="0"/>
                </a:moveTo>
                <a:lnTo>
                  <a:pt x="0" y="0"/>
                </a:lnTo>
                <a:lnTo>
                  <a:pt x="0" y="292315"/>
                </a:lnTo>
                <a:lnTo>
                  <a:pt x="502919" y="292315"/>
                </a:lnTo>
                <a:lnTo>
                  <a:pt x="1005471" y="292315"/>
                </a:lnTo>
                <a:lnTo>
                  <a:pt x="100547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42979" y="1707021"/>
            <a:ext cx="3708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531764" y="1645922"/>
            <a:ext cx="3291840" cy="292735"/>
          </a:xfrm>
          <a:custGeom>
            <a:avLst/>
            <a:gdLst/>
            <a:ahLst/>
            <a:cxnLst/>
            <a:rect l="l" t="t" r="r" b="b"/>
            <a:pathLst>
              <a:path w="3200400" h="292735">
                <a:moveTo>
                  <a:pt x="3200031" y="0"/>
                </a:moveTo>
                <a:lnTo>
                  <a:pt x="0" y="0"/>
                </a:lnTo>
                <a:lnTo>
                  <a:pt x="0" y="292315"/>
                </a:lnTo>
                <a:lnTo>
                  <a:pt x="1600200" y="292315"/>
                </a:lnTo>
                <a:lnTo>
                  <a:pt x="3200031" y="292315"/>
                </a:lnTo>
                <a:lnTo>
                  <a:pt x="32000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640461" y="1707021"/>
            <a:ext cx="982344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Mitigation</a:t>
            </a:r>
            <a:r>
              <a:rPr sz="95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Strategy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9684" y="1993317"/>
            <a:ext cx="8503920" cy="438784"/>
          </a:xfrm>
          <a:custGeom>
            <a:avLst/>
            <a:gdLst/>
            <a:ahLst/>
            <a:cxnLst/>
            <a:rect l="l" t="t" r="r" b="b"/>
            <a:pathLst>
              <a:path w="8503920" h="438785">
                <a:moveTo>
                  <a:pt x="8503551" y="0"/>
                </a:moveTo>
                <a:lnTo>
                  <a:pt x="0" y="0"/>
                </a:lnTo>
                <a:lnTo>
                  <a:pt x="0" y="438480"/>
                </a:lnTo>
                <a:lnTo>
                  <a:pt x="4251959" y="438480"/>
                </a:lnTo>
                <a:lnTo>
                  <a:pt x="8503551" y="438480"/>
                </a:lnTo>
                <a:lnTo>
                  <a:pt x="8503551" y="0"/>
                </a:lnTo>
                <a:close/>
              </a:path>
            </a:pathLst>
          </a:custGeom>
          <a:solidFill>
            <a:srgbClr val="F7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8424" y="2131099"/>
            <a:ext cx="14630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Double-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entry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validation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bypass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84524" y="2084757"/>
            <a:ext cx="896619" cy="256540"/>
          </a:xfrm>
          <a:custGeom>
            <a:avLst/>
            <a:gdLst/>
            <a:ahLst/>
            <a:cxnLst/>
            <a:rect l="l" t="t" r="r" b="b"/>
            <a:pathLst>
              <a:path w="896620" h="256539">
                <a:moveTo>
                  <a:pt x="822591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7" y="21470"/>
                </a:lnTo>
                <a:lnTo>
                  <a:pt x="606" y="63454"/>
                </a:lnTo>
                <a:lnTo>
                  <a:pt x="0" y="73088"/>
                </a:lnTo>
                <a:lnTo>
                  <a:pt x="0" y="182880"/>
                </a:lnTo>
                <a:lnTo>
                  <a:pt x="584" y="192158"/>
                </a:lnTo>
                <a:lnTo>
                  <a:pt x="607" y="192513"/>
                </a:lnTo>
                <a:lnTo>
                  <a:pt x="2367" y="201558"/>
                </a:lnTo>
                <a:lnTo>
                  <a:pt x="2428" y="201874"/>
                </a:lnTo>
                <a:lnTo>
                  <a:pt x="5394" y="210620"/>
                </a:lnTo>
                <a:lnTo>
                  <a:pt x="5464" y="210828"/>
                </a:lnTo>
                <a:lnTo>
                  <a:pt x="36360" y="246240"/>
                </a:lnTo>
                <a:lnTo>
                  <a:pt x="73075" y="255968"/>
                </a:lnTo>
                <a:lnTo>
                  <a:pt x="822960" y="255600"/>
                </a:lnTo>
                <a:lnTo>
                  <a:pt x="867330" y="240508"/>
                </a:lnTo>
                <a:lnTo>
                  <a:pt x="890468" y="210828"/>
                </a:lnTo>
                <a:lnTo>
                  <a:pt x="890570" y="210620"/>
                </a:lnTo>
                <a:lnTo>
                  <a:pt x="896013" y="182880"/>
                </a:lnTo>
                <a:lnTo>
                  <a:pt x="896035" y="182524"/>
                </a:lnTo>
                <a:lnTo>
                  <a:pt x="895680" y="73088"/>
                </a:lnTo>
                <a:lnTo>
                  <a:pt x="880576" y="28710"/>
                </a:lnTo>
                <a:lnTo>
                  <a:pt x="841632" y="2430"/>
                </a:lnTo>
                <a:lnTo>
                  <a:pt x="832231" y="607"/>
                </a:lnTo>
                <a:lnTo>
                  <a:pt x="822591" y="0"/>
                </a:lnTo>
                <a:close/>
              </a:path>
            </a:pathLst>
          </a:custGeom>
          <a:solidFill>
            <a:srgbClr val="E957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840378" y="2139012"/>
            <a:ext cx="3822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Medium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90364" y="2084757"/>
            <a:ext cx="896619" cy="256540"/>
          </a:xfrm>
          <a:custGeom>
            <a:avLst/>
            <a:gdLst/>
            <a:ahLst/>
            <a:cxnLst/>
            <a:rect l="l" t="t" r="r" b="b"/>
            <a:pathLst>
              <a:path w="896620" h="256539">
                <a:moveTo>
                  <a:pt x="822591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7" y="21470"/>
                </a:lnTo>
                <a:lnTo>
                  <a:pt x="606" y="63454"/>
                </a:lnTo>
                <a:lnTo>
                  <a:pt x="0" y="73088"/>
                </a:lnTo>
                <a:lnTo>
                  <a:pt x="0" y="182880"/>
                </a:lnTo>
                <a:lnTo>
                  <a:pt x="584" y="192158"/>
                </a:lnTo>
                <a:lnTo>
                  <a:pt x="607" y="192513"/>
                </a:lnTo>
                <a:lnTo>
                  <a:pt x="2367" y="201558"/>
                </a:lnTo>
                <a:lnTo>
                  <a:pt x="2428" y="201874"/>
                </a:lnTo>
                <a:lnTo>
                  <a:pt x="5394" y="210620"/>
                </a:lnTo>
                <a:lnTo>
                  <a:pt x="5464" y="210828"/>
                </a:lnTo>
                <a:lnTo>
                  <a:pt x="36360" y="246240"/>
                </a:lnTo>
                <a:lnTo>
                  <a:pt x="73075" y="255968"/>
                </a:lnTo>
                <a:lnTo>
                  <a:pt x="822959" y="255600"/>
                </a:lnTo>
                <a:lnTo>
                  <a:pt x="867330" y="240508"/>
                </a:lnTo>
                <a:lnTo>
                  <a:pt x="890468" y="210828"/>
                </a:lnTo>
                <a:lnTo>
                  <a:pt x="890570" y="210620"/>
                </a:lnTo>
                <a:lnTo>
                  <a:pt x="896013" y="182880"/>
                </a:lnTo>
                <a:lnTo>
                  <a:pt x="896035" y="182524"/>
                </a:lnTo>
                <a:lnTo>
                  <a:pt x="895680" y="73088"/>
                </a:lnTo>
                <a:lnTo>
                  <a:pt x="880576" y="28710"/>
                </a:lnTo>
                <a:lnTo>
                  <a:pt x="841632" y="2430"/>
                </a:lnTo>
                <a:lnTo>
                  <a:pt x="832230" y="607"/>
                </a:lnTo>
                <a:lnTo>
                  <a:pt x="822591" y="0"/>
                </a:lnTo>
                <a:close/>
              </a:path>
            </a:pathLst>
          </a:custGeom>
          <a:solidFill>
            <a:srgbClr val="EE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78984" y="2139012"/>
            <a:ext cx="31686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Critical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83504" y="2139012"/>
            <a:ext cx="22987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Spring AOP</a:t>
            </a:r>
            <a:r>
              <a:rPr sz="8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aspect 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validates 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on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every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 JournalEntry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465468"/>
                </a:solidFill>
                <a:latin typeface="Calibri"/>
                <a:cs typeface="Calibri"/>
              </a:rPr>
              <a:t>save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19684" y="2496237"/>
            <a:ext cx="8503920" cy="438784"/>
          </a:xfrm>
          <a:custGeom>
            <a:avLst/>
            <a:gdLst/>
            <a:ahLst/>
            <a:cxnLst/>
            <a:rect l="l" t="t" r="r" b="b"/>
            <a:pathLst>
              <a:path w="8503920" h="438785">
                <a:moveTo>
                  <a:pt x="8503551" y="0"/>
                </a:moveTo>
                <a:lnTo>
                  <a:pt x="0" y="0"/>
                </a:lnTo>
                <a:lnTo>
                  <a:pt x="0" y="438480"/>
                </a:lnTo>
                <a:lnTo>
                  <a:pt x="4251959" y="438480"/>
                </a:lnTo>
                <a:lnTo>
                  <a:pt x="8503551" y="438480"/>
                </a:lnTo>
                <a:lnTo>
                  <a:pt x="8503551" y="0"/>
                </a:lnTo>
                <a:close/>
              </a:path>
            </a:pathLst>
          </a:custGeom>
          <a:solidFill>
            <a:srgbClr val="ED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98424" y="2634020"/>
            <a:ext cx="18776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MySQL</a:t>
            </a:r>
            <a:r>
              <a:rPr sz="9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slow</a:t>
            </a:r>
            <a:r>
              <a:rPr sz="90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on</a:t>
            </a:r>
            <a:r>
              <a:rPr sz="9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large</a:t>
            </a:r>
            <a:r>
              <a:rPr sz="9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date</a:t>
            </a:r>
            <a:r>
              <a:rPr sz="9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range</a:t>
            </a:r>
            <a:r>
              <a:rPr sz="90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reports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84524" y="2587677"/>
            <a:ext cx="896619" cy="256540"/>
          </a:xfrm>
          <a:custGeom>
            <a:avLst/>
            <a:gdLst/>
            <a:ahLst/>
            <a:cxnLst/>
            <a:rect l="l" t="t" r="r" b="b"/>
            <a:pathLst>
              <a:path w="896620" h="256539">
                <a:moveTo>
                  <a:pt x="822591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7" y="21470"/>
                </a:lnTo>
                <a:lnTo>
                  <a:pt x="606" y="63454"/>
                </a:lnTo>
                <a:lnTo>
                  <a:pt x="0" y="73088"/>
                </a:lnTo>
                <a:lnTo>
                  <a:pt x="0" y="182879"/>
                </a:lnTo>
                <a:lnTo>
                  <a:pt x="584" y="192158"/>
                </a:lnTo>
                <a:lnTo>
                  <a:pt x="607" y="192513"/>
                </a:lnTo>
                <a:lnTo>
                  <a:pt x="2367" y="201558"/>
                </a:lnTo>
                <a:lnTo>
                  <a:pt x="2428" y="201874"/>
                </a:lnTo>
                <a:lnTo>
                  <a:pt x="5394" y="210620"/>
                </a:lnTo>
                <a:lnTo>
                  <a:pt x="5464" y="210828"/>
                </a:lnTo>
                <a:lnTo>
                  <a:pt x="36360" y="246240"/>
                </a:lnTo>
                <a:lnTo>
                  <a:pt x="73075" y="255968"/>
                </a:lnTo>
                <a:lnTo>
                  <a:pt x="822960" y="255600"/>
                </a:lnTo>
                <a:lnTo>
                  <a:pt x="867330" y="240508"/>
                </a:lnTo>
                <a:lnTo>
                  <a:pt x="890468" y="210828"/>
                </a:lnTo>
                <a:lnTo>
                  <a:pt x="890570" y="210620"/>
                </a:lnTo>
                <a:lnTo>
                  <a:pt x="896013" y="182879"/>
                </a:lnTo>
                <a:lnTo>
                  <a:pt x="896035" y="182524"/>
                </a:lnTo>
                <a:lnTo>
                  <a:pt x="895680" y="73088"/>
                </a:lnTo>
                <a:lnTo>
                  <a:pt x="880576" y="28710"/>
                </a:lnTo>
                <a:lnTo>
                  <a:pt x="841632" y="2430"/>
                </a:lnTo>
                <a:lnTo>
                  <a:pt x="832231" y="607"/>
                </a:lnTo>
                <a:lnTo>
                  <a:pt x="822591" y="0"/>
                </a:lnTo>
                <a:close/>
              </a:path>
            </a:pathLst>
          </a:custGeom>
          <a:solidFill>
            <a:srgbClr val="EE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23538" y="2641932"/>
            <a:ext cx="2171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590364" y="2587677"/>
            <a:ext cx="896619" cy="256540"/>
          </a:xfrm>
          <a:custGeom>
            <a:avLst/>
            <a:gdLst/>
            <a:ahLst/>
            <a:cxnLst/>
            <a:rect l="l" t="t" r="r" b="b"/>
            <a:pathLst>
              <a:path w="896620" h="256539">
                <a:moveTo>
                  <a:pt x="822591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7" y="21470"/>
                </a:lnTo>
                <a:lnTo>
                  <a:pt x="606" y="63454"/>
                </a:lnTo>
                <a:lnTo>
                  <a:pt x="0" y="73088"/>
                </a:lnTo>
                <a:lnTo>
                  <a:pt x="0" y="182879"/>
                </a:lnTo>
                <a:lnTo>
                  <a:pt x="584" y="192158"/>
                </a:lnTo>
                <a:lnTo>
                  <a:pt x="607" y="192513"/>
                </a:lnTo>
                <a:lnTo>
                  <a:pt x="2367" y="201558"/>
                </a:lnTo>
                <a:lnTo>
                  <a:pt x="2428" y="201874"/>
                </a:lnTo>
                <a:lnTo>
                  <a:pt x="5394" y="210620"/>
                </a:lnTo>
                <a:lnTo>
                  <a:pt x="5464" y="210828"/>
                </a:lnTo>
                <a:lnTo>
                  <a:pt x="36360" y="246240"/>
                </a:lnTo>
                <a:lnTo>
                  <a:pt x="73075" y="255968"/>
                </a:lnTo>
                <a:lnTo>
                  <a:pt x="822959" y="255600"/>
                </a:lnTo>
                <a:lnTo>
                  <a:pt x="867330" y="240508"/>
                </a:lnTo>
                <a:lnTo>
                  <a:pt x="890468" y="210828"/>
                </a:lnTo>
                <a:lnTo>
                  <a:pt x="890570" y="210620"/>
                </a:lnTo>
                <a:lnTo>
                  <a:pt x="896013" y="182879"/>
                </a:lnTo>
                <a:lnTo>
                  <a:pt x="896035" y="182524"/>
                </a:lnTo>
                <a:lnTo>
                  <a:pt x="895680" y="73088"/>
                </a:lnTo>
                <a:lnTo>
                  <a:pt x="880576" y="28710"/>
                </a:lnTo>
                <a:lnTo>
                  <a:pt x="841632" y="2430"/>
                </a:lnTo>
                <a:lnTo>
                  <a:pt x="832230" y="607"/>
                </a:lnTo>
                <a:lnTo>
                  <a:pt x="822591" y="0"/>
                </a:lnTo>
                <a:close/>
              </a:path>
            </a:pathLst>
          </a:custGeom>
          <a:solidFill>
            <a:srgbClr val="E957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929378" y="2641932"/>
            <a:ext cx="2171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83504" y="2641932"/>
            <a:ext cx="22910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Composite</a:t>
            </a:r>
            <a:r>
              <a:rPr sz="8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indexes</a:t>
            </a:r>
            <a:r>
              <a:rPr sz="8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Redis</a:t>
            </a:r>
            <a:r>
              <a:rPr sz="8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caching</a:t>
            </a:r>
            <a:r>
              <a:rPr sz="8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for</a:t>
            </a:r>
            <a:r>
              <a:rPr sz="8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monthly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 reports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19684" y="2999157"/>
            <a:ext cx="8503920" cy="438784"/>
          </a:xfrm>
          <a:custGeom>
            <a:avLst/>
            <a:gdLst/>
            <a:ahLst/>
            <a:cxnLst/>
            <a:rect l="l" t="t" r="r" b="b"/>
            <a:pathLst>
              <a:path w="8503920" h="438785">
                <a:moveTo>
                  <a:pt x="8503551" y="0"/>
                </a:moveTo>
                <a:lnTo>
                  <a:pt x="0" y="0"/>
                </a:lnTo>
                <a:lnTo>
                  <a:pt x="0" y="438480"/>
                </a:lnTo>
                <a:lnTo>
                  <a:pt x="4251959" y="438480"/>
                </a:lnTo>
                <a:lnTo>
                  <a:pt x="8503551" y="438480"/>
                </a:lnTo>
                <a:lnTo>
                  <a:pt x="8503551" y="0"/>
                </a:lnTo>
                <a:close/>
              </a:path>
            </a:pathLst>
          </a:custGeom>
          <a:solidFill>
            <a:srgbClr val="F7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98424" y="3136940"/>
            <a:ext cx="142367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Shared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hosting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resource</a:t>
            </a:r>
            <a:r>
              <a:rPr sz="90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limits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4524" y="3090597"/>
            <a:ext cx="896619" cy="256540"/>
          </a:xfrm>
          <a:custGeom>
            <a:avLst/>
            <a:gdLst/>
            <a:ahLst/>
            <a:cxnLst/>
            <a:rect l="l" t="t" r="r" b="b"/>
            <a:pathLst>
              <a:path w="896620" h="256539">
                <a:moveTo>
                  <a:pt x="822591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7" y="21470"/>
                </a:lnTo>
                <a:lnTo>
                  <a:pt x="606" y="63454"/>
                </a:lnTo>
                <a:lnTo>
                  <a:pt x="0" y="73088"/>
                </a:lnTo>
                <a:lnTo>
                  <a:pt x="0" y="182880"/>
                </a:lnTo>
                <a:lnTo>
                  <a:pt x="584" y="192158"/>
                </a:lnTo>
                <a:lnTo>
                  <a:pt x="607" y="192513"/>
                </a:lnTo>
                <a:lnTo>
                  <a:pt x="2367" y="201558"/>
                </a:lnTo>
                <a:lnTo>
                  <a:pt x="2428" y="201874"/>
                </a:lnTo>
                <a:lnTo>
                  <a:pt x="5394" y="210620"/>
                </a:lnTo>
                <a:lnTo>
                  <a:pt x="5464" y="210828"/>
                </a:lnTo>
                <a:lnTo>
                  <a:pt x="36360" y="246240"/>
                </a:lnTo>
                <a:lnTo>
                  <a:pt x="73075" y="255968"/>
                </a:lnTo>
                <a:lnTo>
                  <a:pt x="822960" y="255600"/>
                </a:lnTo>
                <a:lnTo>
                  <a:pt x="867330" y="240508"/>
                </a:lnTo>
                <a:lnTo>
                  <a:pt x="890468" y="210828"/>
                </a:lnTo>
                <a:lnTo>
                  <a:pt x="890570" y="210620"/>
                </a:lnTo>
                <a:lnTo>
                  <a:pt x="896013" y="182880"/>
                </a:lnTo>
                <a:lnTo>
                  <a:pt x="896035" y="182524"/>
                </a:lnTo>
                <a:lnTo>
                  <a:pt x="895680" y="73088"/>
                </a:lnTo>
                <a:lnTo>
                  <a:pt x="880576" y="28710"/>
                </a:lnTo>
                <a:lnTo>
                  <a:pt x="841632" y="2430"/>
                </a:lnTo>
                <a:lnTo>
                  <a:pt x="832231" y="607"/>
                </a:lnTo>
                <a:lnTo>
                  <a:pt x="822591" y="0"/>
                </a:lnTo>
                <a:close/>
              </a:path>
            </a:pathLst>
          </a:custGeom>
          <a:solidFill>
            <a:srgbClr val="E957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840378" y="3144852"/>
            <a:ext cx="3822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Medium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590364" y="3090597"/>
            <a:ext cx="896619" cy="256540"/>
          </a:xfrm>
          <a:custGeom>
            <a:avLst/>
            <a:gdLst/>
            <a:ahLst/>
            <a:cxnLst/>
            <a:rect l="l" t="t" r="r" b="b"/>
            <a:pathLst>
              <a:path w="896620" h="256539">
                <a:moveTo>
                  <a:pt x="822591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7" y="21470"/>
                </a:lnTo>
                <a:lnTo>
                  <a:pt x="606" y="63454"/>
                </a:lnTo>
                <a:lnTo>
                  <a:pt x="0" y="73088"/>
                </a:lnTo>
                <a:lnTo>
                  <a:pt x="0" y="182880"/>
                </a:lnTo>
                <a:lnTo>
                  <a:pt x="584" y="192158"/>
                </a:lnTo>
                <a:lnTo>
                  <a:pt x="607" y="192513"/>
                </a:lnTo>
                <a:lnTo>
                  <a:pt x="2367" y="201558"/>
                </a:lnTo>
                <a:lnTo>
                  <a:pt x="2428" y="201874"/>
                </a:lnTo>
                <a:lnTo>
                  <a:pt x="5394" y="210620"/>
                </a:lnTo>
                <a:lnTo>
                  <a:pt x="5464" y="210828"/>
                </a:lnTo>
                <a:lnTo>
                  <a:pt x="36360" y="246240"/>
                </a:lnTo>
                <a:lnTo>
                  <a:pt x="73075" y="255968"/>
                </a:lnTo>
                <a:lnTo>
                  <a:pt x="822959" y="255600"/>
                </a:lnTo>
                <a:lnTo>
                  <a:pt x="867330" y="240508"/>
                </a:lnTo>
                <a:lnTo>
                  <a:pt x="890468" y="210828"/>
                </a:lnTo>
                <a:lnTo>
                  <a:pt x="890570" y="210620"/>
                </a:lnTo>
                <a:lnTo>
                  <a:pt x="896013" y="182880"/>
                </a:lnTo>
                <a:lnTo>
                  <a:pt x="896035" y="182524"/>
                </a:lnTo>
                <a:lnTo>
                  <a:pt x="895680" y="73088"/>
                </a:lnTo>
                <a:lnTo>
                  <a:pt x="880576" y="28710"/>
                </a:lnTo>
                <a:lnTo>
                  <a:pt x="841632" y="2430"/>
                </a:lnTo>
                <a:lnTo>
                  <a:pt x="832230" y="607"/>
                </a:lnTo>
                <a:lnTo>
                  <a:pt x="822591" y="0"/>
                </a:lnTo>
                <a:close/>
              </a:path>
            </a:pathLst>
          </a:custGeom>
          <a:solidFill>
            <a:srgbClr val="E957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929378" y="3144852"/>
            <a:ext cx="2171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83504" y="3144852"/>
            <a:ext cx="293433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Connection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pooling</a:t>
            </a:r>
            <a:r>
              <a:rPr sz="8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(HikariCP)</a:t>
            </a:r>
            <a:r>
              <a:rPr sz="80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query</a:t>
            </a:r>
            <a:r>
              <a:rPr sz="80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optimisation 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0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Robi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 Cloud 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sizing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19684" y="3502077"/>
            <a:ext cx="8503920" cy="438784"/>
          </a:xfrm>
          <a:custGeom>
            <a:avLst/>
            <a:gdLst/>
            <a:ahLst/>
            <a:cxnLst/>
            <a:rect l="l" t="t" r="r" b="b"/>
            <a:pathLst>
              <a:path w="8503920" h="438785">
                <a:moveTo>
                  <a:pt x="8503551" y="0"/>
                </a:moveTo>
                <a:lnTo>
                  <a:pt x="0" y="0"/>
                </a:lnTo>
                <a:lnTo>
                  <a:pt x="0" y="438480"/>
                </a:lnTo>
                <a:lnTo>
                  <a:pt x="4251959" y="438480"/>
                </a:lnTo>
                <a:lnTo>
                  <a:pt x="8503551" y="438480"/>
                </a:lnTo>
                <a:lnTo>
                  <a:pt x="8503551" y="0"/>
                </a:lnTo>
                <a:close/>
              </a:path>
            </a:pathLst>
          </a:custGeom>
          <a:solidFill>
            <a:srgbClr val="ED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98424" y="3639859"/>
            <a:ext cx="12573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React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19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 breaking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changes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584524" y="3593517"/>
            <a:ext cx="896619" cy="256540"/>
          </a:xfrm>
          <a:custGeom>
            <a:avLst/>
            <a:gdLst/>
            <a:ahLst/>
            <a:cxnLst/>
            <a:rect l="l" t="t" r="r" b="b"/>
            <a:pathLst>
              <a:path w="896620" h="256539">
                <a:moveTo>
                  <a:pt x="822591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7" y="21470"/>
                </a:lnTo>
                <a:lnTo>
                  <a:pt x="606" y="63454"/>
                </a:lnTo>
                <a:lnTo>
                  <a:pt x="0" y="73088"/>
                </a:lnTo>
                <a:lnTo>
                  <a:pt x="0" y="182880"/>
                </a:lnTo>
                <a:lnTo>
                  <a:pt x="584" y="192158"/>
                </a:lnTo>
                <a:lnTo>
                  <a:pt x="607" y="192513"/>
                </a:lnTo>
                <a:lnTo>
                  <a:pt x="2367" y="201558"/>
                </a:lnTo>
                <a:lnTo>
                  <a:pt x="2428" y="201874"/>
                </a:lnTo>
                <a:lnTo>
                  <a:pt x="5394" y="210620"/>
                </a:lnTo>
                <a:lnTo>
                  <a:pt x="5464" y="210828"/>
                </a:lnTo>
                <a:lnTo>
                  <a:pt x="36360" y="246240"/>
                </a:lnTo>
                <a:lnTo>
                  <a:pt x="73075" y="255968"/>
                </a:lnTo>
                <a:lnTo>
                  <a:pt x="822960" y="255600"/>
                </a:lnTo>
                <a:lnTo>
                  <a:pt x="867330" y="240508"/>
                </a:lnTo>
                <a:lnTo>
                  <a:pt x="890468" y="210828"/>
                </a:lnTo>
                <a:lnTo>
                  <a:pt x="890570" y="210620"/>
                </a:lnTo>
                <a:lnTo>
                  <a:pt x="896013" y="182880"/>
                </a:lnTo>
                <a:lnTo>
                  <a:pt x="896035" y="182524"/>
                </a:lnTo>
                <a:lnTo>
                  <a:pt x="895680" y="73088"/>
                </a:lnTo>
                <a:lnTo>
                  <a:pt x="880576" y="28710"/>
                </a:lnTo>
                <a:lnTo>
                  <a:pt x="841632" y="2430"/>
                </a:lnTo>
                <a:lnTo>
                  <a:pt x="832231" y="607"/>
                </a:lnTo>
                <a:lnTo>
                  <a:pt x="822591" y="0"/>
                </a:lnTo>
                <a:close/>
              </a:path>
            </a:pathLst>
          </a:custGeom>
          <a:solidFill>
            <a:srgbClr val="2462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933621" y="3647772"/>
            <a:ext cx="19748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FFFFFF"/>
                </a:solidFill>
                <a:latin typeface="Calibri"/>
                <a:cs typeface="Calibri"/>
              </a:rPr>
              <a:t>Low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590364" y="3593517"/>
            <a:ext cx="896619" cy="256540"/>
          </a:xfrm>
          <a:custGeom>
            <a:avLst/>
            <a:gdLst/>
            <a:ahLst/>
            <a:cxnLst/>
            <a:rect l="l" t="t" r="r" b="b"/>
            <a:pathLst>
              <a:path w="896620" h="256539">
                <a:moveTo>
                  <a:pt x="822591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7" y="21470"/>
                </a:lnTo>
                <a:lnTo>
                  <a:pt x="606" y="63454"/>
                </a:lnTo>
                <a:lnTo>
                  <a:pt x="0" y="73088"/>
                </a:lnTo>
                <a:lnTo>
                  <a:pt x="0" y="182880"/>
                </a:lnTo>
                <a:lnTo>
                  <a:pt x="584" y="192158"/>
                </a:lnTo>
                <a:lnTo>
                  <a:pt x="607" y="192513"/>
                </a:lnTo>
                <a:lnTo>
                  <a:pt x="2367" y="201558"/>
                </a:lnTo>
                <a:lnTo>
                  <a:pt x="2428" y="201874"/>
                </a:lnTo>
                <a:lnTo>
                  <a:pt x="5394" y="210620"/>
                </a:lnTo>
                <a:lnTo>
                  <a:pt x="5464" y="210828"/>
                </a:lnTo>
                <a:lnTo>
                  <a:pt x="36360" y="246240"/>
                </a:lnTo>
                <a:lnTo>
                  <a:pt x="73075" y="255968"/>
                </a:lnTo>
                <a:lnTo>
                  <a:pt x="822959" y="255600"/>
                </a:lnTo>
                <a:lnTo>
                  <a:pt x="867330" y="240508"/>
                </a:lnTo>
                <a:lnTo>
                  <a:pt x="890468" y="210828"/>
                </a:lnTo>
                <a:lnTo>
                  <a:pt x="890570" y="210620"/>
                </a:lnTo>
                <a:lnTo>
                  <a:pt x="896013" y="182880"/>
                </a:lnTo>
                <a:lnTo>
                  <a:pt x="896035" y="182524"/>
                </a:lnTo>
                <a:lnTo>
                  <a:pt x="895680" y="73088"/>
                </a:lnTo>
                <a:lnTo>
                  <a:pt x="880576" y="28710"/>
                </a:lnTo>
                <a:lnTo>
                  <a:pt x="841632" y="2430"/>
                </a:lnTo>
                <a:lnTo>
                  <a:pt x="832230" y="607"/>
                </a:lnTo>
                <a:lnTo>
                  <a:pt x="822591" y="0"/>
                </a:lnTo>
                <a:close/>
              </a:path>
            </a:pathLst>
          </a:custGeom>
          <a:solidFill>
            <a:srgbClr val="2462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846218" y="3647772"/>
            <a:ext cx="3822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Medium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583504" y="3647772"/>
            <a:ext cx="26314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Pin</a:t>
            </a:r>
            <a:r>
              <a:rPr sz="8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  <a:hlinkClick r:id="rId2"/>
              </a:rPr>
              <a:t>react@19.0.0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,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use 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stable</a:t>
            </a:r>
            <a:r>
              <a:rPr sz="8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APIs </a:t>
            </a:r>
            <a:r>
              <a:rPr sz="800" spc="-20" dirty="0">
                <a:solidFill>
                  <a:srgbClr val="465468"/>
                </a:solidFill>
                <a:latin typeface="Calibri"/>
                <a:cs typeface="Calibri"/>
              </a:rPr>
              <a:t>only,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daily 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Dependabot</a:t>
            </a:r>
            <a:r>
              <a:rPr sz="8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alerts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19684" y="4004997"/>
            <a:ext cx="8503920" cy="438784"/>
          </a:xfrm>
          <a:custGeom>
            <a:avLst/>
            <a:gdLst/>
            <a:ahLst/>
            <a:cxnLst/>
            <a:rect l="l" t="t" r="r" b="b"/>
            <a:pathLst>
              <a:path w="8503920" h="438785">
                <a:moveTo>
                  <a:pt x="8503551" y="0"/>
                </a:moveTo>
                <a:lnTo>
                  <a:pt x="0" y="0"/>
                </a:lnTo>
                <a:lnTo>
                  <a:pt x="0" y="438480"/>
                </a:lnTo>
                <a:lnTo>
                  <a:pt x="4251959" y="438480"/>
                </a:lnTo>
                <a:lnTo>
                  <a:pt x="8503551" y="438480"/>
                </a:lnTo>
                <a:lnTo>
                  <a:pt x="8503551" y="0"/>
                </a:lnTo>
                <a:close/>
              </a:path>
            </a:pathLst>
          </a:custGeom>
          <a:solidFill>
            <a:srgbClr val="F7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398424" y="4142780"/>
            <a:ext cx="15271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GitHub</a:t>
            </a:r>
            <a:r>
              <a:rPr sz="9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Actions</a:t>
            </a:r>
            <a:r>
              <a:rPr sz="9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secrets</a:t>
            </a:r>
            <a:r>
              <a:rPr sz="9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exposure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584524" y="4096437"/>
            <a:ext cx="896619" cy="256540"/>
          </a:xfrm>
          <a:custGeom>
            <a:avLst/>
            <a:gdLst/>
            <a:ahLst/>
            <a:cxnLst/>
            <a:rect l="l" t="t" r="r" b="b"/>
            <a:pathLst>
              <a:path w="896620" h="256539">
                <a:moveTo>
                  <a:pt x="822591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7" y="21470"/>
                </a:lnTo>
                <a:lnTo>
                  <a:pt x="606" y="63454"/>
                </a:lnTo>
                <a:lnTo>
                  <a:pt x="0" y="73088"/>
                </a:lnTo>
                <a:lnTo>
                  <a:pt x="0" y="182879"/>
                </a:lnTo>
                <a:lnTo>
                  <a:pt x="584" y="192158"/>
                </a:lnTo>
                <a:lnTo>
                  <a:pt x="607" y="192513"/>
                </a:lnTo>
                <a:lnTo>
                  <a:pt x="2367" y="201558"/>
                </a:lnTo>
                <a:lnTo>
                  <a:pt x="2428" y="201874"/>
                </a:lnTo>
                <a:lnTo>
                  <a:pt x="5394" y="210620"/>
                </a:lnTo>
                <a:lnTo>
                  <a:pt x="5464" y="210828"/>
                </a:lnTo>
                <a:lnTo>
                  <a:pt x="36360" y="246240"/>
                </a:lnTo>
                <a:lnTo>
                  <a:pt x="73075" y="255968"/>
                </a:lnTo>
                <a:lnTo>
                  <a:pt x="822960" y="255600"/>
                </a:lnTo>
                <a:lnTo>
                  <a:pt x="867330" y="240508"/>
                </a:lnTo>
                <a:lnTo>
                  <a:pt x="890468" y="210828"/>
                </a:lnTo>
                <a:lnTo>
                  <a:pt x="890570" y="210620"/>
                </a:lnTo>
                <a:lnTo>
                  <a:pt x="896013" y="182879"/>
                </a:lnTo>
                <a:lnTo>
                  <a:pt x="896035" y="182524"/>
                </a:lnTo>
                <a:lnTo>
                  <a:pt x="895680" y="73088"/>
                </a:lnTo>
                <a:lnTo>
                  <a:pt x="880576" y="28710"/>
                </a:lnTo>
                <a:lnTo>
                  <a:pt x="841632" y="2430"/>
                </a:lnTo>
                <a:lnTo>
                  <a:pt x="832231" y="607"/>
                </a:lnTo>
                <a:lnTo>
                  <a:pt x="822591" y="0"/>
                </a:lnTo>
                <a:close/>
              </a:path>
            </a:pathLst>
          </a:custGeom>
          <a:solidFill>
            <a:srgbClr val="2462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933621" y="4150692"/>
            <a:ext cx="19748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FFFFFF"/>
                </a:solidFill>
                <a:latin typeface="Calibri"/>
                <a:cs typeface="Calibri"/>
              </a:rPr>
              <a:t>Low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590364" y="4096437"/>
            <a:ext cx="896619" cy="256540"/>
          </a:xfrm>
          <a:custGeom>
            <a:avLst/>
            <a:gdLst/>
            <a:ahLst/>
            <a:cxnLst/>
            <a:rect l="l" t="t" r="r" b="b"/>
            <a:pathLst>
              <a:path w="896620" h="256539">
                <a:moveTo>
                  <a:pt x="822591" y="0"/>
                </a:moveTo>
                <a:lnTo>
                  <a:pt x="73075" y="0"/>
                </a:lnTo>
                <a:lnTo>
                  <a:pt x="63447" y="607"/>
                </a:lnTo>
                <a:lnTo>
                  <a:pt x="21417" y="21470"/>
                </a:lnTo>
                <a:lnTo>
                  <a:pt x="606" y="63454"/>
                </a:lnTo>
                <a:lnTo>
                  <a:pt x="0" y="73088"/>
                </a:lnTo>
                <a:lnTo>
                  <a:pt x="0" y="182879"/>
                </a:lnTo>
                <a:lnTo>
                  <a:pt x="584" y="192158"/>
                </a:lnTo>
                <a:lnTo>
                  <a:pt x="607" y="192513"/>
                </a:lnTo>
                <a:lnTo>
                  <a:pt x="2367" y="201558"/>
                </a:lnTo>
                <a:lnTo>
                  <a:pt x="2428" y="201874"/>
                </a:lnTo>
                <a:lnTo>
                  <a:pt x="5394" y="210620"/>
                </a:lnTo>
                <a:lnTo>
                  <a:pt x="5464" y="210828"/>
                </a:lnTo>
                <a:lnTo>
                  <a:pt x="36360" y="246240"/>
                </a:lnTo>
                <a:lnTo>
                  <a:pt x="73075" y="255968"/>
                </a:lnTo>
                <a:lnTo>
                  <a:pt x="822959" y="255600"/>
                </a:lnTo>
                <a:lnTo>
                  <a:pt x="867330" y="240508"/>
                </a:lnTo>
                <a:lnTo>
                  <a:pt x="890468" y="210828"/>
                </a:lnTo>
                <a:lnTo>
                  <a:pt x="890570" y="210620"/>
                </a:lnTo>
                <a:lnTo>
                  <a:pt x="896013" y="182879"/>
                </a:lnTo>
                <a:lnTo>
                  <a:pt x="896035" y="182524"/>
                </a:lnTo>
                <a:lnTo>
                  <a:pt x="895680" y="73088"/>
                </a:lnTo>
                <a:lnTo>
                  <a:pt x="880576" y="28710"/>
                </a:lnTo>
                <a:lnTo>
                  <a:pt x="841632" y="2430"/>
                </a:lnTo>
                <a:lnTo>
                  <a:pt x="832231" y="607"/>
                </a:lnTo>
                <a:lnTo>
                  <a:pt x="822591" y="0"/>
                </a:lnTo>
                <a:close/>
              </a:path>
            </a:pathLst>
          </a:custGeom>
          <a:solidFill>
            <a:srgbClr val="EE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878984" y="4150692"/>
            <a:ext cx="31686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Critical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583504" y="4150692"/>
            <a:ext cx="283908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Use</a:t>
            </a:r>
            <a:r>
              <a:rPr sz="8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GitHub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 Environments,</a:t>
            </a:r>
            <a:r>
              <a:rPr sz="8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rotate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65468"/>
                </a:solidFill>
                <a:latin typeface="Calibri"/>
                <a:cs typeface="Calibri"/>
              </a:rPr>
              <a:t>secrets</a:t>
            </a:r>
            <a:r>
              <a:rPr sz="8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quarterly,</a:t>
            </a:r>
            <a:r>
              <a:rPr sz="8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Vault</a:t>
            </a:r>
            <a:r>
              <a:rPr sz="8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465468"/>
                </a:solidFill>
                <a:latin typeface="Calibri"/>
                <a:cs typeface="Calibri"/>
              </a:rPr>
              <a:t>integration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52" name="object 52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444144" y="4730580"/>
            <a:ext cx="609473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Claude</a:t>
            </a:r>
            <a:r>
              <a:rPr sz="950" spc="-4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Code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identifies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risks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by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reading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your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tech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stack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and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comparing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against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known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failure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patterns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for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similar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projects.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21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Team</a:t>
            </a:r>
            <a:r>
              <a:rPr spc="-65" dirty="0"/>
              <a:t> </a:t>
            </a:r>
            <a:r>
              <a:rPr dirty="0"/>
              <a:t>Roles</a:t>
            </a:r>
            <a:r>
              <a:rPr spc="-60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spc="-10" dirty="0"/>
              <a:t>Responsibility</a:t>
            </a:r>
            <a:r>
              <a:rPr spc="-70" dirty="0"/>
              <a:t> </a:t>
            </a:r>
            <a:r>
              <a:rPr spc="-10" dirty="0"/>
              <a:t>Matrix</a:t>
            </a:r>
          </a:p>
        </p:txBody>
      </p:sp>
      <p:sp>
        <p:nvSpPr>
          <p:cNvPr id="4" name="object 4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72818" y="178160"/>
            <a:ext cx="8474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2277" y="1038227"/>
            <a:ext cx="8695055" cy="904240"/>
            <a:chOff x="242277" y="1038227"/>
            <a:chExt cx="8695055" cy="9042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038227"/>
              <a:ext cx="8694724" cy="90361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9316" y="1115277"/>
              <a:ext cx="8504555" cy="713740"/>
            </a:xfrm>
            <a:custGeom>
              <a:avLst/>
              <a:gdLst/>
              <a:ahLst/>
              <a:cxnLst/>
              <a:rect l="l" t="t" r="r" b="b"/>
              <a:pathLst>
                <a:path w="8504555" h="713739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622084"/>
                  </a:lnTo>
                  <a:lnTo>
                    <a:pt x="798" y="634089"/>
                  </a:lnTo>
                  <a:lnTo>
                    <a:pt x="18843" y="677848"/>
                  </a:lnTo>
                  <a:lnTo>
                    <a:pt x="56512" y="706537"/>
                  </a:lnTo>
                  <a:lnTo>
                    <a:pt x="91440" y="713524"/>
                  </a:lnTo>
                  <a:lnTo>
                    <a:pt x="8412848" y="713524"/>
                  </a:lnTo>
                  <a:lnTo>
                    <a:pt x="8458568" y="701281"/>
                  </a:lnTo>
                  <a:lnTo>
                    <a:pt x="8492045" y="667804"/>
                  </a:lnTo>
                  <a:lnTo>
                    <a:pt x="8504288" y="622084"/>
                  </a:lnTo>
                  <a:lnTo>
                    <a:pt x="8504263" y="91439"/>
                  </a:lnTo>
                  <a:lnTo>
                    <a:pt x="8492045" y="46088"/>
                  </a:lnTo>
                  <a:lnTo>
                    <a:pt x="8458568" y="12598"/>
                  </a:lnTo>
                  <a:lnTo>
                    <a:pt x="841284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9316" y="1115277"/>
              <a:ext cx="8504555" cy="713740"/>
            </a:xfrm>
            <a:custGeom>
              <a:avLst/>
              <a:gdLst/>
              <a:ahLst/>
              <a:cxnLst/>
              <a:rect l="l" t="t" r="r" b="b"/>
              <a:pathLst>
                <a:path w="8504555" h="713739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8412848" y="368"/>
                  </a:lnTo>
                  <a:lnTo>
                    <a:pt x="8458568" y="12598"/>
                  </a:lnTo>
                  <a:lnTo>
                    <a:pt x="8492045" y="46088"/>
                  </a:lnTo>
                  <a:lnTo>
                    <a:pt x="8504288" y="91808"/>
                  </a:lnTo>
                  <a:lnTo>
                    <a:pt x="8504288" y="622084"/>
                  </a:lnTo>
                  <a:lnTo>
                    <a:pt x="8503488" y="634089"/>
                  </a:lnTo>
                  <a:lnTo>
                    <a:pt x="8501133" y="645753"/>
                  </a:lnTo>
                  <a:lnTo>
                    <a:pt x="8477597" y="686842"/>
                  </a:lnTo>
                  <a:lnTo>
                    <a:pt x="8436513" y="710374"/>
                  </a:lnTo>
                  <a:lnTo>
                    <a:pt x="8412848" y="713524"/>
                  </a:lnTo>
                  <a:lnTo>
                    <a:pt x="91440" y="713524"/>
                  </a:lnTo>
                  <a:lnTo>
                    <a:pt x="45719" y="701281"/>
                  </a:lnTo>
                  <a:lnTo>
                    <a:pt x="12242" y="667804"/>
                  </a:lnTo>
                  <a:lnTo>
                    <a:pt x="0" y="622084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5495" y="797663"/>
            <a:ext cx="7912734" cy="882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6570">
              <a:lnSpc>
                <a:spcPct val="100000"/>
              </a:lnSpc>
              <a:spcBef>
                <a:spcPts val="100"/>
              </a:spcBef>
            </a:pPr>
            <a:r>
              <a:rPr sz="1000" i="1" spc="-140" dirty="0">
                <a:solidFill>
                  <a:srgbClr val="9FBFFF"/>
                </a:solidFill>
                <a:latin typeface="Arial"/>
                <a:cs typeface="Arial"/>
              </a:rPr>
              <a:t>RACI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chart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for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WAMY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0" dirty="0">
                <a:solidFill>
                  <a:srgbClr val="9FBFFF"/>
                </a:solidFill>
                <a:latin typeface="+mn-lt"/>
                <a:cs typeface="Arial"/>
              </a:rPr>
              <a:t>Finance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module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generated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by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5" dirty="0">
                <a:solidFill>
                  <a:srgbClr val="9FBFFF"/>
                </a:solidFill>
                <a:latin typeface="Arial"/>
                <a:cs typeface="Arial"/>
              </a:rPr>
              <a:t>Claude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Code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000" dirty="0">
              <a:latin typeface="Arial"/>
              <a:cs typeface="Arial"/>
            </a:endParaRPr>
          </a:p>
          <a:p>
            <a:pPr marL="450850">
              <a:lnSpc>
                <a:spcPct val="100000"/>
              </a:lnSpc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RACI</a:t>
            </a:r>
            <a:r>
              <a:rPr sz="85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14" dirty="0">
                <a:solidFill>
                  <a:srgbClr val="FCE589"/>
                </a:solidFill>
                <a:latin typeface="Arial"/>
                <a:cs typeface="Arial"/>
              </a:rPr>
              <a:t>RACI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responsibility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matrix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module.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Roles: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Lead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Developer,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Backend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Dev,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Frontend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Dev,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0" dirty="0">
                <a:solidFill>
                  <a:srgbClr val="FCE589"/>
                </a:solidFill>
                <a:latin typeface="Arial"/>
                <a:cs typeface="Arial"/>
              </a:rPr>
              <a:t>QA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Engineer,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Manager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(client).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Tasks: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Architecture,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Backend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API,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Frontend,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5" dirty="0">
                <a:solidFill>
                  <a:srgbClr val="FCE589"/>
                </a:solidFill>
                <a:latin typeface="Arial"/>
                <a:cs typeface="Arial"/>
              </a:rPr>
              <a:t>DB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design,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Security,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Testing,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Deployment,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UAT."</a:t>
            </a:r>
            <a:endParaRPr sz="85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9684" y="1901522"/>
            <a:ext cx="2743200" cy="311150"/>
          </a:xfrm>
          <a:custGeom>
            <a:avLst/>
            <a:gdLst/>
            <a:ahLst/>
            <a:cxnLst/>
            <a:rect l="l" t="t" r="r" b="b"/>
            <a:pathLst>
              <a:path w="2743200" h="311150">
                <a:moveTo>
                  <a:pt x="2742831" y="0"/>
                </a:moveTo>
                <a:lnTo>
                  <a:pt x="0" y="0"/>
                </a:lnTo>
                <a:lnTo>
                  <a:pt x="0" y="310680"/>
                </a:lnTo>
                <a:lnTo>
                  <a:pt x="1371600" y="310680"/>
                </a:lnTo>
                <a:lnTo>
                  <a:pt x="2742831" y="310680"/>
                </a:lnTo>
                <a:lnTo>
                  <a:pt x="27428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76336" y="1975588"/>
            <a:ext cx="22987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Task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63239" y="1901522"/>
            <a:ext cx="1078865" cy="311150"/>
          </a:xfrm>
          <a:custGeom>
            <a:avLst/>
            <a:gdLst/>
            <a:ahLst/>
            <a:cxnLst/>
            <a:rect l="l" t="t" r="r" b="b"/>
            <a:pathLst>
              <a:path w="1078864" h="311150">
                <a:moveTo>
                  <a:pt x="1078560" y="0"/>
                </a:moveTo>
                <a:lnTo>
                  <a:pt x="0" y="0"/>
                </a:lnTo>
                <a:lnTo>
                  <a:pt x="0" y="310680"/>
                </a:lnTo>
                <a:lnTo>
                  <a:pt x="539280" y="310680"/>
                </a:lnTo>
                <a:lnTo>
                  <a:pt x="1078560" y="310680"/>
                </a:lnTo>
                <a:lnTo>
                  <a:pt x="1078560" y="0"/>
                </a:lnTo>
                <a:close/>
              </a:path>
            </a:pathLst>
          </a:custGeom>
          <a:solidFill>
            <a:srgbClr val="2433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74174" y="1975588"/>
            <a:ext cx="457834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Lead</a:t>
            </a:r>
            <a:r>
              <a:rPr sz="9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Calibri"/>
                <a:cs typeface="Calibri"/>
              </a:rPr>
              <a:t>Dev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42155" y="1901522"/>
            <a:ext cx="1078865" cy="311150"/>
          </a:xfrm>
          <a:custGeom>
            <a:avLst/>
            <a:gdLst/>
            <a:ahLst/>
            <a:cxnLst/>
            <a:rect l="l" t="t" r="r" b="b"/>
            <a:pathLst>
              <a:path w="1078864" h="311150">
                <a:moveTo>
                  <a:pt x="1078560" y="0"/>
                </a:moveTo>
                <a:lnTo>
                  <a:pt x="0" y="0"/>
                </a:lnTo>
                <a:lnTo>
                  <a:pt x="0" y="310680"/>
                </a:lnTo>
                <a:lnTo>
                  <a:pt x="539280" y="310680"/>
                </a:lnTo>
                <a:lnTo>
                  <a:pt x="1078560" y="310680"/>
                </a:lnTo>
                <a:lnTo>
                  <a:pt x="1078560" y="0"/>
                </a:lnTo>
                <a:close/>
              </a:path>
            </a:pathLst>
          </a:custGeom>
          <a:solidFill>
            <a:srgbClr val="2433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364545" y="1975588"/>
            <a:ext cx="6350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Backend </a:t>
            </a:r>
            <a:r>
              <a:rPr sz="900" b="1" spc="-25" dirty="0">
                <a:solidFill>
                  <a:srgbClr val="FFFFFF"/>
                </a:solidFill>
                <a:latin typeface="Calibri"/>
                <a:cs typeface="Calibri"/>
              </a:rPr>
              <a:t>Dev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221084" y="1901522"/>
            <a:ext cx="1078865" cy="311150"/>
          </a:xfrm>
          <a:custGeom>
            <a:avLst/>
            <a:gdLst/>
            <a:ahLst/>
            <a:cxnLst/>
            <a:rect l="l" t="t" r="r" b="b"/>
            <a:pathLst>
              <a:path w="1078864" h="311150">
                <a:moveTo>
                  <a:pt x="1078560" y="0"/>
                </a:moveTo>
                <a:lnTo>
                  <a:pt x="0" y="0"/>
                </a:lnTo>
                <a:lnTo>
                  <a:pt x="0" y="310680"/>
                </a:lnTo>
                <a:lnTo>
                  <a:pt x="539280" y="310680"/>
                </a:lnTo>
                <a:lnTo>
                  <a:pt x="1078560" y="310680"/>
                </a:lnTo>
                <a:lnTo>
                  <a:pt x="1078560" y="0"/>
                </a:lnTo>
                <a:close/>
              </a:path>
            </a:pathLst>
          </a:custGeom>
          <a:solidFill>
            <a:srgbClr val="2433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427624" y="1975588"/>
            <a:ext cx="6654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Frontend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Calibri"/>
                <a:cs typeface="Calibri"/>
              </a:rPr>
              <a:t>Dev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300355" y="1901522"/>
            <a:ext cx="1078865" cy="311150"/>
          </a:xfrm>
          <a:custGeom>
            <a:avLst/>
            <a:gdLst/>
            <a:ahLst/>
            <a:cxnLst/>
            <a:rect l="l" t="t" r="r" b="b"/>
            <a:pathLst>
              <a:path w="1078865" h="311150">
                <a:moveTo>
                  <a:pt x="1078560" y="0"/>
                </a:moveTo>
                <a:lnTo>
                  <a:pt x="0" y="0"/>
                </a:lnTo>
                <a:lnTo>
                  <a:pt x="0" y="310680"/>
                </a:lnTo>
                <a:lnTo>
                  <a:pt x="539280" y="310680"/>
                </a:lnTo>
                <a:lnTo>
                  <a:pt x="1078560" y="310680"/>
                </a:lnTo>
                <a:lnTo>
                  <a:pt x="1078560" y="0"/>
                </a:lnTo>
                <a:close/>
              </a:path>
            </a:pathLst>
          </a:custGeom>
          <a:solidFill>
            <a:srgbClr val="2433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532105" y="1975588"/>
            <a:ext cx="6153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QA</a:t>
            </a:r>
            <a:r>
              <a:rPr sz="9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Engineer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379284" y="1901522"/>
            <a:ext cx="1078865" cy="311150"/>
          </a:xfrm>
          <a:custGeom>
            <a:avLst/>
            <a:gdLst/>
            <a:ahLst/>
            <a:cxnLst/>
            <a:rect l="l" t="t" r="r" b="b"/>
            <a:pathLst>
              <a:path w="1078865" h="311150">
                <a:moveTo>
                  <a:pt x="1078560" y="0"/>
                </a:moveTo>
                <a:lnTo>
                  <a:pt x="0" y="0"/>
                </a:lnTo>
                <a:lnTo>
                  <a:pt x="0" y="310680"/>
                </a:lnTo>
                <a:lnTo>
                  <a:pt x="539280" y="310680"/>
                </a:lnTo>
                <a:lnTo>
                  <a:pt x="1078560" y="310680"/>
                </a:lnTo>
                <a:lnTo>
                  <a:pt x="1078560" y="0"/>
                </a:lnTo>
                <a:close/>
              </a:path>
            </a:pathLst>
          </a:custGeom>
          <a:solidFill>
            <a:srgbClr val="2433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613180" y="1975588"/>
            <a:ext cx="61087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Finance</a:t>
            </a:r>
            <a:r>
              <a:rPr sz="9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Calibri"/>
                <a:cs typeface="Calibri"/>
              </a:rPr>
              <a:t>Mgr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19684" y="2267637"/>
            <a:ext cx="2743200" cy="320040"/>
          </a:xfrm>
          <a:custGeom>
            <a:avLst/>
            <a:gdLst/>
            <a:ahLst/>
            <a:cxnLst/>
            <a:rect l="l" t="t" r="r" b="b"/>
            <a:pathLst>
              <a:path w="2743200" h="320039">
                <a:moveTo>
                  <a:pt x="2742831" y="0"/>
                </a:moveTo>
                <a:lnTo>
                  <a:pt x="0" y="0"/>
                </a:lnTo>
                <a:lnTo>
                  <a:pt x="0" y="319684"/>
                </a:lnTo>
                <a:lnTo>
                  <a:pt x="1371600" y="319684"/>
                </a:lnTo>
                <a:lnTo>
                  <a:pt x="2742831" y="319684"/>
                </a:lnTo>
                <a:lnTo>
                  <a:pt x="2742831" y="0"/>
                </a:lnTo>
                <a:close/>
              </a:path>
            </a:pathLst>
          </a:custGeom>
          <a:solidFill>
            <a:srgbClr val="F7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98779" y="2346022"/>
            <a:ext cx="956944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System</a:t>
            </a:r>
            <a:r>
              <a:rPr sz="9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Architecture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063239" y="2267637"/>
            <a:ext cx="1078865" cy="320040"/>
            <a:chOff x="3063239" y="2267637"/>
            <a:chExt cx="1078865" cy="320040"/>
          </a:xfrm>
        </p:grpSpPr>
        <p:sp>
          <p:nvSpPr>
            <p:cNvPr id="26" name="object 26"/>
            <p:cNvSpPr/>
            <p:nvPr/>
          </p:nvSpPr>
          <p:spPr>
            <a:xfrm>
              <a:off x="3063239" y="226763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82035" y="2322362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19">
                  <a:moveTo>
                    <a:pt x="639724" y="0"/>
                  </a:moveTo>
                  <a:lnTo>
                    <a:pt x="73088" y="0"/>
                  </a:lnTo>
                  <a:lnTo>
                    <a:pt x="63454" y="607"/>
                  </a:lnTo>
                  <a:lnTo>
                    <a:pt x="21431" y="21467"/>
                  </a:lnTo>
                  <a:lnTo>
                    <a:pt x="607" y="63449"/>
                  </a:lnTo>
                  <a:lnTo>
                    <a:pt x="0" y="73075"/>
                  </a:lnTo>
                  <a:lnTo>
                    <a:pt x="0" y="137160"/>
                  </a:lnTo>
                  <a:lnTo>
                    <a:pt x="585" y="146436"/>
                  </a:lnTo>
                  <a:lnTo>
                    <a:pt x="607" y="146788"/>
                  </a:lnTo>
                  <a:lnTo>
                    <a:pt x="2368" y="155833"/>
                  </a:lnTo>
                  <a:lnTo>
                    <a:pt x="2430" y="156149"/>
                  </a:lnTo>
                  <a:lnTo>
                    <a:pt x="5398" y="164895"/>
                  </a:lnTo>
                  <a:lnTo>
                    <a:pt x="5470" y="165106"/>
                  </a:lnTo>
                  <a:lnTo>
                    <a:pt x="9728" y="173520"/>
                  </a:lnTo>
                  <a:lnTo>
                    <a:pt x="44984" y="204770"/>
                  </a:lnTo>
                  <a:lnTo>
                    <a:pt x="73088" y="210235"/>
                  </a:lnTo>
                  <a:lnTo>
                    <a:pt x="640080" y="209880"/>
                  </a:lnTo>
                  <a:lnTo>
                    <a:pt x="684457" y="194781"/>
                  </a:lnTo>
                  <a:lnTo>
                    <a:pt x="710632" y="156149"/>
                  </a:lnTo>
                  <a:lnTo>
                    <a:pt x="710738" y="155833"/>
                  </a:lnTo>
                  <a:lnTo>
                    <a:pt x="712492" y="146788"/>
                  </a:lnTo>
                  <a:lnTo>
                    <a:pt x="712561" y="146436"/>
                  </a:lnTo>
                  <a:lnTo>
                    <a:pt x="713146" y="137160"/>
                  </a:lnTo>
                  <a:lnTo>
                    <a:pt x="712800" y="73075"/>
                  </a:lnTo>
                  <a:lnTo>
                    <a:pt x="697708" y="28705"/>
                  </a:lnTo>
                  <a:lnTo>
                    <a:pt x="658758" y="2428"/>
                  </a:lnTo>
                  <a:lnTo>
                    <a:pt x="649358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441865" y="2349984"/>
            <a:ext cx="1936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FFFF"/>
                </a:solidFill>
                <a:latin typeface="Calibri"/>
                <a:cs typeface="Calibri"/>
              </a:rPr>
              <a:t>R/A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142155" y="2267637"/>
            <a:ext cx="1078865" cy="320040"/>
            <a:chOff x="4142155" y="2267637"/>
            <a:chExt cx="1078865" cy="320040"/>
          </a:xfrm>
        </p:grpSpPr>
        <p:sp>
          <p:nvSpPr>
            <p:cNvPr id="30" name="object 30"/>
            <p:cNvSpPr/>
            <p:nvPr/>
          </p:nvSpPr>
          <p:spPr>
            <a:xfrm>
              <a:off x="4142155" y="226763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260964" y="2322362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19">
                  <a:moveTo>
                    <a:pt x="639711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8" y="21467"/>
                  </a:lnTo>
                  <a:lnTo>
                    <a:pt x="606" y="63449"/>
                  </a:lnTo>
                  <a:lnTo>
                    <a:pt x="0" y="73075"/>
                  </a:lnTo>
                  <a:lnTo>
                    <a:pt x="0" y="137160"/>
                  </a:lnTo>
                  <a:lnTo>
                    <a:pt x="15091" y="181537"/>
                  </a:lnTo>
                  <a:lnTo>
                    <a:pt x="54041" y="207806"/>
                  </a:lnTo>
                  <a:lnTo>
                    <a:pt x="73075" y="210235"/>
                  </a:lnTo>
                  <a:lnTo>
                    <a:pt x="640079" y="209880"/>
                  </a:lnTo>
                  <a:lnTo>
                    <a:pt x="684450" y="194781"/>
                  </a:lnTo>
                  <a:lnTo>
                    <a:pt x="710621" y="156149"/>
                  </a:lnTo>
                  <a:lnTo>
                    <a:pt x="710726" y="155833"/>
                  </a:lnTo>
                  <a:lnTo>
                    <a:pt x="712480" y="146788"/>
                  </a:lnTo>
                  <a:lnTo>
                    <a:pt x="712548" y="146436"/>
                  </a:lnTo>
                  <a:lnTo>
                    <a:pt x="713133" y="137160"/>
                  </a:lnTo>
                  <a:lnTo>
                    <a:pt x="713155" y="136804"/>
                  </a:lnTo>
                  <a:lnTo>
                    <a:pt x="712800" y="73075"/>
                  </a:lnTo>
                  <a:lnTo>
                    <a:pt x="697696" y="28705"/>
                  </a:lnTo>
                  <a:lnTo>
                    <a:pt x="658752" y="2428"/>
                  </a:lnTo>
                  <a:lnTo>
                    <a:pt x="649351" y="607"/>
                  </a:lnTo>
                  <a:lnTo>
                    <a:pt x="639711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576216" y="2349984"/>
            <a:ext cx="831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221084" y="2267637"/>
            <a:ext cx="1078865" cy="320040"/>
            <a:chOff x="5221084" y="2267637"/>
            <a:chExt cx="1078865" cy="320040"/>
          </a:xfrm>
        </p:grpSpPr>
        <p:sp>
          <p:nvSpPr>
            <p:cNvPr id="34" name="object 34"/>
            <p:cNvSpPr/>
            <p:nvPr/>
          </p:nvSpPr>
          <p:spPr>
            <a:xfrm>
              <a:off x="5221084" y="226763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340235" y="2322362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19">
                  <a:moveTo>
                    <a:pt x="639724" y="0"/>
                  </a:moveTo>
                  <a:lnTo>
                    <a:pt x="73088" y="0"/>
                  </a:lnTo>
                  <a:lnTo>
                    <a:pt x="63454" y="607"/>
                  </a:lnTo>
                  <a:lnTo>
                    <a:pt x="21431" y="21467"/>
                  </a:lnTo>
                  <a:lnTo>
                    <a:pt x="607" y="63449"/>
                  </a:lnTo>
                  <a:lnTo>
                    <a:pt x="0" y="73075"/>
                  </a:lnTo>
                  <a:lnTo>
                    <a:pt x="0" y="137160"/>
                  </a:lnTo>
                  <a:lnTo>
                    <a:pt x="585" y="146436"/>
                  </a:lnTo>
                  <a:lnTo>
                    <a:pt x="607" y="146788"/>
                  </a:lnTo>
                  <a:lnTo>
                    <a:pt x="2368" y="155833"/>
                  </a:lnTo>
                  <a:lnTo>
                    <a:pt x="2430" y="156149"/>
                  </a:lnTo>
                  <a:lnTo>
                    <a:pt x="5398" y="164895"/>
                  </a:lnTo>
                  <a:lnTo>
                    <a:pt x="36360" y="200520"/>
                  </a:lnTo>
                  <a:lnTo>
                    <a:pt x="73088" y="210235"/>
                  </a:lnTo>
                  <a:lnTo>
                    <a:pt x="640080" y="209880"/>
                  </a:lnTo>
                  <a:lnTo>
                    <a:pt x="684457" y="194781"/>
                  </a:lnTo>
                  <a:lnTo>
                    <a:pt x="710632" y="156149"/>
                  </a:lnTo>
                  <a:lnTo>
                    <a:pt x="710738" y="155833"/>
                  </a:lnTo>
                  <a:lnTo>
                    <a:pt x="712492" y="146788"/>
                  </a:lnTo>
                  <a:lnTo>
                    <a:pt x="712561" y="146436"/>
                  </a:lnTo>
                  <a:lnTo>
                    <a:pt x="713146" y="137160"/>
                  </a:lnTo>
                  <a:lnTo>
                    <a:pt x="712800" y="73075"/>
                  </a:lnTo>
                  <a:lnTo>
                    <a:pt x="697708" y="28705"/>
                  </a:lnTo>
                  <a:lnTo>
                    <a:pt x="658758" y="2428"/>
                  </a:lnTo>
                  <a:lnTo>
                    <a:pt x="649358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655500" y="2349984"/>
            <a:ext cx="831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300355" y="2267637"/>
            <a:ext cx="1078865" cy="320040"/>
            <a:chOff x="6300355" y="2267637"/>
            <a:chExt cx="1078865" cy="320040"/>
          </a:xfrm>
        </p:grpSpPr>
        <p:sp>
          <p:nvSpPr>
            <p:cNvPr id="38" name="object 38"/>
            <p:cNvSpPr/>
            <p:nvPr/>
          </p:nvSpPr>
          <p:spPr>
            <a:xfrm>
              <a:off x="6300355" y="226763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5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419164" y="2322362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40" h="210819">
                  <a:moveTo>
                    <a:pt x="639711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8" y="21467"/>
                  </a:lnTo>
                  <a:lnTo>
                    <a:pt x="606" y="63449"/>
                  </a:lnTo>
                  <a:lnTo>
                    <a:pt x="0" y="73075"/>
                  </a:lnTo>
                  <a:lnTo>
                    <a:pt x="0" y="137160"/>
                  </a:lnTo>
                  <a:lnTo>
                    <a:pt x="15091" y="181537"/>
                  </a:lnTo>
                  <a:lnTo>
                    <a:pt x="54041" y="207806"/>
                  </a:lnTo>
                  <a:lnTo>
                    <a:pt x="73075" y="210235"/>
                  </a:lnTo>
                  <a:lnTo>
                    <a:pt x="640079" y="209880"/>
                  </a:lnTo>
                  <a:lnTo>
                    <a:pt x="684450" y="194781"/>
                  </a:lnTo>
                  <a:lnTo>
                    <a:pt x="707586" y="165106"/>
                  </a:lnTo>
                  <a:lnTo>
                    <a:pt x="707690" y="164895"/>
                  </a:lnTo>
                  <a:lnTo>
                    <a:pt x="710621" y="156149"/>
                  </a:lnTo>
                  <a:lnTo>
                    <a:pt x="710726" y="155833"/>
                  </a:lnTo>
                  <a:lnTo>
                    <a:pt x="712480" y="146788"/>
                  </a:lnTo>
                  <a:lnTo>
                    <a:pt x="712548" y="146436"/>
                  </a:lnTo>
                  <a:lnTo>
                    <a:pt x="713133" y="137160"/>
                  </a:lnTo>
                  <a:lnTo>
                    <a:pt x="713155" y="136804"/>
                  </a:lnTo>
                  <a:lnTo>
                    <a:pt x="712800" y="73075"/>
                  </a:lnTo>
                  <a:lnTo>
                    <a:pt x="697696" y="28705"/>
                  </a:lnTo>
                  <a:lnTo>
                    <a:pt x="658752" y="2428"/>
                  </a:lnTo>
                  <a:lnTo>
                    <a:pt x="649351" y="607"/>
                  </a:lnTo>
                  <a:lnTo>
                    <a:pt x="639711" y="0"/>
                  </a:lnTo>
                  <a:close/>
                </a:path>
              </a:pathLst>
            </a:custGeom>
            <a:solidFill>
              <a:srgbClr val="93A2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749174" y="2349984"/>
            <a:ext cx="546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379284" y="2267637"/>
            <a:ext cx="1078865" cy="320040"/>
            <a:chOff x="7379284" y="2267637"/>
            <a:chExt cx="1078865" cy="320040"/>
          </a:xfrm>
        </p:grpSpPr>
        <p:sp>
          <p:nvSpPr>
            <p:cNvPr id="42" name="object 42"/>
            <p:cNvSpPr/>
            <p:nvPr/>
          </p:nvSpPr>
          <p:spPr>
            <a:xfrm>
              <a:off x="7379284" y="226763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5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498080" y="2322362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40" h="210819">
                  <a:moveTo>
                    <a:pt x="639724" y="0"/>
                  </a:moveTo>
                  <a:lnTo>
                    <a:pt x="73075" y="0"/>
                  </a:lnTo>
                  <a:lnTo>
                    <a:pt x="63449" y="607"/>
                  </a:lnTo>
                  <a:lnTo>
                    <a:pt x="21428" y="21467"/>
                  </a:lnTo>
                  <a:lnTo>
                    <a:pt x="606" y="63449"/>
                  </a:lnTo>
                  <a:lnTo>
                    <a:pt x="0" y="73075"/>
                  </a:lnTo>
                  <a:lnTo>
                    <a:pt x="0" y="137160"/>
                  </a:lnTo>
                  <a:lnTo>
                    <a:pt x="585" y="146436"/>
                  </a:lnTo>
                  <a:lnTo>
                    <a:pt x="607" y="146788"/>
                  </a:lnTo>
                  <a:lnTo>
                    <a:pt x="2367" y="155833"/>
                  </a:lnTo>
                  <a:lnTo>
                    <a:pt x="2428" y="156149"/>
                  </a:lnTo>
                  <a:lnTo>
                    <a:pt x="5393" y="164895"/>
                  </a:lnTo>
                  <a:lnTo>
                    <a:pt x="36360" y="200520"/>
                  </a:lnTo>
                  <a:lnTo>
                    <a:pt x="73075" y="210235"/>
                  </a:lnTo>
                  <a:lnTo>
                    <a:pt x="640079" y="209880"/>
                  </a:lnTo>
                  <a:lnTo>
                    <a:pt x="684457" y="194781"/>
                  </a:lnTo>
                  <a:lnTo>
                    <a:pt x="707586" y="165106"/>
                  </a:lnTo>
                  <a:lnTo>
                    <a:pt x="707690" y="164895"/>
                  </a:lnTo>
                  <a:lnTo>
                    <a:pt x="710621" y="156149"/>
                  </a:lnTo>
                  <a:lnTo>
                    <a:pt x="710726" y="155833"/>
                  </a:lnTo>
                  <a:lnTo>
                    <a:pt x="712480" y="146788"/>
                  </a:lnTo>
                  <a:lnTo>
                    <a:pt x="712548" y="146436"/>
                  </a:lnTo>
                  <a:lnTo>
                    <a:pt x="713133" y="137160"/>
                  </a:lnTo>
                  <a:lnTo>
                    <a:pt x="713155" y="136804"/>
                  </a:lnTo>
                  <a:lnTo>
                    <a:pt x="712800" y="73075"/>
                  </a:lnTo>
                  <a:lnTo>
                    <a:pt x="697701" y="28705"/>
                  </a:lnTo>
                  <a:lnTo>
                    <a:pt x="658753" y="2428"/>
                  </a:lnTo>
                  <a:lnTo>
                    <a:pt x="649356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813344" y="2349984"/>
            <a:ext cx="831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19684" y="2615046"/>
            <a:ext cx="2743200" cy="320040"/>
          </a:xfrm>
          <a:custGeom>
            <a:avLst/>
            <a:gdLst/>
            <a:ahLst/>
            <a:cxnLst/>
            <a:rect l="l" t="t" r="r" b="b"/>
            <a:pathLst>
              <a:path w="2743200" h="320039">
                <a:moveTo>
                  <a:pt x="2742831" y="0"/>
                </a:moveTo>
                <a:lnTo>
                  <a:pt x="0" y="0"/>
                </a:lnTo>
                <a:lnTo>
                  <a:pt x="0" y="319671"/>
                </a:lnTo>
                <a:lnTo>
                  <a:pt x="1371600" y="319671"/>
                </a:lnTo>
                <a:lnTo>
                  <a:pt x="2742831" y="319671"/>
                </a:lnTo>
                <a:lnTo>
                  <a:pt x="2742831" y="0"/>
                </a:lnTo>
                <a:close/>
              </a:path>
            </a:pathLst>
          </a:custGeom>
          <a:solidFill>
            <a:srgbClr val="ED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98779" y="2693417"/>
            <a:ext cx="88455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DB</a:t>
            </a:r>
            <a:r>
              <a:rPr sz="9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Schema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 Design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063239" y="2615046"/>
            <a:ext cx="1078865" cy="320040"/>
            <a:chOff x="3063239" y="2615046"/>
            <a:chExt cx="1078865" cy="320040"/>
          </a:xfrm>
        </p:grpSpPr>
        <p:sp>
          <p:nvSpPr>
            <p:cNvPr id="48" name="object 48"/>
            <p:cNvSpPr/>
            <p:nvPr/>
          </p:nvSpPr>
          <p:spPr>
            <a:xfrm>
              <a:off x="3063239" y="2615046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71"/>
                  </a:lnTo>
                  <a:lnTo>
                    <a:pt x="539280" y="319671"/>
                  </a:lnTo>
                  <a:lnTo>
                    <a:pt x="1078560" y="319671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182035" y="2669757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19">
                  <a:moveTo>
                    <a:pt x="639724" y="0"/>
                  </a:moveTo>
                  <a:lnTo>
                    <a:pt x="73088" y="0"/>
                  </a:lnTo>
                  <a:lnTo>
                    <a:pt x="63454" y="607"/>
                  </a:lnTo>
                  <a:lnTo>
                    <a:pt x="21429" y="21470"/>
                  </a:lnTo>
                  <a:lnTo>
                    <a:pt x="607" y="63454"/>
                  </a:lnTo>
                  <a:lnTo>
                    <a:pt x="0" y="73088"/>
                  </a:lnTo>
                  <a:lnTo>
                    <a:pt x="0" y="137159"/>
                  </a:lnTo>
                  <a:lnTo>
                    <a:pt x="585" y="146438"/>
                  </a:lnTo>
                  <a:lnTo>
                    <a:pt x="607" y="146793"/>
                  </a:lnTo>
                  <a:lnTo>
                    <a:pt x="2368" y="155838"/>
                  </a:lnTo>
                  <a:lnTo>
                    <a:pt x="2430" y="156154"/>
                  </a:lnTo>
                  <a:lnTo>
                    <a:pt x="5399" y="164900"/>
                  </a:lnTo>
                  <a:lnTo>
                    <a:pt x="5470" y="165108"/>
                  </a:lnTo>
                  <a:lnTo>
                    <a:pt x="36360" y="200520"/>
                  </a:lnTo>
                  <a:lnTo>
                    <a:pt x="73088" y="210248"/>
                  </a:lnTo>
                  <a:lnTo>
                    <a:pt x="640080" y="209880"/>
                  </a:lnTo>
                  <a:lnTo>
                    <a:pt x="684457" y="194788"/>
                  </a:lnTo>
                  <a:lnTo>
                    <a:pt x="710632" y="156154"/>
                  </a:lnTo>
                  <a:lnTo>
                    <a:pt x="713146" y="137159"/>
                  </a:lnTo>
                  <a:lnTo>
                    <a:pt x="713168" y="136804"/>
                  </a:lnTo>
                  <a:lnTo>
                    <a:pt x="712800" y="73088"/>
                  </a:lnTo>
                  <a:lnTo>
                    <a:pt x="697708" y="28710"/>
                  </a:lnTo>
                  <a:lnTo>
                    <a:pt x="658758" y="2430"/>
                  </a:lnTo>
                  <a:lnTo>
                    <a:pt x="649358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1C4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492982" y="2697380"/>
            <a:ext cx="9144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142155" y="2615046"/>
            <a:ext cx="1078865" cy="320040"/>
            <a:chOff x="4142155" y="2615046"/>
            <a:chExt cx="1078865" cy="320040"/>
          </a:xfrm>
        </p:grpSpPr>
        <p:sp>
          <p:nvSpPr>
            <p:cNvPr id="52" name="object 52"/>
            <p:cNvSpPr/>
            <p:nvPr/>
          </p:nvSpPr>
          <p:spPr>
            <a:xfrm>
              <a:off x="4142155" y="2615046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71"/>
                  </a:lnTo>
                  <a:lnTo>
                    <a:pt x="539280" y="319671"/>
                  </a:lnTo>
                  <a:lnTo>
                    <a:pt x="1078560" y="319671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260964" y="2669757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19">
                  <a:moveTo>
                    <a:pt x="639711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7" y="21470"/>
                  </a:lnTo>
                  <a:lnTo>
                    <a:pt x="606" y="63454"/>
                  </a:lnTo>
                  <a:lnTo>
                    <a:pt x="0" y="73088"/>
                  </a:lnTo>
                  <a:lnTo>
                    <a:pt x="0" y="137159"/>
                  </a:lnTo>
                  <a:lnTo>
                    <a:pt x="584" y="146438"/>
                  </a:lnTo>
                  <a:lnTo>
                    <a:pt x="607" y="146793"/>
                  </a:lnTo>
                  <a:lnTo>
                    <a:pt x="2367" y="155838"/>
                  </a:lnTo>
                  <a:lnTo>
                    <a:pt x="2428" y="156154"/>
                  </a:lnTo>
                  <a:lnTo>
                    <a:pt x="5394" y="164900"/>
                  </a:lnTo>
                  <a:lnTo>
                    <a:pt x="5464" y="165108"/>
                  </a:lnTo>
                  <a:lnTo>
                    <a:pt x="36360" y="200520"/>
                  </a:lnTo>
                  <a:lnTo>
                    <a:pt x="73075" y="210248"/>
                  </a:lnTo>
                  <a:lnTo>
                    <a:pt x="640079" y="209880"/>
                  </a:lnTo>
                  <a:lnTo>
                    <a:pt x="684450" y="194788"/>
                  </a:lnTo>
                  <a:lnTo>
                    <a:pt x="707588" y="165108"/>
                  </a:lnTo>
                  <a:lnTo>
                    <a:pt x="707690" y="164900"/>
                  </a:lnTo>
                  <a:lnTo>
                    <a:pt x="713133" y="137159"/>
                  </a:lnTo>
                  <a:lnTo>
                    <a:pt x="713155" y="136804"/>
                  </a:lnTo>
                  <a:lnTo>
                    <a:pt x="712800" y="73088"/>
                  </a:lnTo>
                  <a:lnTo>
                    <a:pt x="697696" y="28710"/>
                  </a:lnTo>
                  <a:lnTo>
                    <a:pt x="658752" y="2430"/>
                  </a:lnTo>
                  <a:lnTo>
                    <a:pt x="649351" y="607"/>
                  </a:lnTo>
                  <a:lnTo>
                    <a:pt x="639711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4574781" y="2697380"/>
            <a:ext cx="8636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221084" y="2615046"/>
            <a:ext cx="1078865" cy="320040"/>
            <a:chOff x="5221084" y="2615046"/>
            <a:chExt cx="1078865" cy="320040"/>
          </a:xfrm>
        </p:grpSpPr>
        <p:sp>
          <p:nvSpPr>
            <p:cNvPr id="56" name="object 56"/>
            <p:cNvSpPr/>
            <p:nvPr/>
          </p:nvSpPr>
          <p:spPr>
            <a:xfrm>
              <a:off x="5221084" y="2615046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71"/>
                  </a:lnTo>
                  <a:lnTo>
                    <a:pt x="539280" y="319671"/>
                  </a:lnTo>
                  <a:lnTo>
                    <a:pt x="1078560" y="319671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340235" y="2669757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19">
                  <a:moveTo>
                    <a:pt x="639724" y="0"/>
                  </a:moveTo>
                  <a:lnTo>
                    <a:pt x="73088" y="0"/>
                  </a:lnTo>
                  <a:lnTo>
                    <a:pt x="63454" y="607"/>
                  </a:lnTo>
                  <a:lnTo>
                    <a:pt x="21429" y="21470"/>
                  </a:lnTo>
                  <a:lnTo>
                    <a:pt x="607" y="63454"/>
                  </a:lnTo>
                  <a:lnTo>
                    <a:pt x="0" y="73088"/>
                  </a:lnTo>
                  <a:lnTo>
                    <a:pt x="0" y="137159"/>
                  </a:lnTo>
                  <a:lnTo>
                    <a:pt x="585" y="146438"/>
                  </a:lnTo>
                  <a:lnTo>
                    <a:pt x="607" y="146793"/>
                  </a:lnTo>
                  <a:lnTo>
                    <a:pt x="2368" y="155838"/>
                  </a:lnTo>
                  <a:lnTo>
                    <a:pt x="2430" y="156154"/>
                  </a:lnTo>
                  <a:lnTo>
                    <a:pt x="5399" y="164900"/>
                  </a:lnTo>
                  <a:lnTo>
                    <a:pt x="36360" y="200520"/>
                  </a:lnTo>
                  <a:lnTo>
                    <a:pt x="73088" y="210248"/>
                  </a:lnTo>
                  <a:lnTo>
                    <a:pt x="640080" y="209880"/>
                  </a:lnTo>
                  <a:lnTo>
                    <a:pt x="684457" y="194788"/>
                  </a:lnTo>
                  <a:lnTo>
                    <a:pt x="710632" y="156154"/>
                  </a:lnTo>
                  <a:lnTo>
                    <a:pt x="713146" y="137159"/>
                  </a:lnTo>
                  <a:lnTo>
                    <a:pt x="713168" y="136804"/>
                  </a:lnTo>
                  <a:lnTo>
                    <a:pt x="712800" y="73088"/>
                  </a:lnTo>
                  <a:lnTo>
                    <a:pt x="697708" y="28710"/>
                  </a:lnTo>
                  <a:lnTo>
                    <a:pt x="658758" y="2430"/>
                  </a:lnTo>
                  <a:lnTo>
                    <a:pt x="649358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93A2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5670257" y="2697380"/>
            <a:ext cx="546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300355" y="2615046"/>
            <a:ext cx="1078865" cy="320040"/>
            <a:chOff x="6300355" y="2615046"/>
            <a:chExt cx="1078865" cy="320040"/>
          </a:xfrm>
        </p:grpSpPr>
        <p:sp>
          <p:nvSpPr>
            <p:cNvPr id="60" name="object 60"/>
            <p:cNvSpPr/>
            <p:nvPr/>
          </p:nvSpPr>
          <p:spPr>
            <a:xfrm>
              <a:off x="6300355" y="2615046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5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71"/>
                  </a:lnTo>
                  <a:lnTo>
                    <a:pt x="539280" y="319671"/>
                  </a:lnTo>
                  <a:lnTo>
                    <a:pt x="1078560" y="319671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419164" y="2669757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40" h="210819">
                  <a:moveTo>
                    <a:pt x="639711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7" y="21470"/>
                  </a:lnTo>
                  <a:lnTo>
                    <a:pt x="606" y="63454"/>
                  </a:lnTo>
                  <a:lnTo>
                    <a:pt x="0" y="73088"/>
                  </a:lnTo>
                  <a:lnTo>
                    <a:pt x="0" y="137159"/>
                  </a:lnTo>
                  <a:lnTo>
                    <a:pt x="584" y="146438"/>
                  </a:lnTo>
                  <a:lnTo>
                    <a:pt x="607" y="146793"/>
                  </a:lnTo>
                  <a:lnTo>
                    <a:pt x="2367" y="155838"/>
                  </a:lnTo>
                  <a:lnTo>
                    <a:pt x="2428" y="156154"/>
                  </a:lnTo>
                  <a:lnTo>
                    <a:pt x="5394" y="164900"/>
                  </a:lnTo>
                  <a:lnTo>
                    <a:pt x="5464" y="165108"/>
                  </a:lnTo>
                  <a:lnTo>
                    <a:pt x="36360" y="200520"/>
                  </a:lnTo>
                  <a:lnTo>
                    <a:pt x="73075" y="210248"/>
                  </a:lnTo>
                  <a:lnTo>
                    <a:pt x="640079" y="209880"/>
                  </a:lnTo>
                  <a:lnTo>
                    <a:pt x="684450" y="194788"/>
                  </a:lnTo>
                  <a:lnTo>
                    <a:pt x="707588" y="165108"/>
                  </a:lnTo>
                  <a:lnTo>
                    <a:pt x="707690" y="164900"/>
                  </a:lnTo>
                  <a:lnTo>
                    <a:pt x="713133" y="137159"/>
                  </a:lnTo>
                  <a:lnTo>
                    <a:pt x="713155" y="136804"/>
                  </a:lnTo>
                  <a:lnTo>
                    <a:pt x="712800" y="73088"/>
                  </a:lnTo>
                  <a:lnTo>
                    <a:pt x="697696" y="28710"/>
                  </a:lnTo>
                  <a:lnTo>
                    <a:pt x="658752" y="2430"/>
                  </a:lnTo>
                  <a:lnTo>
                    <a:pt x="649351" y="607"/>
                  </a:lnTo>
                  <a:lnTo>
                    <a:pt x="639711" y="0"/>
                  </a:lnTo>
                  <a:close/>
                </a:path>
              </a:pathLst>
            </a:custGeom>
            <a:solidFill>
              <a:srgbClr val="93A2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6749174" y="2697380"/>
            <a:ext cx="546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7379284" y="2615046"/>
            <a:ext cx="1078865" cy="320040"/>
            <a:chOff x="7379284" y="2615046"/>
            <a:chExt cx="1078865" cy="320040"/>
          </a:xfrm>
        </p:grpSpPr>
        <p:sp>
          <p:nvSpPr>
            <p:cNvPr id="64" name="object 64"/>
            <p:cNvSpPr/>
            <p:nvPr/>
          </p:nvSpPr>
          <p:spPr>
            <a:xfrm>
              <a:off x="7379284" y="2615046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5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71"/>
                  </a:lnTo>
                  <a:lnTo>
                    <a:pt x="539280" y="319671"/>
                  </a:lnTo>
                  <a:lnTo>
                    <a:pt x="1078560" y="319671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498080" y="2669757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40" h="210819">
                  <a:moveTo>
                    <a:pt x="639724" y="0"/>
                  </a:moveTo>
                  <a:lnTo>
                    <a:pt x="73075" y="0"/>
                  </a:lnTo>
                  <a:lnTo>
                    <a:pt x="63449" y="607"/>
                  </a:lnTo>
                  <a:lnTo>
                    <a:pt x="21426" y="21470"/>
                  </a:lnTo>
                  <a:lnTo>
                    <a:pt x="606" y="63454"/>
                  </a:lnTo>
                  <a:lnTo>
                    <a:pt x="0" y="73088"/>
                  </a:lnTo>
                  <a:lnTo>
                    <a:pt x="0" y="137159"/>
                  </a:lnTo>
                  <a:lnTo>
                    <a:pt x="584" y="146438"/>
                  </a:lnTo>
                  <a:lnTo>
                    <a:pt x="607" y="146793"/>
                  </a:lnTo>
                  <a:lnTo>
                    <a:pt x="21423" y="188777"/>
                  </a:lnTo>
                  <a:lnTo>
                    <a:pt x="63443" y="209641"/>
                  </a:lnTo>
                  <a:lnTo>
                    <a:pt x="73075" y="210248"/>
                  </a:lnTo>
                  <a:lnTo>
                    <a:pt x="640079" y="209880"/>
                  </a:lnTo>
                  <a:lnTo>
                    <a:pt x="684457" y="194788"/>
                  </a:lnTo>
                  <a:lnTo>
                    <a:pt x="707588" y="165108"/>
                  </a:lnTo>
                  <a:lnTo>
                    <a:pt x="707690" y="164900"/>
                  </a:lnTo>
                  <a:lnTo>
                    <a:pt x="713133" y="137159"/>
                  </a:lnTo>
                  <a:lnTo>
                    <a:pt x="713155" y="136804"/>
                  </a:lnTo>
                  <a:lnTo>
                    <a:pt x="712800" y="73088"/>
                  </a:lnTo>
                  <a:lnTo>
                    <a:pt x="697701" y="28710"/>
                  </a:lnTo>
                  <a:lnTo>
                    <a:pt x="658753" y="2430"/>
                  </a:lnTo>
                  <a:lnTo>
                    <a:pt x="649356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813344" y="2697380"/>
            <a:ext cx="831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319684" y="2962797"/>
            <a:ext cx="2743200" cy="320040"/>
          </a:xfrm>
          <a:custGeom>
            <a:avLst/>
            <a:gdLst/>
            <a:ahLst/>
            <a:cxnLst/>
            <a:rect l="l" t="t" r="r" b="b"/>
            <a:pathLst>
              <a:path w="2743200" h="320039">
                <a:moveTo>
                  <a:pt x="2742831" y="0"/>
                </a:moveTo>
                <a:lnTo>
                  <a:pt x="0" y="0"/>
                </a:lnTo>
                <a:lnTo>
                  <a:pt x="0" y="319684"/>
                </a:lnTo>
                <a:lnTo>
                  <a:pt x="1371600" y="319684"/>
                </a:lnTo>
                <a:lnTo>
                  <a:pt x="2742831" y="319684"/>
                </a:lnTo>
                <a:lnTo>
                  <a:pt x="2742831" y="0"/>
                </a:lnTo>
                <a:close/>
              </a:path>
            </a:pathLst>
          </a:custGeom>
          <a:solidFill>
            <a:srgbClr val="F7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398779" y="3041182"/>
            <a:ext cx="7454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Spring</a:t>
            </a:r>
            <a:r>
              <a:rPr sz="9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Boot</a:t>
            </a:r>
            <a:r>
              <a:rPr sz="900" spc="-25" dirty="0">
                <a:solidFill>
                  <a:srgbClr val="1D283A"/>
                </a:solidFill>
                <a:latin typeface="Calibri"/>
                <a:cs typeface="Calibri"/>
              </a:rPr>
              <a:t> API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063239" y="2962797"/>
            <a:ext cx="1078865" cy="320040"/>
            <a:chOff x="3063239" y="2962797"/>
            <a:chExt cx="1078865" cy="320040"/>
          </a:xfrm>
        </p:grpSpPr>
        <p:sp>
          <p:nvSpPr>
            <p:cNvPr id="70" name="object 70"/>
            <p:cNvSpPr/>
            <p:nvPr/>
          </p:nvSpPr>
          <p:spPr>
            <a:xfrm>
              <a:off x="3063239" y="296279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182035" y="3017166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19">
                  <a:moveTo>
                    <a:pt x="639724" y="0"/>
                  </a:moveTo>
                  <a:lnTo>
                    <a:pt x="73088" y="0"/>
                  </a:lnTo>
                  <a:lnTo>
                    <a:pt x="63454" y="607"/>
                  </a:lnTo>
                  <a:lnTo>
                    <a:pt x="21431" y="21458"/>
                  </a:lnTo>
                  <a:lnTo>
                    <a:pt x="607" y="63447"/>
                  </a:lnTo>
                  <a:lnTo>
                    <a:pt x="0" y="73075"/>
                  </a:lnTo>
                  <a:lnTo>
                    <a:pt x="0" y="137160"/>
                  </a:lnTo>
                  <a:lnTo>
                    <a:pt x="5400" y="164895"/>
                  </a:lnTo>
                  <a:lnTo>
                    <a:pt x="5470" y="165100"/>
                  </a:lnTo>
                  <a:lnTo>
                    <a:pt x="36360" y="200520"/>
                  </a:lnTo>
                  <a:lnTo>
                    <a:pt x="73088" y="210235"/>
                  </a:lnTo>
                  <a:lnTo>
                    <a:pt x="640080" y="209880"/>
                  </a:lnTo>
                  <a:lnTo>
                    <a:pt x="684457" y="194776"/>
                  </a:lnTo>
                  <a:lnTo>
                    <a:pt x="710633" y="156144"/>
                  </a:lnTo>
                  <a:lnTo>
                    <a:pt x="710738" y="155832"/>
                  </a:lnTo>
                  <a:lnTo>
                    <a:pt x="712492" y="146786"/>
                  </a:lnTo>
                  <a:lnTo>
                    <a:pt x="712561" y="146431"/>
                  </a:lnTo>
                  <a:lnTo>
                    <a:pt x="713145" y="137160"/>
                  </a:lnTo>
                  <a:lnTo>
                    <a:pt x="712800" y="73075"/>
                  </a:lnTo>
                  <a:lnTo>
                    <a:pt x="697708" y="28698"/>
                  </a:lnTo>
                  <a:lnTo>
                    <a:pt x="658758" y="2428"/>
                  </a:lnTo>
                  <a:lnTo>
                    <a:pt x="649358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1C4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3492982" y="3044776"/>
            <a:ext cx="9144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2155" y="2962797"/>
            <a:ext cx="1078865" cy="320040"/>
            <a:chOff x="4142155" y="2962797"/>
            <a:chExt cx="1078865" cy="320040"/>
          </a:xfrm>
        </p:grpSpPr>
        <p:sp>
          <p:nvSpPr>
            <p:cNvPr id="74" name="object 74"/>
            <p:cNvSpPr/>
            <p:nvPr/>
          </p:nvSpPr>
          <p:spPr>
            <a:xfrm>
              <a:off x="4142155" y="296279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0964" y="3017166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19">
                  <a:moveTo>
                    <a:pt x="639711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8" y="21458"/>
                  </a:lnTo>
                  <a:lnTo>
                    <a:pt x="606" y="63447"/>
                  </a:lnTo>
                  <a:lnTo>
                    <a:pt x="0" y="73075"/>
                  </a:lnTo>
                  <a:lnTo>
                    <a:pt x="0" y="137160"/>
                  </a:lnTo>
                  <a:lnTo>
                    <a:pt x="584" y="146431"/>
                  </a:lnTo>
                  <a:lnTo>
                    <a:pt x="607" y="146786"/>
                  </a:lnTo>
                  <a:lnTo>
                    <a:pt x="2367" y="155832"/>
                  </a:lnTo>
                  <a:lnTo>
                    <a:pt x="2428" y="156144"/>
                  </a:lnTo>
                  <a:lnTo>
                    <a:pt x="5395" y="164895"/>
                  </a:lnTo>
                  <a:lnTo>
                    <a:pt x="36360" y="200520"/>
                  </a:lnTo>
                  <a:lnTo>
                    <a:pt x="73075" y="210235"/>
                  </a:lnTo>
                  <a:lnTo>
                    <a:pt x="640079" y="209880"/>
                  </a:lnTo>
                  <a:lnTo>
                    <a:pt x="684450" y="194776"/>
                  </a:lnTo>
                  <a:lnTo>
                    <a:pt x="707589" y="165100"/>
                  </a:lnTo>
                  <a:lnTo>
                    <a:pt x="707690" y="164895"/>
                  </a:lnTo>
                  <a:lnTo>
                    <a:pt x="713132" y="137160"/>
                  </a:lnTo>
                  <a:lnTo>
                    <a:pt x="713155" y="136791"/>
                  </a:lnTo>
                  <a:lnTo>
                    <a:pt x="712800" y="73075"/>
                  </a:lnTo>
                  <a:lnTo>
                    <a:pt x="697696" y="28698"/>
                  </a:lnTo>
                  <a:lnTo>
                    <a:pt x="658752" y="2428"/>
                  </a:lnTo>
                  <a:lnTo>
                    <a:pt x="649351" y="607"/>
                  </a:lnTo>
                  <a:lnTo>
                    <a:pt x="639711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574781" y="3044776"/>
            <a:ext cx="8636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5221084" y="2962797"/>
            <a:ext cx="1078865" cy="320040"/>
            <a:chOff x="5221084" y="2962797"/>
            <a:chExt cx="1078865" cy="320040"/>
          </a:xfrm>
        </p:grpSpPr>
        <p:sp>
          <p:nvSpPr>
            <p:cNvPr id="78" name="object 78"/>
            <p:cNvSpPr/>
            <p:nvPr/>
          </p:nvSpPr>
          <p:spPr>
            <a:xfrm>
              <a:off x="5221084" y="296279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340235" y="3017166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19">
                  <a:moveTo>
                    <a:pt x="639724" y="0"/>
                  </a:moveTo>
                  <a:lnTo>
                    <a:pt x="73088" y="0"/>
                  </a:lnTo>
                  <a:lnTo>
                    <a:pt x="63454" y="607"/>
                  </a:lnTo>
                  <a:lnTo>
                    <a:pt x="21431" y="21458"/>
                  </a:lnTo>
                  <a:lnTo>
                    <a:pt x="607" y="63447"/>
                  </a:lnTo>
                  <a:lnTo>
                    <a:pt x="0" y="73075"/>
                  </a:lnTo>
                  <a:lnTo>
                    <a:pt x="0" y="137160"/>
                  </a:lnTo>
                  <a:lnTo>
                    <a:pt x="584" y="146431"/>
                  </a:lnTo>
                  <a:lnTo>
                    <a:pt x="607" y="146786"/>
                  </a:lnTo>
                  <a:lnTo>
                    <a:pt x="2369" y="155832"/>
                  </a:lnTo>
                  <a:lnTo>
                    <a:pt x="2430" y="156144"/>
                  </a:lnTo>
                  <a:lnTo>
                    <a:pt x="5400" y="164895"/>
                  </a:lnTo>
                  <a:lnTo>
                    <a:pt x="36360" y="200520"/>
                  </a:lnTo>
                  <a:lnTo>
                    <a:pt x="73088" y="210235"/>
                  </a:lnTo>
                  <a:lnTo>
                    <a:pt x="640080" y="209880"/>
                  </a:lnTo>
                  <a:lnTo>
                    <a:pt x="684457" y="194776"/>
                  </a:lnTo>
                  <a:lnTo>
                    <a:pt x="710633" y="156144"/>
                  </a:lnTo>
                  <a:lnTo>
                    <a:pt x="710738" y="155832"/>
                  </a:lnTo>
                  <a:lnTo>
                    <a:pt x="712492" y="146786"/>
                  </a:lnTo>
                  <a:lnTo>
                    <a:pt x="712561" y="146431"/>
                  </a:lnTo>
                  <a:lnTo>
                    <a:pt x="713145" y="137160"/>
                  </a:lnTo>
                  <a:lnTo>
                    <a:pt x="712800" y="73075"/>
                  </a:lnTo>
                  <a:lnTo>
                    <a:pt x="697708" y="28698"/>
                  </a:lnTo>
                  <a:lnTo>
                    <a:pt x="658758" y="2428"/>
                  </a:lnTo>
                  <a:lnTo>
                    <a:pt x="649358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93A2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5670257" y="3044776"/>
            <a:ext cx="546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6300355" y="2962797"/>
            <a:ext cx="1078865" cy="320040"/>
            <a:chOff x="6300355" y="2962797"/>
            <a:chExt cx="1078865" cy="320040"/>
          </a:xfrm>
        </p:grpSpPr>
        <p:sp>
          <p:nvSpPr>
            <p:cNvPr id="82" name="object 82"/>
            <p:cNvSpPr/>
            <p:nvPr/>
          </p:nvSpPr>
          <p:spPr>
            <a:xfrm>
              <a:off x="6300355" y="296279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5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419164" y="3017166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40" h="210819">
                  <a:moveTo>
                    <a:pt x="639711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8" y="21458"/>
                  </a:lnTo>
                  <a:lnTo>
                    <a:pt x="606" y="63447"/>
                  </a:lnTo>
                  <a:lnTo>
                    <a:pt x="0" y="73075"/>
                  </a:lnTo>
                  <a:lnTo>
                    <a:pt x="0" y="137160"/>
                  </a:lnTo>
                  <a:lnTo>
                    <a:pt x="584" y="146431"/>
                  </a:lnTo>
                  <a:lnTo>
                    <a:pt x="607" y="146786"/>
                  </a:lnTo>
                  <a:lnTo>
                    <a:pt x="2367" y="155832"/>
                  </a:lnTo>
                  <a:lnTo>
                    <a:pt x="2428" y="156144"/>
                  </a:lnTo>
                  <a:lnTo>
                    <a:pt x="5395" y="164895"/>
                  </a:lnTo>
                  <a:lnTo>
                    <a:pt x="36360" y="200520"/>
                  </a:lnTo>
                  <a:lnTo>
                    <a:pt x="73075" y="210235"/>
                  </a:lnTo>
                  <a:lnTo>
                    <a:pt x="640079" y="209880"/>
                  </a:lnTo>
                  <a:lnTo>
                    <a:pt x="684450" y="194776"/>
                  </a:lnTo>
                  <a:lnTo>
                    <a:pt x="710622" y="156144"/>
                  </a:lnTo>
                  <a:lnTo>
                    <a:pt x="710726" y="155832"/>
                  </a:lnTo>
                  <a:lnTo>
                    <a:pt x="712479" y="146786"/>
                  </a:lnTo>
                  <a:lnTo>
                    <a:pt x="712548" y="146431"/>
                  </a:lnTo>
                  <a:lnTo>
                    <a:pt x="713132" y="137160"/>
                  </a:lnTo>
                  <a:lnTo>
                    <a:pt x="713155" y="136791"/>
                  </a:lnTo>
                  <a:lnTo>
                    <a:pt x="712800" y="73075"/>
                  </a:lnTo>
                  <a:lnTo>
                    <a:pt x="697696" y="28698"/>
                  </a:lnTo>
                  <a:lnTo>
                    <a:pt x="658752" y="2428"/>
                  </a:lnTo>
                  <a:lnTo>
                    <a:pt x="649351" y="607"/>
                  </a:lnTo>
                  <a:lnTo>
                    <a:pt x="639711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6734416" y="3044776"/>
            <a:ext cx="831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7379284" y="2962797"/>
            <a:ext cx="1078865" cy="320040"/>
            <a:chOff x="7379284" y="2962797"/>
            <a:chExt cx="1078865" cy="320040"/>
          </a:xfrm>
        </p:grpSpPr>
        <p:sp>
          <p:nvSpPr>
            <p:cNvPr id="86" name="object 86"/>
            <p:cNvSpPr/>
            <p:nvPr/>
          </p:nvSpPr>
          <p:spPr>
            <a:xfrm>
              <a:off x="7379284" y="296279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5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498080" y="3017166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40" h="210819">
                  <a:moveTo>
                    <a:pt x="639724" y="0"/>
                  </a:moveTo>
                  <a:lnTo>
                    <a:pt x="73075" y="0"/>
                  </a:lnTo>
                  <a:lnTo>
                    <a:pt x="63449" y="607"/>
                  </a:lnTo>
                  <a:lnTo>
                    <a:pt x="21428" y="21458"/>
                  </a:lnTo>
                  <a:lnTo>
                    <a:pt x="606" y="63447"/>
                  </a:lnTo>
                  <a:lnTo>
                    <a:pt x="0" y="73075"/>
                  </a:lnTo>
                  <a:lnTo>
                    <a:pt x="0" y="137160"/>
                  </a:lnTo>
                  <a:lnTo>
                    <a:pt x="584" y="146431"/>
                  </a:lnTo>
                  <a:lnTo>
                    <a:pt x="607" y="146786"/>
                  </a:lnTo>
                  <a:lnTo>
                    <a:pt x="2367" y="155832"/>
                  </a:lnTo>
                  <a:lnTo>
                    <a:pt x="2428" y="156144"/>
                  </a:lnTo>
                  <a:lnTo>
                    <a:pt x="28555" y="195131"/>
                  </a:lnTo>
                  <a:lnTo>
                    <a:pt x="73075" y="210235"/>
                  </a:lnTo>
                  <a:lnTo>
                    <a:pt x="640079" y="209880"/>
                  </a:lnTo>
                  <a:lnTo>
                    <a:pt x="684457" y="194776"/>
                  </a:lnTo>
                  <a:lnTo>
                    <a:pt x="710622" y="156144"/>
                  </a:lnTo>
                  <a:lnTo>
                    <a:pt x="710726" y="155832"/>
                  </a:lnTo>
                  <a:lnTo>
                    <a:pt x="712479" y="146786"/>
                  </a:lnTo>
                  <a:lnTo>
                    <a:pt x="712548" y="146431"/>
                  </a:lnTo>
                  <a:lnTo>
                    <a:pt x="713132" y="137160"/>
                  </a:lnTo>
                  <a:lnTo>
                    <a:pt x="713155" y="136791"/>
                  </a:lnTo>
                  <a:lnTo>
                    <a:pt x="712800" y="73075"/>
                  </a:lnTo>
                  <a:lnTo>
                    <a:pt x="697701" y="28698"/>
                  </a:lnTo>
                  <a:lnTo>
                    <a:pt x="658753" y="2428"/>
                  </a:lnTo>
                  <a:lnTo>
                    <a:pt x="649356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93A2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7828102" y="3044776"/>
            <a:ext cx="546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319684" y="3310206"/>
            <a:ext cx="2743200" cy="320040"/>
          </a:xfrm>
          <a:custGeom>
            <a:avLst/>
            <a:gdLst/>
            <a:ahLst/>
            <a:cxnLst/>
            <a:rect l="l" t="t" r="r" b="b"/>
            <a:pathLst>
              <a:path w="2743200" h="320039">
                <a:moveTo>
                  <a:pt x="2742831" y="0"/>
                </a:moveTo>
                <a:lnTo>
                  <a:pt x="0" y="0"/>
                </a:lnTo>
                <a:lnTo>
                  <a:pt x="0" y="319671"/>
                </a:lnTo>
                <a:lnTo>
                  <a:pt x="1371600" y="319671"/>
                </a:lnTo>
                <a:lnTo>
                  <a:pt x="2742831" y="319671"/>
                </a:lnTo>
                <a:lnTo>
                  <a:pt x="2742831" y="0"/>
                </a:lnTo>
                <a:close/>
              </a:path>
            </a:pathLst>
          </a:custGeom>
          <a:solidFill>
            <a:srgbClr val="ED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398779" y="3388578"/>
            <a:ext cx="7340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React</a:t>
            </a:r>
            <a:r>
              <a:rPr sz="9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Frontend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3063239" y="3310206"/>
            <a:ext cx="1078865" cy="320040"/>
            <a:chOff x="3063239" y="3310206"/>
            <a:chExt cx="1078865" cy="320040"/>
          </a:xfrm>
        </p:grpSpPr>
        <p:sp>
          <p:nvSpPr>
            <p:cNvPr id="92" name="object 92"/>
            <p:cNvSpPr/>
            <p:nvPr/>
          </p:nvSpPr>
          <p:spPr>
            <a:xfrm>
              <a:off x="3063239" y="3310206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71"/>
                  </a:lnTo>
                  <a:lnTo>
                    <a:pt x="539280" y="319671"/>
                  </a:lnTo>
                  <a:lnTo>
                    <a:pt x="1078560" y="319671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182035" y="3364562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20">
                  <a:moveTo>
                    <a:pt x="639724" y="0"/>
                  </a:moveTo>
                  <a:lnTo>
                    <a:pt x="73088" y="0"/>
                  </a:lnTo>
                  <a:lnTo>
                    <a:pt x="63454" y="607"/>
                  </a:lnTo>
                  <a:lnTo>
                    <a:pt x="21431" y="21467"/>
                  </a:lnTo>
                  <a:lnTo>
                    <a:pt x="607" y="63449"/>
                  </a:lnTo>
                  <a:lnTo>
                    <a:pt x="0" y="73075"/>
                  </a:lnTo>
                  <a:lnTo>
                    <a:pt x="0" y="137159"/>
                  </a:lnTo>
                  <a:lnTo>
                    <a:pt x="15103" y="181537"/>
                  </a:lnTo>
                  <a:lnTo>
                    <a:pt x="54048" y="207806"/>
                  </a:lnTo>
                  <a:lnTo>
                    <a:pt x="73088" y="210235"/>
                  </a:lnTo>
                  <a:lnTo>
                    <a:pt x="640080" y="209880"/>
                  </a:lnTo>
                  <a:lnTo>
                    <a:pt x="684457" y="194781"/>
                  </a:lnTo>
                  <a:lnTo>
                    <a:pt x="707594" y="165106"/>
                  </a:lnTo>
                  <a:lnTo>
                    <a:pt x="707698" y="164895"/>
                  </a:lnTo>
                  <a:lnTo>
                    <a:pt x="710632" y="156149"/>
                  </a:lnTo>
                  <a:lnTo>
                    <a:pt x="710738" y="155833"/>
                  </a:lnTo>
                  <a:lnTo>
                    <a:pt x="712492" y="146788"/>
                  </a:lnTo>
                  <a:lnTo>
                    <a:pt x="712561" y="146436"/>
                  </a:lnTo>
                  <a:lnTo>
                    <a:pt x="713146" y="137159"/>
                  </a:lnTo>
                  <a:lnTo>
                    <a:pt x="713168" y="136804"/>
                  </a:lnTo>
                  <a:lnTo>
                    <a:pt x="712800" y="73075"/>
                  </a:lnTo>
                  <a:lnTo>
                    <a:pt x="697708" y="28705"/>
                  </a:lnTo>
                  <a:lnTo>
                    <a:pt x="658758" y="2428"/>
                  </a:lnTo>
                  <a:lnTo>
                    <a:pt x="649358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1C4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3492982" y="3392184"/>
            <a:ext cx="9144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4142155" y="3310206"/>
            <a:ext cx="1078865" cy="320040"/>
            <a:chOff x="4142155" y="3310206"/>
            <a:chExt cx="1078865" cy="320040"/>
          </a:xfrm>
        </p:grpSpPr>
        <p:sp>
          <p:nvSpPr>
            <p:cNvPr id="96" name="object 96"/>
            <p:cNvSpPr/>
            <p:nvPr/>
          </p:nvSpPr>
          <p:spPr>
            <a:xfrm>
              <a:off x="4142155" y="3310206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71"/>
                  </a:lnTo>
                  <a:lnTo>
                    <a:pt x="539280" y="319671"/>
                  </a:lnTo>
                  <a:lnTo>
                    <a:pt x="1078560" y="319671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260964" y="3364562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20">
                  <a:moveTo>
                    <a:pt x="639711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8" y="21467"/>
                  </a:lnTo>
                  <a:lnTo>
                    <a:pt x="606" y="63449"/>
                  </a:lnTo>
                  <a:lnTo>
                    <a:pt x="0" y="73075"/>
                  </a:lnTo>
                  <a:lnTo>
                    <a:pt x="0" y="137159"/>
                  </a:lnTo>
                  <a:lnTo>
                    <a:pt x="15091" y="181537"/>
                  </a:lnTo>
                  <a:lnTo>
                    <a:pt x="54041" y="207806"/>
                  </a:lnTo>
                  <a:lnTo>
                    <a:pt x="73075" y="210235"/>
                  </a:lnTo>
                  <a:lnTo>
                    <a:pt x="640079" y="209880"/>
                  </a:lnTo>
                  <a:lnTo>
                    <a:pt x="684450" y="194781"/>
                  </a:lnTo>
                  <a:lnTo>
                    <a:pt x="710621" y="156149"/>
                  </a:lnTo>
                  <a:lnTo>
                    <a:pt x="710726" y="155833"/>
                  </a:lnTo>
                  <a:lnTo>
                    <a:pt x="712480" y="146788"/>
                  </a:lnTo>
                  <a:lnTo>
                    <a:pt x="712548" y="146436"/>
                  </a:lnTo>
                  <a:lnTo>
                    <a:pt x="713133" y="137159"/>
                  </a:lnTo>
                  <a:lnTo>
                    <a:pt x="712800" y="73075"/>
                  </a:lnTo>
                  <a:lnTo>
                    <a:pt x="697696" y="28705"/>
                  </a:lnTo>
                  <a:lnTo>
                    <a:pt x="658752" y="2428"/>
                  </a:lnTo>
                  <a:lnTo>
                    <a:pt x="649351" y="607"/>
                  </a:lnTo>
                  <a:lnTo>
                    <a:pt x="639711" y="0"/>
                  </a:lnTo>
                  <a:close/>
                </a:path>
              </a:pathLst>
            </a:custGeom>
            <a:solidFill>
              <a:srgbClr val="93A2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4590973" y="3392184"/>
            <a:ext cx="546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5221084" y="3310206"/>
            <a:ext cx="1078865" cy="320040"/>
            <a:chOff x="5221084" y="3310206"/>
            <a:chExt cx="1078865" cy="320040"/>
          </a:xfrm>
        </p:grpSpPr>
        <p:sp>
          <p:nvSpPr>
            <p:cNvPr id="100" name="object 100"/>
            <p:cNvSpPr/>
            <p:nvPr/>
          </p:nvSpPr>
          <p:spPr>
            <a:xfrm>
              <a:off x="5221084" y="3310206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71"/>
                  </a:lnTo>
                  <a:lnTo>
                    <a:pt x="539280" y="319671"/>
                  </a:lnTo>
                  <a:lnTo>
                    <a:pt x="1078560" y="319671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340235" y="3364562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20">
                  <a:moveTo>
                    <a:pt x="639724" y="0"/>
                  </a:moveTo>
                  <a:lnTo>
                    <a:pt x="73088" y="0"/>
                  </a:lnTo>
                  <a:lnTo>
                    <a:pt x="63454" y="607"/>
                  </a:lnTo>
                  <a:lnTo>
                    <a:pt x="21431" y="21467"/>
                  </a:lnTo>
                  <a:lnTo>
                    <a:pt x="607" y="63449"/>
                  </a:lnTo>
                  <a:lnTo>
                    <a:pt x="0" y="73075"/>
                  </a:lnTo>
                  <a:lnTo>
                    <a:pt x="0" y="137159"/>
                  </a:lnTo>
                  <a:lnTo>
                    <a:pt x="585" y="146436"/>
                  </a:lnTo>
                  <a:lnTo>
                    <a:pt x="607" y="146788"/>
                  </a:lnTo>
                  <a:lnTo>
                    <a:pt x="2368" y="155833"/>
                  </a:lnTo>
                  <a:lnTo>
                    <a:pt x="2430" y="156149"/>
                  </a:lnTo>
                  <a:lnTo>
                    <a:pt x="5398" y="164895"/>
                  </a:lnTo>
                  <a:lnTo>
                    <a:pt x="5470" y="165106"/>
                  </a:lnTo>
                  <a:lnTo>
                    <a:pt x="36360" y="200520"/>
                  </a:lnTo>
                  <a:lnTo>
                    <a:pt x="73088" y="210235"/>
                  </a:lnTo>
                  <a:lnTo>
                    <a:pt x="640080" y="209880"/>
                  </a:lnTo>
                  <a:lnTo>
                    <a:pt x="684457" y="194781"/>
                  </a:lnTo>
                  <a:lnTo>
                    <a:pt x="707594" y="165106"/>
                  </a:lnTo>
                  <a:lnTo>
                    <a:pt x="707698" y="164895"/>
                  </a:lnTo>
                  <a:lnTo>
                    <a:pt x="710632" y="156149"/>
                  </a:lnTo>
                  <a:lnTo>
                    <a:pt x="710738" y="155833"/>
                  </a:lnTo>
                  <a:lnTo>
                    <a:pt x="712492" y="146788"/>
                  </a:lnTo>
                  <a:lnTo>
                    <a:pt x="712561" y="146436"/>
                  </a:lnTo>
                  <a:lnTo>
                    <a:pt x="713146" y="137159"/>
                  </a:lnTo>
                  <a:lnTo>
                    <a:pt x="713168" y="136804"/>
                  </a:lnTo>
                  <a:lnTo>
                    <a:pt x="712800" y="73075"/>
                  </a:lnTo>
                  <a:lnTo>
                    <a:pt x="697708" y="28705"/>
                  </a:lnTo>
                  <a:lnTo>
                    <a:pt x="658758" y="2428"/>
                  </a:lnTo>
                  <a:lnTo>
                    <a:pt x="649358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5654065" y="3392184"/>
            <a:ext cx="8636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6300355" y="3310206"/>
            <a:ext cx="1078865" cy="320040"/>
            <a:chOff x="6300355" y="3310206"/>
            <a:chExt cx="1078865" cy="320040"/>
          </a:xfrm>
        </p:grpSpPr>
        <p:sp>
          <p:nvSpPr>
            <p:cNvPr id="104" name="object 104"/>
            <p:cNvSpPr/>
            <p:nvPr/>
          </p:nvSpPr>
          <p:spPr>
            <a:xfrm>
              <a:off x="6300355" y="3310206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5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71"/>
                  </a:lnTo>
                  <a:lnTo>
                    <a:pt x="539280" y="319671"/>
                  </a:lnTo>
                  <a:lnTo>
                    <a:pt x="1078560" y="319671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419164" y="3364562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40" h="210820">
                  <a:moveTo>
                    <a:pt x="639711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8" y="21467"/>
                  </a:lnTo>
                  <a:lnTo>
                    <a:pt x="606" y="63449"/>
                  </a:lnTo>
                  <a:lnTo>
                    <a:pt x="0" y="73075"/>
                  </a:lnTo>
                  <a:lnTo>
                    <a:pt x="0" y="137159"/>
                  </a:lnTo>
                  <a:lnTo>
                    <a:pt x="15091" y="181537"/>
                  </a:lnTo>
                  <a:lnTo>
                    <a:pt x="54041" y="207806"/>
                  </a:lnTo>
                  <a:lnTo>
                    <a:pt x="73075" y="210235"/>
                  </a:lnTo>
                  <a:lnTo>
                    <a:pt x="640079" y="209880"/>
                  </a:lnTo>
                  <a:lnTo>
                    <a:pt x="684450" y="194781"/>
                  </a:lnTo>
                  <a:lnTo>
                    <a:pt x="707586" y="165106"/>
                  </a:lnTo>
                  <a:lnTo>
                    <a:pt x="707690" y="164895"/>
                  </a:lnTo>
                  <a:lnTo>
                    <a:pt x="710621" y="156149"/>
                  </a:lnTo>
                  <a:lnTo>
                    <a:pt x="710726" y="155833"/>
                  </a:lnTo>
                  <a:lnTo>
                    <a:pt x="712480" y="146788"/>
                  </a:lnTo>
                  <a:lnTo>
                    <a:pt x="712548" y="146436"/>
                  </a:lnTo>
                  <a:lnTo>
                    <a:pt x="713133" y="137159"/>
                  </a:lnTo>
                  <a:lnTo>
                    <a:pt x="713155" y="136804"/>
                  </a:lnTo>
                  <a:lnTo>
                    <a:pt x="712800" y="73075"/>
                  </a:lnTo>
                  <a:lnTo>
                    <a:pt x="697696" y="28705"/>
                  </a:lnTo>
                  <a:lnTo>
                    <a:pt x="658752" y="2428"/>
                  </a:lnTo>
                  <a:lnTo>
                    <a:pt x="649351" y="607"/>
                  </a:lnTo>
                  <a:lnTo>
                    <a:pt x="639711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6734416" y="3392184"/>
            <a:ext cx="831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7379284" y="3310206"/>
            <a:ext cx="1078865" cy="320040"/>
            <a:chOff x="7379284" y="3310206"/>
            <a:chExt cx="1078865" cy="320040"/>
          </a:xfrm>
        </p:grpSpPr>
        <p:sp>
          <p:nvSpPr>
            <p:cNvPr id="108" name="object 108"/>
            <p:cNvSpPr/>
            <p:nvPr/>
          </p:nvSpPr>
          <p:spPr>
            <a:xfrm>
              <a:off x="7379284" y="3310206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5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71"/>
                  </a:lnTo>
                  <a:lnTo>
                    <a:pt x="539280" y="319671"/>
                  </a:lnTo>
                  <a:lnTo>
                    <a:pt x="1078560" y="319671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498080" y="3364562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40" h="210820">
                  <a:moveTo>
                    <a:pt x="639724" y="0"/>
                  </a:moveTo>
                  <a:lnTo>
                    <a:pt x="73075" y="0"/>
                  </a:lnTo>
                  <a:lnTo>
                    <a:pt x="63449" y="607"/>
                  </a:lnTo>
                  <a:lnTo>
                    <a:pt x="21428" y="21467"/>
                  </a:lnTo>
                  <a:lnTo>
                    <a:pt x="606" y="63449"/>
                  </a:lnTo>
                  <a:lnTo>
                    <a:pt x="0" y="73075"/>
                  </a:lnTo>
                  <a:lnTo>
                    <a:pt x="0" y="137159"/>
                  </a:lnTo>
                  <a:lnTo>
                    <a:pt x="585" y="146436"/>
                  </a:lnTo>
                  <a:lnTo>
                    <a:pt x="607" y="146788"/>
                  </a:lnTo>
                  <a:lnTo>
                    <a:pt x="2367" y="155833"/>
                  </a:lnTo>
                  <a:lnTo>
                    <a:pt x="2428" y="156149"/>
                  </a:lnTo>
                  <a:lnTo>
                    <a:pt x="5393" y="164895"/>
                  </a:lnTo>
                  <a:lnTo>
                    <a:pt x="36360" y="200520"/>
                  </a:lnTo>
                  <a:lnTo>
                    <a:pt x="73075" y="210235"/>
                  </a:lnTo>
                  <a:lnTo>
                    <a:pt x="640079" y="209880"/>
                  </a:lnTo>
                  <a:lnTo>
                    <a:pt x="684457" y="194781"/>
                  </a:lnTo>
                  <a:lnTo>
                    <a:pt x="707586" y="165106"/>
                  </a:lnTo>
                  <a:lnTo>
                    <a:pt x="707690" y="164895"/>
                  </a:lnTo>
                  <a:lnTo>
                    <a:pt x="710621" y="156149"/>
                  </a:lnTo>
                  <a:lnTo>
                    <a:pt x="710726" y="155833"/>
                  </a:lnTo>
                  <a:lnTo>
                    <a:pt x="712480" y="146788"/>
                  </a:lnTo>
                  <a:lnTo>
                    <a:pt x="712548" y="146436"/>
                  </a:lnTo>
                  <a:lnTo>
                    <a:pt x="713133" y="137159"/>
                  </a:lnTo>
                  <a:lnTo>
                    <a:pt x="713155" y="136804"/>
                  </a:lnTo>
                  <a:lnTo>
                    <a:pt x="712800" y="73075"/>
                  </a:lnTo>
                  <a:lnTo>
                    <a:pt x="697701" y="28705"/>
                  </a:lnTo>
                  <a:lnTo>
                    <a:pt x="658753" y="2428"/>
                  </a:lnTo>
                  <a:lnTo>
                    <a:pt x="649356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93A2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7828102" y="3392184"/>
            <a:ext cx="546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319684" y="3657601"/>
            <a:ext cx="2743200" cy="320040"/>
          </a:xfrm>
          <a:custGeom>
            <a:avLst/>
            <a:gdLst/>
            <a:ahLst/>
            <a:cxnLst/>
            <a:rect l="l" t="t" r="r" b="b"/>
            <a:pathLst>
              <a:path w="2743200" h="320039">
                <a:moveTo>
                  <a:pt x="2742831" y="0"/>
                </a:moveTo>
                <a:lnTo>
                  <a:pt x="0" y="0"/>
                </a:lnTo>
                <a:lnTo>
                  <a:pt x="0" y="319684"/>
                </a:lnTo>
                <a:lnTo>
                  <a:pt x="1371600" y="319684"/>
                </a:lnTo>
                <a:lnTo>
                  <a:pt x="2742831" y="319684"/>
                </a:lnTo>
                <a:lnTo>
                  <a:pt x="2742831" y="0"/>
                </a:lnTo>
                <a:close/>
              </a:path>
            </a:pathLst>
          </a:custGeom>
          <a:solidFill>
            <a:srgbClr val="F7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 txBox="1"/>
          <p:nvPr/>
        </p:nvSpPr>
        <p:spPr>
          <a:xfrm>
            <a:off x="398779" y="3735986"/>
            <a:ext cx="10071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Spring</a:t>
            </a:r>
            <a:r>
              <a:rPr sz="9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9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/</a:t>
            </a:r>
            <a:r>
              <a:rPr sz="900" spc="-25" dirty="0">
                <a:solidFill>
                  <a:srgbClr val="1D283A"/>
                </a:solidFill>
                <a:latin typeface="Calibri"/>
                <a:cs typeface="Calibri"/>
              </a:rPr>
              <a:t> JWT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3063239" y="3657601"/>
            <a:ext cx="1078865" cy="320040"/>
            <a:chOff x="3063239" y="3657601"/>
            <a:chExt cx="1078865" cy="320040"/>
          </a:xfrm>
        </p:grpSpPr>
        <p:sp>
          <p:nvSpPr>
            <p:cNvPr id="114" name="object 114"/>
            <p:cNvSpPr/>
            <p:nvPr/>
          </p:nvSpPr>
          <p:spPr>
            <a:xfrm>
              <a:off x="3063239" y="3657601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182035" y="3711957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20">
                  <a:moveTo>
                    <a:pt x="639724" y="0"/>
                  </a:moveTo>
                  <a:lnTo>
                    <a:pt x="73088" y="0"/>
                  </a:lnTo>
                  <a:lnTo>
                    <a:pt x="63454" y="607"/>
                  </a:lnTo>
                  <a:lnTo>
                    <a:pt x="21429" y="21470"/>
                  </a:lnTo>
                  <a:lnTo>
                    <a:pt x="607" y="63454"/>
                  </a:lnTo>
                  <a:lnTo>
                    <a:pt x="0" y="73088"/>
                  </a:lnTo>
                  <a:lnTo>
                    <a:pt x="0" y="137159"/>
                  </a:lnTo>
                  <a:lnTo>
                    <a:pt x="585" y="146438"/>
                  </a:lnTo>
                  <a:lnTo>
                    <a:pt x="607" y="146793"/>
                  </a:lnTo>
                  <a:lnTo>
                    <a:pt x="2368" y="155838"/>
                  </a:lnTo>
                  <a:lnTo>
                    <a:pt x="2430" y="156154"/>
                  </a:lnTo>
                  <a:lnTo>
                    <a:pt x="5399" y="164900"/>
                  </a:lnTo>
                  <a:lnTo>
                    <a:pt x="5470" y="165108"/>
                  </a:lnTo>
                  <a:lnTo>
                    <a:pt x="36360" y="200520"/>
                  </a:lnTo>
                  <a:lnTo>
                    <a:pt x="73088" y="210248"/>
                  </a:lnTo>
                  <a:lnTo>
                    <a:pt x="640080" y="209880"/>
                  </a:lnTo>
                  <a:lnTo>
                    <a:pt x="684457" y="194788"/>
                  </a:lnTo>
                  <a:lnTo>
                    <a:pt x="710632" y="156154"/>
                  </a:lnTo>
                  <a:lnTo>
                    <a:pt x="713146" y="137159"/>
                  </a:lnTo>
                  <a:lnTo>
                    <a:pt x="713168" y="136804"/>
                  </a:lnTo>
                  <a:lnTo>
                    <a:pt x="712800" y="73088"/>
                  </a:lnTo>
                  <a:lnTo>
                    <a:pt x="697708" y="28710"/>
                  </a:lnTo>
                  <a:lnTo>
                    <a:pt x="658758" y="2430"/>
                  </a:lnTo>
                  <a:lnTo>
                    <a:pt x="649358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3441865" y="3739580"/>
            <a:ext cx="1936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FFFF"/>
                </a:solidFill>
                <a:latin typeface="Calibri"/>
                <a:cs typeface="Calibri"/>
              </a:rPr>
              <a:t>R/A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4142155" y="3657601"/>
            <a:ext cx="1078865" cy="320040"/>
            <a:chOff x="4142155" y="3657601"/>
            <a:chExt cx="1078865" cy="320040"/>
          </a:xfrm>
        </p:grpSpPr>
        <p:sp>
          <p:nvSpPr>
            <p:cNvPr id="118" name="object 118"/>
            <p:cNvSpPr/>
            <p:nvPr/>
          </p:nvSpPr>
          <p:spPr>
            <a:xfrm>
              <a:off x="4142155" y="3657601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260964" y="3711957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20">
                  <a:moveTo>
                    <a:pt x="639711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7" y="21470"/>
                  </a:lnTo>
                  <a:lnTo>
                    <a:pt x="606" y="63454"/>
                  </a:lnTo>
                  <a:lnTo>
                    <a:pt x="0" y="73088"/>
                  </a:lnTo>
                  <a:lnTo>
                    <a:pt x="0" y="137159"/>
                  </a:lnTo>
                  <a:lnTo>
                    <a:pt x="584" y="146438"/>
                  </a:lnTo>
                  <a:lnTo>
                    <a:pt x="607" y="146793"/>
                  </a:lnTo>
                  <a:lnTo>
                    <a:pt x="2367" y="155838"/>
                  </a:lnTo>
                  <a:lnTo>
                    <a:pt x="2428" y="156154"/>
                  </a:lnTo>
                  <a:lnTo>
                    <a:pt x="5394" y="164900"/>
                  </a:lnTo>
                  <a:lnTo>
                    <a:pt x="5464" y="165108"/>
                  </a:lnTo>
                  <a:lnTo>
                    <a:pt x="36360" y="200520"/>
                  </a:lnTo>
                  <a:lnTo>
                    <a:pt x="73075" y="210248"/>
                  </a:lnTo>
                  <a:lnTo>
                    <a:pt x="640079" y="209880"/>
                  </a:lnTo>
                  <a:lnTo>
                    <a:pt x="684450" y="194788"/>
                  </a:lnTo>
                  <a:lnTo>
                    <a:pt x="707588" y="165108"/>
                  </a:lnTo>
                  <a:lnTo>
                    <a:pt x="707690" y="164900"/>
                  </a:lnTo>
                  <a:lnTo>
                    <a:pt x="713133" y="137159"/>
                  </a:lnTo>
                  <a:lnTo>
                    <a:pt x="713155" y="136804"/>
                  </a:lnTo>
                  <a:lnTo>
                    <a:pt x="712800" y="73088"/>
                  </a:lnTo>
                  <a:lnTo>
                    <a:pt x="697696" y="28710"/>
                  </a:lnTo>
                  <a:lnTo>
                    <a:pt x="658752" y="2430"/>
                  </a:lnTo>
                  <a:lnTo>
                    <a:pt x="649351" y="607"/>
                  </a:lnTo>
                  <a:lnTo>
                    <a:pt x="639711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4576216" y="3739580"/>
            <a:ext cx="831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5221084" y="3657601"/>
            <a:ext cx="1078865" cy="320040"/>
            <a:chOff x="5221084" y="3657601"/>
            <a:chExt cx="1078865" cy="320040"/>
          </a:xfrm>
        </p:grpSpPr>
        <p:sp>
          <p:nvSpPr>
            <p:cNvPr id="122" name="object 122"/>
            <p:cNvSpPr/>
            <p:nvPr/>
          </p:nvSpPr>
          <p:spPr>
            <a:xfrm>
              <a:off x="5221084" y="3657601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5340235" y="3711957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20">
                  <a:moveTo>
                    <a:pt x="639724" y="0"/>
                  </a:moveTo>
                  <a:lnTo>
                    <a:pt x="73088" y="0"/>
                  </a:lnTo>
                  <a:lnTo>
                    <a:pt x="63454" y="607"/>
                  </a:lnTo>
                  <a:lnTo>
                    <a:pt x="21429" y="21470"/>
                  </a:lnTo>
                  <a:lnTo>
                    <a:pt x="607" y="63454"/>
                  </a:lnTo>
                  <a:lnTo>
                    <a:pt x="0" y="73088"/>
                  </a:lnTo>
                  <a:lnTo>
                    <a:pt x="0" y="137159"/>
                  </a:lnTo>
                  <a:lnTo>
                    <a:pt x="585" y="146438"/>
                  </a:lnTo>
                  <a:lnTo>
                    <a:pt x="607" y="146793"/>
                  </a:lnTo>
                  <a:lnTo>
                    <a:pt x="2368" y="155838"/>
                  </a:lnTo>
                  <a:lnTo>
                    <a:pt x="2430" y="156154"/>
                  </a:lnTo>
                  <a:lnTo>
                    <a:pt x="5399" y="164900"/>
                  </a:lnTo>
                  <a:lnTo>
                    <a:pt x="36360" y="200520"/>
                  </a:lnTo>
                  <a:lnTo>
                    <a:pt x="73088" y="210248"/>
                  </a:lnTo>
                  <a:lnTo>
                    <a:pt x="640080" y="209880"/>
                  </a:lnTo>
                  <a:lnTo>
                    <a:pt x="684457" y="194788"/>
                  </a:lnTo>
                  <a:lnTo>
                    <a:pt x="710632" y="156154"/>
                  </a:lnTo>
                  <a:lnTo>
                    <a:pt x="713146" y="137159"/>
                  </a:lnTo>
                  <a:lnTo>
                    <a:pt x="713168" y="136804"/>
                  </a:lnTo>
                  <a:lnTo>
                    <a:pt x="712800" y="73088"/>
                  </a:lnTo>
                  <a:lnTo>
                    <a:pt x="697708" y="28710"/>
                  </a:lnTo>
                  <a:lnTo>
                    <a:pt x="658758" y="2430"/>
                  </a:lnTo>
                  <a:lnTo>
                    <a:pt x="649358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93A2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5670257" y="3739580"/>
            <a:ext cx="546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6300355" y="3657601"/>
            <a:ext cx="1078865" cy="320040"/>
            <a:chOff x="6300355" y="3657601"/>
            <a:chExt cx="1078865" cy="320040"/>
          </a:xfrm>
        </p:grpSpPr>
        <p:sp>
          <p:nvSpPr>
            <p:cNvPr id="126" name="object 126"/>
            <p:cNvSpPr/>
            <p:nvPr/>
          </p:nvSpPr>
          <p:spPr>
            <a:xfrm>
              <a:off x="6300355" y="3657601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5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6419164" y="3711957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40" h="210820">
                  <a:moveTo>
                    <a:pt x="639711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7" y="21470"/>
                  </a:lnTo>
                  <a:lnTo>
                    <a:pt x="606" y="63454"/>
                  </a:lnTo>
                  <a:lnTo>
                    <a:pt x="0" y="73088"/>
                  </a:lnTo>
                  <a:lnTo>
                    <a:pt x="0" y="137159"/>
                  </a:lnTo>
                  <a:lnTo>
                    <a:pt x="584" y="146438"/>
                  </a:lnTo>
                  <a:lnTo>
                    <a:pt x="607" y="146793"/>
                  </a:lnTo>
                  <a:lnTo>
                    <a:pt x="2367" y="155838"/>
                  </a:lnTo>
                  <a:lnTo>
                    <a:pt x="2428" y="156154"/>
                  </a:lnTo>
                  <a:lnTo>
                    <a:pt x="5394" y="164900"/>
                  </a:lnTo>
                  <a:lnTo>
                    <a:pt x="5464" y="165108"/>
                  </a:lnTo>
                  <a:lnTo>
                    <a:pt x="36360" y="200520"/>
                  </a:lnTo>
                  <a:lnTo>
                    <a:pt x="73075" y="210248"/>
                  </a:lnTo>
                  <a:lnTo>
                    <a:pt x="640079" y="209880"/>
                  </a:lnTo>
                  <a:lnTo>
                    <a:pt x="684450" y="194788"/>
                  </a:lnTo>
                  <a:lnTo>
                    <a:pt x="707588" y="165108"/>
                  </a:lnTo>
                  <a:lnTo>
                    <a:pt x="707690" y="164900"/>
                  </a:lnTo>
                  <a:lnTo>
                    <a:pt x="713133" y="137159"/>
                  </a:lnTo>
                  <a:lnTo>
                    <a:pt x="713155" y="136804"/>
                  </a:lnTo>
                  <a:lnTo>
                    <a:pt x="712800" y="73088"/>
                  </a:lnTo>
                  <a:lnTo>
                    <a:pt x="697696" y="28710"/>
                  </a:lnTo>
                  <a:lnTo>
                    <a:pt x="658752" y="2430"/>
                  </a:lnTo>
                  <a:lnTo>
                    <a:pt x="649351" y="607"/>
                  </a:lnTo>
                  <a:lnTo>
                    <a:pt x="639711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8" name="object 128"/>
          <p:cNvSpPr txBox="1"/>
          <p:nvPr/>
        </p:nvSpPr>
        <p:spPr>
          <a:xfrm>
            <a:off x="6734416" y="3739580"/>
            <a:ext cx="831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7379284" y="3657601"/>
            <a:ext cx="1078865" cy="320040"/>
            <a:chOff x="7379284" y="3657601"/>
            <a:chExt cx="1078865" cy="320040"/>
          </a:xfrm>
        </p:grpSpPr>
        <p:sp>
          <p:nvSpPr>
            <p:cNvPr id="130" name="object 130"/>
            <p:cNvSpPr/>
            <p:nvPr/>
          </p:nvSpPr>
          <p:spPr>
            <a:xfrm>
              <a:off x="7379284" y="3657601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5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7498080" y="3711957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40" h="210820">
                  <a:moveTo>
                    <a:pt x="639724" y="0"/>
                  </a:moveTo>
                  <a:lnTo>
                    <a:pt x="73075" y="0"/>
                  </a:lnTo>
                  <a:lnTo>
                    <a:pt x="63449" y="607"/>
                  </a:lnTo>
                  <a:lnTo>
                    <a:pt x="21426" y="21470"/>
                  </a:lnTo>
                  <a:lnTo>
                    <a:pt x="606" y="63454"/>
                  </a:lnTo>
                  <a:lnTo>
                    <a:pt x="0" y="73088"/>
                  </a:lnTo>
                  <a:lnTo>
                    <a:pt x="0" y="137159"/>
                  </a:lnTo>
                  <a:lnTo>
                    <a:pt x="584" y="146438"/>
                  </a:lnTo>
                  <a:lnTo>
                    <a:pt x="607" y="146793"/>
                  </a:lnTo>
                  <a:lnTo>
                    <a:pt x="21423" y="188777"/>
                  </a:lnTo>
                  <a:lnTo>
                    <a:pt x="63443" y="209641"/>
                  </a:lnTo>
                  <a:lnTo>
                    <a:pt x="73075" y="210248"/>
                  </a:lnTo>
                  <a:lnTo>
                    <a:pt x="640079" y="209880"/>
                  </a:lnTo>
                  <a:lnTo>
                    <a:pt x="684457" y="194788"/>
                  </a:lnTo>
                  <a:lnTo>
                    <a:pt x="707588" y="165108"/>
                  </a:lnTo>
                  <a:lnTo>
                    <a:pt x="707690" y="164900"/>
                  </a:lnTo>
                  <a:lnTo>
                    <a:pt x="713133" y="137159"/>
                  </a:lnTo>
                  <a:lnTo>
                    <a:pt x="713155" y="136804"/>
                  </a:lnTo>
                  <a:lnTo>
                    <a:pt x="712800" y="73088"/>
                  </a:lnTo>
                  <a:lnTo>
                    <a:pt x="697701" y="28710"/>
                  </a:lnTo>
                  <a:lnTo>
                    <a:pt x="658753" y="2430"/>
                  </a:lnTo>
                  <a:lnTo>
                    <a:pt x="649356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93A2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2" name="object 132"/>
          <p:cNvSpPr txBox="1"/>
          <p:nvPr/>
        </p:nvSpPr>
        <p:spPr>
          <a:xfrm>
            <a:off x="7828102" y="3739580"/>
            <a:ext cx="546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319684" y="4004997"/>
            <a:ext cx="2743200" cy="320040"/>
          </a:xfrm>
          <a:custGeom>
            <a:avLst/>
            <a:gdLst/>
            <a:ahLst/>
            <a:cxnLst/>
            <a:rect l="l" t="t" r="r" b="b"/>
            <a:pathLst>
              <a:path w="2743200" h="320039">
                <a:moveTo>
                  <a:pt x="2742831" y="0"/>
                </a:moveTo>
                <a:lnTo>
                  <a:pt x="0" y="0"/>
                </a:lnTo>
                <a:lnTo>
                  <a:pt x="0" y="319684"/>
                </a:lnTo>
                <a:lnTo>
                  <a:pt x="1371600" y="319684"/>
                </a:lnTo>
                <a:lnTo>
                  <a:pt x="2742831" y="319684"/>
                </a:lnTo>
                <a:lnTo>
                  <a:pt x="2742831" y="0"/>
                </a:lnTo>
                <a:close/>
              </a:path>
            </a:pathLst>
          </a:custGeom>
          <a:solidFill>
            <a:srgbClr val="ED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 txBox="1"/>
          <p:nvPr/>
        </p:nvSpPr>
        <p:spPr>
          <a:xfrm>
            <a:off x="398779" y="4083382"/>
            <a:ext cx="11182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Unit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&amp;</a:t>
            </a:r>
            <a:r>
              <a:rPr sz="90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Integration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1D283A"/>
                </a:solidFill>
                <a:latin typeface="Calibri"/>
                <a:cs typeface="Calibri"/>
              </a:rPr>
              <a:t>Tests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3063239" y="4004997"/>
            <a:ext cx="1078865" cy="320040"/>
            <a:chOff x="3063239" y="4004997"/>
            <a:chExt cx="1078865" cy="320040"/>
          </a:xfrm>
        </p:grpSpPr>
        <p:sp>
          <p:nvSpPr>
            <p:cNvPr id="136" name="object 136"/>
            <p:cNvSpPr/>
            <p:nvPr/>
          </p:nvSpPr>
          <p:spPr>
            <a:xfrm>
              <a:off x="3063239" y="400499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3182035" y="4059722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20">
                  <a:moveTo>
                    <a:pt x="639724" y="0"/>
                  </a:moveTo>
                  <a:lnTo>
                    <a:pt x="73088" y="0"/>
                  </a:lnTo>
                  <a:lnTo>
                    <a:pt x="63454" y="607"/>
                  </a:lnTo>
                  <a:lnTo>
                    <a:pt x="21431" y="21467"/>
                  </a:lnTo>
                  <a:lnTo>
                    <a:pt x="607" y="63449"/>
                  </a:lnTo>
                  <a:lnTo>
                    <a:pt x="0" y="73075"/>
                  </a:lnTo>
                  <a:lnTo>
                    <a:pt x="0" y="137159"/>
                  </a:lnTo>
                  <a:lnTo>
                    <a:pt x="5398" y="164895"/>
                  </a:lnTo>
                  <a:lnTo>
                    <a:pt x="5470" y="165106"/>
                  </a:lnTo>
                  <a:lnTo>
                    <a:pt x="36360" y="200520"/>
                  </a:lnTo>
                  <a:lnTo>
                    <a:pt x="73088" y="210235"/>
                  </a:lnTo>
                  <a:lnTo>
                    <a:pt x="640080" y="209880"/>
                  </a:lnTo>
                  <a:lnTo>
                    <a:pt x="684457" y="194781"/>
                  </a:lnTo>
                  <a:lnTo>
                    <a:pt x="710632" y="156149"/>
                  </a:lnTo>
                  <a:lnTo>
                    <a:pt x="710738" y="155833"/>
                  </a:lnTo>
                  <a:lnTo>
                    <a:pt x="712492" y="146788"/>
                  </a:lnTo>
                  <a:lnTo>
                    <a:pt x="712561" y="146436"/>
                  </a:lnTo>
                  <a:lnTo>
                    <a:pt x="713146" y="137159"/>
                  </a:lnTo>
                  <a:lnTo>
                    <a:pt x="712800" y="73075"/>
                  </a:lnTo>
                  <a:lnTo>
                    <a:pt x="697708" y="28705"/>
                  </a:lnTo>
                  <a:lnTo>
                    <a:pt x="658758" y="2428"/>
                  </a:lnTo>
                  <a:lnTo>
                    <a:pt x="649358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1C4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8" name="object 138"/>
          <p:cNvSpPr txBox="1"/>
          <p:nvPr/>
        </p:nvSpPr>
        <p:spPr>
          <a:xfrm>
            <a:off x="3492982" y="4087344"/>
            <a:ext cx="9144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39" name="object 139"/>
          <p:cNvGrpSpPr/>
          <p:nvPr/>
        </p:nvGrpSpPr>
        <p:grpSpPr>
          <a:xfrm>
            <a:off x="4142155" y="4004997"/>
            <a:ext cx="1078865" cy="320040"/>
            <a:chOff x="4142155" y="4004997"/>
            <a:chExt cx="1078865" cy="320040"/>
          </a:xfrm>
        </p:grpSpPr>
        <p:sp>
          <p:nvSpPr>
            <p:cNvPr id="140" name="object 140"/>
            <p:cNvSpPr/>
            <p:nvPr/>
          </p:nvSpPr>
          <p:spPr>
            <a:xfrm>
              <a:off x="4142155" y="400499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4260964" y="4059722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20">
                  <a:moveTo>
                    <a:pt x="639711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8" y="21467"/>
                  </a:lnTo>
                  <a:lnTo>
                    <a:pt x="606" y="63449"/>
                  </a:lnTo>
                  <a:lnTo>
                    <a:pt x="0" y="73075"/>
                  </a:lnTo>
                  <a:lnTo>
                    <a:pt x="0" y="137159"/>
                  </a:lnTo>
                  <a:lnTo>
                    <a:pt x="15091" y="181537"/>
                  </a:lnTo>
                  <a:lnTo>
                    <a:pt x="54041" y="207806"/>
                  </a:lnTo>
                  <a:lnTo>
                    <a:pt x="73075" y="210235"/>
                  </a:lnTo>
                  <a:lnTo>
                    <a:pt x="640079" y="209880"/>
                  </a:lnTo>
                  <a:lnTo>
                    <a:pt x="684450" y="194781"/>
                  </a:lnTo>
                  <a:lnTo>
                    <a:pt x="710621" y="156149"/>
                  </a:lnTo>
                  <a:lnTo>
                    <a:pt x="710726" y="155833"/>
                  </a:lnTo>
                  <a:lnTo>
                    <a:pt x="712480" y="146788"/>
                  </a:lnTo>
                  <a:lnTo>
                    <a:pt x="712548" y="146436"/>
                  </a:lnTo>
                  <a:lnTo>
                    <a:pt x="713133" y="137159"/>
                  </a:lnTo>
                  <a:lnTo>
                    <a:pt x="713155" y="136804"/>
                  </a:lnTo>
                  <a:lnTo>
                    <a:pt x="712800" y="73075"/>
                  </a:lnTo>
                  <a:lnTo>
                    <a:pt x="697696" y="28705"/>
                  </a:lnTo>
                  <a:lnTo>
                    <a:pt x="658752" y="2428"/>
                  </a:lnTo>
                  <a:lnTo>
                    <a:pt x="649351" y="607"/>
                  </a:lnTo>
                  <a:lnTo>
                    <a:pt x="639711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2" name="object 142"/>
          <p:cNvSpPr txBox="1"/>
          <p:nvPr/>
        </p:nvSpPr>
        <p:spPr>
          <a:xfrm>
            <a:off x="4574781" y="4087344"/>
            <a:ext cx="8636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43" name="object 143"/>
          <p:cNvGrpSpPr/>
          <p:nvPr/>
        </p:nvGrpSpPr>
        <p:grpSpPr>
          <a:xfrm>
            <a:off x="5221084" y="4004997"/>
            <a:ext cx="1078865" cy="320040"/>
            <a:chOff x="5221084" y="4004997"/>
            <a:chExt cx="1078865" cy="320040"/>
          </a:xfrm>
        </p:grpSpPr>
        <p:sp>
          <p:nvSpPr>
            <p:cNvPr id="144" name="object 144"/>
            <p:cNvSpPr/>
            <p:nvPr/>
          </p:nvSpPr>
          <p:spPr>
            <a:xfrm>
              <a:off x="5221084" y="400499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5340235" y="4059722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20">
                  <a:moveTo>
                    <a:pt x="639724" y="0"/>
                  </a:moveTo>
                  <a:lnTo>
                    <a:pt x="73088" y="0"/>
                  </a:lnTo>
                  <a:lnTo>
                    <a:pt x="63454" y="607"/>
                  </a:lnTo>
                  <a:lnTo>
                    <a:pt x="21431" y="21467"/>
                  </a:lnTo>
                  <a:lnTo>
                    <a:pt x="607" y="63449"/>
                  </a:lnTo>
                  <a:lnTo>
                    <a:pt x="0" y="73075"/>
                  </a:lnTo>
                  <a:lnTo>
                    <a:pt x="0" y="137159"/>
                  </a:lnTo>
                  <a:lnTo>
                    <a:pt x="585" y="146436"/>
                  </a:lnTo>
                  <a:lnTo>
                    <a:pt x="607" y="146788"/>
                  </a:lnTo>
                  <a:lnTo>
                    <a:pt x="21424" y="188777"/>
                  </a:lnTo>
                  <a:lnTo>
                    <a:pt x="63449" y="209628"/>
                  </a:lnTo>
                  <a:lnTo>
                    <a:pt x="73088" y="210235"/>
                  </a:lnTo>
                  <a:lnTo>
                    <a:pt x="640080" y="209880"/>
                  </a:lnTo>
                  <a:lnTo>
                    <a:pt x="684457" y="194781"/>
                  </a:lnTo>
                  <a:lnTo>
                    <a:pt x="710632" y="156149"/>
                  </a:lnTo>
                  <a:lnTo>
                    <a:pt x="710738" y="155833"/>
                  </a:lnTo>
                  <a:lnTo>
                    <a:pt x="712492" y="146788"/>
                  </a:lnTo>
                  <a:lnTo>
                    <a:pt x="712561" y="146436"/>
                  </a:lnTo>
                  <a:lnTo>
                    <a:pt x="713146" y="137159"/>
                  </a:lnTo>
                  <a:lnTo>
                    <a:pt x="712800" y="73075"/>
                  </a:lnTo>
                  <a:lnTo>
                    <a:pt x="697708" y="28705"/>
                  </a:lnTo>
                  <a:lnTo>
                    <a:pt x="658758" y="2428"/>
                  </a:lnTo>
                  <a:lnTo>
                    <a:pt x="649358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6" name="object 146"/>
          <p:cNvSpPr txBox="1"/>
          <p:nvPr/>
        </p:nvSpPr>
        <p:spPr>
          <a:xfrm>
            <a:off x="5654065" y="4087344"/>
            <a:ext cx="8636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6300355" y="4004997"/>
            <a:ext cx="1078865" cy="320040"/>
            <a:chOff x="6300355" y="4004997"/>
            <a:chExt cx="1078865" cy="320040"/>
          </a:xfrm>
        </p:grpSpPr>
        <p:sp>
          <p:nvSpPr>
            <p:cNvPr id="148" name="object 148"/>
            <p:cNvSpPr/>
            <p:nvPr/>
          </p:nvSpPr>
          <p:spPr>
            <a:xfrm>
              <a:off x="6300355" y="400499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5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6419164" y="4059722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40" h="210820">
                  <a:moveTo>
                    <a:pt x="639711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8" y="21467"/>
                  </a:lnTo>
                  <a:lnTo>
                    <a:pt x="606" y="63449"/>
                  </a:lnTo>
                  <a:lnTo>
                    <a:pt x="0" y="73075"/>
                  </a:lnTo>
                  <a:lnTo>
                    <a:pt x="0" y="137159"/>
                  </a:lnTo>
                  <a:lnTo>
                    <a:pt x="15091" y="181537"/>
                  </a:lnTo>
                  <a:lnTo>
                    <a:pt x="54041" y="207806"/>
                  </a:lnTo>
                  <a:lnTo>
                    <a:pt x="73075" y="210235"/>
                  </a:lnTo>
                  <a:lnTo>
                    <a:pt x="640079" y="209880"/>
                  </a:lnTo>
                  <a:lnTo>
                    <a:pt x="684450" y="194781"/>
                  </a:lnTo>
                  <a:lnTo>
                    <a:pt x="707586" y="165106"/>
                  </a:lnTo>
                  <a:lnTo>
                    <a:pt x="707690" y="164895"/>
                  </a:lnTo>
                  <a:lnTo>
                    <a:pt x="710621" y="156149"/>
                  </a:lnTo>
                  <a:lnTo>
                    <a:pt x="710726" y="155833"/>
                  </a:lnTo>
                  <a:lnTo>
                    <a:pt x="712480" y="146788"/>
                  </a:lnTo>
                  <a:lnTo>
                    <a:pt x="712548" y="146436"/>
                  </a:lnTo>
                  <a:lnTo>
                    <a:pt x="713133" y="137159"/>
                  </a:lnTo>
                  <a:lnTo>
                    <a:pt x="713155" y="136804"/>
                  </a:lnTo>
                  <a:lnTo>
                    <a:pt x="712800" y="73075"/>
                  </a:lnTo>
                  <a:lnTo>
                    <a:pt x="697696" y="28705"/>
                  </a:lnTo>
                  <a:lnTo>
                    <a:pt x="658752" y="2428"/>
                  </a:lnTo>
                  <a:lnTo>
                    <a:pt x="649351" y="607"/>
                  </a:lnTo>
                  <a:lnTo>
                    <a:pt x="639711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0" name="object 150"/>
          <p:cNvSpPr txBox="1"/>
          <p:nvPr/>
        </p:nvSpPr>
        <p:spPr>
          <a:xfrm>
            <a:off x="6732981" y="4087344"/>
            <a:ext cx="8636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7379284" y="4004997"/>
            <a:ext cx="1078865" cy="320040"/>
            <a:chOff x="7379284" y="4004997"/>
            <a:chExt cx="1078865" cy="320040"/>
          </a:xfrm>
        </p:grpSpPr>
        <p:sp>
          <p:nvSpPr>
            <p:cNvPr id="152" name="object 152"/>
            <p:cNvSpPr/>
            <p:nvPr/>
          </p:nvSpPr>
          <p:spPr>
            <a:xfrm>
              <a:off x="7379284" y="400499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5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498080" y="4059722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40" h="210820">
                  <a:moveTo>
                    <a:pt x="639724" y="0"/>
                  </a:moveTo>
                  <a:lnTo>
                    <a:pt x="73075" y="0"/>
                  </a:lnTo>
                  <a:lnTo>
                    <a:pt x="63449" y="607"/>
                  </a:lnTo>
                  <a:lnTo>
                    <a:pt x="21428" y="21467"/>
                  </a:lnTo>
                  <a:lnTo>
                    <a:pt x="606" y="63449"/>
                  </a:lnTo>
                  <a:lnTo>
                    <a:pt x="0" y="73075"/>
                  </a:lnTo>
                  <a:lnTo>
                    <a:pt x="0" y="137159"/>
                  </a:lnTo>
                  <a:lnTo>
                    <a:pt x="585" y="146436"/>
                  </a:lnTo>
                  <a:lnTo>
                    <a:pt x="607" y="146788"/>
                  </a:lnTo>
                  <a:lnTo>
                    <a:pt x="2367" y="155833"/>
                  </a:lnTo>
                  <a:lnTo>
                    <a:pt x="2428" y="156149"/>
                  </a:lnTo>
                  <a:lnTo>
                    <a:pt x="5393" y="164895"/>
                  </a:lnTo>
                  <a:lnTo>
                    <a:pt x="36360" y="200520"/>
                  </a:lnTo>
                  <a:lnTo>
                    <a:pt x="73075" y="210235"/>
                  </a:lnTo>
                  <a:lnTo>
                    <a:pt x="640079" y="209880"/>
                  </a:lnTo>
                  <a:lnTo>
                    <a:pt x="684457" y="194781"/>
                  </a:lnTo>
                  <a:lnTo>
                    <a:pt x="707586" y="165106"/>
                  </a:lnTo>
                  <a:lnTo>
                    <a:pt x="707690" y="164895"/>
                  </a:lnTo>
                  <a:lnTo>
                    <a:pt x="710621" y="156149"/>
                  </a:lnTo>
                  <a:lnTo>
                    <a:pt x="710726" y="155833"/>
                  </a:lnTo>
                  <a:lnTo>
                    <a:pt x="712480" y="146788"/>
                  </a:lnTo>
                  <a:lnTo>
                    <a:pt x="712548" y="146436"/>
                  </a:lnTo>
                  <a:lnTo>
                    <a:pt x="713133" y="137159"/>
                  </a:lnTo>
                  <a:lnTo>
                    <a:pt x="713155" y="136804"/>
                  </a:lnTo>
                  <a:lnTo>
                    <a:pt x="712800" y="73075"/>
                  </a:lnTo>
                  <a:lnTo>
                    <a:pt x="697701" y="28705"/>
                  </a:lnTo>
                  <a:lnTo>
                    <a:pt x="658753" y="2428"/>
                  </a:lnTo>
                  <a:lnTo>
                    <a:pt x="649356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93A2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4" name="object 154"/>
          <p:cNvSpPr txBox="1"/>
          <p:nvPr/>
        </p:nvSpPr>
        <p:spPr>
          <a:xfrm>
            <a:off x="7828102" y="4087344"/>
            <a:ext cx="546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55" name="object 155"/>
          <p:cNvSpPr/>
          <p:nvPr/>
        </p:nvSpPr>
        <p:spPr>
          <a:xfrm>
            <a:off x="319684" y="4352406"/>
            <a:ext cx="2743200" cy="320040"/>
          </a:xfrm>
          <a:custGeom>
            <a:avLst/>
            <a:gdLst/>
            <a:ahLst/>
            <a:cxnLst/>
            <a:rect l="l" t="t" r="r" b="b"/>
            <a:pathLst>
              <a:path w="2743200" h="320039">
                <a:moveTo>
                  <a:pt x="2742831" y="0"/>
                </a:moveTo>
                <a:lnTo>
                  <a:pt x="0" y="0"/>
                </a:lnTo>
                <a:lnTo>
                  <a:pt x="0" y="319671"/>
                </a:lnTo>
                <a:lnTo>
                  <a:pt x="1371600" y="319671"/>
                </a:lnTo>
                <a:lnTo>
                  <a:pt x="2742831" y="319671"/>
                </a:lnTo>
                <a:lnTo>
                  <a:pt x="2742831" y="0"/>
                </a:lnTo>
                <a:close/>
              </a:path>
            </a:pathLst>
          </a:custGeom>
          <a:solidFill>
            <a:srgbClr val="F7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 txBox="1"/>
          <p:nvPr/>
        </p:nvSpPr>
        <p:spPr>
          <a:xfrm>
            <a:off x="398779" y="4430777"/>
            <a:ext cx="6883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CI/CD</a:t>
            </a:r>
            <a:r>
              <a:rPr sz="90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Pipeline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57" name="object 157"/>
          <p:cNvGrpSpPr/>
          <p:nvPr/>
        </p:nvGrpSpPr>
        <p:grpSpPr>
          <a:xfrm>
            <a:off x="3063239" y="4352406"/>
            <a:ext cx="1078865" cy="320040"/>
            <a:chOff x="3063239" y="4352406"/>
            <a:chExt cx="1078865" cy="320040"/>
          </a:xfrm>
        </p:grpSpPr>
        <p:sp>
          <p:nvSpPr>
            <p:cNvPr id="158" name="object 158"/>
            <p:cNvSpPr/>
            <p:nvPr/>
          </p:nvSpPr>
          <p:spPr>
            <a:xfrm>
              <a:off x="3063239" y="4352406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71"/>
                  </a:lnTo>
                  <a:lnTo>
                    <a:pt x="539280" y="319671"/>
                  </a:lnTo>
                  <a:lnTo>
                    <a:pt x="1078560" y="319671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3182035" y="4407118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20">
                  <a:moveTo>
                    <a:pt x="639724" y="0"/>
                  </a:moveTo>
                  <a:lnTo>
                    <a:pt x="73088" y="0"/>
                  </a:lnTo>
                  <a:lnTo>
                    <a:pt x="63454" y="607"/>
                  </a:lnTo>
                  <a:lnTo>
                    <a:pt x="21429" y="21470"/>
                  </a:lnTo>
                  <a:lnTo>
                    <a:pt x="607" y="63454"/>
                  </a:lnTo>
                  <a:lnTo>
                    <a:pt x="0" y="73088"/>
                  </a:lnTo>
                  <a:lnTo>
                    <a:pt x="0" y="137160"/>
                  </a:lnTo>
                  <a:lnTo>
                    <a:pt x="585" y="146438"/>
                  </a:lnTo>
                  <a:lnTo>
                    <a:pt x="607" y="146793"/>
                  </a:lnTo>
                  <a:lnTo>
                    <a:pt x="2368" y="155838"/>
                  </a:lnTo>
                  <a:lnTo>
                    <a:pt x="2430" y="156154"/>
                  </a:lnTo>
                  <a:lnTo>
                    <a:pt x="5399" y="164900"/>
                  </a:lnTo>
                  <a:lnTo>
                    <a:pt x="5470" y="165108"/>
                  </a:lnTo>
                  <a:lnTo>
                    <a:pt x="36360" y="200520"/>
                  </a:lnTo>
                  <a:lnTo>
                    <a:pt x="73088" y="210248"/>
                  </a:lnTo>
                  <a:lnTo>
                    <a:pt x="640080" y="209880"/>
                  </a:lnTo>
                  <a:lnTo>
                    <a:pt x="684457" y="194788"/>
                  </a:lnTo>
                  <a:lnTo>
                    <a:pt x="710632" y="156154"/>
                  </a:lnTo>
                  <a:lnTo>
                    <a:pt x="713146" y="137160"/>
                  </a:lnTo>
                  <a:lnTo>
                    <a:pt x="713168" y="136804"/>
                  </a:lnTo>
                  <a:lnTo>
                    <a:pt x="712800" y="73088"/>
                  </a:lnTo>
                  <a:lnTo>
                    <a:pt x="697708" y="28710"/>
                  </a:lnTo>
                  <a:lnTo>
                    <a:pt x="658758" y="2430"/>
                  </a:lnTo>
                  <a:lnTo>
                    <a:pt x="649358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0" name="object 160"/>
          <p:cNvSpPr txBox="1"/>
          <p:nvPr/>
        </p:nvSpPr>
        <p:spPr>
          <a:xfrm>
            <a:off x="3441865" y="4434740"/>
            <a:ext cx="1936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FFFF"/>
                </a:solidFill>
                <a:latin typeface="Calibri"/>
                <a:cs typeface="Calibri"/>
              </a:rPr>
              <a:t>R/A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61" name="object 161"/>
          <p:cNvGrpSpPr/>
          <p:nvPr/>
        </p:nvGrpSpPr>
        <p:grpSpPr>
          <a:xfrm>
            <a:off x="4142155" y="4352406"/>
            <a:ext cx="1078865" cy="320040"/>
            <a:chOff x="4142155" y="4352406"/>
            <a:chExt cx="1078865" cy="320040"/>
          </a:xfrm>
        </p:grpSpPr>
        <p:sp>
          <p:nvSpPr>
            <p:cNvPr id="162" name="object 162"/>
            <p:cNvSpPr/>
            <p:nvPr/>
          </p:nvSpPr>
          <p:spPr>
            <a:xfrm>
              <a:off x="4142155" y="4352406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71"/>
                  </a:lnTo>
                  <a:lnTo>
                    <a:pt x="539280" y="319671"/>
                  </a:lnTo>
                  <a:lnTo>
                    <a:pt x="1078560" y="319671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4260964" y="4407118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20">
                  <a:moveTo>
                    <a:pt x="639711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7" y="21470"/>
                  </a:lnTo>
                  <a:lnTo>
                    <a:pt x="606" y="63454"/>
                  </a:lnTo>
                  <a:lnTo>
                    <a:pt x="0" y="73088"/>
                  </a:lnTo>
                  <a:lnTo>
                    <a:pt x="0" y="137160"/>
                  </a:lnTo>
                  <a:lnTo>
                    <a:pt x="584" y="146438"/>
                  </a:lnTo>
                  <a:lnTo>
                    <a:pt x="607" y="146793"/>
                  </a:lnTo>
                  <a:lnTo>
                    <a:pt x="2367" y="155838"/>
                  </a:lnTo>
                  <a:lnTo>
                    <a:pt x="2428" y="156154"/>
                  </a:lnTo>
                  <a:lnTo>
                    <a:pt x="5394" y="164900"/>
                  </a:lnTo>
                  <a:lnTo>
                    <a:pt x="5464" y="165108"/>
                  </a:lnTo>
                  <a:lnTo>
                    <a:pt x="36360" y="200520"/>
                  </a:lnTo>
                  <a:lnTo>
                    <a:pt x="73075" y="210248"/>
                  </a:lnTo>
                  <a:lnTo>
                    <a:pt x="640079" y="209880"/>
                  </a:lnTo>
                  <a:lnTo>
                    <a:pt x="684450" y="194788"/>
                  </a:lnTo>
                  <a:lnTo>
                    <a:pt x="707588" y="165108"/>
                  </a:lnTo>
                  <a:lnTo>
                    <a:pt x="707690" y="164900"/>
                  </a:lnTo>
                  <a:lnTo>
                    <a:pt x="713133" y="137160"/>
                  </a:lnTo>
                  <a:lnTo>
                    <a:pt x="713155" y="136804"/>
                  </a:lnTo>
                  <a:lnTo>
                    <a:pt x="712800" y="73088"/>
                  </a:lnTo>
                  <a:lnTo>
                    <a:pt x="697696" y="28710"/>
                  </a:lnTo>
                  <a:lnTo>
                    <a:pt x="658752" y="2430"/>
                  </a:lnTo>
                  <a:lnTo>
                    <a:pt x="649351" y="607"/>
                  </a:lnTo>
                  <a:lnTo>
                    <a:pt x="639711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4" name="object 164"/>
          <p:cNvSpPr txBox="1"/>
          <p:nvPr/>
        </p:nvSpPr>
        <p:spPr>
          <a:xfrm>
            <a:off x="4576216" y="4434740"/>
            <a:ext cx="831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65" name="object 165"/>
          <p:cNvGrpSpPr/>
          <p:nvPr/>
        </p:nvGrpSpPr>
        <p:grpSpPr>
          <a:xfrm>
            <a:off x="5221084" y="4352406"/>
            <a:ext cx="1078865" cy="320040"/>
            <a:chOff x="5221084" y="4352406"/>
            <a:chExt cx="1078865" cy="320040"/>
          </a:xfrm>
        </p:grpSpPr>
        <p:sp>
          <p:nvSpPr>
            <p:cNvPr id="166" name="object 166"/>
            <p:cNvSpPr/>
            <p:nvPr/>
          </p:nvSpPr>
          <p:spPr>
            <a:xfrm>
              <a:off x="5221084" y="4352406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71"/>
                  </a:lnTo>
                  <a:lnTo>
                    <a:pt x="539280" y="319671"/>
                  </a:lnTo>
                  <a:lnTo>
                    <a:pt x="1078560" y="319671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5340235" y="4407118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20">
                  <a:moveTo>
                    <a:pt x="639724" y="0"/>
                  </a:moveTo>
                  <a:lnTo>
                    <a:pt x="73088" y="0"/>
                  </a:lnTo>
                  <a:lnTo>
                    <a:pt x="63454" y="607"/>
                  </a:lnTo>
                  <a:lnTo>
                    <a:pt x="21429" y="21470"/>
                  </a:lnTo>
                  <a:lnTo>
                    <a:pt x="607" y="63454"/>
                  </a:lnTo>
                  <a:lnTo>
                    <a:pt x="0" y="73088"/>
                  </a:lnTo>
                  <a:lnTo>
                    <a:pt x="0" y="137160"/>
                  </a:lnTo>
                  <a:lnTo>
                    <a:pt x="585" y="146438"/>
                  </a:lnTo>
                  <a:lnTo>
                    <a:pt x="607" y="146793"/>
                  </a:lnTo>
                  <a:lnTo>
                    <a:pt x="2368" y="155838"/>
                  </a:lnTo>
                  <a:lnTo>
                    <a:pt x="2430" y="156154"/>
                  </a:lnTo>
                  <a:lnTo>
                    <a:pt x="5399" y="164900"/>
                  </a:lnTo>
                  <a:lnTo>
                    <a:pt x="36360" y="200520"/>
                  </a:lnTo>
                  <a:lnTo>
                    <a:pt x="73088" y="210248"/>
                  </a:lnTo>
                  <a:lnTo>
                    <a:pt x="640080" y="209880"/>
                  </a:lnTo>
                  <a:lnTo>
                    <a:pt x="684457" y="194788"/>
                  </a:lnTo>
                  <a:lnTo>
                    <a:pt x="710632" y="156154"/>
                  </a:lnTo>
                  <a:lnTo>
                    <a:pt x="713146" y="137160"/>
                  </a:lnTo>
                  <a:lnTo>
                    <a:pt x="713168" y="136804"/>
                  </a:lnTo>
                  <a:lnTo>
                    <a:pt x="712800" y="73088"/>
                  </a:lnTo>
                  <a:lnTo>
                    <a:pt x="697708" y="28710"/>
                  </a:lnTo>
                  <a:lnTo>
                    <a:pt x="658758" y="2430"/>
                  </a:lnTo>
                  <a:lnTo>
                    <a:pt x="649358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8" name="object 168"/>
          <p:cNvSpPr txBox="1"/>
          <p:nvPr/>
        </p:nvSpPr>
        <p:spPr>
          <a:xfrm>
            <a:off x="5655500" y="4434740"/>
            <a:ext cx="831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6300355" y="4352406"/>
            <a:ext cx="1078865" cy="320040"/>
            <a:chOff x="6300355" y="4352406"/>
            <a:chExt cx="1078865" cy="320040"/>
          </a:xfrm>
        </p:grpSpPr>
        <p:sp>
          <p:nvSpPr>
            <p:cNvPr id="170" name="object 170"/>
            <p:cNvSpPr/>
            <p:nvPr/>
          </p:nvSpPr>
          <p:spPr>
            <a:xfrm>
              <a:off x="6300355" y="4352406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5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71"/>
                  </a:lnTo>
                  <a:lnTo>
                    <a:pt x="539280" y="319671"/>
                  </a:lnTo>
                  <a:lnTo>
                    <a:pt x="1078560" y="319671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6419164" y="4407118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40" h="210820">
                  <a:moveTo>
                    <a:pt x="639711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7" y="21470"/>
                  </a:lnTo>
                  <a:lnTo>
                    <a:pt x="606" y="63454"/>
                  </a:lnTo>
                  <a:lnTo>
                    <a:pt x="0" y="73088"/>
                  </a:lnTo>
                  <a:lnTo>
                    <a:pt x="0" y="137160"/>
                  </a:lnTo>
                  <a:lnTo>
                    <a:pt x="584" y="146438"/>
                  </a:lnTo>
                  <a:lnTo>
                    <a:pt x="607" y="146793"/>
                  </a:lnTo>
                  <a:lnTo>
                    <a:pt x="2367" y="155838"/>
                  </a:lnTo>
                  <a:lnTo>
                    <a:pt x="2428" y="156154"/>
                  </a:lnTo>
                  <a:lnTo>
                    <a:pt x="5394" y="164900"/>
                  </a:lnTo>
                  <a:lnTo>
                    <a:pt x="5464" y="165108"/>
                  </a:lnTo>
                  <a:lnTo>
                    <a:pt x="36360" y="200520"/>
                  </a:lnTo>
                  <a:lnTo>
                    <a:pt x="73075" y="210248"/>
                  </a:lnTo>
                  <a:lnTo>
                    <a:pt x="640079" y="209880"/>
                  </a:lnTo>
                  <a:lnTo>
                    <a:pt x="684450" y="194788"/>
                  </a:lnTo>
                  <a:lnTo>
                    <a:pt x="707588" y="165108"/>
                  </a:lnTo>
                  <a:lnTo>
                    <a:pt x="707690" y="164900"/>
                  </a:lnTo>
                  <a:lnTo>
                    <a:pt x="713133" y="137160"/>
                  </a:lnTo>
                  <a:lnTo>
                    <a:pt x="713155" y="136804"/>
                  </a:lnTo>
                  <a:lnTo>
                    <a:pt x="712800" y="73088"/>
                  </a:lnTo>
                  <a:lnTo>
                    <a:pt x="697696" y="28710"/>
                  </a:lnTo>
                  <a:lnTo>
                    <a:pt x="658752" y="2430"/>
                  </a:lnTo>
                  <a:lnTo>
                    <a:pt x="649351" y="607"/>
                  </a:lnTo>
                  <a:lnTo>
                    <a:pt x="639711" y="0"/>
                  </a:lnTo>
                  <a:close/>
                </a:path>
              </a:pathLst>
            </a:custGeom>
            <a:solidFill>
              <a:srgbClr val="93A2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2" name="object 172"/>
          <p:cNvSpPr txBox="1"/>
          <p:nvPr/>
        </p:nvSpPr>
        <p:spPr>
          <a:xfrm>
            <a:off x="6749174" y="4434740"/>
            <a:ext cx="546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73" name="object 173"/>
          <p:cNvGrpSpPr/>
          <p:nvPr/>
        </p:nvGrpSpPr>
        <p:grpSpPr>
          <a:xfrm>
            <a:off x="7379284" y="4352406"/>
            <a:ext cx="1078865" cy="320040"/>
            <a:chOff x="7379284" y="4352406"/>
            <a:chExt cx="1078865" cy="320040"/>
          </a:xfrm>
        </p:grpSpPr>
        <p:sp>
          <p:nvSpPr>
            <p:cNvPr id="174" name="object 174"/>
            <p:cNvSpPr/>
            <p:nvPr/>
          </p:nvSpPr>
          <p:spPr>
            <a:xfrm>
              <a:off x="7379284" y="4352406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5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71"/>
                  </a:lnTo>
                  <a:lnTo>
                    <a:pt x="539280" y="319671"/>
                  </a:lnTo>
                  <a:lnTo>
                    <a:pt x="1078560" y="319671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498080" y="4407118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40" h="210820">
                  <a:moveTo>
                    <a:pt x="639724" y="0"/>
                  </a:moveTo>
                  <a:lnTo>
                    <a:pt x="73075" y="0"/>
                  </a:lnTo>
                  <a:lnTo>
                    <a:pt x="63449" y="607"/>
                  </a:lnTo>
                  <a:lnTo>
                    <a:pt x="21426" y="21470"/>
                  </a:lnTo>
                  <a:lnTo>
                    <a:pt x="606" y="63454"/>
                  </a:lnTo>
                  <a:lnTo>
                    <a:pt x="0" y="73088"/>
                  </a:lnTo>
                  <a:lnTo>
                    <a:pt x="0" y="137160"/>
                  </a:lnTo>
                  <a:lnTo>
                    <a:pt x="584" y="146438"/>
                  </a:lnTo>
                  <a:lnTo>
                    <a:pt x="607" y="146793"/>
                  </a:lnTo>
                  <a:lnTo>
                    <a:pt x="21423" y="188777"/>
                  </a:lnTo>
                  <a:lnTo>
                    <a:pt x="63443" y="209641"/>
                  </a:lnTo>
                  <a:lnTo>
                    <a:pt x="73075" y="210248"/>
                  </a:lnTo>
                  <a:lnTo>
                    <a:pt x="640079" y="209880"/>
                  </a:lnTo>
                  <a:lnTo>
                    <a:pt x="684457" y="194788"/>
                  </a:lnTo>
                  <a:lnTo>
                    <a:pt x="707588" y="165108"/>
                  </a:lnTo>
                  <a:lnTo>
                    <a:pt x="707690" y="164900"/>
                  </a:lnTo>
                  <a:lnTo>
                    <a:pt x="713133" y="137160"/>
                  </a:lnTo>
                  <a:lnTo>
                    <a:pt x="713155" y="136804"/>
                  </a:lnTo>
                  <a:lnTo>
                    <a:pt x="712800" y="73088"/>
                  </a:lnTo>
                  <a:lnTo>
                    <a:pt x="697701" y="28710"/>
                  </a:lnTo>
                  <a:lnTo>
                    <a:pt x="658753" y="2430"/>
                  </a:lnTo>
                  <a:lnTo>
                    <a:pt x="649356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93A2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6" name="object 176"/>
          <p:cNvSpPr txBox="1"/>
          <p:nvPr/>
        </p:nvSpPr>
        <p:spPr>
          <a:xfrm>
            <a:off x="7828102" y="4434740"/>
            <a:ext cx="546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319684" y="4700157"/>
            <a:ext cx="4901565" cy="320040"/>
            <a:chOff x="319684" y="4700157"/>
            <a:chExt cx="4901565" cy="320040"/>
          </a:xfrm>
        </p:grpSpPr>
        <p:sp>
          <p:nvSpPr>
            <p:cNvPr id="178" name="object 178"/>
            <p:cNvSpPr/>
            <p:nvPr/>
          </p:nvSpPr>
          <p:spPr>
            <a:xfrm>
              <a:off x="319684" y="4700157"/>
              <a:ext cx="3822700" cy="320040"/>
            </a:xfrm>
            <a:custGeom>
              <a:avLst/>
              <a:gdLst/>
              <a:ahLst/>
              <a:cxnLst/>
              <a:rect l="l" t="t" r="r" b="b"/>
              <a:pathLst>
                <a:path w="3822700" h="320039">
                  <a:moveTo>
                    <a:pt x="2742831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1371600" y="319684"/>
                  </a:lnTo>
                  <a:lnTo>
                    <a:pt x="2742831" y="319684"/>
                  </a:lnTo>
                  <a:lnTo>
                    <a:pt x="2742831" y="0"/>
                  </a:lnTo>
                  <a:close/>
                </a:path>
                <a:path w="3822700" h="320039">
                  <a:moveTo>
                    <a:pt x="3822115" y="0"/>
                  </a:moveTo>
                  <a:lnTo>
                    <a:pt x="2743555" y="0"/>
                  </a:lnTo>
                  <a:lnTo>
                    <a:pt x="2743555" y="319684"/>
                  </a:lnTo>
                  <a:lnTo>
                    <a:pt x="3282835" y="319684"/>
                  </a:lnTo>
                  <a:lnTo>
                    <a:pt x="3822115" y="319684"/>
                  </a:lnTo>
                  <a:lnTo>
                    <a:pt x="3822115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3182035" y="4754526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20">
                  <a:moveTo>
                    <a:pt x="639724" y="0"/>
                  </a:moveTo>
                  <a:lnTo>
                    <a:pt x="73088" y="0"/>
                  </a:lnTo>
                  <a:lnTo>
                    <a:pt x="63454" y="607"/>
                  </a:lnTo>
                  <a:lnTo>
                    <a:pt x="21431" y="21458"/>
                  </a:lnTo>
                  <a:lnTo>
                    <a:pt x="607" y="63447"/>
                  </a:lnTo>
                  <a:lnTo>
                    <a:pt x="0" y="73075"/>
                  </a:lnTo>
                  <a:lnTo>
                    <a:pt x="0" y="137159"/>
                  </a:lnTo>
                  <a:lnTo>
                    <a:pt x="5400" y="164895"/>
                  </a:lnTo>
                  <a:lnTo>
                    <a:pt x="5470" y="165100"/>
                  </a:lnTo>
                  <a:lnTo>
                    <a:pt x="36360" y="200520"/>
                  </a:lnTo>
                  <a:lnTo>
                    <a:pt x="73088" y="210235"/>
                  </a:lnTo>
                  <a:lnTo>
                    <a:pt x="640080" y="209880"/>
                  </a:lnTo>
                  <a:lnTo>
                    <a:pt x="684457" y="194776"/>
                  </a:lnTo>
                  <a:lnTo>
                    <a:pt x="710633" y="156144"/>
                  </a:lnTo>
                  <a:lnTo>
                    <a:pt x="710738" y="155832"/>
                  </a:lnTo>
                  <a:lnTo>
                    <a:pt x="712492" y="146786"/>
                  </a:lnTo>
                  <a:lnTo>
                    <a:pt x="712561" y="146430"/>
                  </a:lnTo>
                  <a:lnTo>
                    <a:pt x="713145" y="137159"/>
                  </a:lnTo>
                  <a:lnTo>
                    <a:pt x="712800" y="73075"/>
                  </a:lnTo>
                  <a:lnTo>
                    <a:pt x="697708" y="28698"/>
                  </a:lnTo>
                  <a:lnTo>
                    <a:pt x="658758" y="2428"/>
                  </a:lnTo>
                  <a:lnTo>
                    <a:pt x="649358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1C4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4142155" y="470015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4260964" y="4754526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20">
                  <a:moveTo>
                    <a:pt x="639711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8" y="21458"/>
                  </a:lnTo>
                  <a:lnTo>
                    <a:pt x="606" y="63447"/>
                  </a:lnTo>
                  <a:lnTo>
                    <a:pt x="0" y="73075"/>
                  </a:lnTo>
                  <a:lnTo>
                    <a:pt x="0" y="137159"/>
                  </a:lnTo>
                  <a:lnTo>
                    <a:pt x="584" y="146430"/>
                  </a:lnTo>
                  <a:lnTo>
                    <a:pt x="607" y="146786"/>
                  </a:lnTo>
                  <a:lnTo>
                    <a:pt x="2367" y="155832"/>
                  </a:lnTo>
                  <a:lnTo>
                    <a:pt x="2428" y="156144"/>
                  </a:lnTo>
                  <a:lnTo>
                    <a:pt x="5395" y="164895"/>
                  </a:lnTo>
                  <a:lnTo>
                    <a:pt x="36360" y="200520"/>
                  </a:lnTo>
                  <a:lnTo>
                    <a:pt x="73075" y="210235"/>
                  </a:lnTo>
                  <a:lnTo>
                    <a:pt x="640079" y="209880"/>
                  </a:lnTo>
                  <a:lnTo>
                    <a:pt x="684450" y="194776"/>
                  </a:lnTo>
                  <a:lnTo>
                    <a:pt x="707589" y="165100"/>
                  </a:lnTo>
                  <a:lnTo>
                    <a:pt x="707690" y="164895"/>
                  </a:lnTo>
                  <a:lnTo>
                    <a:pt x="713132" y="137159"/>
                  </a:lnTo>
                  <a:lnTo>
                    <a:pt x="713155" y="136791"/>
                  </a:lnTo>
                  <a:lnTo>
                    <a:pt x="712800" y="73075"/>
                  </a:lnTo>
                  <a:lnTo>
                    <a:pt x="697696" y="28698"/>
                  </a:lnTo>
                  <a:lnTo>
                    <a:pt x="658752" y="2428"/>
                  </a:lnTo>
                  <a:lnTo>
                    <a:pt x="649351" y="607"/>
                  </a:lnTo>
                  <a:lnTo>
                    <a:pt x="639711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2" name="object 182"/>
          <p:cNvSpPr txBox="1"/>
          <p:nvPr/>
        </p:nvSpPr>
        <p:spPr>
          <a:xfrm>
            <a:off x="4576216" y="4782136"/>
            <a:ext cx="831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83" name="object 183"/>
          <p:cNvGrpSpPr/>
          <p:nvPr/>
        </p:nvGrpSpPr>
        <p:grpSpPr>
          <a:xfrm>
            <a:off x="5221084" y="4700157"/>
            <a:ext cx="1078865" cy="320040"/>
            <a:chOff x="5221084" y="4700157"/>
            <a:chExt cx="1078865" cy="320040"/>
          </a:xfrm>
        </p:grpSpPr>
        <p:sp>
          <p:nvSpPr>
            <p:cNvPr id="184" name="object 184"/>
            <p:cNvSpPr/>
            <p:nvPr/>
          </p:nvSpPr>
          <p:spPr>
            <a:xfrm>
              <a:off x="5221084" y="470015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4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5340235" y="4754526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39" h="210820">
                  <a:moveTo>
                    <a:pt x="639724" y="0"/>
                  </a:moveTo>
                  <a:lnTo>
                    <a:pt x="73088" y="0"/>
                  </a:lnTo>
                  <a:lnTo>
                    <a:pt x="63454" y="607"/>
                  </a:lnTo>
                  <a:lnTo>
                    <a:pt x="21431" y="21458"/>
                  </a:lnTo>
                  <a:lnTo>
                    <a:pt x="607" y="63447"/>
                  </a:lnTo>
                  <a:lnTo>
                    <a:pt x="0" y="73075"/>
                  </a:lnTo>
                  <a:lnTo>
                    <a:pt x="0" y="137159"/>
                  </a:lnTo>
                  <a:lnTo>
                    <a:pt x="584" y="146430"/>
                  </a:lnTo>
                  <a:lnTo>
                    <a:pt x="607" y="146786"/>
                  </a:lnTo>
                  <a:lnTo>
                    <a:pt x="2369" y="155832"/>
                  </a:lnTo>
                  <a:lnTo>
                    <a:pt x="2430" y="156144"/>
                  </a:lnTo>
                  <a:lnTo>
                    <a:pt x="5400" y="164895"/>
                  </a:lnTo>
                  <a:lnTo>
                    <a:pt x="36360" y="200520"/>
                  </a:lnTo>
                  <a:lnTo>
                    <a:pt x="73088" y="210235"/>
                  </a:lnTo>
                  <a:lnTo>
                    <a:pt x="640080" y="209880"/>
                  </a:lnTo>
                  <a:lnTo>
                    <a:pt x="684457" y="194776"/>
                  </a:lnTo>
                  <a:lnTo>
                    <a:pt x="710633" y="156144"/>
                  </a:lnTo>
                  <a:lnTo>
                    <a:pt x="710738" y="155832"/>
                  </a:lnTo>
                  <a:lnTo>
                    <a:pt x="712492" y="146786"/>
                  </a:lnTo>
                  <a:lnTo>
                    <a:pt x="712561" y="146430"/>
                  </a:lnTo>
                  <a:lnTo>
                    <a:pt x="713145" y="137159"/>
                  </a:lnTo>
                  <a:lnTo>
                    <a:pt x="712800" y="73075"/>
                  </a:lnTo>
                  <a:lnTo>
                    <a:pt x="697708" y="28698"/>
                  </a:lnTo>
                  <a:lnTo>
                    <a:pt x="658758" y="2428"/>
                  </a:lnTo>
                  <a:lnTo>
                    <a:pt x="649358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6" name="object 186"/>
          <p:cNvSpPr txBox="1"/>
          <p:nvPr/>
        </p:nvSpPr>
        <p:spPr>
          <a:xfrm>
            <a:off x="5655500" y="4782136"/>
            <a:ext cx="831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6300355" y="4700157"/>
            <a:ext cx="1078865" cy="320040"/>
            <a:chOff x="6300355" y="4700157"/>
            <a:chExt cx="1078865" cy="320040"/>
          </a:xfrm>
        </p:grpSpPr>
        <p:sp>
          <p:nvSpPr>
            <p:cNvPr id="188" name="object 188"/>
            <p:cNvSpPr/>
            <p:nvPr/>
          </p:nvSpPr>
          <p:spPr>
            <a:xfrm>
              <a:off x="6300355" y="470015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5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6419164" y="4754526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40" h="210820">
                  <a:moveTo>
                    <a:pt x="639711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8" y="21458"/>
                  </a:lnTo>
                  <a:lnTo>
                    <a:pt x="606" y="63447"/>
                  </a:lnTo>
                  <a:lnTo>
                    <a:pt x="0" y="73075"/>
                  </a:lnTo>
                  <a:lnTo>
                    <a:pt x="0" y="137159"/>
                  </a:lnTo>
                  <a:lnTo>
                    <a:pt x="584" y="146430"/>
                  </a:lnTo>
                  <a:lnTo>
                    <a:pt x="607" y="146786"/>
                  </a:lnTo>
                  <a:lnTo>
                    <a:pt x="2367" y="155832"/>
                  </a:lnTo>
                  <a:lnTo>
                    <a:pt x="2428" y="156144"/>
                  </a:lnTo>
                  <a:lnTo>
                    <a:pt x="5395" y="164895"/>
                  </a:lnTo>
                  <a:lnTo>
                    <a:pt x="36360" y="200520"/>
                  </a:lnTo>
                  <a:lnTo>
                    <a:pt x="73075" y="210235"/>
                  </a:lnTo>
                  <a:lnTo>
                    <a:pt x="640079" y="209880"/>
                  </a:lnTo>
                  <a:lnTo>
                    <a:pt x="684450" y="194776"/>
                  </a:lnTo>
                  <a:lnTo>
                    <a:pt x="710622" y="156144"/>
                  </a:lnTo>
                  <a:lnTo>
                    <a:pt x="710726" y="155832"/>
                  </a:lnTo>
                  <a:lnTo>
                    <a:pt x="712479" y="146786"/>
                  </a:lnTo>
                  <a:lnTo>
                    <a:pt x="712548" y="146430"/>
                  </a:lnTo>
                  <a:lnTo>
                    <a:pt x="713132" y="137159"/>
                  </a:lnTo>
                  <a:lnTo>
                    <a:pt x="713155" y="136791"/>
                  </a:lnTo>
                  <a:lnTo>
                    <a:pt x="712800" y="73075"/>
                  </a:lnTo>
                  <a:lnTo>
                    <a:pt x="697696" y="28698"/>
                  </a:lnTo>
                  <a:lnTo>
                    <a:pt x="658752" y="2428"/>
                  </a:lnTo>
                  <a:lnTo>
                    <a:pt x="649351" y="607"/>
                  </a:lnTo>
                  <a:lnTo>
                    <a:pt x="639711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0" name="object 190"/>
          <p:cNvSpPr txBox="1"/>
          <p:nvPr/>
        </p:nvSpPr>
        <p:spPr>
          <a:xfrm>
            <a:off x="6734416" y="4782136"/>
            <a:ext cx="831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91" name="object 191"/>
          <p:cNvGrpSpPr/>
          <p:nvPr/>
        </p:nvGrpSpPr>
        <p:grpSpPr>
          <a:xfrm>
            <a:off x="7379284" y="4700157"/>
            <a:ext cx="1078865" cy="320040"/>
            <a:chOff x="7379284" y="4700157"/>
            <a:chExt cx="1078865" cy="320040"/>
          </a:xfrm>
        </p:grpSpPr>
        <p:sp>
          <p:nvSpPr>
            <p:cNvPr id="192" name="object 192"/>
            <p:cNvSpPr/>
            <p:nvPr/>
          </p:nvSpPr>
          <p:spPr>
            <a:xfrm>
              <a:off x="7379284" y="4700157"/>
              <a:ext cx="1078865" cy="320040"/>
            </a:xfrm>
            <a:custGeom>
              <a:avLst/>
              <a:gdLst/>
              <a:ahLst/>
              <a:cxnLst/>
              <a:rect l="l" t="t" r="r" b="b"/>
              <a:pathLst>
                <a:path w="1078865" h="320039">
                  <a:moveTo>
                    <a:pt x="1078560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539280" y="319684"/>
                  </a:lnTo>
                  <a:lnTo>
                    <a:pt x="1078560" y="319684"/>
                  </a:lnTo>
                  <a:lnTo>
                    <a:pt x="107856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7498080" y="4754526"/>
              <a:ext cx="713740" cy="210820"/>
            </a:xfrm>
            <a:custGeom>
              <a:avLst/>
              <a:gdLst/>
              <a:ahLst/>
              <a:cxnLst/>
              <a:rect l="l" t="t" r="r" b="b"/>
              <a:pathLst>
                <a:path w="713740" h="210820">
                  <a:moveTo>
                    <a:pt x="639724" y="0"/>
                  </a:moveTo>
                  <a:lnTo>
                    <a:pt x="73075" y="0"/>
                  </a:lnTo>
                  <a:lnTo>
                    <a:pt x="63449" y="607"/>
                  </a:lnTo>
                  <a:lnTo>
                    <a:pt x="21428" y="21458"/>
                  </a:lnTo>
                  <a:lnTo>
                    <a:pt x="606" y="63447"/>
                  </a:lnTo>
                  <a:lnTo>
                    <a:pt x="0" y="73075"/>
                  </a:lnTo>
                  <a:lnTo>
                    <a:pt x="0" y="137159"/>
                  </a:lnTo>
                  <a:lnTo>
                    <a:pt x="584" y="146430"/>
                  </a:lnTo>
                  <a:lnTo>
                    <a:pt x="607" y="146786"/>
                  </a:lnTo>
                  <a:lnTo>
                    <a:pt x="2367" y="155832"/>
                  </a:lnTo>
                  <a:lnTo>
                    <a:pt x="2428" y="156144"/>
                  </a:lnTo>
                  <a:lnTo>
                    <a:pt x="28555" y="195131"/>
                  </a:lnTo>
                  <a:lnTo>
                    <a:pt x="73075" y="210235"/>
                  </a:lnTo>
                  <a:lnTo>
                    <a:pt x="640079" y="209880"/>
                  </a:lnTo>
                  <a:lnTo>
                    <a:pt x="684457" y="194776"/>
                  </a:lnTo>
                  <a:lnTo>
                    <a:pt x="710622" y="156144"/>
                  </a:lnTo>
                  <a:lnTo>
                    <a:pt x="710726" y="155832"/>
                  </a:lnTo>
                  <a:lnTo>
                    <a:pt x="712479" y="146786"/>
                  </a:lnTo>
                  <a:lnTo>
                    <a:pt x="712548" y="146430"/>
                  </a:lnTo>
                  <a:lnTo>
                    <a:pt x="713132" y="137159"/>
                  </a:lnTo>
                  <a:lnTo>
                    <a:pt x="713155" y="136791"/>
                  </a:lnTo>
                  <a:lnTo>
                    <a:pt x="712800" y="73075"/>
                  </a:lnTo>
                  <a:lnTo>
                    <a:pt x="697701" y="28698"/>
                  </a:lnTo>
                  <a:lnTo>
                    <a:pt x="658753" y="2428"/>
                  </a:lnTo>
                  <a:lnTo>
                    <a:pt x="649356" y="607"/>
                  </a:lnTo>
                  <a:lnTo>
                    <a:pt x="639724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4" name="object 194"/>
          <p:cNvSpPr txBox="1"/>
          <p:nvPr/>
        </p:nvSpPr>
        <p:spPr>
          <a:xfrm>
            <a:off x="7811896" y="4782136"/>
            <a:ext cx="8636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95" name="object 195"/>
          <p:cNvGrpSpPr/>
          <p:nvPr/>
        </p:nvGrpSpPr>
        <p:grpSpPr>
          <a:xfrm>
            <a:off x="242277" y="4841978"/>
            <a:ext cx="8695055" cy="301625"/>
            <a:chOff x="242277" y="4841978"/>
            <a:chExt cx="8695055" cy="301625"/>
          </a:xfrm>
        </p:grpSpPr>
        <p:pic>
          <p:nvPicPr>
            <p:cNvPr id="196" name="object 19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4841978"/>
              <a:ext cx="8694724" cy="301345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319684" y="4919397"/>
              <a:ext cx="8503920" cy="201295"/>
            </a:xfrm>
            <a:custGeom>
              <a:avLst/>
              <a:gdLst/>
              <a:ahLst/>
              <a:cxnLst/>
              <a:rect l="l" t="t" r="r" b="b"/>
              <a:pathLst>
                <a:path w="8503920" h="201295">
                  <a:moveTo>
                    <a:pt x="8403120" y="0"/>
                  </a:moveTo>
                  <a:lnTo>
                    <a:pt x="100799" y="0"/>
                  </a:lnTo>
                  <a:lnTo>
                    <a:pt x="86605" y="867"/>
                  </a:lnTo>
                  <a:lnTo>
                    <a:pt x="87182" y="867"/>
                  </a:lnTo>
                  <a:lnTo>
                    <a:pt x="74515" y="3284"/>
                  </a:lnTo>
                  <a:lnTo>
                    <a:pt x="39334" y="20577"/>
                  </a:lnTo>
                  <a:lnTo>
                    <a:pt x="13309" y="50038"/>
                  </a:lnTo>
                  <a:lnTo>
                    <a:pt x="864" y="87309"/>
                  </a:lnTo>
                  <a:lnTo>
                    <a:pt x="0" y="100444"/>
                  </a:lnTo>
                  <a:lnTo>
                    <a:pt x="802" y="113585"/>
                  </a:lnTo>
                  <a:lnTo>
                    <a:pt x="815" y="113785"/>
                  </a:lnTo>
                  <a:lnTo>
                    <a:pt x="3232" y="126455"/>
                  </a:lnTo>
                  <a:lnTo>
                    <a:pt x="3282" y="126722"/>
                  </a:lnTo>
                  <a:lnTo>
                    <a:pt x="7369" y="138918"/>
                  </a:lnTo>
                  <a:lnTo>
                    <a:pt x="7436" y="139118"/>
                  </a:lnTo>
                  <a:lnTo>
                    <a:pt x="13309" y="150837"/>
                  </a:lnTo>
                  <a:lnTo>
                    <a:pt x="20467" y="161743"/>
                  </a:lnTo>
                  <a:lnTo>
                    <a:pt x="20570" y="161899"/>
                  </a:lnTo>
                  <a:lnTo>
                    <a:pt x="50037" y="187921"/>
                  </a:lnTo>
                  <a:lnTo>
                    <a:pt x="87292" y="200377"/>
                  </a:lnTo>
                  <a:lnTo>
                    <a:pt x="100431" y="201244"/>
                  </a:lnTo>
                  <a:lnTo>
                    <a:pt x="8403475" y="201244"/>
                  </a:lnTo>
                  <a:lnTo>
                    <a:pt x="8441800" y="193496"/>
                  </a:lnTo>
                  <a:lnTo>
                    <a:pt x="8474484" y="171635"/>
                  </a:lnTo>
                  <a:lnTo>
                    <a:pt x="8496226" y="139118"/>
                  </a:lnTo>
                  <a:lnTo>
                    <a:pt x="8496322" y="138918"/>
                  </a:lnTo>
                  <a:lnTo>
                    <a:pt x="8503920" y="100444"/>
                  </a:lnTo>
                  <a:lnTo>
                    <a:pt x="8503047" y="87309"/>
                  </a:lnTo>
                  <a:lnTo>
                    <a:pt x="8490229" y="50406"/>
                  </a:lnTo>
                  <a:lnTo>
                    <a:pt x="8464417" y="20738"/>
                  </a:lnTo>
                  <a:lnTo>
                    <a:pt x="8429126" y="3422"/>
                  </a:lnTo>
                  <a:lnTo>
                    <a:pt x="8416259" y="867"/>
                  </a:lnTo>
                  <a:lnTo>
                    <a:pt x="8403120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319684" y="4919397"/>
              <a:ext cx="8503920" cy="201295"/>
            </a:xfrm>
            <a:custGeom>
              <a:avLst/>
              <a:gdLst/>
              <a:ahLst/>
              <a:cxnLst/>
              <a:rect l="l" t="t" r="r" b="b"/>
              <a:pathLst>
                <a:path w="8503920" h="201295">
                  <a:moveTo>
                    <a:pt x="0" y="100444"/>
                  </a:moveTo>
                  <a:lnTo>
                    <a:pt x="865" y="87303"/>
                  </a:lnTo>
                  <a:lnTo>
                    <a:pt x="3416" y="74431"/>
                  </a:lnTo>
                  <a:lnTo>
                    <a:pt x="20725" y="39139"/>
                  </a:lnTo>
                  <a:lnTo>
                    <a:pt x="50393" y="13322"/>
                  </a:lnTo>
                  <a:lnTo>
                    <a:pt x="87453" y="815"/>
                  </a:lnTo>
                  <a:lnTo>
                    <a:pt x="100799" y="0"/>
                  </a:lnTo>
                  <a:lnTo>
                    <a:pt x="8403120" y="0"/>
                  </a:lnTo>
                  <a:lnTo>
                    <a:pt x="8441589" y="7597"/>
                  </a:lnTo>
                  <a:lnTo>
                    <a:pt x="8474305" y="29435"/>
                  </a:lnTo>
                  <a:lnTo>
                    <a:pt x="8496167" y="62119"/>
                  </a:lnTo>
                  <a:lnTo>
                    <a:pt x="8503920" y="100444"/>
                  </a:lnTo>
                  <a:lnTo>
                    <a:pt x="8503052" y="113585"/>
                  </a:lnTo>
                  <a:lnTo>
                    <a:pt x="8500497" y="126455"/>
                  </a:lnTo>
                  <a:lnTo>
                    <a:pt x="8483181" y="161743"/>
                  </a:lnTo>
                  <a:lnTo>
                    <a:pt x="8453513" y="187566"/>
                  </a:lnTo>
                  <a:lnTo>
                    <a:pt x="8416610" y="200371"/>
                  </a:lnTo>
                  <a:lnTo>
                    <a:pt x="8403475" y="201244"/>
                  </a:lnTo>
                  <a:lnTo>
                    <a:pt x="100431" y="201244"/>
                  </a:lnTo>
                  <a:lnTo>
                    <a:pt x="61962" y="193646"/>
                  </a:lnTo>
                  <a:lnTo>
                    <a:pt x="29244" y="171813"/>
                  </a:lnTo>
                  <a:lnTo>
                    <a:pt x="7436" y="139118"/>
                  </a:lnTo>
                  <a:lnTo>
                    <a:pt x="0" y="10044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9" name="object 199"/>
          <p:cNvSpPr txBox="1"/>
          <p:nvPr/>
        </p:nvSpPr>
        <p:spPr>
          <a:xfrm>
            <a:off x="398779" y="4756073"/>
            <a:ext cx="3564254" cy="34544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3106420" algn="l"/>
              </a:tabLst>
            </a:pPr>
            <a:r>
              <a:rPr sz="900" spc="-35" dirty="0">
                <a:solidFill>
                  <a:srgbClr val="1D283A"/>
                </a:solidFill>
                <a:latin typeface="Calibri"/>
                <a:cs typeface="Calibri"/>
              </a:rPr>
              <a:t>UAT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&amp;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Acceptance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	</a:t>
            </a:r>
            <a:r>
              <a:rPr sz="850" b="1" spc="-6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850">
              <a:latin typeface="Calibri"/>
              <a:cs typeface="Calibri"/>
            </a:endParaRPr>
          </a:p>
          <a:p>
            <a:pPr marL="57785">
              <a:lnSpc>
                <a:spcPct val="100000"/>
              </a:lnSpc>
              <a:spcBef>
                <a:spcPts val="18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Legend:</a:t>
            </a:r>
            <a:r>
              <a:rPr sz="900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Responsible</a:t>
            </a:r>
            <a:r>
              <a:rPr sz="900" spc="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900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Accountable</a:t>
            </a:r>
            <a:r>
              <a:rPr sz="900" spc="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900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Consulted</a:t>
            </a:r>
            <a:r>
              <a:rPr sz="900" spc="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900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Informed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22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9356" y="502198"/>
            <a:ext cx="1280795" cy="329565"/>
          </a:xfrm>
          <a:custGeom>
            <a:avLst/>
            <a:gdLst/>
            <a:ahLst/>
            <a:cxnLst/>
            <a:rect l="l" t="t" r="r" b="b"/>
            <a:pathLst>
              <a:path w="1280795" h="329565">
                <a:moveTo>
                  <a:pt x="91808" y="0"/>
                </a:moveTo>
                <a:lnTo>
                  <a:pt x="46088" y="12242"/>
                </a:lnTo>
                <a:lnTo>
                  <a:pt x="12598" y="45720"/>
                </a:lnTo>
                <a:lnTo>
                  <a:pt x="368" y="91439"/>
                </a:lnTo>
                <a:lnTo>
                  <a:pt x="0" y="237959"/>
                </a:lnTo>
                <a:lnTo>
                  <a:pt x="798" y="249966"/>
                </a:lnTo>
                <a:lnTo>
                  <a:pt x="18843" y="293724"/>
                </a:lnTo>
                <a:lnTo>
                  <a:pt x="56512" y="322418"/>
                </a:lnTo>
                <a:lnTo>
                  <a:pt x="91439" y="329399"/>
                </a:lnTo>
                <a:lnTo>
                  <a:pt x="1189088" y="329399"/>
                </a:lnTo>
                <a:lnTo>
                  <a:pt x="1234808" y="317169"/>
                </a:lnTo>
                <a:lnTo>
                  <a:pt x="1268285" y="283679"/>
                </a:lnTo>
                <a:lnTo>
                  <a:pt x="1280528" y="237959"/>
                </a:lnTo>
                <a:lnTo>
                  <a:pt x="1280503" y="91439"/>
                </a:lnTo>
                <a:lnTo>
                  <a:pt x="1268285" y="46088"/>
                </a:lnTo>
                <a:lnTo>
                  <a:pt x="1234808" y="12598"/>
                </a:lnTo>
                <a:lnTo>
                  <a:pt x="1189088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2901" y="578067"/>
            <a:ext cx="6343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0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04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27024" y="1020142"/>
            <a:ext cx="446341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/>
              <a:t>System</a:t>
            </a:r>
            <a:r>
              <a:rPr sz="4200" spc="-235" dirty="0"/>
              <a:t> </a:t>
            </a:r>
            <a:r>
              <a:rPr sz="4200" spc="-10" dirty="0"/>
              <a:t>Architecture</a:t>
            </a:r>
            <a:endParaRPr sz="4200"/>
          </a:p>
        </p:txBody>
      </p:sp>
      <p:sp>
        <p:nvSpPr>
          <p:cNvPr id="6" name="object 6"/>
          <p:cNvSpPr txBox="1"/>
          <p:nvPr/>
        </p:nvSpPr>
        <p:spPr>
          <a:xfrm>
            <a:off x="627024" y="1838428"/>
            <a:ext cx="4630776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200" dirty="0">
                <a:solidFill>
                  <a:srgbClr val="F49D0A"/>
                </a:solidFill>
                <a:latin typeface="Arial"/>
                <a:cs typeface="Arial"/>
              </a:rPr>
              <a:t>C4</a:t>
            </a:r>
            <a:r>
              <a:rPr sz="1500" i="1" spc="-80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55" dirty="0">
                <a:solidFill>
                  <a:srgbClr val="F49D0A"/>
                </a:solidFill>
                <a:latin typeface="Arial"/>
                <a:cs typeface="Arial"/>
              </a:rPr>
              <a:t>Model</a:t>
            </a:r>
            <a:r>
              <a:rPr sz="1500" i="1" spc="-6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25" dirty="0">
                <a:solidFill>
                  <a:srgbClr val="F49D0A"/>
                </a:solidFill>
                <a:latin typeface="Arial"/>
                <a:cs typeface="Arial"/>
              </a:rPr>
              <a:t>·</a:t>
            </a:r>
            <a:r>
              <a:rPr sz="1500" i="1" spc="-6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lang="en-US" sz="1500" i="1" spc="-65" dirty="0">
                <a:solidFill>
                  <a:srgbClr val="F49D0A"/>
                </a:solidFill>
                <a:latin typeface="Arial"/>
                <a:cs typeface="Arial"/>
              </a:rPr>
              <a:t>ERD</a:t>
            </a:r>
            <a:r>
              <a:rPr sz="1500" i="1" spc="-7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25" dirty="0">
                <a:solidFill>
                  <a:srgbClr val="F49D0A"/>
                </a:solidFill>
                <a:latin typeface="Arial"/>
                <a:cs typeface="Arial"/>
              </a:rPr>
              <a:t>·</a:t>
            </a:r>
            <a:r>
              <a:rPr sz="1500" i="1" spc="-6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90" dirty="0">
                <a:solidFill>
                  <a:srgbClr val="F49D0A"/>
                </a:solidFill>
                <a:latin typeface="Arial"/>
                <a:cs typeface="Arial"/>
              </a:rPr>
              <a:t>Spring</a:t>
            </a:r>
            <a:r>
              <a:rPr sz="1500" i="1" spc="-70" dirty="0">
                <a:solidFill>
                  <a:srgbClr val="F49D0A"/>
                </a:solidFill>
                <a:latin typeface="Arial"/>
                <a:cs typeface="Arial"/>
              </a:rPr>
              <a:t> Boot</a:t>
            </a:r>
            <a:r>
              <a:rPr sz="1500" i="1" spc="-6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14" dirty="0">
                <a:solidFill>
                  <a:srgbClr val="F49D0A"/>
                </a:solidFill>
                <a:latin typeface="Arial"/>
                <a:cs typeface="Arial"/>
              </a:rPr>
              <a:t>Layers</a:t>
            </a:r>
            <a:r>
              <a:rPr sz="1500" i="1" spc="-6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25" dirty="0">
                <a:solidFill>
                  <a:srgbClr val="F49D0A"/>
                </a:solidFill>
                <a:latin typeface="Arial"/>
                <a:cs typeface="Arial"/>
              </a:rPr>
              <a:t>·</a:t>
            </a:r>
            <a:r>
              <a:rPr sz="1500" i="1" spc="-6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85" dirty="0">
                <a:solidFill>
                  <a:srgbClr val="F49D0A"/>
                </a:solidFill>
                <a:latin typeface="Arial"/>
                <a:cs typeface="Arial"/>
              </a:rPr>
              <a:t>Domain</a:t>
            </a:r>
            <a:r>
              <a:rPr sz="1500" i="1" spc="-6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50" dirty="0">
                <a:solidFill>
                  <a:srgbClr val="F49D0A"/>
                </a:solidFill>
                <a:latin typeface="Arial"/>
                <a:cs typeface="Arial"/>
              </a:rPr>
              <a:t>Design</a:t>
            </a:r>
            <a:endParaRPr sz="15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4800" y="2325422"/>
            <a:ext cx="2024380" cy="515620"/>
            <a:chOff x="633424" y="2325422"/>
            <a:chExt cx="2024380" cy="515620"/>
          </a:xfrm>
        </p:grpSpPr>
        <p:sp>
          <p:nvSpPr>
            <p:cNvPr id="8" name="object 8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191987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5" y="434789"/>
                  </a:lnTo>
                  <a:lnTo>
                    <a:pt x="3148" y="435149"/>
                  </a:lnTo>
                  <a:lnTo>
                    <a:pt x="6859" y="446051"/>
                  </a:lnTo>
                  <a:lnTo>
                    <a:pt x="35675" y="484083"/>
                  </a:lnTo>
                  <a:lnTo>
                    <a:pt x="79433" y="502121"/>
                  </a:lnTo>
                  <a:lnTo>
                    <a:pt x="91440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08402" y="435149"/>
                  </a:lnTo>
                  <a:lnTo>
                    <a:pt x="2008525" y="434789"/>
                  </a:lnTo>
                  <a:lnTo>
                    <a:pt x="2010806" y="423485"/>
                  </a:lnTo>
                  <a:lnTo>
                    <a:pt x="2010879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11" y="91439"/>
                  </a:lnTo>
                  <a:lnTo>
                    <a:pt x="1999081" y="45719"/>
                  </a:lnTo>
                  <a:lnTo>
                    <a:pt x="1965591" y="12242"/>
                  </a:lnTo>
                  <a:lnTo>
                    <a:pt x="1931878" y="798"/>
                  </a:lnTo>
                  <a:lnTo>
                    <a:pt x="1919871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0" y="91439"/>
                  </a:moveTo>
                  <a:lnTo>
                    <a:pt x="798" y="79434"/>
                  </a:lnTo>
                  <a:lnTo>
                    <a:pt x="3148" y="67770"/>
                  </a:lnTo>
                  <a:lnTo>
                    <a:pt x="26679" y="26681"/>
                  </a:lnTo>
                  <a:lnTo>
                    <a:pt x="67765" y="3149"/>
                  </a:lnTo>
                  <a:lnTo>
                    <a:pt x="91440" y="0"/>
                  </a:lnTo>
                  <a:lnTo>
                    <a:pt x="1919871" y="0"/>
                  </a:lnTo>
                  <a:lnTo>
                    <a:pt x="1965591" y="12242"/>
                  </a:lnTo>
                  <a:lnTo>
                    <a:pt x="1999081" y="45719"/>
                  </a:lnTo>
                  <a:lnTo>
                    <a:pt x="2011311" y="91439"/>
                  </a:lnTo>
                  <a:lnTo>
                    <a:pt x="2011679" y="411124"/>
                  </a:lnTo>
                  <a:lnTo>
                    <a:pt x="2010879" y="423124"/>
                  </a:lnTo>
                  <a:lnTo>
                    <a:pt x="2008525" y="434789"/>
                  </a:lnTo>
                  <a:lnTo>
                    <a:pt x="1984989" y="475873"/>
                  </a:lnTo>
                  <a:lnTo>
                    <a:pt x="1943904" y="499410"/>
                  </a:lnTo>
                  <a:lnTo>
                    <a:pt x="91440" y="502919"/>
                  </a:lnTo>
                  <a:lnTo>
                    <a:pt x="45720" y="490677"/>
                  </a:lnTo>
                  <a:lnTo>
                    <a:pt x="12230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38200" y="2497939"/>
            <a:ext cx="5562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C4</a:t>
            </a:r>
            <a:r>
              <a:rPr sz="950" spc="-4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Context</a:t>
            </a:r>
            <a:endParaRPr sz="95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80996" y="2325422"/>
            <a:ext cx="2024380" cy="515620"/>
            <a:chOff x="2809620" y="2325422"/>
            <a:chExt cx="2024380" cy="515620"/>
          </a:xfrm>
        </p:grpSpPr>
        <p:sp>
          <p:nvSpPr>
            <p:cNvPr id="12" name="object 12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76" y="484083"/>
                  </a:lnTo>
                  <a:lnTo>
                    <a:pt x="79433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79" y="411124"/>
                  </a:lnTo>
                  <a:lnTo>
                    <a:pt x="2010881" y="423124"/>
                  </a:lnTo>
                  <a:lnTo>
                    <a:pt x="2008530" y="434789"/>
                  </a:lnTo>
                  <a:lnTo>
                    <a:pt x="1984994" y="475873"/>
                  </a:lnTo>
                  <a:lnTo>
                    <a:pt x="1943909" y="499410"/>
                  </a:lnTo>
                  <a:lnTo>
                    <a:pt x="91439" y="502919"/>
                  </a:lnTo>
                  <a:lnTo>
                    <a:pt x="45719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64714" y="2497939"/>
            <a:ext cx="65532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C4</a:t>
            </a:r>
            <a:r>
              <a:rPr sz="950" spc="-4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Container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57192" y="2325422"/>
            <a:ext cx="2024380" cy="515620"/>
            <a:chOff x="4985816" y="2325422"/>
            <a:chExt cx="2024380" cy="515620"/>
          </a:xfrm>
        </p:grpSpPr>
        <p:sp>
          <p:nvSpPr>
            <p:cNvPr id="16" name="object 16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83" y="484083"/>
                  </a:lnTo>
                  <a:lnTo>
                    <a:pt x="79440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49" y="456844"/>
                  </a:lnTo>
                  <a:lnTo>
                    <a:pt x="2008409" y="435149"/>
                  </a:lnTo>
                  <a:lnTo>
                    <a:pt x="2008531" y="434789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80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9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90" y="26681"/>
                  </a:lnTo>
                  <a:lnTo>
                    <a:pt x="6777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80" y="411124"/>
                  </a:lnTo>
                  <a:lnTo>
                    <a:pt x="2010881" y="423124"/>
                  </a:lnTo>
                  <a:lnTo>
                    <a:pt x="2008531" y="434789"/>
                  </a:lnTo>
                  <a:lnTo>
                    <a:pt x="1985000" y="475873"/>
                  </a:lnTo>
                  <a:lnTo>
                    <a:pt x="1943914" y="499410"/>
                  </a:lnTo>
                  <a:lnTo>
                    <a:pt x="91439" y="502919"/>
                  </a:lnTo>
                  <a:lnTo>
                    <a:pt x="45720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79797" y="2497939"/>
            <a:ext cx="57912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ERD</a:t>
            </a:r>
            <a:r>
              <a:rPr sz="950" spc="-35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Design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33755" y="2325422"/>
            <a:ext cx="1987550" cy="515620"/>
            <a:chOff x="7162379" y="2325422"/>
            <a:chExt cx="1987550" cy="515620"/>
          </a:xfrm>
        </p:grpSpPr>
        <p:sp>
          <p:nvSpPr>
            <p:cNvPr id="20" name="object 20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1988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12242" y="457200"/>
                  </a:lnTo>
                  <a:lnTo>
                    <a:pt x="45720" y="490677"/>
                  </a:lnTo>
                  <a:lnTo>
                    <a:pt x="91440" y="502919"/>
                  </a:lnTo>
                  <a:lnTo>
                    <a:pt x="1920240" y="502564"/>
                  </a:lnTo>
                  <a:lnTo>
                    <a:pt x="1965960" y="490321"/>
                  </a:lnTo>
                  <a:lnTo>
                    <a:pt x="1974951" y="484412"/>
                  </a:lnTo>
                  <a:lnTo>
                    <a:pt x="1974951" y="18383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74951" y="484412"/>
                  </a:moveTo>
                  <a:lnTo>
                    <a:pt x="1932245" y="501764"/>
                  </a:lnTo>
                  <a:lnTo>
                    <a:pt x="91440" y="502919"/>
                  </a:lnTo>
                  <a:lnTo>
                    <a:pt x="79434" y="502121"/>
                  </a:lnTo>
                  <a:lnTo>
                    <a:pt x="35676" y="484083"/>
                  </a:lnTo>
                  <a:lnTo>
                    <a:pt x="6986" y="446409"/>
                  </a:lnTo>
                  <a:lnTo>
                    <a:pt x="0" y="411479"/>
                  </a:lnTo>
                  <a:lnTo>
                    <a:pt x="0" y="91439"/>
                  </a:lnTo>
                  <a:lnTo>
                    <a:pt x="12242" y="45719"/>
                  </a:lnTo>
                  <a:lnTo>
                    <a:pt x="45720" y="12242"/>
                  </a:lnTo>
                  <a:lnTo>
                    <a:pt x="91440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74951" y="18383"/>
                  </a:lnTo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512800" y="2497939"/>
            <a:ext cx="6654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Spring</a:t>
            </a:r>
            <a:r>
              <a:rPr sz="950" spc="-4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Layers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23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4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C4</a:t>
            </a:r>
            <a:r>
              <a:rPr spc="-80" dirty="0"/>
              <a:t> </a:t>
            </a:r>
            <a:r>
              <a:rPr spc="-10" dirty="0"/>
              <a:t>Context</a:t>
            </a:r>
            <a:r>
              <a:rPr spc="-75" dirty="0"/>
              <a:t> </a:t>
            </a:r>
            <a:r>
              <a:rPr spc="-10" dirty="0"/>
              <a:t>Diagram</a:t>
            </a:r>
            <a:r>
              <a:rPr spc="-70" dirty="0"/>
              <a:t> </a:t>
            </a:r>
            <a:r>
              <a:rPr dirty="0"/>
              <a:t>—</a:t>
            </a:r>
            <a:r>
              <a:rPr spc="-85" dirty="0"/>
              <a:t> </a:t>
            </a:r>
            <a:r>
              <a:rPr spc="-10" dirty="0"/>
              <a:t>WAMY</a:t>
            </a:r>
            <a:r>
              <a:rPr spc="-70" dirty="0"/>
              <a:t> </a:t>
            </a:r>
            <a:r>
              <a:rPr spc="-10" dirty="0"/>
              <a:t>Finance</a:t>
            </a:r>
          </a:p>
        </p:txBody>
      </p:sp>
      <p:sp>
        <p:nvSpPr>
          <p:cNvPr id="4" name="object 4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72818" y="178160"/>
            <a:ext cx="8474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2277" y="1038227"/>
            <a:ext cx="8695055" cy="3683635"/>
            <a:chOff x="242277" y="1038227"/>
            <a:chExt cx="8695055" cy="36836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038227"/>
              <a:ext cx="8694356" cy="9950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9316" y="1115277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8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934"/>
                  </a:lnTo>
                  <a:lnTo>
                    <a:pt x="368" y="109804"/>
                  </a:lnTo>
                  <a:lnTo>
                    <a:pt x="0" y="695159"/>
                  </a:lnTo>
                  <a:lnTo>
                    <a:pt x="929" y="709434"/>
                  </a:lnTo>
                  <a:lnTo>
                    <a:pt x="939" y="709590"/>
                  </a:lnTo>
                  <a:lnTo>
                    <a:pt x="3701" y="723469"/>
                  </a:lnTo>
                  <a:lnTo>
                    <a:pt x="3736" y="723647"/>
                  </a:lnTo>
                  <a:lnTo>
                    <a:pt x="8290" y="737031"/>
                  </a:lnTo>
                  <a:lnTo>
                    <a:pt x="8358" y="737231"/>
                  </a:lnTo>
                  <a:lnTo>
                    <a:pt x="14770" y="750239"/>
                  </a:lnTo>
                  <a:lnTo>
                    <a:pt x="22686" y="761953"/>
                  </a:lnTo>
                  <a:lnTo>
                    <a:pt x="22788" y="762103"/>
                  </a:lnTo>
                  <a:lnTo>
                    <a:pt x="55079" y="790206"/>
                  </a:lnTo>
                  <a:lnTo>
                    <a:pt x="95534" y="804024"/>
                  </a:lnTo>
                  <a:lnTo>
                    <a:pt x="109804" y="804964"/>
                  </a:lnTo>
                  <a:lnTo>
                    <a:pt x="8394484" y="804964"/>
                  </a:lnTo>
                  <a:lnTo>
                    <a:pt x="8436555" y="796611"/>
                  </a:lnTo>
                  <a:lnTo>
                    <a:pt x="8472057" y="772785"/>
                  </a:lnTo>
                  <a:lnTo>
                    <a:pt x="8495830" y="737231"/>
                  </a:lnTo>
                  <a:lnTo>
                    <a:pt x="8500490" y="723647"/>
                  </a:lnTo>
                  <a:lnTo>
                    <a:pt x="8500551" y="723469"/>
                  </a:lnTo>
                  <a:lnTo>
                    <a:pt x="8503317" y="709590"/>
                  </a:lnTo>
                  <a:lnTo>
                    <a:pt x="8503348" y="709434"/>
                  </a:lnTo>
                  <a:lnTo>
                    <a:pt x="8504288" y="695159"/>
                  </a:lnTo>
                  <a:lnTo>
                    <a:pt x="8504265" y="109804"/>
                  </a:lnTo>
                  <a:lnTo>
                    <a:pt x="8495930" y="68095"/>
                  </a:lnTo>
                  <a:lnTo>
                    <a:pt x="8472063" y="32535"/>
                  </a:lnTo>
                  <a:lnTo>
                    <a:pt x="8436353" y="8721"/>
                  </a:lnTo>
                  <a:lnTo>
                    <a:pt x="839448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9316" y="1115277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80">
                  <a:moveTo>
                    <a:pt x="368" y="109804"/>
                  </a:moveTo>
                  <a:lnTo>
                    <a:pt x="1307" y="95534"/>
                  </a:lnTo>
                  <a:lnTo>
                    <a:pt x="4103" y="81499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68"/>
                  </a:lnTo>
                  <a:lnTo>
                    <a:pt x="8436353" y="8721"/>
                  </a:lnTo>
                  <a:lnTo>
                    <a:pt x="8472063" y="32535"/>
                  </a:lnTo>
                  <a:lnTo>
                    <a:pt x="8495930" y="68095"/>
                  </a:lnTo>
                  <a:lnTo>
                    <a:pt x="8504288" y="110159"/>
                  </a:lnTo>
                  <a:lnTo>
                    <a:pt x="8504288" y="695159"/>
                  </a:lnTo>
                  <a:lnTo>
                    <a:pt x="8503348" y="709434"/>
                  </a:lnTo>
                  <a:lnTo>
                    <a:pt x="8500551" y="723469"/>
                  </a:lnTo>
                  <a:lnTo>
                    <a:pt x="8481505" y="761953"/>
                  </a:lnTo>
                  <a:lnTo>
                    <a:pt x="8449564" y="790206"/>
                  </a:lnTo>
                  <a:lnTo>
                    <a:pt x="8408914" y="804024"/>
                  </a:lnTo>
                  <a:lnTo>
                    <a:pt x="8394484" y="804964"/>
                  </a:lnTo>
                  <a:lnTo>
                    <a:pt x="109804" y="804964"/>
                  </a:lnTo>
                  <a:lnTo>
                    <a:pt x="67934" y="796611"/>
                  </a:lnTo>
                  <a:lnTo>
                    <a:pt x="32224" y="772785"/>
                  </a:lnTo>
                  <a:lnTo>
                    <a:pt x="8358" y="737231"/>
                  </a:lnTo>
                  <a:lnTo>
                    <a:pt x="0" y="69515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934275"/>
              <a:ext cx="8694724" cy="9950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19316" y="2011326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8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932"/>
                  </a:lnTo>
                  <a:lnTo>
                    <a:pt x="368" y="109791"/>
                  </a:lnTo>
                  <a:lnTo>
                    <a:pt x="0" y="695159"/>
                  </a:lnTo>
                  <a:lnTo>
                    <a:pt x="929" y="709427"/>
                  </a:lnTo>
                  <a:lnTo>
                    <a:pt x="939" y="709582"/>
                  </a:lnTo>
                  <a:lnTo>
                    <a:pt x="3701" y="723458"/>
                  </a:lnTo>
                  <a:lnTo>
                    <a:pt x="3736" y="723638"/>
                  </a:lnTo>
                  <a:lnTo>
                    <a:pt x="8288" y="737018"/>
                  </a:lnTo>
                  <a:lnTo>
                    <a:pt x="32224" y="772783"/>
                  </a:lnTo>
                  <a:lnTo>
                    <a:pt x="67934" y="796598"/>
                  </a:lnTo>
                  <a:lnTo>
                    <a:pt x="109804" y="804951"/>
                  </a:lnTo>
                  <a:lnTo>
                    <a:pt x="8394484" y="804951"/>
                  </a:lnTo>
                  <a:lnTo>
                    <a:pt x="8436555" y="796598"/>
                  </a:lnTo>
                  <a:lnTo>
                    <a:pt x="8472055" y="772783"/>
                  </a:lnTo>
                  <a:lnTo>
                    <a:pt x="8495827" y="737224"/>
                  </a:lnTo>
                  <a:lnTo>
                    <a:pt x="8495930" y="737018"/>
                  </a:lnTo>
                  <a:lnTo>
                    <a:pt x="8500490" y="723638"/>
                  </a:lnTo>
                  <a:lnTo>
                    <a:pt x="8500551" y="723458"/>
                  </a:lnTo>
                  <a:lnTo>
                    <a:pt x="8503317" y="709582"/>
                  </a:lnTo>
                  <a:lnTo>
                    <a:pt x="8503348" y="709427"/>
                  </a:lnTo>
                  <a:lnTo>
                    <a:pt x="8504288" y="695159"/>
                  </a:lnTo>
                  <a:lnTo>
                    <a:pt x="8504264" y="109791"/>
                  </a:lnTo>
                  <a:lnTo>
                    <a:pt x="8503348" y="95729"/>
                  </a:lnTo>
                  <a:lnTo>
                    <a:pt x="8489518" y="55079"/>
                  </a:lnTo>
                  <a:lnTo>
                    <a:pt x="8461277" y="23133"/>
                  </a:lnTo>
                  <a:lnTo>
                    <a:pt x="8422789" y="4090"/>
                  </a:lnTo>
                  <a:lnTo>
                    <a:pt x="8394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9316" y="2011326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80">
                  <a:moveTo>
                    <a:pt x="368" y="109791"/>
                  </a:moveTo>
                  <a:lnTo>
                    <a:pt x="1307" y="95524"/>
                  </a:lnTo>
                  <a:lnTo>
                    <a:pt x="4103" y="81492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55"/>
                  </a:lnTo>
                  <a:lnTo>
                    <a:pt x="8436353" y="8708"/>
                  </a:lnTo>
                  <a:lnTo>
                    <a:pt x="8472063" y="32534"/>
                  </a:lnTo>
                  <a:lnTo>
                    <a:pt x="8495930" y="68088"/>
                  </a:lnTo>
                  <a:lnTo>
                    <a:pt x="8504288" y="110159"/>
                  </a:lnTo>
                  <a:lnTo>
                    <a:pt x="8504288" y="695159"/>
                  </a:lnTo>
                  <a:lnTo>
                    <a:pt x="8503348" y="709427"/>
                  </a:lnTo>
                  <a:lnTo>
                    <a:pt x="8500551" y="723458"/>
                  </a:lnTo>
                  <a:lnTo>
                    <a:pt x="8481505" y="761947"/>
                  </a:lnTo>
                  <a:lnTo>
                    <a:pt x="8449564" y="790194"/>
                  </a:lnTo>
                  <a:lnTo>
                    <a:pt x="8408914" y="804011"/>
                  </a:lnTo>
                  <a:lnTo>
                    <a:pt x="8394484" y="804951"/>
                  </a:lnTo>
                  <a:lnTo>
                    <a:pt x="109804" y="804951"/>
                  </a:lnTo>
                  <a:lnTo>
                    <a:pt x="67934" y="796598"/>
                  </a:lnTo>
                  <a:lnTo>
                    <a:pt x="32224" y="772783"/>
                  </a:lnTo>
                  <a:lnTo>
                    <a:pt x="8358" y="737224"/>
                  </a:lnTo>
                  <a:lnTo>
                    <a:pt x="0" y="695159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2830311"/>
              <a:ext cx="8694724" cy="9950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316" y="2907362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7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932"/>
                  </a:lnTo>
                  <a:lnTo>
                    <a:pt x="368" y="109804"/>
                  </a:lnTo>
                  <a:lnTo>
                    <a:pt x="0" y="695159"/>
                  </a:lnTo>
                  <a:lnTo>
                    <a:pt x="929" y="709429"/>
                  </a:lnTo>
                  <a:lnTo>
                    <a:pt x="939" y="709590"/>
                  </a:lnTo>
                  <a:lnTo>
                    <a:pt x="3700" y="723465"/>
                  </a:lnTo>
                  <a:lnTo>
                    <a:pt x="3736" y="723647"/>
                  </a:lnTo>
                  <a:lnTo>
                    <a:pt x="22686" y="761952"/>
                  </a:lnTo>
                  <a:lnTo>
                    <a:pt x="55079" y="790194"/>
                  </a:lnTo>
                  <a:lnTo>
                    <a:pt x="95534" y="804024"/>
                  </a:lnTo>
                  <a:lnTo>
                    <a:pt x="109804" y="804964"/>
                  </a:lnTo>
                  <a:lnTo>
                    <a:pt x="8394484" y="804964"/>
                  </a:lnTo>
                  <a:lnTo>
                    <a:pt x="8436555" y="796605"/>
                  </a:lnTo>
                  <a:lnTo>
                    <a:pt x="8472057" y="772783"/>
                  </a:lnTo>
                  <a:lnTo>
                    <a:pt x="8495829" y="737231"/>
                  </a:lnTo>
                  <a:lnTo>
                    <a:pt x="8495930" y="737029"/>
                  </a:lnTo>
                  <a:lnTo>
                    <a:pt x="8504288" y="695159"/>
                  </a:lnTo>
                  <a:lnTo>
                    <a:pt x="8504265" y="109804"/>
                  </a:lnTo>
                  <a:lnTo>
                    <a:pt x="8495930" y="68088"/>
                  </a:lnTo>
                  <a:lnTo>
                    <a:pt x="8472063" y="32535"/>
                  </a:lnTo>
                  <a:lnTo>
                    <a:pt x="8436353" y="8713"/>
                  </a:lnTo>
                  <a:lnTo>
                    <a:pt x="8394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316" y="2907362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79">
                  <a:moveTo>
                    <a:pt x="368" y="109804"/>
                  </a:moveTo>
                  <a:lnTo>
                    <a:pt x="1307" y="95529"/>
                  </a:lnTo>
                  <a:lnTo>
                    <a:pt x="4103" y="81494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55"/>
                  </a:lnTo>
                  <a:lnTo>
                    <a:pt x="8436353" y="8713"/>
                  </a:lnTo>
                  <a:lnTo>
                    <a:pt x="8472063" y="32535"/>
                  </a:lnTo>
                  <a:lnTo>
                    <a:pt x="8495930" y="68088"/>
                  </a:lnTo>
                  <a:lnTo>
                    <a:pt x="8504288" y="110159"/>
                  </a:lnTo>
                  <a:lnTo>
                    <a:pt x="8504288" y="695159"/>
                  </a:lnTo>
                  <a:lnTo>
                    <a:pt x="8503348" y="709429"/>
                  </a:lnTo>
                  <a:lnTo>
                    <a:pt x="8500551" y="723465"/>
                  </a:lnTo>
                  <a:lnTo>
                    <a:pt x="8481505" y="761952"/>
                  </a:lnTo>
                  <a:lnTo>
                    <a:pt x="8449564" y="790194"/>
                  </a:lnTo>
                  <a:lnTo>
                    <a:pt x="8408914" y="804024"/>
                  </a:lnTo>
                  <a:lnTo>
                    <a:pt x="8394484" y="804964"/>
                  </a:lnTo>
                  <a:lnTo>
                    <a:pt x="109804" y="804964"/>
                  </a:lnTo>
                  <a:lnTo>
                    <a:pt x="67934" y="796605"/>
                  </a:lnTo>
                  <a:lnTo>
                    <a:pt x="32224" y="772783"/>
                  </a:lnTo>
                  <a:lnTo>
                    <a:pt x="8358" y="737231"/>
                  </a:lnTo>
                  <a:lnTo>
                    <a:pt x="0" y="69515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3726347"/>
              <a:ext cx="8694356" cy="99505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19316" y="3803397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79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713524"/>
                  </a:lnTo>
                  <a:lnTo>
                    <a:pt x="798" y="725529"/>
                  </a:lnTo>
                  <a:lnTo>
                    <a:pt x="18843" y="769288"/>
                  </a:lnTo>
                  <a:lnTo>
                    <a:pt x="56512" y="797977"/>
                  </a:lnTo>
                  <a:lnTo>
                    <a:pt x="91440" y="804964"/>
                  </a:lnTo>
                  <a:lnTo>
                    <a:pt x="8412848" y="804964"/>
                  </a:lnTo>
                  <a:lnTo>
                    <a:pt x="8458568" y="792721"/>
                  </a:lnTo>
                  <a:lnTo>
                    <a:pt x="8492045" y="759244"/>
                  </a:lnTo>
                  <a:lnTo>
                    <a:pt x="8504288" y="713524"/>
                  </a:lnTo>
                  <a:lnTo>
                    <a:pt x="8504263" y="91439"/>
                  </a:lnTo>
                  <a:lnTo>
                    <a:pt x="8492045" y="46088"/>
                  </a:lnTo>
                  <a:lnTo>
                    <a:pt x="8458568" y="12598"/>
                  </a:lnTo>
                  <a:lnTo>
                    <a:pt x="841284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9316" y="3803397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79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8412848" y="368"/>
                  </a:lnTo>
                  <a:lnTo>
                    <a:pt x="8458568" y="12598"/>
                  </a:lnTo>
                  <a:lnTo>
                    <a:pt x="8492045" y="46088"/>
                  </a:lnTo>
                  <a:lnTo>
                    <a:pt x="8504288" y="91808"/>
                  </a:lnTo>
                  <a:lnTo>
                    <a:pt x="8504288" y="713524"/>
                  </a:lnTo>
                  <a:lnTo>
                    <a:pt x="8503488" y="725529"/>
                  </a:lnTo>
                  <a:lnTo>
                    <a:pt x="8501133" y="737193"/>
                  </a:lnTo>
                  <a:lnTo>
                    <a:pt x="8477597" y="778282"/>
                  </a:lnTo>
                  <a:lnTo>
                    <a:pt x="8436513" y="801814"/>
                  </a:lnTo>
                  <a:lnTo>
                    <a:pt x="8412848" y="804964"/>
                  </a:lnTo>
                  <a:lnTo>
                    <a:pt x="91440" y="804964"/>
                  </a:lnTo>
                  <a:lnTo>
                    <a:pt x="45719" y="792721"/>
                  </a:lnTo>
                  <a:lnTo>
                    <a:pt x="12242" y="759244"/>
                  </a:lnTo>
                  <a:lnTo>
                    <a:pt x="0" y="713524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35495" y="797663"/>
            <a:ext cx="5792470" cy="3441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6570">
              <a:lnSpc>
                <a:spcPct val="100000"/>
              </a:lnSpc>
              <a:spcBef>
                <a:spcPts val="100"/>
              </a:spcBef>
            </a:pPr>
            <a:r>
              <a:rPr sz="1000" i="1" spc="-60" dirty="0">
                <a:solidFill>
                  <a:srgbClr val="9FBFFF"/>
                </a:solidFill>
                <a:latin typeface="Arial"/>
                <a:cs typeface="Arial"/>
              </a:rPr>
              <a:t>Who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90" dirty="0">
                <a:solidFill>
                  <a:srgbClr val="9FBFFF"/>
                </a:solidFill>
                <a:latin typeface="Arial"/>
                <a:cs typeface="Arial"/>
              </a:rPr>
              <a:t>uses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the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5" dirty="0">
                <a:solidFill>
                  <a:srgbClr val="9FBFFF"/>
                </a:solidFill>
                <a:latin typeface="Arial"/>
                <a:cs typeface="Arial"/>
              </a:rPr>
              <a:t>system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and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what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external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85" dirty="0">
                <a:solidFill>
                  <a:srgbClr val="9FBFFF"/>
                </a:solidFill>
                <a:latin typeface="Arial"/>
                <a:cs typeface="Arial"/>
              </a:rPr>
              <a:t>systems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5" dirty="0">
                <a:solidFill>
                  <a:srgbClr val="9FBFFF"/>
                </a:solidFill>
                <a:latin typeface="Arial"/>
                <a:cs typeface="Arial"/>
              </a:rPr>
              <a:t>does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9FBFFF"/>
                </a:solidFill>
                <a:latin typeface="Arial"/>
                <a:cs typeface="Arial"/>
              </a:rPr>
              <a:t>it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touch?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 dirty="0">
              <a:latin typeface="Arial"/>
              <a:cs typeface="Arial"/>
            </a:endParaRPr>
          </a:p>
          <a:p>
            <a:pPr marL="20955">
              <a:lnSpc>
                <a:spcPct val="100000"/>
              </a:lnSpc>
            </a:pPr>
            <a:r>
              <a:rPr sz="1050" b="1" spc="-10" dirty="0">
                <a:solidFill>
                  <a:srgbClr val="1D2660"/>
                </a:solidFill>
                <a:latin typeface="Calibri"/>
                <a:cs typeface="Calibri"/>
              </a:rPr>
              <a:t>Users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050" dirty="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</a:pP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Finance Manager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Accountant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Auditor ·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System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465468"/>
                </a:solidFill>
                <a:latin typeface="Calibri"/>
                <a:cs typeface="Calibri"/>
              </a:rPr>
              <a:t>Admin</a:t>
            </a: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50" dirty="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</a:pPr>
            <a:r>
              <a:rPr sz="1050" b="1" spc="-20" dirty="0">
                <a:solidFill>
                  <a:srgbClr val="1D2660"/>
                </a:solidFill>
                <a:latin typeface="Calibri"/>
                <a:cs typeface="Calibri"/>
              </a:rPr>
              <a:t>WAMY</a:t>
            </a:r>
            <a:r>
              <a:rPr sz="1050" b="1" spc="-5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1D2660"/>
                </a:solidFill>
                <a:latin typeface="Calibri"/>
                <a:cs typeface="Calibri"/>
              </a:rPr>
              <a:t>Finance</a:t>
            </a:r>
            <a:r>
              <a:rPr sz="1050" b="1" spc="-5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1D2660"/>
                </a:solidFill>
                <a:latin typeface="Calibri"/>
                <a:cs typeface="Calibri"/>
              </a:rPr>
              <a:t>System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050" dirty="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</a:pP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Spring</a:t>
            </a:r>
            <a:r>
              <a:rPr sz="9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Boot</a:t>
            </a:r>
            <a:r>
              <a:rPr sz="95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REST</a:t>
            </a:r>
            <a:r>
              <a:rPr sz="95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API</a:t>
            </a:r>
            <a:r>
              <a:rPr sz="9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React</a:t>
            </a:r>
            <a:r>
              <a:rPr sz="9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19</a:t>
            </a:r>
            <a:r>
              <a:rPr sz="950" spc="-25" dirty="0">
                <a:solidFill>
                  <a:srgbClr val="465468"/>
                </a:solidFill>
                <a:latin typeface="Calibri"/>
                <a:cs typeface="Calibri"/>
              </a:rPr>
              <a:t> SPA</a:t>
            </a: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50" dirty="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</a:pPr>
            <a:r>
              <a:rPr sz="1050" b="1" spc="-10" dirty="0">
                <a:solidFill>
                  <a:srgbClr val="1D2660"/>
                </a:solidFill>
                <a:latin typeface="Calibri"/>
                <a:cs typeface="Calibri"/>
              </a:rPr>
              <a:t>External Systems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050" dirty="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</a:pP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MySQL</a:t>
            </a:r>
            <a:r>
              <a:rPr sz="9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8</a:t>
            </a:r>
            <a:r>
              <a:rPr sz="9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Database</a:t>
            </a:r>
            <a:r>
              <a:rPr sz="9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Robi</a:t>
            </a:r>
            <a:r>
              <a:rPr sz="9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Cloud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 Hosting</a:t>
            </a:r>
            <a:r>
              <a:rPr sz="9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GitHub</a:t>
            </a:r>
            <a:r>
              <a:rPr sz="9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Actions</a:t>
            </a:r>
            <a:r>
              <a:rPr sz="9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CI/CD</a:t>
            </a:r>
            <a:r>
              <a:rPr sz="9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Email</a:t>
            </a:r>
            <a:r>
              <a:rPr sz="9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Service</a:t>
            </a:r>
            <a:r>
              <a:rPr sz="9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(budget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alerts)</a:t>
            </a: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50" dirty="0">
              <a:latin typeface="Calibri"/>
              <a:cs typeface="Calibri"/>
            </a:endParaRPr>
          </a:p>
          <a:p>
            <a:pPr marL="450850">
              <a:lnSpc>
                <a:spcPct val="100000"/>
              </a:lnSpc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5" dirty="0">
                <a:solidFill>
                  <a:srgbClr val="FCE589"/>
                </a:solidFill>
                <a:latin typeface="Arial"/>
                <a:cs typeface="Arial"/>
              </a:rPr>
              <a:t>C4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Context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diagram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system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showing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all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users,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system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boundary,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external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dependencies."</a:t>
            </a:r>
            <a:endParaRPr sz="85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24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4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C4</a:t>
            </a:r>
            <a:r>
              <a:rPr spc="-50" dirty="0"/>
              <a:t> </a:t>
            </a:r>
            <a:r>
              <a:rPr spc="-10" dirty="0"/>
              <a:t>Container</a:t>
            </a:r>
            <a:r>
              <a:rPr spc="-45" dirty="0"/>
              <a:t> </a:t>
            </a:r>
            <a:r>
              <a:rPr dirty="0"/>
              <a:t>—</a:t>
            </a:r>
            <a:r>
              <a:rPr spc="-50" dirty="0"/>
              <a:t> </a:t>
            </a:r>
            <a:r>
              <a:rPr dirty="0"/>
              <a:t>Spring</a:t>
            </a:r>
            <a:r>
              <a:rPr spc="-55" dirty="0"/>
              <a:t> </a:t>
            </a:r>
            <a:r>
              <a:rPr dirty="0"/>
              <a:t>Boot</a:t>
            </a:r>
            <a:r>
              <a:rPr spc="-40" dirty="0"/>
              <a:t> </a:t>
            </a:r>
            <a:r>
              <a:rPr dirty="0"/>
              <a:t>+</a:t>
            </a:r>
            <a:r>
              <a:rPr spc="-55" dirty="0"/>
              <a:t> </a:t>
            </a:r>
            <a:r>
              <a:rPr dirty="0"/>
              <a:t>React</a:t>
            </a:r>
            <a:r>
              <a:rPr spc="-4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" name="object 4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72818" y="178161"/>
            <a:ext cx="7139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2277" y="1038227"/>
            <a:ext cx="8695055" cy="3683635"/>
            <a:chOff x="242277" y="1038227"/>
            <a:chExt cx="8695055" cy="36836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038227"/>
              <a:ext cx="8694356" cy="9950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9316" y="1115277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8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934"/>
                  </a:lnTo>
                  <a:lnTo>
                    <a:pt x="368" y="109804"/>
                  </a:lnTo>
                  <a:lnTo>
                    <a:pt x="0" y="695159"/>
                  </a:lnTo>
                  <a:lnTo>
                    <a:pt x="929" y="709434"/>
                  </a:lnTo>
                  <a:lnTo>
                    <a:pt x="939" y="709590"/>
                  </a:lnTo>
                  <a:lnTo>
                    <a:pt x="3701" y="723469"/>
                  </a:lnTo>
                  <a:lnTo>
                    <a:pt x="3736" y="723647"/>
                  </a:lnTo>
                  <a:lnTo>
                    <a:pt x="8290" y="737031"/>
                  </a:lnTo>
                  <a:lnTo>
                    <a:pt x="8358" y="737231"/>
                  </a:lnTo>
                  <a:lnTo>
                    <a:pt x="14770" y="750239"/>
                  </a:lnTo>
                  <a:lnTo>
                    <a:pt x="22686" y="761953"/>
                  </a:lnTo>
                  <a:lnTo>
                    <a:pt x="22788" y="762103"/>
                  </a:lnTo>
                  <a:lnTo>
                    <a:pt x="55079" y="790206"/>
                  </a:lnTo>
                  <a:lnTo>
                    <a:pt x="95534" y="804024"/>
                  </a:lnTo>
                  <a:lnTo>
                    <a:pt x="109804" y="804964"/>
                  </a:lnTo>
                  <a:lnTo>
                    <a:pt x="8394484" y="804964"/>
                  </a:lnTo>
                  <a:lnTo>
                    <a:pt x="8436555" y="796611"/>
                  </a:lnTo>
                  <a:lnTo>
                    <a:pt x="8472057" y="772785"/>
                  </a:lnTo>
                  <a:lnTo>
                    <a:pt x="8495830" y="737231"/>
                  </a:lnTo>
                  <a:lnTo>
                    <a:pt x="8500490" y="723647"/>
                  </a:lnTo>
                  <a:lnTo>
                    <a:pt x="8500551" y="723469"/>
                  </a:lnTo>
                  <a:lnTo>
                    <a:pt x="8503317" y="709590"/>
                  </a:lnTo>
                  <a:lnTo>
                    <a:pt x="8503348" y="709434"/>
                  </a:lnTo>
                  <a:lnTo>
                    <a:pt x="8504288" y="695159"/>
                  </a:lnTo>
                  <a:lnTo>
                    <a:pt x="8504265" y="109804"/>
                  </a:lnTo>
                  <a:lnTo>
                    <a:pt x="8495930" y="68095"/>
                  </a:lnTo>
                  <a:lnTo>
                    <a:pt x="8472063" y="32535"/>
                  </a:lnTo>
                  <a:lnTo>
                    <a:pt x="8436353" y="8721"/>
                  </a:lnTo>
                  <a:lnTo>
                    <a:pt x="839448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9316" y="1115277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80">
                  <a:moveTo>
                    <a:pt x="368" y="109804"/>
                  </a:moveTo>
                  <a:lnTo>
                    <a:pt x="1307" y="95534"/>
                  </a:lnTo>
                  <a:lnTo>
                    <a:pt x="4103" y="81499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68"/>
                  </a:lnTo>
                  <a:lnTo>
                    <a:pt x="8436353" y="8721"/>
                  </a:lnTo>
                  <a:lnTo>
                    <a:pt x="8472063" y="32535"/>
                  </a:lnTo>
                  <a:lnTo>
                    <a:pt x="8495930" y="68095"/>
                  </a:lnTo>
                  <a:lnTo>
                    <a:pt x="8504288" y="110159"/>
                  </a:lnTo>
                  <a:lnTo>
                    <a:pt x="8504288" y="695159"/>
                  </a:lnTo>
                  <a:lnTo>
                    <a:pt x="8503348" y="709434"/>
                  </a:lnTo>
                  <a:lnTo>
                    <a:pt x="8500551" y="723469"/>
                  </a:lnTo>
                  <a:lnTo>
                    <a:pt x="8481505" y="761953"/>
                  </a:lnTo>
                  <a:lnTo>
                    <a:pt x="8449564" y="790206"/>
                  </a:lnTo>
                  <a:lnTo>
                    <a:pt x="8408914" y="804024"/>
                  </a:lnTo>
                  <a:lnTo>
                    <a:pt x="8394484" y="804964"/>
                  </a:lnTo>
                  <a:lnTo>
                    <a:pt x="109804" y="804964"/>
                  </a:lnTo>
                  <a:lnTo>
                    <a:pt x="67934" y="796611"/>
                  </a:lnTo>
                  <a:lnTo>
                    <a:pt x="32224" y="772785"/>
                  </a:lnTo>
                  <a:lnTo>
                    <a:pt x="8358" y="737231"/>
                  </a:lnTo>
                  <a:lnTo>
                    <a:pt x="0" y="69515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934275"/>
              <a:ext cx="8694724" cy="9950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19316" y="2011326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8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932"/>
                  </a:lnTo>
                  <a:lnTo>
                    <a:pt x="368" y="109791"/>
                  </a:lnTo>
                  <a:lnTo>
                    <a:pt x="0" y="695159"/>
                  </a:lnTo>
                  <a:lnTo>
                    <a:pt x="929" y="709427"/>
                  </a:lnTo>
                  <a:lnTo>
                    <a:pt x="939" y="709582"/>
                  </a:lnTo>
                  <a:lnTo>
                    <a:pt x="3701" y="723458"/>
                  </a:lnTo>
                  <a:lnTo>
                    <a:pt x="3736" y="723638"/>
                  </a:lnTo>
                  <a:lnTo>
                    <a:pt x="8288" y="737018"/>
                  </a:lnTo>
                  <a:lnTo>
                    <a:pt x="32224" y="772783"/>
                  </a:lnTo>
                  <a:lnTo>
                    <a:pt x="67934" y="796598"/>
                  </a:lnTo>
                  <a:lnTo>
                    <a:pt x="109804" y="804951"/>
                  </a:lnTo>
                  <a:lnTo>
                    <a:pt x="8394484" y="804951"/>
                  </a:lnTo>
                  <a:lnTo>
                    <a:pt x="8436555" y="796598"/>
                  </a:lnTo>
                  <a:lnTo>
                    <a:pt x="8472055" y="772783"/>
                  </a:lnTo>
                  <a:lnTo>
                    <a:pt x="8495827" y="737224"/>
                  </a:lnTo>
                  <a:lnTo>
                    <a:pt x="8495930" y="737018"/>
                  </a:lnTo>
                  <a:lnTo>
                    <a:pt x="8500490" y="723638"/>
                  </a:lnTo>
                  <a:lnTo>
                    <a:pt x="8500551" y="723458"/>
                  </a:lnTo>
                  <a:lnTo>
                    <a:pt x="8503317" y="709582"/>
                  </a:lnTo>
                  <a:lnTo>
                    <a:pt x="8503348" y="709427"/>
                  </a:lnTo>
                  <a:lnTo>
                    <a:pt x="8504288" y="695159"/>
                  </a:lnTo>
                  <a:lnTo>
                    <a:pt x="8504264" y="109791"/>
                  </a:lnTo>
                  <a:lnTo>
                    <a:pt x="8503348" y="95729"/>
                  </a:lnTo>
                  <a:lnTo>
                    <a:pt x="8489518" y="55079"/>
                  </a:lnTo>
                  <a:lnTo>
                    <a:pt x="8461277" y="23133"/>
                  </a:lnTo>
                  <a:lnTo>
                    <a:pt x="8422789" y="4090"/>
                  </a:lnTo>
                  <a:lnTo>
                    <a:pt x="8394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9316" y="2011326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80">
                  <a:moveTo>
                    <a:pt x="368" y="109791"/>
                  </a:moveTo>
                  <a:lnTo>
                    <a:pt x="1307" y="95524"/>
                  </a:lnTo>
                  <a:lnTo>
                    <a:pt x="4103" y="81492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55"/>
                  </a:lnTo>
                  <a:lnTo>
                    <a:pt x="8436353" y="8708"/>
                  </a:lnTo>
                  <a:lnTo>
                    <a:pt x="8472063" y="32534"/>
                  </a:lnTo>
                  <a:lnTo>
                    <a:pt x="8495930" y="68088"/>
                  </a:lnTo>
                  <a:lnTo>
                    <a:pt x="8504288" y="110159"/>
                  </a:lnTo>
                  <a:lnTo>
                    <a:pt x="8504288" y="695159"/>
                  </a:lnTo>
                  <a:lnTo>
                    <a:pt x="8503348" y="709427"/>
                  </a:lnTo>
                  <a:lnTo>
                    <a:pt x="8500551" y="723458"/>
                  </a:lnTo>
                  <a:lnTo>
                    <a:pt x="8481505" y="761947"/>
                  </a:lnTo>
                  <a:lnTo>
                    <a:pt x="8449564" y="790194"/>
                  </a:lnTo>
                  <a:lnTo>
                    <a:pt x="8408914" y="804011"/>
                  </a:lnTo>
                  <a:lnTo>
                    <a:pt x="8394484" y="804951"/>
                  </a:lnTo>
                  <a:lnTo>
                    <a:pt x="109804" y="804951"/>
                  </a:lnTo>
                  <a:lnTo>
                    <a:pt x="67934" y="796598"/>
                  </a:lnTo>
                  <a:lnTo>
                    <a:pt x="32224" y="772783"/>
                  </a:lnTo>
                  <a:lnTo>
                    <a:pt x="8358" y="737224"/>
                  </a:lnTo>
                  <a:lnTo>
                    <a:pt x="0" y="695159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2830311"/>
              <a:ext cx="8694724" cy="9950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316" y="2907362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7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932"/>
                  </a:lnTo>
                  <a:lnTo>
                    <a:pt x="368" y="109804"/>
                  </a:lnTo>
                  <a:lnTo>
                    <a:pt x="0" y="695159"/>
                  </a:lnTo>
                  <a:lnTo>
                    <a:pt x="929" y="709429"/>
                  </a:lnTo>
                  <a:lnTo>
                    <a:pt x="939" y="709590"/>
                  </a:lnTo>
                  <a:lnTo>
                    <a:pt x="3700" y="723465"/>
                  </a:lnTo>
                  <a:lnTo>
                    <a:pt x="3736" y="723647"/>
                  </a:lnTo>
                  <a:lnTo>
                    <a:pt x="22686" y="761952"/>
                  </a:lnTo>
                  <a:lnTo>
                    <a:pt x="55079" y="790194"/>
                  </a:lnTo>
                  <a:lnTo>
                    <a:pt x="95534" y="804024"/>
                  </a:lnTo>
                  <a:lnTo>
                    <a:pt x="109804" y="804964"/>
                  </a:lnTo>
                  <a:lnTo>
                    <a:pt x="8394484" y="804964"/>
                  </a:lnTo>
                  <a:lnTo>
                    <a:pt x="8436555" y="796605"/>
                  </a:lnTo>
                  <a:lnTo>
                    <a:pt x="8472057" y="772783"/>
                  </a:lnTo>
                  <a:lnTo>
                    <a:pt x="8495829" y="737231"/>
                  </a:lnTo>
                  <a:lnTo>
                    <a:pt x="8495930" y="737029"/>
                  </a:lnTo>
                  <a:lnTo>
                    <a:pt x="8504288" y="695159"/>
                  </a:lnTo>
                  <a:lnTo>
                    <a:pt x="8504265" y="109804"/>
                  </a:lnTo>
                  <a:lnTo>
                    <a:pt x="8495930" y="68088"/>
                  </a:lnTo>
                  <a:lnTo>
                    <a:pt x="8472063" y="32535"/>
                  </a:lnTo>
                  <a:lnTo>
                    <a:pt x="8436353" y="8713"/>
                  </a:lnTo>
                  <a:lnTo>
                    <a:pt x="8394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316" y="2907362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79">
                  <a:moveTo>
                    <a:pt x="368" y="109804"/>
                  </a:moveTo>
                  <a:lnTo>
                    <a:pt x="1307" y="95529"/>
                  </a:lnTo>
                  <a:lnTo>
                    <a:pt x="4103" y="81494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55"/>
                  </a:lnTo>
                  <a:lnTo>
                    <a:pt x="8436353" y="8713"/>
                  </a:lnTo>
                  <a:lnTo>
                    <a:pt x="8472063" y="32535"/>
                  </a:lnTo>
                  <a:lnTo>
                    <a:pt x="8495930" y="68088"/>
                  </a:lnTo>
                  <a:lnTo>
                    <a:pt x="8504288" y="110159"/>
                  </a:lnTo>
                  <a:lnTo>
                    <a:pt x="8504288" y="695159"/>
                  </a:lnTo>
                  <a:lnTo>
                    <a:pt x="8503348" y="709429"/>
                  </a:lnTo>
                  <a:lnTo>
                    <a:pt x="8500551" y="723465"/>
                  </a:lnTo>
                  <a:lnTo>
                    <a:pt x="8481505" y="761952"/>
                  </a:lnTo>
                  <a:lnTo>
                    <a:pt x="8449564" y="790194"/>
                  </a:lnTo>
                  <a:lnTo>
                    <a:pt x="8408914" y="804024"/>
                  </a:lnTo>
                  <a:lnTo>
                    <a:pt x="8394484" y="804964"/>
                  </a:lnTo>
                  <a:lnTo>
                    <a:pt x="109804" y="804964"/>
                  </a:lnTo>
                  <a:lnTo>
                    <a:pt x="67934" y="796605"/>
                  </a:lnTo>
                  <a:lnTo>
                    <a:pt x="32224" y="772783"/>
                  </a:lnTo>
                  <a:lnTo>
                    <a:pt x="8358" y="737231"/>
                  </a:lnTo>
                  <a:lnTo>
                    <a:pt x="0" y="69515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3726347"/>
              <a:ext cx="8694356" cy="99505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19316" y="3803397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79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713524"/>
                  </a:lnTo>
                  <a:lnTo>
                    <a:pt x="798" y="725529"/>
                  </a:lnTo>
                  <a:lnTo>
                    <a:pt x="18843" y="769288"/>
                  </a:lnTo>
                  <a:lnTo>
                    <a:pt x="56512" y="797977"/>
                  </a:lnTo>
                  <a:lnTo>
                    <a:pt x="91440" y="804964"/>
                  </a:lnTo>
                  <a:lnTo>
                    <a:pt x="8412848" y="804964"/>
                  </a:lnTo>
                  <a:lnTo>
                    <a:pt x="8458568" y="792721"/>
                  </a:lnTo>
                  <a:lnTo>
                    <a:pt x="8492045" y="759244"/>
                  </a:lnTo>
                  <a:lnTo>
                    <a:pt x="8504288" y="713524"/>
                  </a:lnTo>
                  <a:lnTo>
                    <a:pt x="8504263" y="91439"/>
                  </a:lnTo>
                  <a:lnTo>
                    <a:pt x="8492045" y="46088"/>
                  </a:lnTo>
                  <a:lnTo>
                    <a:pt x="8458568" y="12598"/>
                  </a:lnTo>
                  <a:lnTo>
                    <a:pt x="841284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9316" y="3803397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79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8412848" y="368"/>
                  </a:lnTo>
                  <a:lnTo>
                    <a:pt x="8458568" y="12598"/>
                  </a:lnTo>
                  <a:lnTo>
                    <a:pt x="8492045" y="46088"/>
                  </a:lnTo>
                  <a:lnTo>
                    <a:pt x="8504288" y="91808"/>
                  </a:lnTo>
                  <a:lnTo>
                    <a:pt x="8504288" y="713524"/>
                  </a:lnTo>
                  <a:lnTo>
                    <a:pt x="8503488" y="725529"/>
                  </a:lnTo>
                  <a:lnTo>
                    <a:pt x="8501133" y="737193"/>
                  </a:lnTo>
                  <a:lnTo>
                    <a:pt x="8477597" y="778282"/>
                  </a:lnTo>
                  <a:lnTo>
                    <a:pt x="8436513" y="801814"/>
                  </a:lnTo>
                  <a:lnTo>
                    <a:pt x="8412848" y="804964"/>
                  </a:lnTo>
                  <a:lnTo>
                    <a:pt x="91440" y="804964"/>
                  </a:lnTo>
                  <a:lnTo>
                    <a:pt x="45719" y="792721"/>
                  </a:lnTo>
                  <a:lnTo>
                    <a:pt x="12242" y="759244"/>
                  </a:lnTo>
                  <a:lnTo>
                    <a:pt x="0" y="713524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35495" y="797663"/>
            <a:ext cx="5258435" cy="3441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6570">
              <a:lnSpc>
                <a:spcPct val="100000"/>
              </a:lnSpc>
              <a:spcBef>
                <a:spcPts val="100"/>
              </a:spcBef>
            </a:pP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How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are 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the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major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+mn-lt"/>
                <a:cs typeface="Arial"/>
              </a:rPr>
              <a:t>containers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structured?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 dirty="0">
              <a:latin typeface="Arial"/>
              <a:cs typeface="Arial"/>
            </a:endParaRPr>
          </a:p>
          <a:p>
            <a:pPr marL="20955">
              <a:lnSpc>
                <a:spcPct val="100000"/>
              </a:lnSpc>
            </a:pPr>
            <a:r>
              <a:rPr sz="1050" b="1" dirty="0">
                <a:solidFill>
                  <a:srgbClr val="1D2660"/>
                </a:solidFill>
                <a:latin typeface="Calibri"/>
                <a:cs typeface="Calibri"/>
              </a:rPr>
              <a:t>React</a:t>
            </a:r>
            <a:r>
              <a:rPr sz="1050" b="1" spc="-45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050" b="1" spc="-30" dirty="0">
                <a:solidFill>
                  <a:srgbClr val="1D2660"/>
                </a:solidFill>
                <a:latin typeface="Calibri"/>
                <a:cs typeface="Calibri"/>
              </a:rPr>
              <a:t>SPA </a:t>
            </a:r>
            <a:r>
              <a:rPr sz="1050" b="1" dirty="0">
                <a:solidFill>
                  <a:srgbClr val="1D2660"/>
                </a:solidFill>
                <a:latin typeface="Calibri"/>
                <a:cs typeface="Calibri"/>
              </a:rPr>
              <a:t>(Vite</a:t>
            </a:r>
            <a:r>
              <a:rPr sz="1050" b="1" spc="-30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D2660"/>
                </a:solidFill>
                <a:latin typeface="Calibri"/>
                <a:cs typeface="Calibri"/>
              </a:rPr>
              <a:t>+</a:t>
            </a:r>
            <a:r>
              <a:rPr sz="1050" b="1" spc="-35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D2660"/>
                </a:solidFill>
                <a:latin typeface="Calibri"/>
                <a:cs typeface="Calibri"/>
              </a:rPr>
              <a:t>React</a:t>
            </a:r>
            <a:r>
              <a:rPr sz="1050" b="1" spc="-35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050" b="1" spc="-25" dirty="0">
                <a:solidFill>
                  <a:srgbClr val="1D2660"/>
                </a:solidFill>
                <a:latin typeface="Calibri"/>
                <a:cs typeface="Calibri"/>
              </a:rPr>
              <a:t>19)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050" dirty="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</a:pP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TypeScript</a:t>
            </a:r>
            <a:r>
              <a:rPr sz="9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465468"/>
                </a:solidFill>
                <a:latin typeface="Calibri"/>
                <a:cs typeface="Calibri"/>
              </a:rPr>
              <a:t>TanStack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Query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Recharts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Nginx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 container</a:t>
            </a: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50" dirty="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</a:pPr>
            <a:r>
              <a:rPr sz="1050" b="1" spc="-10" dirty="0">
                <a:solidFill>
                  <a:srgbClr val="1D2660"/>
                </a:solidFill>
                <a:latin typeface="Calibri"/>
                <a:cs typeface="Calibri"/>
              </a:rPr>
              <a:t>Spring</a:t>
            </a:r>
            <a:r>
              <a:rPr sz="1050" b="1" spc="-15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D2660"/>
                </a:solidFill>
                <a:latin typeface="Calibri"/>
                <a:cs typeface="Calibri"/>
              </a:rPr>
              <a:t>Boot</a:t>
            </a:r>
            <a:r>
              <a:rPr sz="1050" b="1" spc="-25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D2660"/>
                </a:solidFill>
                <a:latin typeface="Calibri"/>
                <a:cs typeface="Calibri"/>
              </a:rPr>
              <a:t>API</a:t>
            </a:r>
            <a:r>
              <a:rPr sz="1050" b="1" spc="-10" dirty="0">
                <a:solidFill>
                  <a:srgbClr val="1D2660"/>
                </a:solidFill>
                <a:latin typeface="Calibri"/>
                <a:cs typeface="Calibri"/>
              </a:rPr>
              <a:t> (Java</a:t>
            </a:r>
            <a:r>
              <a:rPr sz="1050" b="1" spc="-25" dirty="0">
                <a:solidFill>
                  <a:srgbClr val="1D2660"/>
                </a:solidFill>
                <a:latin typeface="Calibri"/>
                <a:cs typeface="Calibri"/>
              </a:rPr>
              <a:t> 21)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050" dirty="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</a:pP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REST</a:t>
            </a:r>
            <a:r>
              <a:rPr sz="9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Controllers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 Services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 </a:t>
            </a:r>
            <a:r>
              <a:rPr sz="950" spc="-30" dirty="0">
                <a:solidFill>
                  <a:srgbClr val="465468"/>
                </a:solidFill>
                <a:latin typeface="Calibri"/>
                <a:cs typeface="Calibri"/>
              </a:rPr>
              <a:t>JPA</a:t>
            </a:r>
            <a:r>
              <a:rPr sz="9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Repositories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Spring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Security</a:t>
            </a: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50" dirty="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</a:pPr>
            <a:r>
              <a:rPr sz="1050" b="1" spc="-10" dirty="0">
                <a:solidFill>
                  <a:srgbClr val="1D2660"/>
                </a:solidFill>
                <a:latin typeface="Calibri"/>
                <a:cs typeface="Calibri"/>
              </a:rPr>
              <a:t>MySQL</a:t>
            </a:r>
            <a:r>
              <a:rPr sz="1050" b="1" spc="-30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D2660"/>
                </a:solidFill>
                <a:latin typeface="Calibri"/>
                <a:cs typeface="Calibri"/>
              </a:rPr>
              <a:t>8</a:t>
            </a:r>
            <a:r>
              <a:rPr sz="1050" b="1" spc="-15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1D2660"/>
                </a:solidFill>
                <a:latin typeface="Calibri"/>
                <a:cs typeface="Calibri"/>
              </a:rPr>
              <a:t>Database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050" dirty="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</a:pP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journal_entries</a:t>
            </a:r>
            <a:r>
              <a:rPr sz="950" spc="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3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journal_lines</a:t>
            </a:r>
            <a:r>
              <a:rPr sz="950" spc="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chart_of_accounts</a:t>
            </a:r>
            <a:r>
              <a:rPr sz="950" spc="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projects</a:t>
            </a: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50" dirty="0">
              <a:latin typeface="Calibri"/>
              <a:cs typeface="Calibri"/>
            </a:endParaRPr>
          </a:p>
          <a:p>
            <a:pPr marL="450850">
              <a:lnSpc>
                <a:spcPct val="100000"/>
              </a:lnSpc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5" dirty="0">
                <a:solidFill>
                  <a:srgbClr val="FCE589"/>
                </a:solidFill>
                <a:latin typeface="Arial"/>
                <a:cs typeface="Arial"/>
              </a:rPr>
              <a:t>C4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Container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diagram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Spring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Boot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backend,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React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frontend,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5" dirty="0">
                <a:solidFill>
                  <a:srgbClr val="FCE589"/>
                </a:solidFill>
                <a:latin typeface="Arial"/>
                <a:cs typeface="Arial"/>
              </a:rPr>
              <a:t>MySQL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database."</a:t>
            </a:r>
            <a:endParaRPr sz="85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25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4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ERD</a:t>
            </a:r>
            <a:r>
              <a:rPr spc="-35" dirty="0"/>
              <a:t> </a:t>
            </a:r>
            <a:r>
              <a:rPr dirty="0"/>
              <a:t>—</a:t>
            </a:r>
            <a:r>
              <a:rPr spc="-25" dirty="0"/>
              <a:t> </a:t>
            </a:r>
            <a:r>
              <a:rPr spc="-20" dirty="0"/>
              <a:t>Double-</a:t>
            </a:r>
            <a:r>
              <a:rPr dirty="0"/>
              <a:t>Entry</a:t>
            </a:r>
            <a:r>
              <a:rPr spc="-20" dirty="0"/>
              <a:t> </a:t>
            </a:r>
            <a:r>
              <a:rPr spc="-10" dirty="0"/>
              <a:t>Accounting</a:t>
            </a:r>
            <a:r>
              <a:rPr spc="-30" dirty="0"/>
              <a:t> </a:t>
            </a:r>
            <a:r>
              <a:rPr spc="-10" dirty="0"/>
              <a:t>Schema</a:t>
            </a:r>
          </a:p>
        </p:txBody>
      </p:sp>
      <p:sp>
        <p:nvSpPr>
          <p:cNvPr id="4" name="object 4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72818" y="178160"/>
            <a:ext cx="8474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2277" y="1038227"/>
            <a:ext cx="8695055" cy="3683635"/>
            <a:chOff x="242277" y="1038227"/>
            <a:chExt cx="8695055" cy="36836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038227"/>
              <a:ext cx="8694356" cy="9950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9316" y="1115277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8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934"/>
                  </a:lnTo>
                  <a:lnTo>
                    <a:pt x="368" y="109804"/>
                  </a:lnTo>
                  <a:lnTo>
                    <a:pt x="0" y="695159"/>
                  </a:lnTo>
                  <a:lnTo>
                    <a:pt x="929" y="709434"/>
                  </a:lnTo>
                  <a:lnTo>
                    <a:pt x="939" y="709590"/>
                  </a:lnTo>
                  <a:lnTo>
                    <a:pt x="3701" y="723469"/>
                  </a:lnTo>
                  <a:lnTo>
                    <a:pt x="3736" y="723647"/>
                  </a:lnTo>
                  <a:lnTo>
                    <a:pt x="8290" y="737031"/>
                  </a:lnTo>
                  <a:lnTo>
                    <a:pt x="8358" y="737231"/>
                  </a:lnTo>
                  <a:lnTo>
                    <a:pt x="14770" y="750239"/>
                  </a:lnTo>
                  <a:lnTo>
                    <a:pt x="22686" y="761953"/>
                  </a:lnTo>
                  <a:lnTo>
                    <a:pt x="22788" y="762103"/>
                  </a:lnTo>
                  <a:lnTo>
                    <a:pt x="55079" y="790206"/>
                  </a:lnTo>
                  <a:lnTo>
                    <a:pt x="95534" y="804024"/>
                  </a:lnTo>
                  <a:lnTo>
                    <a:pt x="109804" y="804964"/>
                  </a:lnTo>
                  <a:lnTo>
                    <a:pt x="8394484" y="804964"/>
                  </a:lnTo>
                  <a:lnTo>
                    <a:pt x="8436555" y="796611"/>
                  </a:lnTo>
                  <a:lnTo>
                    <a:pt x="8472057" y="772785"/>
                  </a:lnTo>
                  <a:lnTo>
                    <a:pt x="8495830" y="737231"/>
                  </a:lnTo>
                  <a:lnTo>
                    <a:pt x="8500490" y="723647"/>
                  </a:lnTo>
                  <a:lnTo>
                    <a:pt x="8500551" y="723469"/>
                  </a:lnTo>
                  <a:lnTo>
                    <a:pt x="8503317" y="709590"/>
                  </a:lnTo>
                  <a:lnTo>
                    <a:pt x="8503348" y="709434"/>
                  </a:lnTo>
                  <a:lnTo>
                    <a:pt x="8504288" y="695159"/>
                  </a:lnTo>
                  <a:lnTo>
                    <a:pt x="8504265" y="109804"/>
                  </a:lnTo>
                  <a:lnTo>
                    <a:pt x="8495930" y="68095"/>
                  </a:lnTo>
                  <a:lnTo>
                    <a:pt x="8472063" y="32535"/>
                  </a:lnTo>
                  <a:lnTo>
                    <a:pt x="8436353" y="8721"/>
                  </a:lnTo>
                  <a:lnTo>
                    <a:pt x="839448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9316" y="1115277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80">
                  <a:moveTo>
                    <a:pt x="368" y="109804"/>
                  </a:moveTo>
                  <a:lnTo>
                    <a:pt x="1307" y="95534"/>
                  </a:lnTo>
                  <a:lnTo>
                    <a:pt x="4103" y="81499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68"/>
                  </a:lnTo>
                  <a:lnTo>
                    <a:pt x="8436353" y="8721"/>
                  </a:lnTo>
                  <a:lnTo>
                    <a:pt x="8472063" y="32535"/>
                  </a:lnTo>
                  <a:lnTo>
                    <a:pt x="8495930" y="68095"/>
                  </a:lnTo>
                  <a:lnTo>
                    <a:pt x="8504288" y="110159"/>
                  </a:lnTo>
                  <a:lnTo>
                    <a:pt x="8504288" y="695159"/>
                  </a:lnTo>
                  <a:lnTo>
                    <a:pt x="8503348" y="709434"/>
                  </a:lnTo>
                  <a:lnTo>
                    <a:pt x="8500551" y="723469"/>
                  </a:lnTo>
                  <a:lnTo>
                    <a:pt x="8481505" y="761953"/>
                  </a:lnTo>
                  <a:lnTo>
                    <a:pt x="8449564" y="790206"/>
                  </a:lnTo>
                  <a:lnTo>
                    <a:pt x="8408914" y="804024"/>
                  </a:lnTo>
                  <a:lnTo>
                    <a:pt x="8394484" y="804964"/>
                  </a:lnTo>
                  <a:lnTo>
                    <a:pt x="109804" y="804964"/>
                  </a:lnTo>
                  <a:lnTo>
                    <a:pt x="67934" y="796611"/>
                  </a:lnTo>
                  <a:lnTo>
                    <a:pt x="32224" y="772785"/>
                  </a:lnTo>
                  <a:lnTo>
                    <a:pt x="8358" y="737231"/>
                  </a:lnTo>
                  <a:lnTo>
                    <a:pt x="0" y="69515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934275"/>
              <a:ext cx="8694724" cy="9950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19316" y="2011326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8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932"/>
                  </a:lnTo>
                  <a:lnTo>
                    <a:pt x="368" y="109791"/>
                  </a:lnTo>
                  <a:lnTo>
                    <a:pt x="0" y="695159"/>
                  </a:lnTo>
                  <a:lnTo>
                    <a:pt x="929" y="709427"/>
                  </a:lnTo>
                  <a:lnTo>
                    <a:pt x="939" y="709582"/>
                  </a:lnTo>
                  <a:lnTo>
                    <a:pt x="3701" y="723458"/>
                  </a:lnTo>
                  <a:lnTo>
                    <a:pt x="3736" y="723638"/>
                  </a:lnTo>
                  <a:lnTo>
                    <a:pt x="8288" y="737018"/>
                  </a:lnTo>
                  <a:lnTo>
                    <a:pt x="32224" y="772783"/>
                  </a:lnTo>
                  <a:lnTo>
                    <a:pt x="67934" y="796598"/>
                  </a:lnTo>
                  <a:lnTo>
                    <a:pt x="109804" y="804951"/>
                  </a:lnTo>
                  <a:lnTo>
                    <a:pt x="8394484" y="804951"/>
                  </a:lnTo>
                  <a:lnTo>
                    <a:pt x="8436555" y="796598"/>
                  </a:lnTo>
                  <a:lnTo>
                    <a:pt x="8472055" y="772783"/>
                  </a:lnTo>
                  <a:lnTo>
                    <a:pt x="8495827" y="737224"/>
                  </a:lnTo>
                  <a:lnTo>
                    <a:pt x="8495930" y="737018"/>
                  </a:lnTo>
                  <a:lnTo>
                    <a:pt x="8500490" y="723638"/>
                  </a:lnTo>
                  <a:lnTo>
                    <a:pt x="8500551" y="723458"/>
                  </a:lnTo>
                  <a:lnTo>
                    <a:pt x="8503317" y="709582"/>
                  </a:lnTo>
                  <a:lnTo>
                    <a:pt x="8503348" y="709427"/>
                  </a:lnTo>
                  <a:lnTo>
                    <a:pt x="8504288" y="695159"/>
                  </a:lnTo>
                  <a:lnTo>
                    <a:pt x="8504264" y="109791"/>
                  </a:lnTo>
                  <a:lnTo>
                    <a:pt x="8503348" y="95729"/>
                  </a:lnTo>
                  <a:lnTo>
                    <a:pt x="8489518" y="55079"/>
                  </a:lnTo>
                  <a:lnTo>
                    <a:pt x="8461277" y="23133"/>
                  </a:lnTo>
                  <a:lnTo>
                    <a:pt x="8422789" y="4090"/>
                  </a:lnTo>
                  <a:lnTo>
                    <a:pt x="8394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9316" y="2011326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80">
                  <a:moveTo>
                    <a:pt x="368" y="109791"/>
                  </a:moveTo>
                  <a:lnTo>
                    <a:pt x="1307" y="95524"/>
                  </a:lnTo>
                  <a:lnTo>
                    <a:pt x="4103" y="81492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55"/>
                  </a:lnTo>
                  <a:lnTo>
                    <a:pt x="8436353" y="8708"/>
                  </a:lnTo>
                  <a:lnTo>
                    <a:pt x="8472063" y="32534"/>
                  </a:lnTo>
                  <a:lnTo>
                    <a:pt x="8495930" y="68088"/>
                  </a:lnTo>
                  <a:lnTo>
                    <a:pt x="8504288" y="110159"/>
                  </a:lnTo>
                  <a:lnTo>
                    <a:pt x="8504288" y="695159"/>
                  </a:lnTo>
                  <a:lnTo>
                    <a:pt x="8503348" y="709427"/>
                  </a:lnTo>
                  <a:lnTo>
                    <a:pt x="8500551" y="723458"/>
                  </a:lnTo>
                  <a:lnTo>
                    <a:pt x="8481505" y="761947"/>
                  </a:lnTo>
                  <a:lnTo>
                    <a:pt x="8449564" y="790194"/>
                  </a:lnTo>
                  <a:lnTo>
                    <a:pt x="8408914" y="804011"/>
                  </a:lnTo>
                  <a:lnTo>
                    <a:pt x="8394484" y="804951"/>
                  </a:lnTo>
                  <a:lnTo>
                    <a:pt x="109804" y="804951"/>
                  </a:lnTo>
                  <a:lnTo>
                    <a:pt x="67934" y="796598"/>
                  </a:lnTo>
                  <a:lnTo>
                    <a:pt x="32224" y="772783"/>
                  </a:lnTo>
                  <a:lnTo>
                    <a:pt x="8358" y="737224"/>
                  </a:lnTo>
                  <a:lnTo>
                    <a:pt x="0" y="695159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2830311"/>
              <a:ext cx="8694724" cy="9950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316" y="2907362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7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932"/>
                  </a:lnTo>
                  <a:lnTo>
                    <a:pt x="368" y="109804"/>
                  </a:lnTo>
                  <a:lnTo>
                    <a:pt x="0" y="695159"/>
                  </a:lnTo>
                  <a:lnTo>
                    <a:pt x="929" y="709429"/>
                  </a:lnTo>
                  <a:lnTo>
                    <a:pt x="939" y="709590"/>
                  </a:lnTo>
                  <a:lnTo>
                    <a:pt x="3700" y="723465"/>
                  </a:lnTo>
                  <a:lnTo>
                    <a:pt x="3736" y="723647"/>
                  </a:lnTo>
                  <a:lnTo>
                    <a:pt x="22686" y="761952"/>
                  </a:lnTo>
                  <a:lnTo>
                    <a:pt x="55079" y="790194"/>
                  </a:lnTo>
                  <a:lnTo>
                    <a:pt x="95534" y="804024"/>
                  </a:lnTo>
                  <a:lnTo>
                    <a:pt x="109804" y="804964"/>
                  </a:lnTo>
                  <a:lnTo>
                    <a:pt x="8394484" y="804964"/>
                  </a:lnTo>
                  <a:lnTo>
                    <a:pt x="8436555" y="796605"/>
                  </a:lnTo>
                  <a:lnTo>
                    <a:pt x="8472057" y="772783"/>
                  </a:lnTo>
                  <a:lnTo>
                    <a:pt x="8495829" y="737231"/>
                  </a:lnTo>
                  <a:lnTo>
                    <a:pt x="8495930" y="737029"/>
                  </a:lnTo>
                  <a:lnTo>
                    <a:pt x="8504288" y="695159"/>
                  </a:lnTo>
                  <a:lnTo>
                    <a:pt x="8504265" y="109804"/>
                  </a:lnTo>
                  <a:lnTo>
                    <a:pt x="8495930" y="68088"/>
                  </a:lnTo>
                  <a:lnTo>
                    <a:pt x="8472063" y="32535"/>
                  </a:lnTo>
                  <a:lnTo>
                    <a:pt x="8436353" y="8713"/>
                  </a:lnTo>
                  <a:lnTo>
                    <a:pt x="8394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316" y="2907362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79">
                  <a:moveTo>
                    <a:pt x="368" y="109804"/>
                  </a:moveTo>
                  <a:lnTo>
                    <a:pt x="1307" y="95529"/>
                  </a:lnTo>
                  <a:lnTo>
                    <a:pt x="4103" y="81494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55"/>
                  </a:lnTo>
                  <a:lnTo>
                    <a:pt x="8436353" y="8713"/>
                  </a:lnTo>
                  <a:lnTo>
                    <a:pt x="8472063" y="32535"/>
                  </a:lnTo>
                  <a:lnTo>
                    <a:pt x="8495930" y="68088"/>
                  </a:lnTo>
                  <a:lnTo>
                    <a:pt x="8504288" y="110159"/>
                  </a:lnTo>
                  <a:lnTo>
                    <a:pt x="8504288" y="695159"/>
                  </a:lnTo>
                  <a:lnTo>
                    <a:pt x="8503348" y="709429"/>
                  </a:lnTo>
                  <a:lnTo>
                    <a:pt x="8500551" y="723465"/>
                  </a:lnTo>
                  <a:lnTo>
                    <a:pt x="8481505" y="761952"/>
                  </a:lnTo>
                  <a:lnTo>
                    <a:pt x="8449564" y="790194"/>
                  </a:lnTo>
                  <a:lnTo>
                    <a:pt x="8408914" y="804024"/>
                  </a:lnTo>
                  <a:lnTo>
                    <a:pt x="8394484" y="804964"/>
                  </a:lnTo>
                  <a:lnTo>
                    <a:pt x="109804" y="804964"/>
                  </a:lnTo>
                  <a:lnTo>
                    <a:pt x="67934" y="796605"/>
                  </a:lnTo>
                  <a:lnTo>
                    <a:pt x="32224" y="772783"/>
                  </a:lnTo>
                  <a:lnTo>
                    <a:pt x="8358" y="737231"/>
                  </a:lnTo>
                  <a:lnTo>
                    <a:pt x="0" y="69515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3726347"/>
              <a:ext cx="8694724" cy="99505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19316" y="3803397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79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934"/>
                  </a:lnTo>
                  <a:lnTo>
                    <a:pt x="368" y="109804"/>
                  </a:lnTo>
                  <a:lnTo>
                    <a:pt x="0" y="695159"/>
                  </a:lnTo>
                  <a:lnTo>
                    <a:pt x="929" y="709434"/>
                  </a:lnTo>
                  <a:lnTo>
                    <a:pt x="939" y="709590"/>
                  </a:lnTo>
                  <a:lnTo>
                    <a:pt x="3701" y="723469"/>
                  </a:lnTo>
                  <a:lnTo>
                    <a:pt x="3736" y="723647"/>
                  </a:lnTo>
                  <a:lnTo>
                    <a:pt x="22686" y="761953"/>
                  </a:lnTo>
                  <a:lnTo>
                    <a:pt x="55079" y="790206"/>
                  </a:lnTo>
                  <a:lnTo>
                    <a:pt x="95534" y="804024"/>
                  </a:lnTo>
                  <a:lnTo>
                    <a:pt x="109804" y="804964"/>
                  </a:lnTo>
                  <a:lnTo>
                    <a:pt x="8394484" y="804964"/>
                  </a:lnTo>
                  <a:lnTo>
                    <a:pt x="8436555" y="796611"/>
                  </a:lnTo>
                  <a:lnTo>
                    <a:pt x="8472057" y="772785"/>
                  </a:lnTo>
                  <a:lnTo>
                    <a:pt x="8495830" y="737231"/>
                  </a:lnTo>
                  <a:lnTo>
                    <a:pt x="8500490" y="723647"/>
                  </a:lnTo>
                  <a:lnTo>
                    <a:pt x="8500551" y="723469"/>
                  </a:lnTo>
                  <a:lnTo>
                    <a:pt x="8503317" y="709590"/>
                  </a:lnTo>
                  <a:lnTo>
                    <a:pt x="8503348" y="709434"/>
                  </a:lnTo>
                  <a:lnTo>
                    <a:pt x="8504288" y="695159"/>
                  </a:lnTo>
                  <a:lnTo>
                    <a:pt x="8504265" y="109804"/>
                  </a:lnTo>
                  <a:lnTo>
                    <a:pt x="8495930" y="68095"/>
                  </a:lnTo>
                  <a:lnTo>
                    <a:pt x="8472063" y="32535"/>
                  </a:lnTo>
                  <a:lnTo>
                    <a:pt x="8436353" y="8721"/>
                  </a:lnTo>
                  <a:lnTo>
                    <a:pt x="839448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9316" y="3803397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79">
                  <a:moveTo>
                    <a:pt x="368" y="109804"/>
                  </a:moveTo>
                  <a:lnTo>
                    <a:pt x="1307" y="95534"/>
                  </a:lnTo>
                  <a:lnTo>
                    <a:pt x="4103" y="81499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68"/>
                  </a:lnTo>
                  <a:lnTo>
                    <a:pt x="8436353" y="8721"/>
                  </a:lnTo>
                  <a:lnTo>
                    <a:pt x="8472063" y="32535"/>
                  </a:lnTo>
                  <a:lnTo>
                    <a:pt x="8495930" y="68095"/>
                  </a:lnTo>
                  <a:lnTo>
                    <a:pt x="8504288" y="110159"/>
                  </a:lnTo>
                  <a:lnTo>
                    <a:pt x="8504288" y="695159"/>
                  </a:lnTo>
                  <a:lnTo>
                    <a:pt x="8503348" y="709434"/>
                  </a:lnTo>
                  <a:lnTo>
                    <a:pt x="8500551" y="723469"/>
                  </a:lnTo>
                  <a:lnTo>
                    <a:pt x="8481505" y="761953"/>
                  </a:lnTo>
                  <a:lnTo>
                    <a:pt x="8449564" y="790206"/>
                  </a:lnTo>
                  <a:lnTo>
                    <a:pt x="8408914" y="804024"/>
                  </a:lnTo>
                  <a:lnTo>
                    <a:pt x="8394484" y="804964"/>
                  </a:lnTo>
                  <a:lnTo>
                    <a:pt x="109804" y="804964"/>
                  </a:lnTo>
                  <a:lnTo>
                    <a:pt x="67934" y="796611"/>
                  </a:lnTo>
                  <a:lnTo>
                    <a:pt x="32224" y="772785"/>
                  </a:lnTo>
                  <a:lnTo>
                    <a:pt x="8358" y="737231"/>
                  </a:lnTo>
                  <a:lnTo>
                    <a:pt x="0" y="69515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44144" y="797663"/>
            <a:ext cx="5306695" cy="3658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7680">
              <a:lnSpc>
                <a:spcPct val="100000"/>
              </a:lnSpc>
              <a:spcBef>
                <a:spcPts val="100"/>
              </a:spcBef>
            </a:pPr>
            <a:r>
              <a:rPr sz="1000" i="1" spc="-90" dirty="0">
                <a:solidFill>
                  <a:srgbClr val="9FBFFF"/>
                </a:solidFill>
                <a:latin typeface="Arial"/>
                <a:cs typeface="Arial"/>
              </a:rPr>
              <a:t>Core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database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tables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for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the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+mn-lt"/>
                <a:cs typeface="Arial"/>
              </a:rPr>
              <a:t>WAMY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0" dirty="0">
                <a:solidFill>
                  <a:srgbClr val="9FBFFF"/>
                </a:solidFill>
                <a:latin typeface="Arial"/>
                <a:cs typeface="Arial"/>
              </a:rPr>
              <a:t>Finance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module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50" b="1" spc="-10" dirty="0">
                <a:solidFill>
                  <a:srgbClr val="1D2660"/>
                </a:solidFill>
                <a:latin typeface="Calibri"/>
                <a:cs typeface="Calibri"/>
              </a:rPr>
              <a:t>chart_of_accounts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0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id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 code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 name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 type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 (ASSET/LIABILITY/EQUITY/REVENUE/EXPENSE)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normal_balance</a:t>
            </a:r>
            <a:r>
              <a:rPr sz="9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parent_id</a:t>
            </a:r>
            <a:r>
              <a:rPr sz="9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is_active</a:t>
            </a: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b="1" spc="-10" dirty="0">
                <a:solidFill>
                  <a:srgbClr val="1D2660"/>
                </a:solidFill>
                <a:latin typeface="Calibri"/>
                <a:cs typeface="Calibri"/>
              </a:rPr>
              <a:t>journal_entries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0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id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date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description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reference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project_id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posted_by</a:t>
            </a:r>
            <a:r>
              <a:rPr sz="9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posted_at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 ·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is_locked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status</a:t>
            </a: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b="1" spc="-10" dirty="0">
                <a:solidFill>
                  <a:srgbClr val="1D2660"/>
                </a:solidFill>
                <a:latin typeface="Calibri"/>
                <a:cs typeface="Calibri"/>
              </a:rPr>
              <a:t>journal_lines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0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id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journal_entry_id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account_id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debit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credit ·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description</a:t>
            </a: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b="1" spc="-10" dirty="0">
                <a:solidFill>
                  <a:srgbClr val="1D2660"/>
                </a:solidFill>
                <a:latin typeface="Calibri"/>
                <a:cs typeface="Calibri"/>
              </a:rPr>
              <a:t>projects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0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id</a:t>
            </a:r>
            <a:r>
              <a:rPr sz="9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code</a:t>
            </a:r>
            <a:r>
              <a:rPr sz="9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name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org_id</a:t>
            </a:r>
            <a:r>
              <a:rPr sz="9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start_date</a:t>
            </a:r>
            <a:r>
              <a:rPr sz="9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end_date</a:t>
            </a:r>
            <a:r>
              <a:rPr sz="9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status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budget</a:t>
            </a:r>
            <a:endParaRPr sz="950" dirty="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42277" y="4622751"/>
            <a:ext cx="8694420" cy="527050"/>
            <a:chOff x="242277" y="4622751"/>
            <a:chExt cx="8694420" cy="52705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4622751"/>
              <a:ext cx="8694356" cy="52057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19475" y="4699802"/>
              <a:ext cx="8504555" cy="443865"/>
            </a:xfrm>
            <a:custGeom>
              <a:avLst/>
              <a:gdLst/>
              <a:ahLst/>
              <a:cxnLst/>
              <a:rect l="l" t="t" r="r" b="b"/>
              <a:pathLst>
                <a:path w="8504555" h="443864">
                  <a:moveTo>
                    <a:pt x="91648" y="0"/>
                  </a:moveTo>
                  <a:lnTo>
                    <a:pt x="45928" y="12242"/>
                  </a:lnTo>
                  <a:lnTo>
                    <a:pt x="12438" y="45720"/>
                  </a:lnTo>
                  <a:lnTo>
                    <a:pt x="208" y="91440"/>
                  </a:lnTo>
                  <a:lnTo>
                    <a:pt x="0" y="443522"/>
                  </a:lnTo>
                  <a:lnTo>
                    <a:pt x="8504128" y="443522"/>
                  </a:lnTo>
                  <a:lnTo>
                    <a:pt x="8504128" y="91795"/>
                  </a:lnTo>
                  <a:lnTo>
                    <a:pt x="8503328" y="79795"/>
                  </a:lnTo>
                  <a:lnTo>
                    <a:pt x="8485285" y="36038"/>
                  </a:lnTo>
                  <a:lnTo>
                    <a:pt x="8447616" y="7342"/>
                  </a:lnTo>
                  <a:lnTo>
                    <a:pt x="91648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9475" y="4699802"/>
              <a:ext cx="8504555" cy="443865"/>
            </a:xfrm>
            <a:custGeom>
              <a:avLst/>
              <a:gdLst/>
              <a:ahLst/>
              <a:cxnLst/>
              <a:rect l="l" t="t" r="r" b="b"/>
              <a:pathLst>
                <a:path w="8504555" h="443864">
                  <a:moveTo>
                    <a:pt x="0" y="443522"/>
                  </a:moveTo>
                  <a:lnTo>
                    <a:pt x="208" y="91440"/>
                  </a:lnTo>
                  <a:lnTo>
                    <a:pt x="12438" y="45720"/>
                  </a:lnTo>
                  <a:lnTo>
                    <a:pt x="45928" y="12242"/>
                  </a:lnTo>
                  <a:lnTo>
                    <a:pt x="91648" y="0"/>
                  </a:lnTo>
                  <a:lnTo>
                    <a:pt x="8412688" y="355"/>
                  </a:lnTo>
                  <a:lnTo>
                    <a:pt x="8458408" y="12598"/>
                  </a:lnTo>
                  <a:lnTo>
                    <a:pt x="8491885" y="46075"/>
                  </a:lnTo>
                  <a:lnTo>
                    <a:pt x="8504128" y="91795"/>
                  </a:lnTo>
                  <a:lnTo>
                    <a:pt x="8504128" y="443522"/>
                  </a:lnTo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35495" y="4677721"/>
            <a:ext cx="6326505" cy="45720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complete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5" dirty="0">
                <a:solidFill>
                  <a:srgbClr val="FCE589"/>
                </a:solidFill>
                <a:latin typeface="Arial"/>
                <a:cs typeface="Arial"/>
              </a:rPr>
              <a:t>MySQL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40" dirty="0">
                <a:solidFill>
                  <a:srgbClr val="FCE589"/>
                </a:solidFill>
                <a:latin typeface="Arial"/>
                <a:cs typeface="Arial"/>
              </a:rPr>
              <a:t>ERD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double-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entry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accounting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supporting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requirements.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Include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all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constraints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indexes."</a:t>
            </a:r>
            <a:endParaRPr sz="8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26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4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Spring</a:t>
            </a:r>
            <a:r>
              <a:rPr spc="-60" dirty="0"/>
              <a:t> </a:t>
            </a:r>
            <a:r>
              <a:rPr dirty="0"/>
              <a:t>Boot</a:t>
            </a:r>
            <a:r>
              <a:rPr spc="-55" dirty="0"/>
              <a:t> </a:t>
            </a:r>
            <a:r>
              <a:rPr spc="-20" dirty="0"/>
              <a:t>Package</a:t>
            </a:r>
            <a:r>
              <a:rPr spc="-55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4" name="object 4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72818" y="178161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2277" y="1038227"/>
            <a:ext cx="8695055" cy="2787650"/>
            <a:chOff x="242277" y="1038227"/>
            <a:chExt cx="8695055" cy="27876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038227"/>
              <a:ext cx="8694356" cy="9950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9316" y="1115277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8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934"/>
                  </a:lnTo>
                  <a:lnTo>
                    <a:pt x="368" y="109804"/>
                  </a:lnTo>
                  <a:lnTo>
                    <a:pt x="0" y="695159"/>
                  </a:lnTo>
                  <a:lnTo>
                    <a:pt x="929" y="709434"/>
                  </a:lnTo>
                  <a:lnTo>
                    <a:pt x="939" y="709590"/>
                  </a:lnTo>
                  <a:lnTo>
                    <a:pt x="3701" y="723469"/>
                  </a:lnTo>
                  <a:lnTo>
                    <a:pt x="3736" y="723647"/>
                  </a:lnTo>
                  <a:lnTo>
                    <a:pt x="8290" y="737031"/>
                  </a:lnTo>
                  <a:lnTo>
                    <a:pt x="8358" y="737231"/>
                  </a:lnTo>
                  <a:lnTo>
                    <a:pt x="14770" y="750239"/>
                  </a:lnTo>
                  <a:lnTo>
                    <a:pt x="22686" y="761953"/>
                  </a:lnTo>
                  <a:lnTo>
                    <a:pt x="22788" y="762103"/>
                  </a:lnTo>
                  <a:lnTo>
                    <a:pt x="55079" y="790206"/>
                  </a:lnTo>
                  <a:lnTo>
                    <a:pt x="95534" y="804024"/>
                  </a:lnTo>
                  <a:lnTo>
                    <a:pt x="109804" y="804964"/>
                  </a:lnTo>
                  <a:lnTo>
                    <a:pt x="8394484" y="804964"/>
                  </a:lnTo>
                  <a:lnTo>
                    <a:pt x="8436555" y="796611"/>
                  </a:lnTo>
                  <a:lnTo>
                    <a:pt x="8472057" y="772785"/>
                  </a:lnTo>
                  <a:lnTo>
                    <a:pt x="8495830" y="737231"/>
                  </a:lnTo>
                  <a:lnTo>
                    <a:pt x="8500490" y="723647"/>
                  </a:lnTo>
                  <a:lnTo>
                    <a:pt x="8500551" y="723469"/>
                  </a:lnTo>
                  <a:lnTo>
                    <a:pt x="8503317" y="709590"/>
                  </a:lnTo>
                  <a:lnTo>
                    <a:pt x="8503348" y="709434"/>
                  </a:lnTo>
                  <a:lnTo>
                    <a:pt x="8504288" y="695159"/>
                  </a:lnTo>
                  <a:lnTo>
                    <a:pt x="8504265" y="109804"/>
                  </a:lnTo>
                  <a:lnTo>
                    <a:pt x="8495930" y="68095"/>
                  </a:lnTo>
                  <a:lnTo>
                    <a:pt x="8472063" y="32535"/>
                  </a:lnTo>
                  <a:lnTo>
                    <a:pt x="8436353" y="8721"/>
                  </a:lnTo>
                  <a:lnTo>
                    <a:pt x="839448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9316" y="1115277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80">
                  <a:moveTo>
                    <a:pt x="368" y="109804"/>
                  </a:moveTo>
                  <a:lnTo>
                    <a:pt x="1307" y="95534"/>
                  </a:lnTo>
                  <a:lnTo>
                    <a:pt x="4103" y="81499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68"/>
                  </a:lnTo>
                  <a:lnTo>
                    <a:pt x="8436353" y="8721"/>
                  </a:lnTo>
                  <a:lnTo>
                    <a:pt x="8472063" y="32535"/>
                  </a:lnTo>
                  <a:lnTo>
                    <a:pt x="8495930" y="68095"/>
                  </a:lnTo>
                  <a:lnTo>
                    <a:pt x="8504288" y="110159"/>
                  </a:lnTo>
                  <a:lnTo>
                    <a:pt x="8504288" y="695159"/>
                  </a:lnTo>
                  <a:lnTo>
                    <a:pt x="8503348" y="709434"/>
                  </a:lnTo>
                  <a:lnTo>
                    <a:pt x="8500551" y="723469"/>
                  </a:lnTo>
                  <a:lnTo>
                    <a:pt x="8481505" y="761953"/>
                  </a:lnTo>
                  <a:lnTo>
                    <a:pt x="8449564" y="790206"/>
                  </a:lnTo>
                  <a:lnTo>
                    <a:pt x="8408914" y="804024"/>
                  </a:lnTo>
                  <a:lnTo>
                    <a:pt x="8394484" y="804964"/>
                  </a:lnTo>
                  <a:lnTo>
                    <a:pt x="109804" y="804964"/>
                  </a:lnTo>
                  <a:lnTo>
                    <a:pt x="67934" y="796611"/>
                  </a:lnTo>
                  <a:lnTo>
                    <a:pt x="32224" y="772785"/>
                  </a:lnTo>
                  <a:lnTo>
                    <a:pt x="8358" y="737231"/>
                  </a:lnTo>
                  <a:lnTo>
                    <a:pt x="0" y="69515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934275"/>
              <a:ext cx="8694724" cy="9950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19316" y="2011326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8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932"/>
                  </a:lnTo>
                  <a:lnTo>
                    <a:pt x="368" y="109791"/>
                  </a:lnTo>
                  <a:lnTo>
                    <a:pt x="0" y="695159"/>
                  </a:lnTo>
                  <a:lnTo>
                    <a:pt x="929" y="709427"/>
                  </a:lnTo>
                  <a:lnTo>
                    <a:pt x="939" y="709582"/>
                  </a:lnTo>
                  <a:lnTo>
                    <a:pt x="3701" y="723458"/>
                  </a:lnTo>
                  <a:lnTo>
                    <a:pt x="3736" y="723638"/>
                  </a:lnTo>
                  <a:lnTo>
                    <a:pt x="8288" y="737018"/>
                  </a:lnTo>
                  <a:lnTo>
                    <a:pt x="32224" y="772783"/>
                  </a:lnTo>
                  <a:lnTo>
                    <a:pt x="67934" y="796598"/>
                  </a:lnTo>
                  <a:lnTo>
                    <a:pt x="109804" y="804951"/>
                  </a:lnTo>
                  <a:lnTo>
                    <a:pt x="8394484" y="804951"/>
                  </a:lnTo>
                  <a:lnTo>
                    <a:pt x="8436555" y="796598"/>
                  </a:lnTo>
                  <a:lnTo>
                    <a:pt x="8472055" y="772783"/>
                  </a:lnTo>
                  <a:lnTo>
                    <a:pt x="8495827" y="737224"/>
                  </a:lnTo>
                  <a:lnTo>
                    <a:pt x="8495930" y="737018"/>
                  </a:lnTo>
                  <a:lnTo>
                    <a:pt x="8500490" y="723638"/>
                  </a:lnTo>
                  <a:lnTo>
                    <a:pt x="8500551" y="723458"/>
                  </a:lnTo>
                  <a:lnTo>
                    <a:pt x="8503317" y="709582"/>
                  </a:lnTo>
                  <a:lnTo>
                    <a:pt x="8503348" y="709427"/>
                  </a:lnTo>
                  <a:lnTo>
                    <a:pt x="8504288" y="695159"/>
                  </a:lnTo>
                  <a:lnTo>
                    <a:pt x="8504264" y="109791"/>
                  </a:lnTo>
                  <a:lnTo>
                    <a:pt x="8503348" y="95729"/>
                  </a:lnTo>
                  <a:lnTo>
                    <a:pt x="8489518" y="55079"/>
                  </a:lnTo>
                  <a:lnTo>
                    <a:pt x="8461277" y="23133"/>
                  </a:lnTo>
                  <a:lnTo>
                    <a:pt x="8422789" y="4090"/>
                  </a:lnTo>
                  <a:lnTo>
                    <a:pt x="8394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9316" y="2011326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80">
                  <a:moveTo>
                    <a:pt x="368" y="109791"/>
                  </a:moveTo>
                  <a:lnTo>
                    <a:pt x="1307" y="95524"/>
                  </a:lnTo>
                  <a:lnTo>
                    <a:pt x="4103" y="81492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55"/>
                  </a:lnTo>
                  <a:lnTo>
                    <a:pt x="8436353" y="8708"/>
                  </a:lnTo>
                  <a:lnTo>
                    <a:pt x="8472063" y="32534"/>
                  </a:lnTo>
                  <a:lnTo>
                    <a:pt x="8495930" y="68088"/>
                  </a:lnTo>
                  <a:lnTo>
                    <a:pt x="8504288" y="110159"/>
                  </a:lnTo>
                  <a:lnTo>
                    <a:pt x="8504288" y="695159"/>
                  </a:lnTo>
                  <a:lnTo>
                    <a:pt x="8503348" y="709427"/>
                  </a:lnTo>
                  <a:lnTo>
                    <a:pt x="8500551" y="723458"/>
                  </a:lnTo>
                  <a:lnTo>
                    <a:pt x="8481505" y="761947"/>
                  </a:lnTo>
                  <a:lnTo>
                    <a:pt x="8449564" y="790194"/>
                  </a:lnTo>
                  <a:lnTo>
                    <a:pt x="8408914" y="804011"/>
                  </a:lnTo>
                  <a:lnTo>
                    <a:pt x="8394484" y="804951"/>
                  </a:lnTo>
                  <a:lnTo>
                    <a:pt x="109804" y="804951"/>
                  </a:lnTo>
                  <a:lnTo>
                    <a:pt x="67934" y="796598"/>
                  </a:lnTo>
                  <a:lnTo>
                    <a:pt x="32224" y="772783"/>
                  </a:lnTo>
                  <a:lnTo>
                    <a:pt x="8358" y="737224"/>
                  </a:lnTo>
                  <a:lnTo>
                    <a:pt x="0" y="695159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2830311"/>
              <a:ext cx="8694724" cy="9950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316" y="2907362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7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932"/>
                  </a:lnTo>
                  <a:lnTo>
                    <a:pt x="368" y="109804"/>
                  </a:lnTo>
                  <a:lnTo>
                    <a:pt x="0" y="695159"/>
                  </a:lnTo>
                  <a:lnTo>
                    <a:pt x="929" y="709429"/>
                  </a:lnTo>
                  <a:lnTo>
                    <a:pt x="939" y="709590"/>
                  </a:lnTo>
                  <a:lnTo>
                    <a:pt x="3700" y="723465"/>
                  </a:lnTo>
                  <a:lnTo>
                    <a:pt x="3736" y="723647"/>
                  </a:lnTo>
                  <a:lnTo>
                    <a:pt x="22686" y="761952"/>
                  </a:lnTo>
                  <a:lnTo>
                    <a:pt x="55079" y="790194"/>
                  </a:lnTo>
                  <a:lnTo>
                    <a:pt x="95534" y="804024"/>
                  </a:lnTo>
                  <a:lnTo>
                    <a:pt x="109804" y="804964"/>
                  </a:lnTo>
                  <a:lnTo>
                    <a:pt x="8394484" y="804964"/>
                  </a:lnTo>
                  <a:lnTo>
                    <a:pt x="8436555" y="796605"/>
                  </a:lnTo>
                  <a:lnTo>
                    <a:pt x="8472057" y="772783"/>
                  </a:lnTo>
                  <a:lnTo>
                    <a:pt x="8495829" y="737231"/>
                  </a:lnTo>
                  <a:lnTo>
                    <a:pt x="8495930" y="737029"/>
                  </a:lnTo>
                  <a:lnTo>
                    <a:pt x="8504288" y="695159"/>
                  </a:lnTo>
                  <a:lnTo>
                    <a:pt x="8504265" y="109804"/>
                  </a:lnTo>
                  <a:lnTo>
                    <a:pt x="8495930" y="68088"/>
                  </a:lnTo>
                  <a:lnTo>
                    <a:pt x="8472063" y="32535"/>
                  </a:lnTo>
                  <a:lnTo>
                    <a:pt x="8436353" y="8713"/>
                  </a:lnTo>
                  <a:lnTo>
                    <a:pt x="8394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316" y="2907362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79">
                  <a:moveTo>
                    <a:pt x="368" y="109804"/>
                  </a:moveTo>
                  <a:lnTo>
                    <a:pt x="1307" y="95529"/>
                  </a:lnTo>
                  <a:lnTo>
                    <a:pt x="4103" y="81494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55"/>
                  </a:lnTo>
                  <a:lnTo>
                    <a:pt x="8436353" y="8713"/>
                  </a:lnTo>
                  <a:lnTo>
                    <a:pt x="8472063" y="32535"/>
                  </a:lnTo>
                  <a:lnTo>
                    <a:pt x="8495930" y="68088"/>
                  </a:lnTo>
                  <a:lnTo>
                    <a:pt x="8504288" y="110159"/>
                  </a:lnTo>
                  <a:lnTo>
                    <a:pt x="8504288" y="695159"/>
                  </a:lnTo>
                  <a:lnTo>
                    <a:pt x="8503348" y="709429"/>
                  </a:lnTo>
                  <a:lnTo>
                    <a:pt x="8500551" y="723465"/>
                  </a:lnTo>
                  <a:lnTo>
                    <a:pt x="8481505" y="761952"/>
                  </a:lnTo>
                  <a:lnTo>
                    <a:pt x="8449564" y="790194"/>
                  </a:lnTo>
                  <a:lnTo>
                    <a:pt x="8408914" y="804024"/>
                  </a:lnTo>
                  <a:lnTo>
                    <a:pt x="8394484" y="804964"/>
                  </a:lnTo>
                  <a:lnTo>
                    <a:pt x="109804" y="804964"/>
                  </a:lnTo>
                  <a:lnTo>
                    <a:pt x="67934" y="796605"/>
                  </a:lnTo>
                  <a:lnTo>
                    <a:pt x="32224" y="772783"/>
                  </a:lnTo>
                  <a:lnTo>
                    <a:pt x="8358" y="737231"/>
                  </a:lnTo>
                  <a:lnTo>
                    <a:pt x="0" y="69515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44144" y="797663"/>
            <a:ext cx="4360545" cy="2762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7680">
              <a:lnSpc>
                <a:spcPct val="100000"/>
              </a:lnSpc>
              <a:spcBef>
                <a:spcPts val="100"/>
              </a:spcBef>
            </a:pPr>
            <a:r>
              <a:rPr sz="1000" i="1" spc="-80" dirty="0">
                <a:solidFill>
                  <a:srgbClr val="9FBFFF"/>
                </a:solidFill>
                <a:latin typeface="Arial"/>
                <a:cs typeface="Arial"/>
              </a:rPr>
              <a:t>Clean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architecture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for</a:t>
            </a:r>
            <a:r>
              <a:rPr sz="1000" i="1" spc="-1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the </a:t>
            </a:r>
            <a:r>
              <a:rPr sz="1000" i="1" spc="-95" dirty="0">
                <a:solidFill>
                  <a:srgbClr val="9FBFFF"/>
                </a:solidFill>
                <a:latin typeface="Arial"/>
                <a:cs typeface="Arial"/>
              </a:rPr>
              <a:t>WAMY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0" dirty="0">
                <a:solidFill>
                  <a:srgbClr val="9FBFFF"/>
                </a:solidFill>
                <a:latin typeface="Arial"/>
                <a:cs typeface="Arial"/>
              </a:rPr>
              <a:t>Finance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API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50" b="1" spc="-10" dirty="0">
                <a:solidFill>
                  <a:srgbClr val="1D2660"/>
                </a:solidFill>
                <a:latin typeface="Calibri"/>
                <a:cs typeface="Calibri"/>
              </a:rPr>
              <a:t>com.wamy.finance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0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Main</a:t>
            </a:r>
            <a:r>
              <a:rPr sz="9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application</a:t>
            </a:r>
            <a:r>
              <a:rPr sz="9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class ·</a:t>
            </a:r>
            <a:r>
              <a:rPr sz="950" spc="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SecurityConfig</a:t>
            </a:r>
            <a:r>
              <a:rPr sz="950" spc="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GlobalExceptionHandler</a:t>
            </a: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b="1" spc="-10" dirty="0">
                <a:solidFill>
                  <a:srgbClr val="1D2660"/>
                </a:solidFill>
                <a:latin typeface="Calibri"/>
                <a:cs typeface="Calibri"/>
              </a:rPr>
              <a:t>.controller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0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JournalEntryController</a:t>
            </a:r>
            <a:r>
              <a:rPr sz="950" spc="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4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ReportController</a:t>
            </a:r>
            <a:r>
              <a:rPr sz="950" spc="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3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BudgetController</a:t>
            </a:r>
            <a:r>
              <a:rPr sz="950" spc="3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ChartOfAccountsController</a:t>
            </a: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b="1" spc="-10" dirty="0">
                <a:solidFill>
                  <a:srgbClr val="1D2660"/>
                </a:solidFill>
                <a:latin typeface="Calibri"/>
                <a:cs typeface="Calibri"/>
              </a:rPr>
              <a:t>.service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0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AccountingService</a:t>
            </a:r>
            <a:r>
              <a:rPr sz="950" spc="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ReportingService</a:t>
            </a:r>
            <a:r>
              <a:rPr sz="950" spc="4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BudgetService</a:t>
            </a:r>
            <a:r>
              <a:rPr sz="950" spc="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ReconciliationService</a:t>
            </a:r>
            <a:endParaRPr sz="95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42277" y="3726346"/>
            <a:ext cx="8695055" cy="995680"/>
            <a:chOff x="242277" y="3726346"/>
            <a:chExt cx="8695055" cy="99568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3726346"/>
              <a:ext cx="8694724" cy="99505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19316" y="3803397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79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934"/>
                  </a:lnTo>
                  <a:lnTo>
                    <a:pt x="368" y="109804"/>
                  </a:lnTo>
                  <a:lnTo>
                    <a:pt x="0" y="695159"/>
                  </a:lnTo>
                  <a:lnTo>
                    <a:pt x="929" y="709434"/>
                  </a:lnTo>
                  <a:lnTo>
                    <a:pt x="939" y="709590"/>
                  </a:lnTo>
                  <a:lnTo>
                    <a:pt x="3701" y="723469"/>
                  </a:lnTo>
                  <a:lnTo>
                    <a:pt x="3736" y="723647"/>
                  </a:lnTo>
                  <a:lnTo>
                    <a:pt x="22686" y="761953"/>
                  </a:lnTo>
                  <a:lnTo>
                    <a:pt x="55079" y="790206"/>
                  </a:lnTo>
                  <a:lnTo>
                    <a:pt x="95534" y="804024"/>
                  </a:lnTo>
                  <a:lnTo>
                    <a:pt x="109804" y="804964"/>
                  </a:lnTo>
                  <a:lnTo>
                    <a:pt x="8394484" y="804964"/>
                  </a:lnTo>
                  <a:lnTo>
                    <a:pt x="8436555" y="796611"/>
                  </a:lnTo>
                  <a:lnTo>
                    <a:pt x="8472057" y="772785"/>
                  </a:lnTo>
                  <a:lnTo>
                    <a:pt x="8495830" y="737231"/>
                  </a:lnTo>
                  <a:lnTo>
                    <a:pt x="8500490" y="723647"/>
                  </a:lnTo>
                  <a:lnTo>
                    <a:pt x="8500551" y="723469"/>
                  </a:lnTo>
                  <a:lnTo>
                    <a:pt x="8503317" y="709590"/>
                  </a:lnTo>
                  <a:lnTo>
                    <a:pt x="8503348" y="709434"/>
                  </a:lnTo>
                  <a:lnTo>
                    <a:pt x="8504288" y="695159"/>
                  </a:lnTo>
                  <a:lnTo>
                    <a:pt x="8504265" y="109804"/>
                  </a:lnTo>
                  <a:lnTo>
                    <a:pt x="8495930" y="68095"/>
                  </a:lnTo>
                  <a:lnTo>
                    <a:pt x="8472063" y="32535"/>
                  </a:lnTo>
                  <a:lnTo>
                    <a:pt x="8436353" y="8721"/>
                  </a:lnTo>
                  <a:lnTo>
                    <a:pt x="839448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9316" y="3803397"/>
              <a:ext cx="8504555" cy="805180"/>
            </a:xfrm>
            <a:custGeom>
              <a:avLst/>
              <a:gdLst/>
              <a:ahLst/>
              <a:cxnLst/>
              <a:rect l="l" t="t" r="r" b="b"/>
              <a:pathLst>
                <a:path w="8504555" h="805179">
                  <a:moveTo>
                    <a:pt x="368" y="109804"/>
                  </a:moveTo>
                  <a:lnTo>
                    <a:pt x="1307" y="95534"/>
                  </a:lnTo>
                  <a:lnTo>
                    <a:pt x="4103" y="81499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394484" y="368"/>
                  </a:lnTo>
                  <a:lnTo>
                    <a:pt x="8436353" y="8721"/>
                  </a:lnTo>
                  <a:lnTo>
                    <a:pt x="8472063" y="32535"/>
                  </a:lnTo>
                  <a:lnTo>
                    <a:pt x="8495930" y="68095"/>
                  </a:lnTo>
                  <a:lnTo>
                    <a:pt x="8504288" y="110159"/>
                  </a:lnTo>
                  <a:lnTo>
                    <a:pt x="8504288" y="695159"/>
                  </a:lnTo>
                  <a:lnTo>
                    <a:pt x="8503348" y="709434"/>
                  </a:lnTo>
                  <a:lnTo>
                    <a:pt x="8500551" y="723469"/>
                  </a:lnTo>
                  <a:lnTo>
                    <a:pt x="8481505" y="761953"/>
                  </a:lnTo>
                  <a:lnTo>
                    <a:pt x="8449564" y="790206"/>
                  </a:lnTo>
                  <a:lnTo>
                    <a:pt x="8408914" y="804024"/>
                  </a:lnTo>
                  <a:lnTo>
                    <a:pt x="8394484" y="804964"/>
                  </a:lnTo>
                  <a:lnTo>
                    <a:pt x="109804" y="804964"/>
                  </a:lnTo>
                  <a:lnTo>
                    <a:pt x="67934" y="796611"/>
                  </a:lnTo>
                  <a:lnTo>
                    <a:pt x="32224" y="772785"/>
                  </a:lnTo>
                  <a:lnTo>
                    <a:pt x="8358" y="737231"/>
                  </a:lnTo>
                  <a:lnTo>
                    <a:pt x="0" y="69515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44144" y="3903029"/>
            <a:ext cx="3763010" cy="552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1D2660"/>
                </a:solidFill>
                <a:latin typeface="Calibri"/>
                <a:cs typeface="Calibri"/>
              </a:rPr>
              <a:t>.repository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JournalEntryRepository</a:t>
            </a:r>
            <a:r>
              <a:rPr sz="950" spc="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JournalLineRepository</a:t>
            </a:r>
            <a:r>
              <a:rPr sz="950" spc="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950" spc="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65468"/>
                </a:solidFill>
                <a:latin typeface="Calibri"/>
                <a:cs typeface="Calibri"/>
              </a:rPr>
              <a:t>ChartOfAccountsRepository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42277" y="4622751"/>
            <a:ext cx="8695055" cy="527050"/>
            <a:chOff x="242277" y="4622751"/>
            <a:chExt cx="8695055" cy="52705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4622751"/>
              <a:ext cx="8694724" cy="52057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19474" y="4699802"/>
              <a:ext cx="8504555" cy="443865"/>
            </a:xfrm>
            <a:custGeom>
              <a:avLst/>
              <a:gdLst/>
              <a:ahLst/>
              <a:cxnLst/>
              <a:rect l="l" t="t" r="r" b="b"/>
              <a:pathLst>
                <a:path w="8504555" h="443864">
                  <a:moveTo>
                    <a:pt x="110001" y="0"/>
                  </a:moveTo>
                  <a:lnTo>
                    <a:pt x="67937" y="8352"/>
                  </a:lnTo>
                  <a:lnTo>
                    <a:pt x="32377" y="32223"/>
                  </a:lnTo>
                  <a:lnTo>
                    <a:pt x="8562" y="67932"/>
                  </a:lnTo>
                  <a:lnTo>
                    <a:pt x="209" y="109804"/>
                  </a:lnTo>
                  <a:lnTo>
                    <a:pt x="0" y="443522"/>
                  </a:lnTo>
                  <a:lnTo>
                    <a:pt x="8504129" y="443522"/>
                  </a:lnTo>
                  <a:lnTo>
                    <a:pt x="8504129" y="110159"/>
                  </a:lnTo>
                  <a:lnTo>
                    <a:pt x="8503190" y="95729"/>
                  </a:lnTo>
                  <a:lnTo>
                    <a:pt x="8489359" y="55079"/>
                  </a:lnTo>
                  <a:lnTo>
                    <a:pt x="8461118" y="23138"/>
                  </a:lnTo>
                  <a:lnTo>
                    <a:pt x="8422630" y="4092"/>
                  </a:lnTo>
                  <a:lnTo>
                    <a:pt x="110001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9474" y="4699802"/>
              <a:ext cx="8504555" cy="443865"/>
            </a:xfrm>
            <a:custGeom>
              <a:avLst/>
              <a:gdLst/>
              <a:ahLst/>
              <a:cxnLst/>
              <a:rect l="l" t="t" r="r" b="b"/>
              <a:pathLst>
                <a:path w="8504555" h="443864">
                  <a:moveTo>
                    <a:pt x="0" y="443522"/>
                  </a:moveTo>
                  <a:lnTo>
                    <a:pt x="209" y="109804"/>
                  </a:lnTo>
                  <a:lnTo>
                    <a:pt x="8562" y="67932"/>
                  </a:lnTo>
                  <a:lnTo>
                    <a:pt x="32377" y="32223"/>
                  </a:lnTo>
                  <a:lnTo>
                    <a:pt x="67937" y="8352"/>
                  </a:lnTo>
                  <a:lnTo>
                    <a:pt x="110001" y="0"/>
                  </a:lnTo>
                  <a:lnTo>
                    <a:pt x="8394325" y="355"/>
                  </a:lnTo>
                  <a:lnTo>
                    <a:pt x="8436195" y="8713"/>
                  </a:lnTo>
                  <a:lnTo>
                    <a:pt x="8471905" y="32535"/>
                  </a:lnTo>
                  <a:lnTo>
                    <a:pt x="8495771" y="68088"/>
                  </a:lnTo>
                  <a:lnTo>
                    <a:pt x="8504129" y="110159"/>
                  </a:lnTo>
                  <a:lnTo>
                    <a:pt x="8504129" y="443522"/>
                  </a:lnTo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44144" y="4799065"/>
            <a:ext cx="24765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20" dirty="0">
                <a:solidFill>
                  <a:srgbClr val="1D2660"/>
                </a:solidFill>
                <a:latin typeface="Calibri"/>
                <a:cs typeface="Calibri"/>
              </a:rPr>
              <a:t>.dto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27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4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Service</a:t>
            </a:r>
            <a:r>
              <a:rPr spc="-70" dirty="0"/>
              <a:t> </a:t>
            </a:r>
            <a:r>
              <a:rPr spc="-10" dirty="0"/>
              <a:t>Layer</a:t>
            </a:r>
            <a:r>
              <a:rPr spc="-70" dirty="0"/>
              <a:t> </a:t>
            </a:r>
            <a:r>
              <a:rPr dirty="0"/>
              <a:t>Design</a:t>
            </a:r>
            <a:r>
              <a:rPr spc="-80" dirty="0"/>
              <a:t> </a:t>
            </a:r>
            <a:r>
              <a:rPr dirty="0"/>
              <a:t>—</a:t>
            </a:r>
            <a:r>
              <a:rPr spc="-65" dirty="0"/>
              <a:t> </a:t>
            </a:r>
            <a:r>
              <a:rPr spc="-10" dirty="0"/>
              <a:t>AccountingService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2923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90" dirty="0">
                <a:solidFill>
                  <a:srgbClr val="9FBFFF"/>
                </a:solidFill>
                <a:latin typeface="Arial"/>
                <a:cs typeface="Arial"/>
              </a:rPr>
              <a:t>Core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double-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entry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engine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for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WAMY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Finance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277" y="1037871"/>
            <a:ext cx="4580255" cy="1562100"/>
            <a:chOff x="242277" y="1037871"/>
            <a:chExt cx="4580255" cy="15621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037871"/>
              <a:ext cx="4579924" cy="15620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277"/>
              <a:ext cx="4389120" cy="1371600"/>
            </a:xfrm>
            <a:custGeom>
              <a:avLst/>
              <a:gdLst/>
              <a:ahLst/>
              <a:cxnLst/>
              <a:rect l="l" t="t" r="r" b="b"/>
              <a:pathLst>
                <a:path w="4389120" h="1371600">
                  <a:moveTo>
                    <a:pt x="429731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39"/>
                  </a:lnTo>
                  <a:lnTo>
                    <a:pt x="0" y="1280160"/>
                  </a:lnTo>
                  <a:lnTo>
                    <a:pt x="6858" y="1314733"/>
                  </a:lnTo>
                  <a:lnTo>
                    <a:pt x="6981" y="1315094"/>
                  </a:lnTo>
                  <a:lnTo>
                    <a:pt x="35675" y="1352769"/>
                  </a:lnTo>
                  <a:lnTo>
                    <a:pt x="79433" y="1370801"/>
                  </a:lnTo>
                  <a:lnTo>
                    <a:pt x="91439" y="1371600"/>
                  </a:lnTo>
                  <a:lnTo>
                    <a:pt x="4297680" y="1371244"/>
                  </a:lnTo>
                  <a:lnTo>
                    <a:pt x="4343400" y="1359001"/>
                  </a:lnTo>
                  <a:lnTo>
                    <a:pt x="4376877" y="1325524"/>
                  </a:lnTo>
                  <a:lnTo>
                    <a:pt x="4385842" y="1303834"/>
                  </a:lnTo>
                  <a:lnTo>
                    <a:pt x="4385965" y="1303474"/>
                  </a:lnTo>
                  <a:lnTo>
                    <a:pt x="4388247" y="1292166"/>
                  </a:lnTo>
                  <a:lnTo>
                    <a:pt x="4388319" y="1291809"/>
                  </a:lnTo>
                  <a:lnTo>
                    <a:pt x="4389096" y="1280160"/>
                  </a:lnTo>
                  <a:lnTo>
                    <a:pt x="4388751" y="91439"/>
                  </a:lnTo>
                  <a:lnTo>
                    <a:pt x="4376521" y="45720"/>
                  </a:lnTo>
                  <a:lnTo>
                    <a:pt x="4343031" y="12242"/>
                  </a:lnTo>
                  <a:lnTo>
                    <a:pt x="4309318" y="798"/>
                  </a:lnTo>
                  <a:lnTo>
                    <a:pt x="4297311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277"/>
              <a:ext cx="4389120" cy="1371600"/>
            </a:xfrm>
            <a:custGeom>
              <a:avLst/>
              <a:gdLst/>
              <a:ahLst/>
              <a:cxnLst/>
              <a:rect l="l" t="t" r="r" b="b"/>
              <a:pathLst>
                <a:path w="4389120" h="1371600">
                  <a:moveTo>
                    <a:pt x="0" y="91439"/>
                  </a:moveTo>
                  <a:lnTo>
                    <a:pt x="798" y="79440"/>
                  </a:lnTo>
                  <a:lnTo>
                    <a:pt x="3148" y="67775"/>
                  </a:lnTo>
                  <a:lnTo>
                    <a:pt x="26679" y="26690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4297311" y="0"/>
                  </a:lnTo>
                  <a:lnTo>
                    <a:pt x="4343031" y="12242"/>
                  </a:lnTo>
                  <a:lnTo>
                    <a:pt x="4376521" y="45720"/>
                  </a:lnTo>
                  <a:lnTo>
                    <a:pt x="4388751" y="91439"/>
                  </a:lnTo>
                  <a:lnTo>
                    <a:pt x="4389120" y="1279804"/>
                  </a:lnTo>
                  <a:lnTo>
                    <a:pt x="4388319" y="1291809"/>
                  </a:lnTo>
                  <a:lnTo>
                    <a:pt x="4385965" y="1303474"/>
                  </a:lnTo>
                  <a:lnTo>
                    <a:pt x="4362429" y="1344558"/>
                  </a:lnTo>
                  <a:lnTo>
                    <a:pt x="4321344" y="1368094"/>
                  </a:lnTo>
                  <a:lnTo>
                    <a:pt x="91439" y="1371600"/>
                  </a:lnTo>
                  <a:lnTo>
                    <a:pt x="45719" y="1359369"/>
                  </a:lnTo>
                  <a:lnTo>
                    <a:pt x="12230" y="1325880"/>
                  </a:lnTo>
                  <a:lnTo>
                    <a:pt x="0" y="12801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495" y="1093147"/>
            <a:ext cx="4085590" cy="975994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740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155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AccountingService</a:t>
            </a:r>
            <a:r>
              <a:rPr sz="850" b="1" spc="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AccountingService.java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in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com.wamy.finance.service.</a:t>
            </a:r>
            <a:r>
              <a:rPr sz="850" i="1" spc="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Methods: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postJournalEntry(JournalEntryRequest)</a:t>
            </a:r>
            <a:r>
              <a:rPr sz="850" i="1" spc="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—</a:t>
            </a:r>
            <a:r>
              <a:rPr sz="850" i="1" spc="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validates</a:t>
            </a:r>
            <a:r>
              <a:rPr sz="850" i="1" spc="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debit==credit,</a:t>
            </a:r>
            <a:r>
              <a:rPr sz="850" i="1" spc="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saves</a:t>
            </a:r>
            <a:r>
              <a:rPr sz="850" i="1" spc="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entity,</a:t>
            </a:r>
            <a:r>
              <a:rPr sz="850" i="1" spc="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publishes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event;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voidJournalEntry(Long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id)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—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creates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reversal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entry;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getGeneralLedger(Long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accountId,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LocalDate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from,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LocalDate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to)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—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returns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paginated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ledger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entries.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Use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@Transactional,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constructor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injection."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277" y="2482547"/>
            <a:ext cx="4580255" cy="2293620"/>
            <a:chOff x="242277" y="2482547"/>
            <a:chExt cx="4580255" cy="229362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2482547"/>
              <a:ext cx="4579924" cy="229356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559966"/>
              <a:ext cx="4389120" cy="2103120"/>
            </a:xfrm>
            <a:custGeom>
              <a:avLst/>
              <a:gdLst/>
              <a:ahLst/>
              <a:cxnLst/>
              <a:rect l="l" t="t" r="r" b="b"/>
              <a:pathLst>
                <a:path w="4389120" h="2103120">
                  <a:moveTo>
                    <a:pt x="429731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40"/>
                  </a:lnTo>
                  <a:lnTo>
                    <a:pt x="0" y="2011680"/>
                  </a:lnTo>
                  <a:lnTo>
                    <a:pt x="774" y="2023318"/>
                  </a:lnTo>
                  <a:lnTo>
                    <a:pt x="798" y="2023679"/>
                  </a:lnTo>
                  <a:lnTo>
                    <a:pt x="3075" y="2034986"/>
                  </a:lnTo>
                  <a:lnTo>
                    <a:pt x="3148" y="2035344"/>
                  </a:lnTo>
                  <a:lnTo>
                    <a:pt x="6858" y="2046246"/>
                  </a:lnTo>
                  <a:lnTo>
                    <a:pt x="6981" y="2046607"/>
                  </a:lnTo>
                  <a:lnTo>
                    <a:pt x="35675" y="2084276"/>
                  </a:lnTo>
                  <a:lnTo>
                    <a:pt x="79433" y="2102319"/>
                  </a:lnTo>
                  <a:lnTo>
                    <a:pt x="91439" y="2103120"/>
                  </a:lnTo>
                  <a:lnTo>
                    <a:pt x="4297680" y="2102751"/>
                  </a:lnTo>
                  <a:lnTo>
                    <a:pt x="4343400" y="2090521"/>
                  </a:lnTo>
                  <a:lnTo>
                    <a:pt x="4376877" y="2057031"/>
                  </a:lnTo>
                  <a:lnTo>
                    <a:pt x="4389095" y="2011680"/>
                  </a:lnTo>
                  <a:lnTo>
                    <a:pt x="4389120" y="2011311"/>
                  </a:lnTo>
                  <a:lnTo>
                    <a:pt x="4388751" y="91440"/>
                  </a:lnTo>
                  <a:lnTo>
                    <a:pt x="4376521" y="45719"/>
                  </a:lnTo>
                  <a:lnTo>
                    <a:pt x="4343031" y="12230"/>
                  </a:lnTo>
                  <a:lnTo>
                    <a:pt x="4309318" y="798"/>
                  </a:lnTo>
                  <a:lnTo>
                    <a:pt x="4297311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559966"/>
              <a:ext cx="4389120" cy="2103120"/>
            </a:xfrm>
            <a:custGeom>
              <a:avLst/>
              <a:gdLst/>
              <a:ahLst/>
              <a:cxnLst/>
              <a:rect l="l" t="t" r="r" b="b"/>
              <a:pathLst>
                <a:path w="4389120" h="2103120">
                  <a:moveTo>
                    <a:pt x="0" y="91440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39" y="0"/>
                  </a:lnTo>
                  <a:lnTo>
                    <a:pt x="4297311" y="0"/>
                  </a:lnTo>
                  <a:lnTo>
                    <a:pt x="4343031" y="12230"/>
                  </a:lnTo>
                  <a:lnTo>
                    <a:pt x="4376521" y="45719"/>
                  </a:lnTo>
                  <a:lnTo>
                    <a:pt x="4388751" y="91440"/>
                  </a:lnTo>
                  <a:lnTo>
                    <a:pt x="4389120" y="2011311"/>
                  </a:lnTo>
                  <a:lnTo>
                    <a:pt x="4388319" y="2023318"/>
                  </a:lnTo>
                  <a:lnTo>
                    <a:pt x="4385965" y="2034986"/>
                  </a:lnTo>
                  <a:lnTo>
                    <a:pt x="4362429" y="2076072"/>
                  </a:lnTo>
                  <a:lnTo>
                    <a:pt x="4321344" y="2099603"/>
                  </a:lnTo>
                  <a:lnTo>
                    <a:pt x="91439" y="2103120"/>
                  </a:lnTo>
                  <a:lnTo>
                    <a:pt x="45719" y="2090877"/>
                  </a:lnTo>
                  <a:lnTo>
                    <a:pt x="12230" y="2057400"/>
                  </a:lnTo>
                  <a:lnTo>
                    <a:pt x="0" y="2011680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495" y="2548635"/>
            <a:ext cx="3066415" cy="960119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20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2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AccountingService</a:t>
            </a:r>
            <a:r>
              <a:rPr sz="900" b="1" spc="2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(excerpt)</a:t>
            </a:r>
            <a:endParaRPr sz="900">
              <a:latin typeface="Calibri"/>
              <a:cs typeface="Calibri"/>
            </a:endParaRPr>
          </a:p>
          <a:p>
            <a:pPr marL="12700" marR="1556385">
              <a:lnSpc>
                <a:spcPct val="102499"/>
              </a:lnSpc>
              <a:spcBef>
                <a:spcPts val="50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@Service @RequiredArgsConstructor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class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AccountingService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13589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private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final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JournalEntryRepository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entryRepo;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private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final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ApplicationEventPublisher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events;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977" y="3607818"/>
            <a:ext cx="3315335" cy="11499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@Transactional</a:t>
            </a:r>
            <a:endParaRPr sz="800">
              <a:latin typeface="Courier New"/>
              <a:cs typeface="Courier New"/>
            </a:endParaRPr>
          </a:p>
          <a:p>
            <a:pPr marL="260985" marR="502284" indent="-24892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JournalEntryResponse</a:t>
            </a:r>
            <a:r>
              <a:rPr sz="800" spc="11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postJournalEntry(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JournalEntryRequest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req)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137160" marR="563245">
              <a:lnSpc>
                <a:spcPct val="102499"/>
              </a:lnSpc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validateDoubleEntry(req.getLines());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JournalEntry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entry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mapper.toEntity(req); entry.setStatus(EntryStatus.POSTED); entry.setPostedAt(LocalDateTime.now());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entry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entryRepo.save(entry);</a:t>
            </a:r>
            <a:endParaRPr sz="800">
              <a:latin typeface="Courier New"/>
              <a:cs typeface="Courier New"/>
            </a:endParaRPr>
          </a:p>
          <a:p>
            <a:pPr marL="13716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events.publishEvent(new</a:t>
            </a:r>
            <a:r>
              <a:rPr sz="800" spc="1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JournalPostedEvent(entry));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814277" y="1038227"/>
            <a:ext cx="4123054" cy="3738879"/>
            <a:chOff x="4814277" y="1038227"/>
            <a:chExt cx="4123054" cy="3738879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14277" y="1038227"/>
              <a:ext cx="4122724" cy="373825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891316" y="1115277"/>
              <a:ext cx="3932554" cy="3548379"/>
            </a:xfrm>
            <a:custGeom>
              <a:avLst/>
              <a:gdLst/>
              <a:ahLst/>
              <a:cxnLst/>
              <a:rect l="l" t="t" r="r" b="b"/>
              <a:pathLst>
                <a:path w="3932554" h="3548379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3438359"/>
                  </a:lnTo>
                  <a:lnTo>
                    <a:pt x="939" y="3452790"/>
                  </a:lnTo>
                  <a:lnTo>
                    <a:pt x="14770" y="3493439"/>
                  </a:lnTo>
                  <a:lnTo>
                    <a:pt x="22686" y="3505153"/>
                  </a:lnTo>
                  <a:lnTo>
                    <a:pt x="22788" y="3505303"/>
                  </a:lnTo>
                  <a:lnTo>
                    <a:pt x="55079" y="3533406"/>
                  </a:lnTo>
                  <a:lnTo>
                    <a:pt x="95379" y="3547224"/>
                  </a:lnTo>
                  <a:lnTo>
                    <a:pt x="109804" y="3548164"/>
                  </a:lnTo>
                  <a:lnTo>
                    <a:pt x="3822484" y="3548164"/>
                  </a:lnTo>
                  <a:lnTo>
                    <a:pt x="3864555" y="3539811"/>
                  </a:lnTo>
                  <a:lnTo>
                    <a:pt x="3900057" y="3515985"/>
                  </a:lnTo>
                  <a:lnTo>
                    <a:pt x="3923854" y="3480431"/>
                  </a:lnTo>
                  <a:lnTo>
                    <a:pt x="3932288" y="3438359"/>
                  </a:lnTo>
                  <a:lnTo>
                    <a:pt x="3932265" y="109804"/>
                  </a:lnTo>
                  <a:lnTo>
                    <a:pt x="3923930" y="68095"/>
                  </a:lnTo>
                  <a:lnTo>
                    <a:pt x="3900063" y="32535"/>
                  </a:lnTo>
                  <a:lnTo>
                    <a:pt x="3864405" y="8721"/>
                  </a:lnTo>
                  <a:lnTo>
                    <a:pt x="382248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91316" y="1115277"/>
              <a:ext cx="3932554" cy="3548379"/>
            </a:xfrm>
            <a:custGeom>
              <a:avLst/>
              <a:gdLst/>
              <a:ahLst/>
              <a:cxnLst/>
              <a:rect l="l" t="t" r="r" b="b"/>
              <a:pathLst>
                <a:path w="3932554" h="354837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822484" y="368"/>
                  </a:lnTo>
                  <a:lnTo>
                    <a:pt x="3864405" y="8721"/>
                  </a:lnTo>
                  <a:lnTo>
                    <a:pt x="3900063" y="32535"/>
                  </a:lnTo>
                  <a:lnTo>
                    <a:pt x="3923930" y="68095"/>
                  </a:lnTo>
                  <a:lnTo>
                    <a:pt x="3932288" y="110159"/>
                  </a:lnTo>
                  <a:lnTo>
                    <a:pt x="3932288" y="3438359"/>
                  </a:lnTo>
                  <a:lnTo>
                    <a:pt x="3931348" y="3452784"/>
                  </a:lnTo>
                  <a:lnTo>
                    <a:pt x="3928551" y="3466803"/>
                  </a:lnTo>
                  <a:lnTo>
                    <a:pt x="3909505" y="3505153"/>
                  </a:lnTo>
                  <a:lnTo>
                    <a:pt x="3877564" y="3533406"/>
                  </a:lnTo>
                  <a:lnTo>
                    <a:pt x="3836914" y="3547224"/>
                  </a:lnTo>
                  <a:lnTo>
                    <a:pt x="3822484" y="3548164"/>
                  </a:lnTo>
                  <a:lnTo>
                    <a:pt x="109804" y="3548164"/>
                  </a:lnTo>
                  <a:lnTo>
                    <a:pt x="67882" y="3539811"/>
                  </a:lnTo>
                  <a:lnTo>
                    <a:pt x="32224" y="3515985"/>
                  </a:lnTo>
                  <a:lnTo>
                    <a:pt x="8358" y="3480431"/>
                  </a:lnTo>
                  <a:lnTo>
                    <a:pt x="0" y="343835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055E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016144" y="1167538"/>
            <a:ext cx="165544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055E45"/>
                </a:solidFill>
                <a:latin typeface="MingLiU_HKSCS-ExtB"/>
                <a:cs typeface="MingLiU_HKSCS-ExtB"/>
              </a:rPr>
              <a:t>✅</a:t>
            </a:r>
            <a:r>
              <a:rPr sz="1300" spc="-290" dirty="0">
                <a:solidFill>
                  <a:srgbClr val="055E45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What</a:t>
            </a:r>
            <a:r>
              <a:rPr sz="1100" b="1" spc="-40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Claude</a:t>
            </a:r>
            <a:r>
              <a:rPr sz="1100" b="1" spc="-20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Generated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16144" y="1569861"/>
            <a:ext cx="242697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AccountingService.java</a:t>
            </a:r>
            <a:r>
              <a:rPr sz="95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—</a:t>
            </a:r>
            <a:r>
              <a:rPr sz="9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full</a:t>
            </a:r>
            <a:r>
              <a:rPr sz="95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implementation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16144" y="1971981"/>
            <a:ext cx="259461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AccountingServiceImpl.java</a:t>
            </a:r>
            <a:r>
              <a:rPr sz="950" spc="5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(interface</a:t>
            </a:r>
            <a:r>
              <a:rPr sz="950" spc="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separation)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16144" y="2374457"/>
            <a:ext cx="192532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DoubleEntryViolationException.java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16144" y="2776946"/>
            <a:ext cx="136080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JournalPostedEvent.java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16144" y="3179066"/>
            <a:ext cx="24447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AccountingServiceTest.java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(JUnit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5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Mockito)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16144" y="3581541"/>
            <a:ext cx="227901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Full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coverage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for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debit≠credit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rejection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16144" y="3983661"/>
            <a:ext cx="242633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Swagger/OpenAPI</a:t>
            </a:r>
            <a:r>
              <a:rPr sz="9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annotations</a:t>
            </a:r>
            <a:r>
              <a:rPr sz="9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on</a:t>
            </a:r>
            <a:r>
              <a:rPr sz="9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95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methods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16144" y="4386137"/>
            <a:ext cx="27793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Lombok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@RequiredArgsConstructor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 used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throughout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13016" y="4728845"/>
            <a:ext cx="8517255" cy="360680"/>
            <a:chOff x="313016" y="4656786"/>
            <a:chExt cx="8517255" cy="360680"/>
          </a:xfrm>
        </p:grpSpPr>
        <p:sp>
          <p:nvSpPr>
            <p:cNvPr id="32" name="object 32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18744" y="4802639"/>
            <a:ext cx="6277610" cy="276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ts val="1160"/>
              </a:lnSpc>
              <a:spcBef>
                <a:spcPts val="114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29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spc="-340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247" baseline="20833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360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225" baseline="20833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33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7" baseline="20833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1200" spc="-660" baseline="20833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950" spc="-60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637" baseline="20833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-380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172" baseline="20833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175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1200" spc="-487" baseline="20833" dirty="0">
                <a:solidFill>
                  <a:srgbClr val="E1E7EF"/>
                </a:solidFill>
                <a:latin typeface="Courier New"/>
                <a:cs typeface="Courier New"/>
              </a:rPr>
              <a:t>m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480" baseline="20833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412" baseline="20833" dirty="0">
                <a:solidFill>
                  <a:srgbClr val="E1E7EF"/>
                </a:solidFill>
                <a:latin typeface="Courier New"/>
                <a:cs typeface="Courier New"/>
              </a:rPr>
              <a:t>p</a:t>
            </a:r>
            <a:r>
              <a:rPr sz="950" spc="-595" dirty="0">
                <a:solidFill>
                  <a:srgbClr val="774409"/>
                </a:solidFill>
                <a:latin typeface="Calibri"/>
                <a:cs typeface="Calibri"/>
              </a:rPr>
              <a:t>→</a:t>
            </a:r>
            <a:r>
              <a:rPr sz="1200" spc="-15" baseline="20833" dirty="0">
                <a:solidFill>
                  <a:srgbClr val="E1E7EF"/>
                </a:solidFill>
                <a:latin typeface="Courier New"/>
                <a:cs typeface="Courier New"/>
              </a:rPr>
              <a:t>p</a:t>
            </a:r>
            <a:r>
              <a:rPr sz="1200" spc="-270" baseline="20833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315" dirty="0">
                <a:solidFill>
                  <a:srgbClr val="774409"/>
                </a:solidFill>
                <a:latin typeface="Calibri"/>
                <a:cs typeface="Calibri"/>
              </a:rPr>
              <a:t>5</a:t>
            </a:r>
            <a:r>
              <a:rPr sz="1200" spc="-7" baseline="20833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1200" spc="-690" baseline="20833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</a:t>
            </a:r>
            <a:r>
              <a:rPr sz="950" spc="-40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1200" spc="-675" baseline="20833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950" spc="-24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90" baseline="20833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12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240" baseline="20833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295" dirty="0">
                <a:solidFill>
                  <a:srgbClr val="774409"/>
                </a:solidFill>
                <a:latin typeface="Calibri"/>
                <a:cs typeface="Calibri"/>
              </a:rPr>
              <a:t>g</a:t>
            </a:r>
            <a:r>
              <a:rPr sz="1200" spc="-315" baseline="20833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26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37" baseline="20833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280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337" baseline="20833" dirty="0">
                <a:solidFill>
                  <a:srgbClr val="E1E7EF"/>
                </a:solidFill>
                <a:latin typeface="Courier New"/>
                <a:cs typeface="Courier New"/>
              </a:rPr>
              <a:t>p</a:t>
            </a:r>
            <a:r>
              <a:rPr sz="950" spc="-254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67" baseline="20833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9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615" baseline="20833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4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690" baseline="20833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32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262" baseline="20833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33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7" baseline="20833" dirty="0">
                <a:solidFill>
                  <a:srgbClr val="E1E7EF"/>
                </a:solidFill>
                <a:latin typeface="Courier New"/>
                <a:cs typeface="Courier New"/>
              </a:rPr>
              <a:t>(</a:t>
            </a:r>
            <a:r>
              <a:rPr sz="1200" spc="-652" baseline="20833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(</a:t>
            </a:r>
            <a:r>
              <a:rPr sz="950" spc="-30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292" baseline="20833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28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30" baseline="20833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1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540" baseline="20833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65" dirty="0">
                <a:solidFill>
                  <a:srgbClr val="774409"/>
                </a:solidFill>
                <a:latin typeface="Calibri"/>
                <a:cs typeface="Calibri"/>
              </a:rPr>
              <a:t>v</a:t>
            </a:r>
            <a:r>
              <a:rPr sz="1200" spc="-644" baseline="20833" dirty="0">
                <a:solidFill>
                  <a:srgbClr val="E1E7EF"/>
                </a:solidFill>
                <a:latin typeface="Courier New"/>
                <a:cs typeface="Courier New"/>
              </a:rPr>
              <a:t>y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457" baseline="20833" dirty="0">
                <a:solidFill>
                  <a:srgbClr val="E1E7EF"/>
                </a:solidFill>
                <a:latin typeface="Courier New"/>
                <a:cs typeface="Courier New"/>
              </a:rPr>
              <a:t>)</a:t>
            </a:r>
            <a:r>
              <a:rPr sz="950" spc="-17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487" baseline="20833" dirty="0">
                <a:solidFill>
                  <a:srgbClr val="E1E7EF"/>
                </a:solidFill>
                <a:latin typeface="Courier New"/>
                <a:cs typeface="Courier New"/>
              </a:rPr>
              <a:t>;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,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Interface,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Exception,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Event,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Test).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Estimate: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4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hours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of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coding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done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90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seconds.</a:t>
            </a:r>
            <a:endParaRPr sz="950">
              <a:latin typeface="Calibri"/>
              <a:cs typeface="Calibri"/>
            </a:endParaRPr>
          </a:p>
          <a:p>
            <a:pPr marL="152400">
              <a:lnSpc>
                <a:spcPts val="800"/>
              </a:lnSpc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28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4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JPA</a:t>
            </a:r>
            <a:r>
              <a:rPr spc="-95" dirty="0"/>
              <a:t> </a:t>
            </a:r>
            <a:r>
              <a:rPr dirty="0"/>
              <a:t>Entities</a:t>
            </a:r>
            <a:r>
              <a:rPr spc="-90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spc="-10" dirty="0"/>
              <a:t>Repository</a:t>
            </a:r>
            <a:r>
              <a:rPr spc="-85" dirty="0"/>
              <a:t> </a:t>
            </a:r>
            <a:r>
              <a:rPr spc="-10" dirty="0"/>
              <a:t>Layer</a:t>
            </a:r>
          </a:p>
        </p:txBody>
      </p:sp>
      <p:sp>
        <p:nvSpPr>
          <p:cNvPr id="4" name="object 4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2277" y="1038227"/>
            <a:ext cx="8694420" cy="940435"/>
            <a:chOff x="242277" y="1038227"/>
            <a:chExt cx="8694420" cy="9404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038227"/>
              <a:ext cx="8694356" cy="94033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9684" y="1115646"/>
              <a:ext cx="8503920" cy="749935"/>
            </a:xfrm>
            <a:custGeom>
              <a:avLst/>
              <a:gdLst/>
              <a:ahLst/>
              <a:cxnLst/>
              <a:rect l="l" t="t" r="r" b="b"/>
              <a:pathLst>
                <a:path w="8503920" h="749935">
                  <a:moveTo>
                    <a:pt x="841211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658431"/>
                  </a:lnTo>
                  <a:lnTo>
                    <a:pt x="774" y="670080"/>
                  </a:lnTo>
                  <a:lnTo>
                    <a:pt x="798" y="670438"/>
                  </a:lnTo>
                  <a:lnTo>
                    <a:pt x="3075" y="681745"/>
                  </a:lnTo>
                  <a:lnTo>
                    <a:pt x="3148" y="682105"/>
                  </a:lnTo>
                  <a:lnTo>
                    <a:pt x="26679" y="723191"/>
                  </a:lnTo>
                  <a:lnTo>
                    <a:pt x="67765" y="746723"/>
                  </a:lnTo>
                  <a:lnTo>
                    <a:pt x="91439" y="749871"/>
                  </a:lnTo>
                  <a:lnTo>
                    <a:pt x="8412480" y="749515"/>
                  </a:lnTo>
                  <a:lnTo>
                    <a:pt x="8458200" y="737273"/>
                  </a:lnTo>
                  <a:lnTo>
                    <a:pt x="8491677" y="703795"/>
                  </a:lnTo>
                  <a:lnTo>
                    <a:pt x="8500642" y="682105"/>
                  </a:lnTo>
                  <a:lnTo>
                    <a:pt x="8500765" y="681745"/>
                  </a:lnTo>
                  <a:lnTo>
                    <a:pt x="8503047" y="670438"/>
                  </a:lnTo>
                  <a:lnTo>
                    <a:pt x="8503119" y="670080"/>
                  </a:lnTo>
                  <a:lnTo>
                    <a:pt x="8503896" y="658431"/>
                  </a:lnTo>
                  <a:lnTo>
                    <a:pt x="8503551" y="91439"/>
                  </a:lnTo>
                  <a:lnTo>
                    <a:pt x="8491321" y="45720"/>
                  </a:lnTo>
                  <a:lnTo>
                    <a:pt x="8457831" y="12230"/>
                  </a:lnTo>
                  <a:lnTo>
                    <a:pt x="8424118" y="798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9684" y="1115646"/>
              <a:ext cx="8503920" cy="749935"/>
            </a:xfrm>
            <a:custGeom>
              <a:avLst/>
              <a:gdLst/>
              <a:ahLst/>
              <a:cxnLst/>
              <a:rect l="l" t="t" r="r" b="b"/>
              <a:pathLst>
                <a:path w="8503920" h="749935">
                  <a:moveTo>
                    <a:pt x="0" y="91439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39" y="0"/>
                  </a:lnTo>
                  <a:lnTo>
                    <a:pt x="8412111" y="0"/>
                  </a:lnTo>
                  <a:lnTo>
                    <a:pt x="8457831" y="12230"/>
                  </a:lnTo>
                  <a:lnTo>
                    <a:pt x="8491321" y="45720"/>
                  </a:lnTo>
                  <a:lnTo>
                    <a:pt x="8503551" y="91439"/>
                  </a:lnTo>
                  <a:lnTo>
                    <a:pt x="8503920" y="658075"/>
                  </a:lnTo>
                  <a:lnTo>
                    <a:pt x="8503119" y="670080"/>
                  </a:lnTo>
                  <a:lnTo>
                    <a:pt x="8500765" y="681745"/>
                  </a:lnTo>
                  <a:lnTo>
                    <a:pt x="8477229" y="722834"/>
                  </a:lnTo>
                  <a:lnTo>
                    <a:pt x="8436144" y="746366"/>
                  </a:lnTo>
                  <a:lnTo>
                    <a:pt x="91439" y="749871"/>
                  </a:lnTo>
                  <a:lnTo>
                    <a:pt x="45719" y="737641"/>
                  </a:lnTo>
                  <a:lnTo>
                    <a:pt x="12230" y="704151"/>
                  </a:lnTo>
                  <a:lnTo>
                    <a:pt x="0" y="658431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5495" y="797663"/>
            <a:ext cx="8105775" cy="882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6570">
              <a:lnSpc>
                <a:spcPct val="100000"/>
              </a:lnSpc>
              <a:spcBef>
                <a:spcPts val="100"/>
              </a:spcBef>
            </a:pP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Spring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Data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65" dirty="0">
                <a:solidFill>
                  <a:srgbClr val="9FBFFF"/>
                </a:solidFill>
                <a:latin typeface="Arial"/>
                <a:cs typeface="Arial"/>
              </a:rPr>
              <a:t>JPA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for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the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+mn-lt"/>
                <a:cs typeface="Arial"/>
              </a:rPr>
              <a:t>double-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entry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schema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000" dirty="0">
              <a:latin typeface="Arial"/>
              <a:cs typeface="Arial"/>
            </a:endParaRPr>
          </a:p>
          <a:p>
            <a:pPr marL="450850">
              <a:lnSpc>
                <a:spcPct val="100000"/>
              </a:lnSpc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spc="-20" dirty="0">
                <a:solidFill>
                  <a:srgbClr val="0C9387"/>
                </a:solidFill>
                <a:latin typeface="Calibri"/>
                <a:cs typeface="Calibri"/>
              </a:rPr>
              <a:t>JPA</a:t>
            </a:r>
            <a:r>
              <a:rPr sz="85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Entity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40" dirty="0">
                <a:solidFill>
                  <a:srgbClr val="FCE589"/>
                </a:solidFill>
                <a:latin typeface="Arial"/>
                <a:cs typeface="Arial"/>
              </a:rPr>
              <a:t>JPA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entities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for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JournalEntry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JournalLine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with: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proper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@Entity,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@Table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annotations,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@OneToMany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relationship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(JournalEntry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has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List&lt;JournalLine&gt;),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@Column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constraints,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custom</a:t>
            </a:r>
            <a:r>
              <a:rPr sz="850" i="1" spc="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@AssertDebitCreditBalance</a:t>
            </a:r>
            <a:r>
              <a:rPr sz="850" i="1" spc="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validator,</a:t>
            </a:r>
            <a:r>
              <a:rPr sz="850" i="1" spc="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Lombok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@Data</a:t>
            </a:r>
            <a:r>
              <a:rPr sz="850" i="1" spc="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@Builder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@NoArgsConstructor</a:t>
            </a:r>
            <a:r>
              <a:rPr sz="850" i="1" spc="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@AllArgsConstructor.</a:t>
            </a:r>
            <a:r>
              <a:rPr sz="850" i="1" spc="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Include</a:t>
            </a:r>
            <a:r>
              <a:rPr sz="850" i="1" spc="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JournalEntryRepository</a:t>
            </a:r>
            <a:r>
              <a:rPr sz="850" i="1" spc="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custom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query</a:t>
            </a:r>
            <a:r>
              <a:rPr sz="850" i="1" spc="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methods."</a:t>
            </a:r>
            <a:endParaRPr sz="850" dirty="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2277" y="1861186"/>
            <a:ext cx="5219700" cy="2952115"/>
            <a:chOff x="242277" y="1861186"/>
            <a:chExt cx="5219700" cy="29521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1861186"/>
              <a:ext cx="5219636" cy="295201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9316" y="1938237"/>
              <a:ext cx="5029835" cy="2762250"/>
            </a:xfrm>
            <a:custGeom>
              <a:avLst/>
              <a:gdLst/>
              <a:ahLst/>
              <a:cxnLst/>
              <a:rect l="l" t="t" r="r" b="b"/>
              <a:pathLst>
                <a:path w="5029835" h="2762250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670479"/>
                  </a:lnTo>
                  <a:lnTo>
                    <a:pt x="798" y="2682486"/>
                  </a:lnTo>
                  <a:lnTo>
                    <a:pt x="18843" y="2726243"/>
                  </a:lnTo>
                  <a:lnTo>
                    <a:pt x="56512" y="2754938"/>
                  </a:lnTo>
                  <a:lnTo>
                    <a:pt x="91440" y="2761919"/>
                  </a:lnTo>
                  <a:lnTo>
                    <a:pt x="4938128" y="2761919"/>
                  </a:lnTo>
                  <a:lnTo>
                    <a:pt x="4983848" y="2749689"/>
                  </a:lnTo>
                  <a:lnTo>
                    <a:pt x="5017325" y="2716199"/>
                  </a:lnTo>
                  <a:lnTo>
                    <a:pt x="5029568" y="2670479"/>
                  </a:lnTo>
                  <a:lnTo>
                    <a:pt x="5029543" y="91439"/>
                  </a:lnTo>
                  <a:lnTo>
                    <a:pt x="5017325" y="46088"/>
                  </a:lnTo>
                  <a:lnTo>
                    <a:pt x="4983848" y="12598"/>
                  </a:lnTo>
                  <a:lnTo>
                    <a:pt x="493812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9316" y="1938237"/>
              <a:ext cx="5029835" cy="2762250"/>
            </a:xfrm>
            <a:custGeom>
              <a:avLst/>
              <a:gdLst/>
              <a:ahLst/>
              <a:cxnLst/>
              <a:rect l="l" t="t" r="r" b="b"/>
              <a:pathLst>
                <a:path w="5029835" h="2762250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4938128" y="368"/>
                  </a:lnTo>
                  <a:lnTo>
                    <a:pt x="4983848" y="12598"/>
                  </a:lnTo>
                  <a:lnTo>
                    <a:pt x="5017325" y="46088"/>
                  </a:lnTo>
                  <a:lnTo>
                    <a:pt x="5029568" y="91808"/>
                  </a:lnTo>
                  <a:lnTo>
                    <a:pt x="5029568" y="2670479"/>
                  </a:lnTo>
                  <a:lnTo>
                    <a:pt x="5028768" y="2682486"/>
                  </a:lnTo>
                  <a:lnTo>
                    <a:pt x="5026413" y="2694154"/>
                  </a:lnTo>
                  <a:lnTo>
                    <a:pt x="5002877" y="2735240"/>
                  </a:lnTo>
                  <a:lnTo>
                    <a:pt x="4961793" y="2758771"/>
                  </a:lnTo>
                  <a:lnTo>
                    <a:pt x="4938128" y="2761919"/>
                  </a:lnTo>
                  <a:lnTo>
                    <a:pt x="91440" y="2761919"/>
                  </a:lnTo>
                  <a:lnTo>
                    <a:pt x="45719" y="2749689"/>
                  </a:lnTo>
                  <a:lnTo>
                    <a:pt x="12242" y="2716199"/>
                  </a:lnTo>
                  <a:lnTo>
                    <a:pt x="0" y="2670479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35495" y="1926920"/>
            <a:ext cx="3314065" cy="108458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40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JournalEntry</a:t>
            </a:r>
            <a:r>
              <a:rPr sz="900" b="1" spc="1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Entity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(generated)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@Entity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@Table(name="journal_entries")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@Data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@Builder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@NoArgsConstructor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@AllArgsConstructor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@AssertDebitCreditBalance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custom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validator</a:t>
            </a:r>
            <a:r>
              <a:rPr sz="800" spc="500" dirty="0">
                <a:solidFill>
                  <a:srgbClr val="E1E7EF"/>
                </a:solidFill>
                <a:latin typeface="Courier New"/>
                <a:cs typeface="Courier New"/>
              </a:rPr>
              <a:t> 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class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JournalEntry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135890" marR="81216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@Id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@GeneratedValue(strategy=IDENTITY)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private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Long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id;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8977" y="3111019"/>
            <a:ext cx="2011680" cy="275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@NotNull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@Column(nullable=false)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private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LocalDate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date;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977" y="3485783"/>
            <a:ext cx="1699895" cy="275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@NotBlank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private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String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description;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8977" y="3860548"/>
            <a:ext cx="1887220" cy="400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@ManyToOne(fetch=LAZY) @JoinColumn(name="project_id")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private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Project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project;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8977" y="4984828"/>
            <a:ext cx="120396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@Enumerated(STRING)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454357" y="1861186"/>
            <a:ext cx="3482975" cy="2952115"/>
            <a:chOff x="5454357" y="1861186"/>
            <a:chExt cx="3482975" cy="295211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4357" y="1861186"/>
              <a:ext cx="3482644" cy="295201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531395" y="1938237"/>
              <a:ext cx="3292475" cy="2762250"/>
            </a:xfrm>
            <a:custGeom>
              <a:avLst/>
              <a:gdLst/>
              <a:ahLst/>
              <a:cxnLst/>
              <a:rect l="l" t="t" r="r" b="b"/>
              <a:pathLst>
                <a:path w="3292475" h="276225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2652128"/>
                  </a:lnTo>
                  <a:lnTo>
                    <a:pt x="939" y="2666551"/>
                  </a:lnTo>
                  <a:lnTo>
                    <a:pt x="3736" y="2680606"/>
                  </a:lnTo>
                  <a:lnTo>
                    <a:pt x="8305" y="2694037"/>
                  </a:lnTo>
                  <a:lnTo>
                    <a:pt x="8358" y="2694192"/>
                  </a:lnTo>
                  <a:lnTo>
                    <a:pt x="14770" y="2707208"/>
                  </a:lnTo>
                  <a:lnTo>
                    <a:pt x="22683" y="2718916"/>
                  </a:lnTo>
                  <a:lnTo>
                    <a:pt x="22788" y="2719071"/>
                  </a:lnTo>
                  <a:lnTo>
                    <a:pt x="55079" y="2747162"/>
                  </a:lnTo>
                  <a:lnTo>
                    <a:pt x="95379" y="2760980"/>
                  </a:lnTo>
                  <a:lnTo>
                    <a:pt x="109804" y="2761919"/>
                  </a:lnTo>
                  <a:lnTo>
                    <a:pt x="3182404" y="2761919"/>
                  </a:lnTo>
                  <a:lnTo>
                    <a:pt x="3224475" y="2753566"/>
                  </a:lnTo>
                  <a:lnTo>
                    <a:pt x="3259975" y="2729752"/>
                  </a:lnTo>
                  <a:lnTo>
                    <a:pt x="3283772" y="2694192"/>
                  </a:lnTo>
                  <a:lnTo>
                    <a:pt x="3292208" y="2652128"/>
                  </a:lnTo>
                  <a:lnTo>
                    <a:pt x="3292185" y="109804"/>
                  </a:lnTo>
                  <a:lnTo>
                    <a:pt x="3283850" y="68095"/>
                  </a:lnTo>
                  <a:lnTo>
                    <a:pt x="3259983" y="32535"/>
                  </a:lnTo>
                  <a:lnTo>
                    <a:pt x="3224325" y="8721"/>
                  </a:lnTo>
                  <a:lnTo>
                    <a:pt x="318240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31395" y="1938237"/>
              <a:ext cx="3292475" cy="2762250"/>
            </a:xfrm>
            <a:custGeom>
              <a:avLst/>
              <a:gdLst/>
              <a:ahLst/>
              <a:cxnLst/>
              <a:rect l="l" t="t" r="r" b="b"/>
              <a:pathLst>
                <a:path w="3292475" h="276225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182404" y="368"/>
                  </a:lnTo>
                  <a:lnTo>
                    <a:pt x="3224325" y="8721"/>
                  </a:lnTo>
                  <a:lnTo>
                    <a:pt x="3259983" y="32535"/>
                  </a:lnTo>
                  <a:lnTo>
                    <a:pt x="3283850" y="68095"/>
                  </a:lnTo>
                  <a:lnTo>
                    <a:pt x="3292208" y="110159"/>
                  </a:lnTo>
                  <a:lnTo>
                    <a:pt x="3292208" y="2652128"/>
                  </a:lnTo>
                  <a:lnTo>
                    <a:pt x="3291268" y="2666545"/>
                  </a:lnTo>
                  <a:lnTo>
                    <a:pt x="3288471" y="2680560"/>
                  </a:lnTo>
                  <a:lnTo>
                    <a:pt x="3269425" y="2718916"/>
                  </a:lnTo>
                  <a:lnTo>
                    <a:pt x="3237483" y="2747162"/>
                  </a:lnTo>
                  <a:lnTo>
                    <a:pt x="3196834" y="2760980"/>
                  </a:lnTo>
                  <a:lnTo>
                    <a:pt x="3182404" y="2761919"/>
                  </a:lnTo>
                  <a:lnTo>
                    <a:pt x="109804" y="2761919"/>
                  </a:lnTo>
                  <a:lnTo>
                    <a:pt x="67882" y="2753566"/>
                  </a:lnTo>
                  <a:lnTo>
                    <a:pt x="32224" y="2729752"/>
                  </a:lnTo>
                  <a:lnTo>
                    <a:pt x="8358" y="2694192"/>
                  </a:lnTo>
                  <a:lnTo>
                    <a:pt x="0" y="2652128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656224" y="1995605"/>
            <a:ext cx="2702560" cy="24199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225" dirty="0">
                <a:solidFill>
                  <a:srgbClr val="1D2660"/>
                </a:solidFill>
                <a:latin typeface="MingLiU_HKSCS-ExtB"/>
                <a:cs typeface="MingLiU_HKSCS-ExtB"/>
              </a:rPr>
              <a:t>📦</a:t>
            </a:r>
            <a:r>
              <a:rPr sz="1200" spc="-280" dirty="0">
                <a:solidFill>
                  <a:srgbClr val="1D2660"/>
                </a:solidFill>
                <a:latin typeface="MingLiU_HKSCS-ExtB"/>
                <a:cs typeface="MingLiU_HKSCS-ExtB"/>
              </a:rPr>
              <a:t> </a:t>
            </a:r>
            <a:r>
              <a:rPr sz="1050" b="1" spc="-10" dirty="0">
                <a:solidFill>
                  <a:srgbClr val="1D2660"/>
                </a:solidFill>
                <a:latin typeface="Calibri"/>
                <a:cs typeface="Calibri"/>
              </a:rPr>
              <a:t>Repository Methods</a:t>
            </a:r>
            <a:r>
              <a:rPr sz="1050" b="1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1D2660"/>
                </a:solidFill>
                <a:latin typeface="Calibri"/>
                <a:cs typeface="Calibri"/>
              </a:rPr>
              <a:t>Generated</a:t>
            </a:r>
            <a:endParaRPr sz="10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900" dirty="0">
                <a:solidFill>
                  <a:srgbClr val="1D283A"/>
                </a:solidFill>
                <a:latin typeface="Courier New"/>
                <a:cs typeface="Courier New"/>
              </a:rPr>
              <a:t>→  </a:t>
            </a:r>
            <a:r>
              <a:rPr sz="900" spc="-10" dirty="0">
                <a:solidFill>
                  <a:srgbClr val="1D283A"/>
                </a:solidFill>
                <a:latin typeface="Courier New"/>
                <a:cs typeface="Courier New"/>
              </a:rPr>
              <a:t>findByProjectAndDateBetween(...)</a:t>
            </a:r>
            <a:endParaRPr sz="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1D283A"/>
                </a:solidFill>
                <a:latin typeface="Courier New"/>
                <a:cs typeface="Courier New"/>
              </a:rPr>
              <a:t>→  </a:t>
            </a:r>
            <a:r>
              <a:rPr sz="900" spc="-10" dirty="0">
                <a:solidFill>
                  <a:srgbClr val="1D283A"/>
                </a:solidFill>
                <a:latin typeface="Courier New"/>
                <a:cs typeface="Courier New"/>
              </a:rPr>
              <a:t>findByStatusAndLockedFalse(...)</a:t>
            </a:r>
            <a:endParaRPr sz="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1D283A"/>
                </a:solidFill>
                <a:latin typeface="Courier New"/>
                <a:cs typeface="Courier New"/>
              </a:rPr>
              <a:t>→  </a:t>
            </a:r>
            <a:r>
              <a:rPr sz="900" spc="-10" dirty="0">
                <a:solidFill>
                  <a:srgbClr val="1D283A"/>
                </a:solidFill>
                <a:latin typeface="Courier New"/>
                <a:cs typeface="Courier New"/>
              </a:rPr>
              <a:t>sumDebitByAccountAndPeriod(...)</a:t>
            </a:r>
            <a:endParaRPr sz="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1D283A"/>
                </a:solidFill>
                <a:latin typeface="Courier New"/>
                <a:cs typeface="Courier New"/>
              </a:rPr>
              <a:t>→  </a:t>
            </a:r>
            <a:r>
              <a:rPr sz="900" spc="-10" dirty="0">
                <a:solidFill>
                  <a:srgbClr val="1D283A"/>
                </a:solidFill>
                <a:latin typeface="Courier New"/>
                <a:cs typeface="Courier New"/>
              </a:rPr>
              <a:t>sumCreditByAccountAndPeriod(...)</a:t>
            </a:r>
            <a:endParaRPr sz="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1D283A"/>
                </a:solidFill>
                <a:latin typeface="Courier New"/>
                <a:cs typeface="Courier New"/>
              </a:rPr>
              <a:t>→</a:t>
            </a:r>
            <a:r>
              <a:rPr sz="900" spc="490" dirty="0">
                <a:solidFill>
                  <a:srgbClr val="1D28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1D283A"/>
                </a:solidFill>
                <a:latin typeface="Courier New"/>
                <a:cs typeface="Courier New"/>
              </a:rPr>
              <a:t>findForTrialBalance(projectId,</a:t>
            </a:r>
            <a:r>
              <a:rPr sz="900" spc="-30" dirty="0">
                <a:solidFill>
                  <a:srgbClr val="1D283A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1D283A"/>
                </a:solidFill>
                <a:latin typeface="Courier New"/>
                <a:cs typeface="Courier New"/>
              </a:rPr>
              <a:t>date)</a:t>
            </a:r>
            <a:endParaRPr sz="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1D283A"/>
                </a:solidFill>
                <a:latin typeface="Courier New"/>
                <a:cs typeface="Courier New"/>
              </a:rPr>
              <a:t>→</a:t>
            </a:r>
            <a:r>
              <a:rPr sz="900" spc="-30" dirty="0">
                <a:solidFill>
                  <a:srgbClr val="1D283A"/>
                </a:solidFill>
                <a:latin typeface="Courier New"/>
                <a:cs typeface="Courier New"/>
              </a:rPr>
              <a:t>  </a:t>
            </a:r>
            <a:r>
              <a:rPr sz="900" dirty="0">
                <a:solidFill>
                  <a:srgbClr val="1D283A"/>
                </a:solidFill>
                <a:latin typeface="Courier New"/>
                <a:cs typeface="Courier New"/>
              </a:rPr>
              <a:t>findForPandL(projectId,</a:t>
            </a:r>
            <a:r>
              <a:rPr sz="900" spc="-15" dirty="0">
                <a:solidFill>
                  <a:srgbClr val="1D28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1D283A"/>
                </a:solidFill>
                <a:latin typeface="Courier New"/>
                <a:cs typeface="Courier New"/>
              </a:rPr>
              <a:t>from,</a:t>
            </a:r>
            <a:r>
              <a:rPr sz="900" spc="-20" dirty="0">
                <a:solidFill>
                  <a:srgbClr val="1D28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1D283A"/>
                </a:solidFill>
                <a:latin typeface="Courier New"/>
                <a:cs typeface="Courier New"/>
              </a:rPr>
              <a:t>to)</a:t>
            </a:r>
            <a:endParaRPr sz="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1D283A"/>
                </a:solidFill>
                <a:latin typeface="Courier New"/>
                <a:cs typeface="Courier New"/>
              </a:rPr>
              <a:t>→</a:t>
            </a:r>
            <a:r>
              <a:rPr sz="900" spc="490" dirty="0">
                <a:solidFill>
                  <a:srgbClr val="1D28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1D283A"/>
                </a:solidFill>
                <a:latin typeface="Courier New"/>
                <a:cs typeface="Courier New"/>
              </a:rPr>
              <a:t>findForBalanceSheet(projectId,</a:t>
            </a:r>
            <a:r>
              <a:rPr sz="900" spc="-30" dirty="0">
                <a:solidFill>
                  <a:srgbClr val="1D283A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1D283A"/>
                </a:solidFill>
                <a:latin typeface="Courier New"/>
                <a:cs typeface="Courier New"/>
              </a:rPr>
              <a:t>asOf)</a:t>
            </a:r>
            <a:endParaRPr sz="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1D283A"/>
                </a:solidFill>
                <a:latin typeface="Courier New"/>
                <a:cs typeface="Courier New"/>
              </a:rPr>
              <a:t>→</a:t>
            </a:r>
            <a:r>
              <a:rPr sz="900" spc="-5" dirty="0">
                <a:solidFill>
                  <a:srgbClr val="1D283A"/>
                </a:solidFill>
                <a:latin typeface="Courier New"/>
                <a:cs typeface="Courier New"/>
              </a:rPr>
              <a:t>  </a:t>
            </a:r>
            <a:r>
              <a:rPr sz="900" dirty="0">
                <a:solidFill>
                  <a:srgbClr val="1D283A"/>
                </a:solidFill>
                <a:latin typeface="Courier New"/>
                <a:cs typeface="Courier New"/>
              </a:rPr>
              <a:t>Custom</a:t>
            </a:r>
            <a:r>
              <a:rPr sz="900" spc="-10" dirty="0">
                <a:solidFill>
                  <a:srgbClr val="1D28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1D283A"/>
                </a:solidFill>
                <a:latin typeface="Courier New"/>
                <a:cs typeface="Courier New"/>
              </a:rPr>
              <a:t>@Query</a:t>
            </a:r>
            <a:r>
              <a:rPr sz="900" spc="-10" dirty="0">
                <a:solidFill>
                  <a:srgbClr val="1D28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1D283A"/>
                </a:solidFill>
                <a:latin typeface="Courier New"/>
                <a:cs typeface="Courier New"/>
              </a:rPr>
              <a:t>for</a:t>
            </a:r>
            <a:r>
              <a:rPr sz="900" spc="-10" dirty="0">
                <a:solidFill>
                  <a:srgbClr val="1D28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1D283A"/>
                </a:solidFill>
                <a:latin typeface="Courier New"/>
                <a:cs typeface="Courier New"/>
              </a:rPr>
              <a:t>GL</a:t>
            </a:r>
            <a:r>
              <a:rPr sz="900" spc="-10" dirty="0">
                <a:solidFill>
                  <a:srgbClr val="1D283A"/>
                </a:solidFill>
                <a:latin typeface="Courier New"/>
                <a:cs typeface="Courier New"/>
              </a:rPr>
              <a:t> report</a:t>
            </a:r>
            <a:endParaRPr sz="900" dirty="0">
              <a:latin typeface="Courier New"/>
              <a:cs typeface="Courier New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13016" y="4728845"/>
            <a:ext cx="8517255" cy="360680"/>
            <a:chOff x="313016" y="4656786"/>
            <a:chExt cx="8517255" cy="360680"/>
          </a:xfrm>
        </p:grpSpPr>
        <p:sp>
          <p:nvSpPr>
            <p:cNvPr id="26" name="object 26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6044" y="4432288"/>
            <a:ext cx="6410960" cy="5664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@OneToMany(mappedBy="journalEntry",</a:t>
            </a:r>
            <a:endParaRPr sz="800">
              <a:latin typeface="Courier New"/>
              <a:cs typeface="Courier New"/>
            </a:endParaRPr>
          </a:p>
          <a:p>
            <a:pPr marL="165100" marR="3444240" indent="68389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cascade=ALL,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orphanRemoval=true)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@Size(min=2,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message="Need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at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least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2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lines")</a:t>
            </a:r>
            <a:endParaRPr sz="800">
              <a:latin typeface="Courier New"/>
              <a:cs typeface="Courier New"/>
            </a:endParaRPr>
          </a:p>
          <a:p>
            <a:pPr marL="50800">
              <a:lnSpc>
                <a:spcPts val="1305"/>
              </a:lnSpc>
            </a:pPr>
            <a:r>
              <a:rPr sz="1100" spc="-32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200" baseline="17361" dirty="0">
                <a:solidFill>
                  <a:srgbClr val="E1E7EF"/>
                </a:solidFill>
                <a:latin typeface="Courier New"/>
                <a:cs typeface="Courier New"/>
              </a:rPr>
              <a:t>p</a:t>
            </a:r>
            <a:r>
              <a:rPr sz="1200" spc="-390" baseline="17361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22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375" baseline="17361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950" spc="-39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112" baseline="17361" dirty="0">
                <a:solidFill>
                  <a:srgbClr val="E1E7EF"/>
                </a:solidFill>
                <a:latin typeface="Courier New"/>
                <a:cs typeface="Courier New"/>
              </a:rPr>
              <a:t>v</a:t>
            </a:r>
            <a:r>
              <a:rPr sz="950" spc="-405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1200" spc="-112" baseline="17361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405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baseline="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1200" spc="-787" baseline="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e 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509" baseline="17361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502" baseline="17361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17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494" baseline="17361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202" baseline="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320" dirty="0">
                <a:solidFill>
                  <a:srgbClr val="774409"/>
                </a:solidFill>
                <a:latin typeface="Calibri"/>
                <a:cs typeface="Calibri"/>
              </a:rPr>
              <a:t>g</a:t>
            </a:r>
            <a:r>
              <a:rPr sz="1200" spc="-262" baseline="17361" dirty="0">
                <a:solidFill>
                  <a:srgbClr val="E1E7EF"/>
                </a:solidFill>
                <a:latin typeface="Courier New"/>
                <a:cs typeface="Courier New"/>
              </a:rPr>
              <a:t>&lt;</a:t>
            </a:r>
            <a:r>
              <a:rPr sz="950" spc="-30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00" baseline="17361" dirty="0">
                <a:solidFill>
                  <a:srgbClr val="E1E7EF"/>
                </a:solidFill>
                <a:latin typeface="Courier New"/>
                <a:cs typeface="Courier New"/>
              </a:rPr>
              <a:t>J</a:t>
            </a:r>
            <a:r>
              <a:rPr sz="950" spc="-30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284" baseline="17361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29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15" baseline="17361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950" spc="-13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562" baseline="17361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85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7" baseline="17361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1200" spc="-217" baseline="17361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240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7" baseline="17361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1200" spc="-787" baseline="17361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290" dirty="0">
                <a:solidFill>
                  <a:srgbClr val="774409"/>
                </a:solidFill>
                <a:latin typeface="Calibri"/>
                <a:cs typeface="Calibri"/>
              </a:rPr>
              <a:t>h</a:t>
            </a:r>
            <a:r>
              <a:rPr sz="1200" spc="-300" baseline="17361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28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22" baseline="17361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395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165" baseline="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405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1200" spc="-142" baseline="17361" dirty="0">
                <a:solidFill>
                  <a:srgbClr val="E1E7EF"/>
                </a:solidFill>
                <a:latin typeface="Courier New"/>
                <a:cs typeface="Courier New"/>
              </a:rPr>
              <a:t>&gt;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950" spc="-11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592" baseline="17361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100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577" baseline="17361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375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1200" spc="-7" baseline="17361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1200" spc="-592" baseline="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455" dirty="0">
                <a:solidFill>
                  <a:srgbClr val="774409"/>
                </a:solidFill>
                <a:latin typeface="Calibri"/>
                <a:cs typeface="Calibri"/>
              </a:rPr>
              <a:t>@</a:t>
            </a:r>
            <a:r>
              <a:rPr sz="1200" spc="-67" baseline="17361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20" dirty="0">
                <a:solidFill>
                  <a:srgbClr val="774409"/>
                </a:solidFill>
                <a:latin typeface="Calibri"/>
                <a:cs typeface="Calibri"/>
              </a:rPr>
              <a:t>Q</a:t>
            </a:r>
            <a:r>
              <a:rPr sz="1200" spc="-555" baseline="17361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950" spc="-10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577" baseline="17361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-365" dirty="0">
                <a:solidFill>
                  <a:srgbClr val="774409"/>
                </a:solidFill>
                <a:latin typeface="Calibri"/>
                <a:cs typeface="Calibri"/>
              </a:rPr>
              <a:t>y</a:t>
            </a:r>
            <a:r>
              <a:rPr sz="1200" spc="-7" baseline="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1200" spc="-592" baseline="17361" dirty="0">
                <a:solidFill>
                  <a:srgbClr val="E1E7EF"/>
                </a:solidFill>
                <a:latin typeface="Courier New"/>
                <a:cs typeface="Courier New"/>
              </a:rPr>
              <a:t>w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JP</a:t>
            </a:r>
            <a:r>
              <a:rPr sz="950" spc="-550" dirty="0">
                <a:solidFill>
                  <a:srgbClr val="774409"/>
                </a:solidFill>
                <a:latin typeface="Calibri"/>
                <a:cs typeface="Calibri"/>
              </a:rPr>
              <a:t>Q</a:t>
            </a:r>
            <a:r>
              <a:rPr sz="1200" spc="-7" baseline="17361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1200" spc="-637" baseline="17361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35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1200" spc="-465" baseline="17361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14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517" baseline="17361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165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1200" spc="-487" baseline="17361" dirty="0">
                <a:solidFill>
                  <a:srgbClr val="E1E7EF"/>
                </a:solidFill>
                <a:latin typeface="Courier New"/>
                <a:cs typeface="Courier New"/>
              </a:rPr>
              <a:t>y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475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30" baseline="17361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755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1200" spc="-7" baseline="17361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1200" spc="-359" baseline="17361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21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434" baseline="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254" dirty="0">
                <a:solidFill>
                  <a:srgbClr val="774409"/>
                </a:solidFill>
                <a:latin typeface="Calibri"/>
                <a:cs typeface="Calibri"/>
              </a:rPr>
              <a:t>ti</a:t>
            </a:r>
            <a:r>
              <a:rPr sz="1200" spc="-359" baseline="17361" dirty="0">
                <a:solidFill>
                  <a:srgbClr val="E1E7EF"/>
                </a:solidFill>
                <a:latin typeface="Courier New"/>
                <a:cs typeface="Courier New"/>
              </a:rPr>
              <a:t>&lt;</a:t>
            </a:r>
            <a:r>
              <a:rPr sz="950" spc="-16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502" baseline="17361" dirty="0">
                <a:solidFill>
                  <a:srgbClr val="E1E7EF"/>
                </a:solidFill>
                <a:latin typeface="Courier New"/>
                <a:cs typeface="Courier New"/>
              </a:rPr>
              <a:t>&gt;</a:t>
            </a:r>
            <a:r>
              <a:rPr sz="950" spc="-12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547" baseline="17361" dirty="0">
                <a:solidFill>
                  <a:srgbClr val="E1E7EF"/>
                </a:solidFill>
                <a:latin typeface="Courier New"/>
                <a:cs typeface="Courier New"/>
              </a:rPr>
              <a:t>(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ll</a:t>
            </a:r>
            <a:r>
              <a:rPr sz="950" spc="-490" dirty="0">
                <a:solidFill>
                  <a:srgbClr val="774409"/>
                </a:solidFill>
                <a:latin typeface="Calibri"/>
                <a:cs typeface="Calibri"/>
              </a:rPr>
              <a:t>y</a:t>
            </a:r>
            <a:r>
              <a:rPr sz="1200" spc="-7" baseline="17361" dirty="0">
                <a:solidFill>
                  <a:srgbClr val="E1E7EF"/>
                </a:solidFill>
                <a:latin typeface="Courier New"/>
                <a:cs typeface="Courier New"/>
              </a:rPr>
              <a:t>)</a:t>
            </a:r>
            <a:r>
              <a:rPr sz="1200" spc="-412" baseline="17361" dirty="0">
                <a:solidFill>
                  <a:srgbClr val="E1E7EF"/>
                </a:solidFill>
                <a:latin typeface="Courier New"/>
                <a:cs typeface="Courier New"/>
              </a:rPr>
              <a:t>;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just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describe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what</a:t>
            </a:r>
            <a:r>
              <a:rPr sz="950" spc="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query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should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return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plain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English.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29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4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REST</a:t>
            </a:r>
            <a:r>
              <a:rPr spc="-100" dirty="0"/>
              <a:t> </a:t>
            </a:r>
            <a:r>
              <a:rPr spc="-10" dirty="0"/>
              <a:t>Controller</a:t>
            </a:r>
            <a:r>
              <a:rPr spc="-95" dirty="0"/>
              <a:t> </a:t>
            </a:r>
            <a:r>
              <a:rPr spc="-20" dirty="0"/>
              <a:t>Layer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0681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Spring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Boot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90" dirty="0">
                <a:solidFill>
                  <a:srgbClr val="9FBFFF"/>
                </a:solidFill>
                <a:latin typeface="Arial"/>
                <a:cs typeface="Arial"/>
              </a:rPr>
              <a:t>REST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90" dirty="0">
                <a:solidFill>
                  <a:srgbClr val="9FBFFF"/>
                </a:solidFill>
                <a:latin typeface="Arial"/>
                <a:cs typeface="Arial"/>
              </a:rPr>
              <a:t>API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for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WAMY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Finance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277" y="1038227"/>
            <a:ext cx="5219700" cy="995680"/>
            <a:chOff x="242277" y="1038227"/>
            <a:chExt cx="5219700" cy="99568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038227"/>
              <a:ext cx="5219636" cy="99505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316" y="1115277"/>
              <a:ext cx="5029835" cy="805180"/>
            </a:xfrm>
            <a:custGeom>
              <a:avLst/>
              <a:gdLst/>
              <a:ahLst/>
              <a:cxnLst/>
              <a:rect l="l" t="t" r="r" b="b"/>
              <a:pathLst>
                <a:path w="5029835" h="805180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713524"/>
                  </a:lnTo>
                  <a:lnTo>
                    <a:pt x="798" y="725529"/>
                  </a:lnTo>
                  <a:lnTo>
                    <a:pt x="18843" y="769288"/>
                  </a:lnTo>
                  <a:lnTo>
                    <a:pt x="56512" y="797977"/>
                  </a:lnTo>
                  <a:lnTo>
                    <a:pt x="91440" y="804964"/>
                  </a:lnTo>
                  <a:lnTo>
                    <a:pt x="4938128" y="804964"/>
                  </a:lnTo>
                  <a:lnTo>
                    <a:pt x="4983848" y="792721"/>
                  </a:lnTo>
                  <a:lnTo>
                    <a:pt x="5017325" y="759244"/>
                  </a:lnTo>
                  <a:lnTo>
                    <a:pt x="5029568" y="713524"/>
                  </a:lnTo>
                  <a:lnTo>
                    <a:pt x="5029543" y="91439"/>
                  </a:lnTo>
                  <a:lnTo>
                    <a:pt x="5017325" y="46088"/>
                  </a:lnTo>
                  <a:lnTo>
                    <a:pt x="4983848" y="12598"/>
                  </a:lnTo>
                  <a:lnTo>
                    <a:pt x="493812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316" y="1115277"/>
              <a:ext cx="5029835" cy="805180"/>
            </a:xfrm>
            <a:custGeom>
              <a:avLst/>
              <a:gdLst/>
              <a:ahLst/>
              <a:cxnLst/>
              <a:rect l="l" t="t" r="r" b="b"/>
              <a:pathLst>
                <a:path w="5029835" h="805180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4938128" y="368"/>
                  </a:lnTo>
                  <a:lnTo>
                    <a:pt x="4983848" y="12598"/>
                  </a:lnTo>
                  <a:lnTo>
                    <a:pt x="5017325" y="46088"/>
                  </a:lnTo>
                  <a:lnTo>
                    <a:pt x="5029568" y="91808"/>
                  </a:lnTo>
                  <a:lnTo>
                    <a:pt x="5029568" y="713524"/>
                  </a:lnTo>
                  <a:lnTo>
                    <a:pt x="5028768" y="725529"/>
                  </a:lnTo>
                  <a:lnTo>
                    <a:pt x="5026413" y="737193"/>
                  </a:lnTo>
                  <a:lnTo>
                    <a:pt x="5002877" y="778282"/>
                  </a:lnTo>
                  <a:lnTo>
                    <a:pt x="4961793" y="801814"/>
                  </a:lnTo>
                  <a:lnTo>
                    <a:pt x="4938128" y="804964"/>
                  </a:lnTo>
                  <a:lnTo>
                    <a:pt x="91440" y="804964"/>
                  </a:lnTo>
                  <a:lnTo>
                    <a:pt x="45719" y="792721"/>
                  </a:lnTo>
                  <a:lnTo>
                    <a:pt x="12242" y="759244"/>
                  </a:lnTo>
                  <a:lnTo>
                    <a:pt x="0" y="713524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495" y="1093565"/>
            <a:ext cx="4735195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15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Controller</a:t>
            </a:r>
            <a:r>
              <a:rPr sz="850" b="1" spc="1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JournalEntryController.java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in</a:t>
            </a:r>
            <a:r>
              <a:rPr sz="850" i="1" spc="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com.wamy.finance.controller.</a:t>
            </a:r>
            <a:r>
              <a:rPr sz="850" i="1" spc="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60" dirty="0">
                <a:solidFill>
                  <a:srgbClr val="FCE589"/>
                </a:solidFill>
                <a:latin typeface="Arial"/>
                <a:cs typeface="Arial"/>
              </a:rPr>
              <a:t>REST</a:t>
            </a:r>
            <a:r>
              <a:rPr sz="850" i="1" spc="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endpoints:</a:t>
            </a:r>
            <a:r>
              <a:rPr sz="850" i="1" spc="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POST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/api/v1/journal-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entries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(post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entry), </a:t>
            </a:r>
            <a:r>
              <a:rPr sz="850" i="1" spc="-135" dirty="0">
                <a:solidFill>
                  <a:srgbClr val="FCE589"/>
                </a:solidFill>
                <a:latin typeface="Arial"/>
                <a:cs typeface="Arial"/>
              </a:rPr>
              <a:t>GET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/api/v1/journal-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entries/{id}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(get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entry), </a:t>
            </a:r>
            <a:r>
              <a:rPr sz="850" i="1" spc="-140" dirty="0">
                <a:solidFill>
                  <a:srgbClr val="FCE589"/>
                </a:solidFill>
                <a:latin typeface="Arial"/>
                <a:cs typeface="Arial"/>
              </a:rPr>
              <a:t>GET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/api/v1/reports/profit-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loss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(with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projectId,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fromDate,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toDate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params),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40" dirty="0">
                <a:solidFill>
                  <a:srgbClr val="FCE589"/>
                </a:solidFill>
                <a:latin typeface="Arial"/>
                <a:cs typeface="Arial"/>
              </a:rPr>
              <a:t>GET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/api/v1/reports/balance-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sheet.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Use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@RestController,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@PreAuthorize,</a:t>
            </a:r>
            <a:r>
              <a:rPr sz="850" i="1" spc="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@Valid,</a:t>
            </a:r>
            <a:r>
              <a:rPr sz="850" i="1" spc="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ResponseEntity."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277" y="1915555"/>
            <a:ext cx="5220335" cy="2896870"/>
            <a:chOff x="242277" y="1915555"/>
            <a:chExt cx="5220335" cy="289687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1915555"/>
              <a:ext cx="5220004" cy="289656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316" y="1992606"/>
              <a:ext cx="5029835" cy="2707005"/>
            </a:xfrm>
            <a:custGeom>
              <a:avLst/>
              <a:gdLst/>
              <a:ahLst/>
              <a:cxnLst/>
              <a:rect l="l" t="t" r="r" b="b"/>
              <a:pathLst>
                <a:path w="5029835" h="2707004">
                  <a:moveTo>
                    <a:pt x="91808" y="0"/>
                  </a:moveTo>
                  <a:lnTo>
                    <a:pt x="46088" y="12230"/>
                  </a:lnTo>
                  <a:lnTo>
                    <a:pt x="12598" y="45720"/>
                  </a:lnTo>
                  <a:lnTo>
                    <a:pt x="368" y="91440"/>
                  </a:lnTo>
                  <a:lnTo>
                    <a:pt x="0" y="2615399"/>
                  </a:lnTo>
                  <a:lnTo>
                    <a:pt x="798" y="2627399"/>
                  </a:lnTo>
                  <a:lnTo>
                    <a:pt x="18843" y="2671156"/>
                  </a:lnTo>
                  <a:lnTo>
                    <a:pt x="56512" y="2699847"/>
                  </a:lnTo>
                  <a:lnTo>
                    <a:pt x="91440" y="2706839"/>
                  </a:lnTo>
                  <a:lnTo>
                    <a:pt x="4938128" y="2706839"/>
                  </a:lnTo>
                  <a:lnTo>
                    <a:pt x="4983848" y="2694597"/>
                  </a:lnTo>
                  <a:lnTo>
                    <a:pt x="5017325" y="2661119"/>
                  </a:lnTo>
                  <a:lnTo>
                    <a:pt x="5029568" y="2615399"/>
                  </a:lnTo>
                  <a:lnTo>
                    <a:pt x="5029544" y="91440"/>
                  </a:lnTo>
                  <a:lnTo>
                    <a:pt x="5017325" y="46075"/>
                  </a:lnTo>
                  <a:lnTo>
                    <a:pt x="4983848" y="12598"/>
                  </a:lnTo>
                  <a:lnTo>
                    <a:pt x="493812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316" y="1992606"/>
              <a:ext cx="5029835" cy="2707005"/>
            </a:xfrm>
            <a:custGeom>
              <a:avLst/>
              <a:gdLst/>
              <a:ahLst/>
              <a:cxnLst/>
              <a:rect l="l" t="t" r="r" b="b"/>
              <a:pathLst>
                <a:path w="5029835" h="2707004">
                  <a:moveTo>
                    <a:pt x="368" y="91440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4938128" y="355"/>
                  </a:lnTo>
                  <a:lnTo>
                    <a:pt x="4983848" y="12598"/>
                  </a:lnTo>
                  <a:lnTo>
                    <a:pt x="5017325" y="46075"/>
                  </a:lnTo>
                  <a:lnTo>
                    <a:pt x="5029568" y="91795"/>
                  </a:lnTo>
                  <a:lnTo>
                    <a:pt x="5029568" y="2615399"/>
                  </a:lnTo>
                  <a:lnTo>
                    <a:pt x="5028768" y="2627399"/>
                  </a:lnTo>
                  <a:lnTo>
                    <a:pt x="5026413" y="2639064"/>
                  </a:lnTo>
                  <a:lnTo>
                    <a:pt x="5002877" y="2680149"/>
                  </a:lnTo>
                  <a:lnTo>
                    <a:pt x="4961793" y="2703685"/>
                  </a:lnTo>
                  <a:lnTo>
                    <a:pt x="4938128" y="2706839"/>
                  </a:lnTo>
                  <a:lnTo>
                    <a:pt x="91440" y="2706839"/>
                  </a:lnTo>
                  <a:lnTo>
                    <a:pt x="45719" y="2694597"/>
                  </a:lnTo>
                  <a:lnTo>
                    <a:pt x="12242" y="2661119"/>
                  </a:lnTo>
                  <a:lnTo>
                    <a:pt x="0" y="2615399"/>
                  </a:lnTo>
                  <a:lnTo>
                    <a:pt x="368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495" y="1981155"/>
            <a:ext cx="2383155" cy="9607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35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JournalEntryController</a:t>
            </a:r>
            <a:r>
              <a:rPr sz="900" b="1" spc="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(generated)</a:t>
            </a:r>
            <a:endParaRPr sz="900">
              <a:latin typeface="Calibri"/>
              <a:cs typeface="Calibri"/>
            </a:endParaRPr>
          </a:p>
          <a:p>
            <a:pPr marL="12700" marR="748665">
              <a:lnSpc>
                <a:spcPct val="102499"/>
              </a:lnSpc>
              <a:spcBef>
                <a:spcPts val="509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@RestController @RequestMapping("/api/v1") @RequiredArgsConstructor</a:t>
            </a:r>
            <a:endParaRPr sz="800">
              <a:latin typeface="Courier New"/>
              <a:cs typeface="Courier New"/>
            </a:endParaRPr>
          </a:p>
          <a:p>
            <a:pPr marL="135890" marR="5080" indent="-12382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class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JournalEntryController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private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final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AccountingService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svc;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977" y="3041182"/>
            <a:ext cx="3128645" cy="8997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50570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@PostMapping("/journal-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entries") @PreAuthorize("hasRole('ACCOUNTANT')")</a:t>
            </a:r>
            <a:endParaRPr sz="800">
              <a:latin typeface="Courier New"/>
              <a:cs typeface="Courier New"/>
            </a:endParaRPr>
          </a:p>
          <a:p>
            <a:pPr marL="260985" marR="5080" indent="-24892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1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ResponseEntity&lt;JournalEntryResponse&gt;</a:t>
            </a:r>
            <a:r>
              <a:rPr sz="800" spc="1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post(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@RequestBody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@Valid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JournalEntryRequest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req)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13716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return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ResponseEntity.status(201)</a:t>
            </a:r>
            <a:endParaRPr sz="800">
              <a:latin typeface="Courier New"/>
              <a:cs typeface="Courier New"/>
            </a:endParaRPr>
          </a:p>
          <a:p>
            <a:pPr marL="385445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.body(svc.postJournalEntry(req));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8977" y="4040545"/>
            <a:ext cx="4058920" cy="650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@GetMapping("/reports/profit-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loss") @PreAuthorize("hasAnyRole('ACCOUNTANT','FINANCE_MGR','AUDITOR')")</a:t>
            </a:r>
            <a:r>
              <a:rPr sz="800" spc="5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1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ResponseEntity&lt;ProfitLossReport&gt;</a:t>
            </a:r>
            <a:r>
              <a:rPr sz="800" spc="1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getPL(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@RequestParam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Long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projectId,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@RequestParam</a:t>
            </a:r>
            <a:r>
              <a:rPr sz="800" spc="1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@DateTimeFormat(iso=DATE)</a:t>
            </a:r>
            <a:r>
              <a:rPr sz="800" spc="1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LocalDate</a:t>
            </a:r>
            <a:r>
              <a:rPr sz="800" spc="1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from,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7377" y="4665143"/>
            <a:ext cx="343852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@RequestParam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@DateTimeFormat(iso=DATE)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LocalDate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to)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13016" y="1038227"/>
            <a:ext cx="8623985" cy="3978910"/>
            <a:chOff x="313016" y="1038227"/>
            <a:chExt cx="8623985" cy="397891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4357" y="1038227"/>
              <a:ext cx="3482644" cy="377497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3016" y="1108978"/>
              <a:ext cx="8516888" cy="390815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656224" y="1167538"/>
            <a:ext cx="26495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7B39EC"/>
                </a:solidFill>
                <a:latin typeface="MingLiU_HKSCS-ExtB"/>
                <a:cs typeface="MingLiU_HKSCS-ExtB"/>
              </a:rPr>
              <a:t>🔐</a:t>
            </a:r>
            <a:r>
              <a:rPr sz="1300" spc="-290" dirty="0">
                <a:solidFill>
                  <a:srgbClr val="7B39EC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7B39EC"/>
                </a:solidFill>
                <a:latin typeface="Calibri"/>
                <a:cs typeface="Calibri"/>
              </a:rPr>
              <a:t>Security</a:t>
            </a:r>
            <a:r>
              <a:rPr sz="11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7B39EC"/>
                </a:solidFill>
                <a:latin typeface="Calibri"/>
                <a:cs typeface="Calibri"/>
              </a:rPr>
              <a:t>Annotations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32144" y="1549706"/>
            <a:ext cx="35242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0" dirty="0">
                <a:solidFill>
                  <a:srgbClr val="FFFFFF"/>
                </a:solidFill>
                <a:latin typeface="Calibri"/>
                <a:cs typeface="Calibri"/>
              </a:rPr>
              <a:t>ADMIN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94184" y="1811072"/>
            <a:ext cx="6350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All</a:t>
            </a:r>
            <a:r>
              <a:rPr sz="900" spc="-4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endpoints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59335" y="2171422"/>
            <a:ext cx="699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FINANCE_MGR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94184" y="2423840"/>
            <a:ext cx="11455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Read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approve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journals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82017" y="2793138"/>
            <a:ext cx="65341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ACCOUNTANT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99899" y="3018772"/>
            <a:ext cx="125857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Post</a:t>
            </a:r>
            <a:r>
              <a:rPr sz="900" spc="-4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journals,</a:t>
            </a:r>
            <a:r>
              <a:rPr sz="900" spc="-4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view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reports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87859" y="3415222"/>
            <a:ext cx="44132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AUDITOR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94184" y="3670645"/>
            <a:ext cx="9880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Read-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only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all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reports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8744" y="4711349"/>
            <a:ext cx="6896456" cy="4794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spc="-570" dirty="0">
                <a:solidFill>
                  <a:srgbClr val="774409"/>
                </a:solidFill>
                <a:latin typeface="Calibri"/>
                <a:cs typeface="Calibri"/>
              </a:rPr>
              <a:t>@</a:t>
            </a:r>
            <a:r>
              <a:rPr sz="1200" spc="-22" baseline="-10416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1200" spc="-622" baseline="-10416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70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622" baseline="-10416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-37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187" baseline="-10416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950" spc="-434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112" baseline="-10416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430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1200" spc="-97" baseline="-10416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275" dirty="0">
                <a:solidFill>
                  <a:srgbClr val="774409"/>
                </a:solidFill>
                <a:latin typeface="Calibri"/>
                <a:cs typeface="Calibri"/>
              </a:rPr>
              <a:t>h</a:t>
            </a:r>
            <a:r>
              <a:rPr sz="1200" spc="-330" baseline="-10416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285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307" baseline="-10416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12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547" baseline="-10416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220" dirty="0">
                <a:solidFill>
                  <a:srgbClr val="774409"/>
                </a:solidFill>
                <a:latin typeface="Calibri"/>
                <a:cs typeface="Calibri"/>
              </a:rPr>
              <a:t>z</a:t>
            </a:r>
            <a:r>
              <a:rPr sz="1200" spc="-427" baseline="-10416" dirty="0">
                <a:solidFill>
                  <a:srgbClr val="E1E7EF"/>
                </a:solidFill>
                <a:latin typeface="Courier New"/>
                <a:cs typeface="Courier New"/>
              </a:rPr>
              <a:t>p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135" baseline="-10416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13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1200" spc="-532" baseline="-10416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397" baseline="-10416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509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1200" spc="-7" baseline="-10416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48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7" baseline="-10416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31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277" baseline="-10416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315" dirty="0">
                <a:solidFill>
                  <a:srgbClr val="774409"/>
                </a:solidFill>
                <a:latin typeface="Calibri"/>
                <a:cs typeface="Calibri"/>
              </a:rPr>
              <a:t>h</a:t>
            </a:r>
            <a:r>
              <a:rPr sz="1200" spc="-270" baseline="-10416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325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262" baseline="-10416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33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247" baseline="-10416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30" dirty="0">
                <a:solidFill>
                  <a:srgbClr val="774409"/>
                </a:solidFill>
                <a:latin typeface="Calibri"/>
                <a:cs typeface="Calibri"/>
              </a:rPr>
              <a:t>-</a:t>
            </a:r>
            <a:r>
              <a:rPr sz="1200" spc="-179" baseline="-10416" dirty="0">
                <a:solidFill>
                  <a:srgbClr val="E1E7EF"/>
                </a:solidFill>
                <a:latin typeface="Courier New"/>
                <a:cs typeface="Courier New"/>
              </a:rPr>
              <a:t>y</a:t>
            </a:r>
            <a:r>
              <a:rPr sz="950" spc="-120" dirty="0">
                <a:solidFill>
                  <a:srgbClr val="774409"/>
                </a:solidFill>
                <a:latin typeface="Calibri"/>
                <a:cs typeface="Calibri"/>
              </a:rPr>
              <a:t>le</a:t>
            </a:r>
            <a:r>
              <a:rPr sz="1200" spc="-179" baseline="-10416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r>
              <a:rPr sz="950" spc="-120" dirty="0">
                <a:solidFill>
                  <a:srgbClr val="774409"/>
                </a:solidFill>
                <a:latin typeface="Calibri"/>
                <a:cs typeface="Calibri"/>
              </a:rPr>
              <a:t>v</a:t>
            </a:r>
            <a:r>
              <a:rPr sz="1200" spc="-179" baseline="-10416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12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179" baseline="-10416" dirty="0">
                <a:solidFill>
                  <a:srgbClr val="E1E7EF"/>
                </a:solidFill>
                <a:latin typeface="Courier New"/>
                <a:cs typeface="Courier New"/>
              </a:rPr>
              <a:t>k</a:t>
            </a:r>
            <a:r>
              <a:rPr sz="950" spc="-120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1200" spc="-179" baseline="-10416" dirty="0">
                <a:solidFill>
                  <a:srgbClr val="E1E7EF"/>
                </a:solidFill>
                <a:latin typeface="Courier New"/>
                <a:cs typeface="Courier New"/>
              </a:rPr>
              <a:t>(</a:t>
            </a:r>
            <a:r>
              <a:rPr sz="950" spc="-120" dirty="0">
                <a:solidFill>
                  <a:srgbClr val="774409"/>
                </a:solidFill>
                <a:latin typeface="Calibri"/>
                <a:cs typeface="Calibri"/>
              </a:rPr>
              <a:t>security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even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if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route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is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exposed,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 Spring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Security checks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role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on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every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method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call.</a:t>
            </a:r>
            <a:endParaRPr sz="950" dirty="0">
              <a:latin typeface="Calibri"/>
              <a:cs typeface="Calibri"/>
            </a:endParaRPr>
          </a:p>
          <a:p>
            <a:pPr marL="525780">
              <a:lnSpc>
                <a:spcPct val="100000"/>
              </a:lnSpc>
              <a:spcBef>
                <a:spcPts val="13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svc.getProfitLossReport(projectId,</a:t>
            </a:r>
            <a:r>
              <a:rPr sz="800" spc="1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from,</a:t>
            </a:r>
            <a:r>
              <a:rPr sz="800" spc="1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to));</a:t>
            </a:r>
            <a:endParaRPr sz="800" dirty="0">
              <a:latin typeface="Courier New"/>
              <a:cs typeface="Courier New"/>
            </a:endParaRPr>
          </a:p>
          <a:p>
            <a:pPr marL="152400">
              <a:lnSpc>
                <a:spcPct val="100000"/>
              </a:lnSpc>
              <a:spcBef>
                <a:spcPts val="25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30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9356" y="502198"/>
            <a:ext cx="1280795" cy="329565"/>
          </a:xfrm>
          <a:custGeom>
            <a:avLst/>
            <a:gdLst/>
            <a:ahLst/>
            <a:cxnLst/>
            <a:rect l="l" t="t" r="r" b="b"/>
            <a:pathLst>
              <a:path w="1280795" h="329565">
                <a:moveTo>
                  <a:pt x="91808" y="0"/>
                </a:moveTo>
                <a:lnTo>
                  <a:pt x="46088" y="12242"/>
                </a:lnTo>
                <a:lnTo>
                  <a:pt x="12598" y="45720"/>
                </a:lnTo>
                <a:lnTo>
                  <a:pt x="368" y="91439"/>
                </a:lnTo>
                <a:lnTo>
                  <a:pt x="0" y="237959"/>
                </a:lnTo>
                <a:lnTo>
                  <a:pt x="798" y="249966"/>
                </a:lnTo>
                <a:lnTo>
                  <a:pt x="18843" y="293724"/>
                </a:lnTo>
                <a:lnTo>
                  <a:pt x="56512" y="322418"/>
                </a:lnTo>
                <a:lnTo>
                  <a:pt x="91439" y="329399"/>
                </a:lnTo>
                <a:lnTo>
                  <a:pt x="1189088" y="329399"/>
                </a:lnTo>
                <a:lnTo>
                  <a:pt x="1234808" y="317169"/>
                </a:lnTo>
                <a:lnTo>
                  <a:pt x="1268285" y="283679"/>
                </a:lnTo>
                <a:lnTo>
                  <a:pt x="1280528" y="237959"/>
                </a:lnTo>
                <a:lnTo>
                  <a:pt x="1280503" y="91439"/>
                </a:lnTo>
                <a:lnTo>
                  <a:pt x="1268285" y="46088"/>
                </a:lnTo>
                <a:lnTo>
                  <a:pt x="1234808" y="12598"/>
                </a:lnTo>
                <a:lnTo>
                  <a:pt x="1189088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2901" y="578067"/>
            <a:ext cx="6343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0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05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27024" y="1020142"/>
            <a:ext cx="500189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/>
              <a:t>Backend</a:t>
            </a:r>
            <a:r>
              <a:rPr sz="4200" spc="-175" dirty="0"/>
              <a:t> </a:t>
            </a:r>
            <a:r>
              <a:rPr sz="4200" spc="-10" dirty="0"/>
              <a:t>Development</a:t>
            </a:r>
            <a:endParaRPr sz="4200" dirty="0"/>
          </a:p>
        </p:txBody>
      </p:sp>
      <p:sp>
        <p:nvSpPr>
          <p:cNvPr id="6" name="object 6"/>
          <p:cNvSpPr txBox="1"/>
          <p:nvPr/>
        </p:nvSpPr>
        <p:spPr>
          <a:xfrm>
            <a:off x="627024" y="1838428"/>
            <a:ext cx="410400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70" dirty="0">
                <a:solidFill>
                  <a:srgbClr val="F49D0A"/>
                </a:solidFill>
                <a:latin typeface="Arial"/>
                <a:cs typeface="Arial"/>
              </a:rPr>
              <a:t>Build</a:t>
            </a:r>
            <a:r>
              <a:rPr sz="1500" i="1" spc="-60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40" dirty="0">
                <a:solidFill>
                  <a:srgbClr val="F49D0A"/>
                </a:solidFill>
                <a:latin typeface="Arial"/>
                <a:cs typeface="Arial"/>
              </a:rPr>
              <a:t>the</a:t>
            </a:r>
            <a:r>
              <a:rPr sz="1500" i="1" spc="-6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40" dirty="0">
                <a:solidFill>
                  <a:srgbClr val="F49D0A"/>
                </a:solidFill>
                <a:latin typeface="Arial"/>
                <a:cs typeface="Arial"/>
              </a:rPr>
              <a:t>WAMY</a:t>
            </a:r>
            <a:r>
              <a:rPr sz="1500" i="1" spc="-6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05" dirty="0">
                <a:solidFill>
                  <a:srgbClr val="F49D0A"/>
                </a:solidFill>
                <a:latin typeface="Arial"/>
                <a:cs typeface="Arial"/>
              </a:rPr>
              <a:t>Finance</a:t>
            </a:r>
            <a:r>
              <a:rPr sz="1500" i="1" spc="-60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95" dirty="0">
                <a:solidFill>
                  <a:srgbClr val="F49D0A"/>
                </a:solidFill>
                <a:latin typeface="Arial"/>
                <a:cs typeface="Arial"/>
              </a:rPr>
              <a:t>Spring</a:t>
            </a:r>
            <a:r>
              <a:rPr sz="1500" i="1" spc="-60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70" dirty="0">
                <a:solidFill>
                  <a:srgbClr val="F49D0A"/>
                </a:solidFill>
                <a:latin typeface="Arial"/>
                <a:cs typeface="Arial"/>
              </a:rPr>
              <a:t>Boot</a:t>
            </a:r>
            <a:r>
              <a:rPr sz="1500" i="1" spc="-6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45" dirty="0">
                <a:solidFill>
                  <a:srgbClr val="F49D0A"/>
                </a:solidFill>
                <a:latin typeface="Arial"/>
                <a:cs typeface="Arial"/>
              </a:rPr>
              <a:t>API</a:t>
            </a:r>
            <a:r>
              <a:rPr sz="1500" i="1" spc="-60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80" dirty="0">
                <a:solidFill>
                  <a:srgbClr val="F49D0A"/>
                </a:solidFill>
                <a:latin typeface="Arial"/>
                <a:cs typeface="Arial"/>
              </a:rPr>
              <a:t>step</a:t>
            </a:r>
            <a:r>
              <a:rPr sz="1500" i="1" spc="-7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85" dirty="0">
                <a:solidFill>
                  <a:srgbClr val="F49D0A"/>
                </a:solidFill>
                <a:latin typeface="Arial"/>
                <a:cs typeface="Arial"/>
              </a:rPr>
              <a:t>by</a:t>
            </a:r>
            <a:r>
              <a:rPr sz="1500" i="1" spc="-60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20" dirty="0">
                <a:solidFill>
                  <a:srgbClr val="F49D0A"/>
                </a:solidFill>
                <a:latin typeface="Arial"/>
                <a:cs typeface="Arial"/>
              </a:rPr>
              <a:t>step</a:t>
            </a:r>
            <a:endParaRPr sz="15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4800" y="2325422"/>
            <a:ext cx="2024380" cy="515620"/>
            <a:chOff x="633424" y="2325422"/>
            <a:chExt cx="2024380" cy="515620"/>
          </a:xfrm>
        </p:grpSpPr>
        <p:sp>
          <p:nvSpPr>
            <p:cNvPr id="8" name="object 8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191987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5" y="434789"/>
                  </a:lnTo>
                  <a:lnTo>
                    <a:pt x="3148" y="435149"/>
                  </a:lnTo>
                  <a:lnTo>
                    <a:pt x="6859" y="446051"/>
                  </a:lnTo>
                  <a:lnTo>
                    <a:pt x="35675" y="484083"/>
                  </a:lnTo>
                  <a:lnTo>
                    <a:pt x="79433" y="502121"/>
                  </a:lnTo>
                  <a:lnTo>
                    <a:pt x="91440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08402" y="435149"/>
                  </a:lnTo>
                  <a:lnTo>
                    <a:pt x="2008525" y="434789"/>
                  </a:lnTo>
                  <a:lnTo>
                    <a:pt x="2010806" y="423485"/>
                  </a:lnTo>
                  <a:lnTo>
                    <a:pt x="2010879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11" y="91439"/>
                  </a:lnTo>
                  <a:lnTo>
                    <a:pt x="1999081" y="45719"/>
                  </a:lnTo>
                  <a:lnTo>
                    <a:pt x="1965591" y="12242"/>
                  </a:lnTo>
                  <a:lnTo>
                    <a:pt x="1931878" y="798"/>
                  </a:lnTo>
                  <a:lnTo>
                    <a:pt x="1919871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0" y="91439"/>
                  </a:moveTo>
                  <a:lnTo>
                    <a:pt x="798" y="79434"/>
                  </a:lnTo>
                  <a:lnTo>
                    <a:pt x="3148" y="67770"/>
                  </a:lnTo>
                  <a:lnTo>
                    <a:pt x="26679" y="26681"/>
                  </a:lnTo>
                  <a:lnTo>
                    <a:pt x="67765" y="3149"/>
                  </a:lnTo>
                  <a:lnTo>
                    <a:pt x="91440" y="0"/>
                  </a:lnTo>
                  <a:lnTo>
                    <a:pt x="1919871" y="0"/>
                  </a:lnTo>
                  <a:lnTo>
                    <a:pt x="1965591" y="12242"/>
                  </a:lnTo>
                  <a:lnTo>
                    <a:pt x="1999081" y="45719"/>
                  </a:lnTo>
                  <a:lnTo>
                    <a:pt x="2011311" y="91439"/>
                  </a:lnTo>
                  <a:lnTo>
                    <a:pt x="2011679" y="411124"/>
                  </a:lnTo>
                  <a:lnTo>
                    <a:pt x="2010879" y="423124"/>
                  </a:lnTo>
                  <a:lnTo>
                    <a:pt x="2008525" y="434789"/>
                  </a:lnTo>
                  <a:lnTo>
                    <a:pt x="1984989" y="475873"/>
                  </a:lnTo>
                  <a:lnTo>
                    <a:pt x="1943904" y="499410"/>
                  </a:lnTo>
                  <a:lnTo>
                    <a:pt x="91440" y="502919"/>
                  </a:lnTo>
                  <a:lnTo>
                    <a:pt x="45720" y="490677"/>
                  </a:lnTo>
                  <a:lnTo>
                    <a:pt x="12230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85559" y="2497939"/>
            <a:ext cx="8610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Financial</a:t>
            </a:r>
            <a:r>
              <a:rPr sz="950" spc="-45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Reports</a:t>
            </a:r>
            <a:endParaRPr sz="95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80996" y="2325422"/>
            <a:ext cx="2024380" cy="515620"/>
            <a:chOff x="2809620" y="2325422"/>
            <a:chExt cx="2024380" cy="515620"/>
          </a:xfrm>
        </p:grpSpPr>
        <p:sp>
          <p:nvSpPr>
            <p:cNvPr id="12" name="object 12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76" y="484083"/>
                  </a:lnTo>
                  <a:lnTo>
                    <a:pt x="79433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79" y="411124"/>
                  </a:lnTo>
                  <a:lnTo>
                    <a:pt x="2010881" y="423124"/>
                  </a:lnTo>
                  <a:lnTo>
                    <a:pt x="2008530" y="434789"/>
                  </a:lnTo>
                  <a:lnTo>
                    <a:pt x="1984994" y="475873"/>
                  </a:lnTo>
                  <a:lnTo>
                    <a:pt x="1943909" y="499410"/>
                  </a:lnTo>
                  <a:lnTo>
                    <a:pt x="91439" y="502919"/>
                  </a:lnTo>
                  <a:lnTo>
                    <a:pt x="45719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17559" y="2497939"/>
            <a:ext cx="74930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Budget Service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57192" y="2325422"/>
            <a:ext cx="2024380" cy="515620"/>
            <a:chOff x="4985816" y="2325422"/>
            <a:chExt cx="2024380" cy="515620"/>
          </a:xfrm>
        </p:grpSpPr>
        <p:sp>
          <p:nvSpPr>
            <p:cNvPr id="16" name="object 16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83" y="484083"/>
                  </a:lnTo>
                  <a:lnTo>
                    <a:pt x="79440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49" y="456844"/>
                  </a:lnTo>
                  <a:lnTo>
                    <a:pt x="2008409" y="435149"/>
                  </a:lnTo>
                  <a:lnTo>
                    <a:pt x="2008531" y="434789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80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9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90" y="26681"/>
                  </a:lnTo>
                  <a:lnTo>
                    <a:pt x="6777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80" y="411124"/>
                  </a:lnTo>
                  <a:lnTo>
                    <a:pt x="2010881" y="423124"/>
                  </a:lnTo>
                  <a:lnTo>
                    <a:pt x="2008531" y="434789"/>
                  </a:lnTo>
                  <a:lnTo>
                    <a:pt x="1985000" y="475873"/>
                  </a:lnTo>
                  <a:lnTo>
                    <a:pt x="1943914" y="499410"/>
                  </a:lnTo>
                  <a:lnTo>
                    <a:pt x="91439" y="502919"/>
                  </a:lnTo>
                  <a:lnTo>
                    <a:pt x="45720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291951" y="2497939"/>
            <a:ext cx="75311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Spring</a:t>
            </a:r>
            <a:r>
              <a:rPr sz="950" spc="-4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Security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33755" y="2325422"/>
            <a:ext cx="1987550" cy="515620"/>
            <a:chOff x="7162379" y="2325422"/>
            <a:chExt cx="1987550" cy="515620"/>
          </a:xfrm>
        </p:grpSpPr>
        <p:sp>
          <p:nvSpPr>
            <p:cNvPr id="20" name="object 20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1988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12242" y="457200"/>
                  </a:lnTo>
                  <a:lnTo>
                    <a:pt x="45720" y="490677"/>
                  </a:lnTo>
                  <a:lnTo>
                    <a:pt x="91440" y="502919"/>
                  </a:lnTo>
                  <a:lnTo>
                    <a:pt x="1920240" y="502564"/>
                  </a:lnTo>
                  <a:lnTo>
                    <a:pt x="1965960" y="490321"/>
                  </a:lnTo>
                  <a:lnTo>
                    <a:pt x="1974951" y="484412"/>
                  </a:lnTo>
                  <a:lnTo>
                    <a:pt x="1974951" y="18383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74951" y="484412"/>
                  </a:moveTo>
                  <a:lnTo>
                    <a:pt x="1932245" y="501764"/>
                  </a:lnTo>
                  <a:lnTo>
                    <a:pt x="91440" y="502919"/>
                  </a:lnTo>
                  <a:lnTo>
                    <a:pt x="79434" y="502121"/>
                  </a:lnTo>
                  <a:lnTo>
                    <a:pt x="35676" y="484083"/>
                  </a:lnTo>
                  <a:lnTo>
                    <a:pt x="6986" y="446409"/>
                  </a:lnTo>
                  <a:lnTo>
                    <a:pt x="0" y="411479"/>
                  </a:lnTo>
                  <a:lnTo>
                    <a:pt x="0" y="91439"/>
                  </a:lnTo>
                  <a:lnTo>
                    <a:pt x="12242" y="45719"/>
                  </a:lnTo>
                  <a:lnTo>
                    <a:pt x="45720" y="12242"/>
                  </a:lnTo>
                  <a:lnTo>
                    <a:pt x="91440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74951" y="18383"/>
                  </a:lnTo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576160" y="2497939"/>
            <a:ext cx="54038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JUnit</a:t>
            </a:r>
            <a:r>
              <a:rPr sz="950" spc="-35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Tests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31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Generating</a:t>
            </a:r>
            <a:r>
              <a:rPr spc="-75" dirty="0"/>
              <a:t> </a:t>
            </a:r>
            <a:r>
              <a:rPr dirty="0"/>
              <a:t>Financial</a:t>
            </a:r>
            <a:r>
              <a:rPr spc="-65" dirty="0"/>
              <a:t> </a:t>
            </a:r>
            <a:r>
              <a:rPr dirty="0"/>
              <a:t>Reports</a:t>
            </a:r>
            <a:r>
              <a:rPr spc="-65" dirty="0"/>
              <a:t> </a:t>
            </a:r>
            <a:r>
              <a:rPr dirty="0"/>
              <a:t>—</a:t>
            </a:r>
            <a:r>
              <a:rPr spc="-70" dirty="0"/>
              <a:t> </a:t>
            </a:r>
            <a:r>
              <a:rPr dirty="0"/>
              <a:t>P&amp;L</a:t>
            </a:r>
            <a:r>
              <a:rPr spc="-70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dirty="0"/>
              <a:t>Balance</a:t>
            </a:r>
            <a:r>
              <a:rPr spc="-75" dirty="0"/>
              <a:t> </a:t>
            </a:r>
            <a:r>
              <a:rPr spc="-10" dirty="0"/>
              <a:t>Sheet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31597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Spring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Boot 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service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methods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for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the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2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most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important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reports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1"/>
            <a:ext cx="8474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227"/>
            <a:ext cx="4534535" cy="1270000"/>
            <a:chOff x="242646" y="1038227"/>
            <a:chExt cx="4534535" cy="12700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34204" cy="126937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277"/>
              <a:ext cx="4344035" cy="1079500"/>
            </a:xfrm>
            <a:custGeom>
              <a:avLst/>
              <a:gdLst/>
              <a:ahLst/>
              <a:cxnLst/>
              <a:rect l="l" t="t" r="r" b="b"/>
              <a:pathLst>
                <a:path w="4344035" h="1079500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987844"/>
                  </a:lnTo>
                  <a:lnTo>
                    <a:pt x="798" y="999849"/>
                  </a:lnTo>
                  <a:lnTo>
                    <a:pt x="18830" y="1043608"/>
                  </a:lnTo>
                  <a:lnTo>
                    <a:pt x="56505" y="1072297"/>
                  </a:lnTo>
                  <a:lnTo>
                    <a:pt x="91439" y="1079284"/>
                  </a:lnTo>
                  <a:lnTo>
                    <a:pt x="4252315" y="1079284"/>
                  </a:lnTo>
                  <a:lnTo>
                    <a:pt x="4298035" y="1067041"/>
                  </a:lnTo>
                  <a:lnTo>
                    <a:pt x="4331512" y="1033564"/>
                  </a:lnTo>
                  <a:lnTo>
                    <a:pt x="4343755" y="987844"/>
                  </a:lnTo>
                  <a:lnTo>
                    <a:pt x="4343731" y="91439"/>
                  </a:lnTo>
                  <a:lnTo>
                    <a:pt x="4331512" y="46088"/>
                  </a:lnTo>
                  <a:lnTo>
                    <a:pt x="4298035" y="12598"/>
                  </a:lnTo>
                  <a:lnTo>
                    <a:pt x="425231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277"/>
              <a:ext cx="4344035" cy="1079500"/>
            </a:xfrm>
            <a:custGeom>
              <a:avLst/>
              <a:gdLst/>
              <a:ahLst/>
              <a:cxnLst/>
              <a:rect l="l" t="t" r="r" b="b"/>
              <a:pathLst>
                <a:path w="4344035" h="1079500">
                  <a:moveTo>
                    <a:pt x="355" y="91439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68"/>
                  </a:lnTo>
                  <a:lnTo>
                    <a:pt x="4298035" y="12598"/>
                  </a:lnTo>
                  <a:lnTo>
                    <a:pt x="4331512" y="46088"/>
                  </a:lnTo>
                  <a:lnTo>
                    <a:pt x="4343755" y="91808"/>
                  </a:lnTo>
                  <a:lnTo>
                    <a:pt x="4343755" y="987844"/>
                  </a:lnTo>
                  <a:lnTo>
                    <a:pt x="4342957" y="999849"/>
                  </a:lnTo>
                  <a:lnTo>
                    <a:pt x="4340606" y="1011513"/>
                  </a:lnTo>
                  <a:lnTo>
                    <a:pt x="4317074" y="1052602"/>
                  </a:lnTo>
                  <a:lnTo>
                    <a:pt x="4275985" y="1076134"/>
                  </a:lnTo>
                  <a:lnTo>
                    <a:pt x="4252315" y="1079284"/>
                  </a:lnTo>
                  <a:lnTo>
                    <a:pt x="91439" y="1079284"/>
                  </a:lnTo>
                  <a:lnTo>
                    <a:pt x="45719" y="1067041"/>
                  </a:lnTo>
                  <a:lnTo>
                    <a:pt x="12230" y="1033564"/>
                  </a:lnTo>
                  <a:lnTo>
                    <a:pt x="0" y="987844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3795395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ProfitLossReportService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in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Spring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Boot.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Method: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generatePL(Long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projectId,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LocalDate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from,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LocalDate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to).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Query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journal_lines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joined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to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chart_of_accounts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where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account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type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is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25" dirty="0">
                <a:solidFill>
                  <a:srgbClr val="FCE589"/>
                </a:solidFill>
                <a:latin typeface="Arial"/>
                <a:cs typeface="Arial"/>
              </a:rPr>
              <a:t>REVENUE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or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30" dirty="0">
                <a:solidFill>
                  <a:srgbClr val="FCE589"/>
                </a:solidFill>
                <a:latin typeface="Arial"/>
                <a:cs typeface="Arial"/>
              </a:rPr>
              <a:t>EXPENSE,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group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by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account,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return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ProfitLossReport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with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revenue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list,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expense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list,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net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income,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comparison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to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prior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period."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189875"/>
            <a:ext cx="4534535" cy="2622550"/>
            <a:chOff x="242646" y="2189875"/>
            <a:chExt cx="4534535" cy="262255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189875"/>
              <a:ext cx="4534204" cy="262224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266926"/>
              <a:ext cx="4344035" cy="2432685"/>
            </a:xfrm>
            <a:custGeom>
              <a:avLst/>
              <a:gdLst/>
              <a:ahLst/>
              <a:cxnLst/>
              <a:rect l="l" t="t" r="r" b="b"/>
              <a:pathLst>
                <a:path w="4344035" h="2432685">
                  <a:moveTo>
                    <a:pt x="91795" y="0"/>
                  </a:moveTo>
                  <a:lnTo>
                    <a:pt x="46075" y="12230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2341079"/>
                  </a:lnTo>
                  <a:lnTo>
                    <a:pt x="798" y="2353079"/>
                  </a:lnTo>
                  <a:lnTo>
                    <a:pt x="18830" y="2396836"/>
                  </a:lnTo>
                  <a:lnTo>
                    <a:pt x="56505" y="2425527"/>
                  </a:lnTo>
                  <a:lnTo>
                    <a:pt x="91439" y="2432519"/>
                  </a:lnTo>
                  <a:lnTo>
                    <a:pt x="4252315" y="2432519"/>
                  </a:lnTo>
                  <a:lnTo>
                    <a:pt x="4298035" y="2420277"/>
                  </a:lnTo>
                  <a:lnTo>
                    <a:pt x="4331512" y="2386799"/>
                  </a:lnTo>
                  <a:lnTo>
                    <a:pt x="4343755" y="2341079"/>
                  </a:lnTo>
                  <a:lnTo>
                    <a:pt x="4343731" y="91439"/>
                  </a:lnTo>
                  <a:lnTo>
                    <a:pt x="4331512" y="46075"/>
                  </a:lnTo>
                  <a:lnTo>
                    <a:pt x="4298035" y="12598"/>
                  </a:lnTo>
                  <a:lnTo>
                    <a:pt x="42523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266926"/>
              <a:ext cx="4344035" cy="2432685"/>
            </a:xfrm>
            <a:custGeom>
              <a:avLst/>
              <a:gdLst/>
              <a:ahLst/>
              <a:cxnLst/>
              <a:rect l="l" t="t" r="r" b="b"/>
              <a:pathLst>
                <a:path w="4344035" h="243268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4252315" y="355"/>
                  </a:lnTo>
                  <a:lnTo>
                    <a:pt x="4298035" y="12598"/>
                  </a:lnTo>
                  <a:lnTo>
                    <a:pt x="4331512" y="46075"/>
                  </a:lnTo>
                  <a:lnTo>
                    <a:pt x="4343755" y="91795"/>
                  </a:lnTo>
                  <a:lnTo>
                    <a:pt x="4343755" y="2341079"/>
                  </a:lnTo>
                  <a:lnTo>
                    <a:pt x="4342957" y="2353079"/>
                  </a:lnTo>
                  <a:lnTo>
                    <a:pt x="4340606" y="2364744"/>
                  </a:lnTo>
                  <a:lnTo>
                    <a:pt x="4317074" y="2405829"/>
                  </a:lnTo>
                  <a:lnTo>
                    <a:pt x="4275985" y="2429365"/>
                  </a:lnTo>
                  <a:lnTo>
                    <a:pt x="4252315" y="2432519"/>
                  </a:lnTo>
                  <a:lnTo>
                    <a:pt x="91439" y="2432519"/>
                  </a:lnTo>
                  <a:lnTo>
                    <a:pt x="45719" y="2420277"/>
                  </a:lnTo>
                  <a:lnTo>
                    <a:pt x="12230" y="2386799"/>
                  </a:lnTo>
                  <a:lnTo>
                    <a:pt x="0" y="2341079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255474"/>
            <a:ext cx="3686810" cy="19602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@Service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class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ReportingService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260985" marR="5080" indent="-12509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@Query("SELECT</a:t>
            </a:r>
            <a:r>
              <a:rPr sz="800" spc="1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new</a:t>
            </a:r>
            <a:r>
              <a:rPr sz="800" spc="1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com.wamy.finance.dto.AccountBalance"</a:t>
            </a:r>
            <a:r>
              <a:rPr sz="800" spc="1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+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"(coa.code,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coa.name,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coa.type,"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endParaRPr sz="800">
              <a:latin typeface="Courier New"/>
              <a:cs typeface="Courier New"/>
            </a:endParaRPr>
          </a:p>
          <a:p>
            <a:pPr marL="260985" marR="118300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SUM(jl.debit)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SUM(jl.credit))"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+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JournalLine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jl"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endParaRPr sz="800">
              <a:latin typeface="Courier New"/>
              <a:cs typeface="Courier New"/>
            </a:endParaRPr>
          </a:p>
          <a:p>
            <a:pPr marL="260985" marR="168021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JOIN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jl.journalEntry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je"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+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JOIN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jl.account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coa"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endParaRPr sz="800">
              <a:latin typeface="Courier New"/>
              <a:cs typeface="Courier New"/>
            </a:endParaRPr>
          </a:p>
          <a:p>
            <a:pPr marL="260985" marR="105981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WHERE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je.project.id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:projectId"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r>
              <a:rPr sz="800" spc="5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AND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je.date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BETWEEN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:from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AND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:to"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AND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coa.type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('REVENUE','EXPENSE')"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endParaRPr sz="800">
              <a:latin typeface="Courier New"/>
              <a:cs typeface="Courier New"/>
            </a:endParaRPr>
          </a:p>
          <a:p>
            <a:pPr marL="135890" marR="1120775" indent="12446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GROUP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BY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coa.id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ORDER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BY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coa.code")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List&lt;AccountBalance&gt;</a:t>
            </a:r>
            <a:r>
              <a:rPr sz="800" spc="1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getPLLines(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Long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projectId,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LocalDate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from,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LocalDate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to);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68926" y="1038227"/>
            <a:ext cx="4168775" cy="3775075"/>
            <a:chOff x="4768926" y="1038227"/>
            <a:chExt cx="4168775" cy="377507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8227"/>
              <a:ext cx="4168444" cy="377497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475088"/>
                  </a:lnTo>
                  <a:lnTo>
                    <a:pt x="939" y="3489511"/>
                  </a:lnTo>
                  <a:lnTo>
                    <a:pt x="14757" y="3530168"/>
                  </a:lnTo>
                  <a:lnTo>
                    <a:pt x="43003" y="3562109"/>
                  </a:lnTo>
                  <a:lnTo>
                    <a:pt x="81359" y="3581144"/>
                  </a:lnTo>
                  <a:lnTo>
                    <a:pt x="109791" y="3584879"/>
                  </a:lnTo>
                  <a:lnTo>
                    <a:pt x="3868191" y="3584879"/>
                  </a:lnTo>
                  <a:lnTo>
                    <a:pt x="3910262" y="3576526"/>
                  </a:lnTo>
                  <a:lnTo>
                    <a:pt x="3945764" y="3552712"/>
                  </a:lnTo>
                  <a:lnTo>
                    <a:pt x="3969565" y="3517152"/>
                  </a:lnTo>
                  <a:lnTo>
                    <a:pt x="3977995" y="3475088"/>
                  </a:lnTo>
                  <a:lnTo>
                    <a:pt x="3977972" y="109804"/>
                  </a:lnTo>
                  <a:lnTo>
                    <a:pt x="3969642" y="68095"/>
                  </a:lnTo>
                  <a:lnTo>
                    <a:pt x="3945772" y="32535"/>
                  </a:lnTo>
                  <a:lnTo>
                    <a:pt x="3910112" y="8721"/>
                  </a:lnTo>
                  <a:lnTo>
                    <a:pt x="38681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68"/>
                  </a:lnTo>
                  <a:lnTo>
                    <a:pt x="3910112" y="8721"/>
                  </a:lnTo>
                  <a:lnTo>
                    <a:pt x="3945772" y="32535"/>
                  </a:lnTo>
                  <a:lnTo>
                    <a:pt x="3969642" y="68095"/>
                  </a:lnTo>
                  <a:lnTo>
                    <a:pt x="3977995" y="110159"/>
                  </a:lnTo>
                  <a:lnTo>
                    <a:pt x="3977995" y="3475088"/>
                  </a:lnTo>
                  <a:lnTo>
                    <a:pt x="3977055" y="3489505"/>
                  </a:lnTo>
                  <a:lnTo>
                    <a:pt x="3974260" y="3503520"/>
                  </a:lnTo>
                  <a:lnTo>
                    <a:pt x="3955218" y="3541876"/>
                  </a:lnTo>
                  <a:lnTo>
                    <a:pt x="3923271" y="3570122"/>
                  </a:lnTo>
                  <a:lnTo>
                    <a:pt x="3882621" y="3583940"/>
                  </a:lnTo>
                  <a:lnTo>
                    <a:pt x="3868191" y="3584879"/>
                  </a:lnTo>
                  <a:lnTo>
                    <a:pt x="109791" y="3584879"/>
                  </a:lnTo>
                  <a:lnTo>
                    <a:pt x="67882" y="3576526"/>
                  </a:lnTo>
                  <a:lnTo>
                    <a:pt x="32213" y="3552712"/>
                  </a:lnTo>
                  <a:lnTo>
                    <a:pt x="8352" y="3517152"/>
                  </a:lnTo>
                  <a:lnTo>
                    <a:pt x="0" y="3475088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0377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970424" y="1167538"/>
            <a:ext cx="23447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055E45"/>
                </a:solidFill>
                <a:latin typeface="MingLiU_HKSCS-ExtB"/>
                <a:cs typeface="MingLiU_HKSCS-ExtB"/>
              </a:rPr>
              <a:t>✅</a:t>
            </a:r>
            <a:r>
              <a:rPr sz="1300" spc="-290" dirty="0">
                <a:solidFill>
                  <a:srgbClr val="055E45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Files</a:t>
            </a:r>
            <a:r>
              <a:rPr sz="1100" b="1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Generated</a:t>
            </a:r>
            <a:r>
              <a:rPr sz="1100" b="1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by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 Claude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70424" y="1597217"/>
            <a:ext cx="18510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Service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class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(full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implementation)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70424" y="1999705"/>
            <a:ext cx="15963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Unit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(JUnit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5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Mockito)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70424" y="2401826"/>
            <a:ext cx="15068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Integration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(MockMvc)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70424" y="2804301"/>
            <a:ext cx="18262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DTO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classes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(Request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Response)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70424" y="3206421"/>
            <a:ext cx="14160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Custom exception classes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70424" y="3608897"/>
            <a:ext cx="16751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Swagger/OpenAPI</a:t>
            </a:r>
            <a:r>
              <a:rPr sz="9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annotations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839664" y="3422346"/>
            <a:ext cx="3990975" cy="1247775"/>
            <a:chOff x="4839664" y="3422346"/>
            <a:chExt cx="3990975" cy="1247775"/>
          </a:xfrm>
        </p:grpSpPr>
        <p:sp>
          <p:nvSpPr>
            <p:cNvPr id="29" name="object 29"/>
            <p:cNvSpPr/>
            <p:nvPr/>
          </p:nvSpPr>
          <p:spPr>
            <a:xfrm>
              <a:off x="4845964" y="3428646"/>
              <a:ext cx="3978275" cy="1235075"/>
            </a:xfrm>
            <a:custGeom>
              <a:avLst/>
              <a:gdLst/>
              <a:ahLst/>
              <a:cxnLst/>
              <a:rect l="l" t="t" r="r" b="b"/>
              <a:pathLst>
                <a:path w="3978275" h="123507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143355"/>
                  </a:lnTo>
                  <a:lnTo>
                    <a:pt x="798" y="1155360"/>
                  </a:lnTo>
                  <a:lnTo>
                    <a:pt x="18830" y="1199119"/>
                  </a:lnTo>
                  <a:lnTo>
                    <a:pt x="56505" y="1227809"/>
                  </a:lnTo>
                  <a:lnTo>
                    <a:pt x="91439" y="1234795"/>
                  </a:lnTo>
                  <a:lnTo>
                    <a:pt x="3886555" y="1234795"/>
                  </a:lnTo>
                  <a:lnTo>
                    <a:pt x="3932275" y="1222552"/>
                  </a:lnTo>
                  <a:lnTo>
                    <a:pt x="3965752" y="1189075"/>
                  </a:lnTo>
                  <a:lnTo>
                    <a:pt x="3977995" y="1143355"/>
                  </a:lnTo>
                  <a:lnTo>
                    <a:pt x="3977971" y="91440"/>
                  </a:lnTo>
                  <a:lnTo>
                    <a:pt x="3965752" y="46075"/>
                  </a:lnTo>
                  <a:lnTo>
                    <a:pt x="3932275" y="12598"/>
                  </a:lnTo>
                  <a:lnTo>
                    <a:pt x="388655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B19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845964" y="3428646"/>
              <a:ext cx="3978275" cy="1235075"/>
            </a:xfrm>
            <a:custGeom>
              <a:avLst/>
              <a:gdLst/>
              <a:ahLst/>
              <a:cxnLst/>
              <a:rect l="l" t="t" r="r" b="b"/>
              <a:pathLst>
                <a:path w="3978275" h="123507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3886555" y="355"/>
                  </a:lnTo>
                  <a:lnTo>
                    <a:pt x="3932275" y="12598"/>
                  </a:lnTo>
                  <a:lnTo>
                    <a:pt x="3965752" y="46075"/>
                  </a:lnTo>
                  <a:lnTo>
                    <a:pt x="3977995" y="91795"/>
                  </a:lnTo>
                  <a:lnTo>
                    <a:pt x="3977995" y="1143355"/>
                  </a:lnTo>
                  <a:lnTo>
                    <a:pt x="3977197" y="1155360"/>
                  </a:lnTo>
                  <a:lnTo>
                    <a:pt x="3974846" y="1167025"/>
                  </a:lnTo>
                  <a:lnTo>
                    <a:pt x="3951314" y="1208114"/>
                  </a:lnTo>
                  <a:lnTo>
                    <a:pt x="3910225" y="1231646"/>
                  </a:lnTo>
                  <a:lnTo>
                    <a:pt x="3886555" y="1234795"/>
                  </a:lnTo>
                  <a:lnTo>
                    <a:pt x="91439" y="1234795"/>
                  </a:lnTo>
                  <a:lnTo>
                    <a:pt x="45720" y="1222552"/>
                  </a:lnTo>
                  <a:lnTo>
                    <a:pt x="12230" y="1189075"/>
                  </a:lnTo>
                  <a:lnTo>
                    <a:pt x="0" y="1143355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970424" y="3491825"/>
            <a:ext cx="1277976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Try</a:t>
            </a:r>
            <a:r>
              <a:rPr sz="900" b="1" spc="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it</a:t>
            </a:r>
            <a:r>
              <a:rPr sz="900" b="1" spc="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0C9387"/>
                </a:solidFill>
                <a:latin typeface="Calibri"/>
                <a:cs typeface="Calibri"/>
              </a:rPr>
              <a:t>now: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32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970424" y="3991586"/>
            <a:ext cx="3568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Open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Claude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Code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in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your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wamy-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finance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project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and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run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prompt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1E7EF"/>
                </a:solidFill>
                <a:latin typeface="Calibri"/>
                <a:cs typeface="Calibri"/>
              </a:rPr>
              <a:t>shown.</a:t>
            </a:r>
            <a:r>
              <a:rPr sz="900" spc="50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Compare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output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to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3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code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1E7EF"/>
                </a:solidFill>
                <a:latin typeface="Calibri"/>
                <a:cs typeface="Calibri"/>
              </a:rPr>
              <a:t>sample.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Budget</a:t>
            </a:r>
            <a:r>
              <a:rPr spc="-70" dirty="0"/>
              <a:t> </a:t>
            </a:r>
            <a:r>
              <a:rPr dirty="0"/>
              <a:t>Service</a:t>
            </a:r>
            <a:r>
              <a:rPr spc="-70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dirty="0"/>
              <a:t>Budget</a:t>
            </a:r>
            <a:r>
              <a:rPr spc="-70" dirty="0"/>
              <a:t> </a:t>
            </a:r>
            <a:r>
              <a:rPr dirty="0"/>
              <a:t>vs</a:t>
            </a:r>
            <a:r>
              <a:rPr spc="-70" dirty="0"/>
              <a:t> </a:t>
            </a:r>
            <a:r>
              <a:rPr spc="-10" dirty="0"/>
              <a:t>Actual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37934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Project</a:t>
            </a:r>
            <a:r>
              <a:rPr sz="1000" i="1" spc="-1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budget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tracking</a:t>
            </a:r>
            <a:r>
              <a:rPr sz="1000" i="1" spc="-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with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variance</a:t>
            </a:r>
            <a:r>
              <a:rPr sz="1000" i="1" spc="-1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analysis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8474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227"/>
            <a:ext cx="4534535" cy="1270000"/>
            <a:chOff x="242646" y="1038227"/>
            <a:chExt cx="4534535" cy="12700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34204" cy="126937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277"/>
              <a:ext cx="4344035" cy="1079500"/>
            </a:xfrm>
            <a:custGeom>
              <a:avLst/>
              <a:gdLst/>
              <a:ahLst/>
              <a:cxnLst/>
              <a:rect l="l" t="t" r="r" b="b"/>
              <a:pathLst>
                <a:path w="4344035" h="1079500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987844"/>
                  </a:lnTo>
                  <a:lnTo>
                    <a:pt x="798" y="999849"/>
                  </a:lnTo>
                  <a:lnTo>
                    <a:pt x="18830" y="1043608"/>
                  </a:lnTo>
                  <a:lnTo>
                    <a:pt x="56505" y="1072297"/>
                  </a:lnTo>
                  <a:lnTo>
                    <a:pt x="91439" y="1079284"/>
                  </a:lnTo>
                  <a:lnTo>
                    <a:pt x="4252315" y="1079284"/>
                  </a:lnTo>
                  <a:lnTo>
                    <a:pt x="4298035" y="1067041"/>
                  </a:lnTo>
                  <a:lnTo>
                    <a:pt x="4331512" y="1033564"/>
                  </a:lnTo>
                  <a:lnTo>
                    <a:pt x="4343755" y="987844"/>
                  </a:lnTo>
                  <a:lnTo>
                    <a:pt x="4343731" y="91439"/>
                  </a:lnTo>
                  <a:lnTo>
                    <a:pt x="4331512" y="46088"/>
                  </a:lnTo>
                  <a:lnTo>
                    <a:pt x="4298035" y="12598"/>
                  </a:lnTo>
                  <a:lnTo>
                    <a:pt x="425231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277"/>
              <a:ext cx="4344035" cy="1079500"/>
            </a:xfrm>
            <a:custGeom>
              <a:avLst/>
              <a:gdLst/>
              <a:ahLst/>
              <a:cxnLst/>
              <a:rect l="l" t="t" r="r" b="b"/>
              <a:pathLst>
                <a:path w="4344035" h="1079500">
                  <a:moveTo>
                    <a:pt x="355" y="91439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68"/>
                  </a:lnTo>
                  <a:lnTo>
                    <a:pt x="4298035" y="12598"/>
                  </a:lnTo>
                  <a:lnTo>
                    <a:pt x="4331512" y="46088"/>
                  </a:lnTo>
                  <a:lnTo>
                    <a:pt x="4343755" y="91808"/>
                  </a:lnTo>
                  <a:lnTo>
                    <a:pt x="4343755" y="987844"/>
                  </a:lnTo>
                  <a:lnTo>
                    <a:pt x="4342957" y="999849"/>
                  </a:lnTo>
                  <a:lnTo>
                    <a:pt x="4340606" y="1011513"/>
                  </a:lnTo>
                  <a:lnTo>
                    <a:pt x="4317074" y="1052602"/>
                  </a:lnTo>
                  <a:lnTo>
                    <a:pt x="4275985" y="1076134"/>
                  </a:lnTo>
                  <a:lnTo>
                    <a:pt x="4252315" y="1079284"/>
                  </a:lnTo>
                  <a:lnTo>
                    <a:pt x="91439" y="1079284"/>
                  </a:lnTo>
                  <a:lnTo>
                    <a:pt x="45719" y="1067041"/>
                  </a:lnTo>
                  <a:lnTo>
                    <a:pt x="12230" y="1033564"/>
                  </a:lnTo>
                  <a:lnTo>
                    <a:pt x="0" y="987844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4045585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BudgetService.java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with:</a:t>
            </a:r>
            <a:r>
              <a:rPr sz="850" i="1" spc="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createBudget(BudgetRequest)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—</a:t>
            </a:r>
            <a:r>
              <a:rPr sz="850" i="1" spc="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creates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annual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budget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per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project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monthly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breakdowns;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getBudgetVsActual(Long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projectId,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int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year)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—</a:t>
            </a:r>
            <a:r>
              <a:rPr sz="850" i="1" spc="50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compares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budget_lines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to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actual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journal_line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totals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by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account,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returns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list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of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BudgetLineVariance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planned,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actual,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variance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amount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variance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percent."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189875"/>
            <a:ext cx="4534535" cy="2622550"/>
            <a:chOff x="242646" y="2189875"/>
            <a:chExt cx="4534535" cy="262255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189875"/>
              <a:ext cx="4534204" cy="262224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266926"/>
              <a:ext cx="4344035" cy="2432685"/>
            </a:xfrm>
            <a:custGeom>
              <a:avLst/>
              <a:gdLst/>
              <a:ahLst/>
              <a:cxnLst/>
              <a:rect l="l" t="t" r="r" b="b"/>
              <a:pathLst>
                <a:path w="4344035" h="2432685">
                  <a:moveTo>
                    <a:pt x="91795" y="0"/>
                  </a:moveTo>
                  <a:lnTo>
                    <a:pt x="46075" y="12230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2341079"/>
                  </a:lnTo>
                  <a:lnTo>
                    <a:pt x="798" y="2353079"/>
                  </a:lnTo>
                  <a:lnTo>
                    <a:pt x="18830" y="2396836"/>
                  </a:lnTo>
                  <a:lnTo>
                    <a:pt x="56505" y="2425527"/>
                  </a:lnTo>
                  <a:lnTo>
                    <a:pt x="91439" y="2432519"/>
                  </a:lnTo>
                  <a:lnTo>
                    <a:pt x="4252315" y="2432519"/>
                  </a:lnTo>
                  <a:lnTo>
                    <a:pt x="4298035" y="2420277"/>
                  </a:lnTo>
                  <a:lnTo>
                    <a:pt x="4331512" y="2386799"/>
                  </a:lnTo>
                  <a:lnTo>
                    <a:pt x="4343755" y="2341079"/>
                  </a:lnTo>
                  <a:lnTo>
                    <a:pt x="4343731" y="91439"/>
                  </a:lnTo>
                  <a:lnTo>
                    <a:pt x="4331512" y="46075"/>
                  </a:lnTo>
                  <a:lnTo>
                    <a:pt x="4298035" y="12598"/>
                  </a:lnTo>
                  <a:lnTo>
                    <a:pt x="42523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266926"/>
              <a:ext cx="4344035" cy="2432685"/>
            </a:xfrm>
            <a:custGeom>
              <a:avLst/>
              <a:gdLst/>
              <a:ahLst/>
              <a:cxnLst/>
              <a:rect l="l" t="t" r="r" b="b"/>
              <a:pathLst>
                <a:path w="4344035" h="243268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4252315" y="355"/>
                  </a:lnTo>
                  <a:lnTo>
                    <a:pt x="4298035" y="12598"/>
                  </a:lnTo>
                  <a:lnTo>
                    <a:pt x="4331512" y="46075"/>
                  </a:lnTo>
                  <a:lnTo>
                    <a:pt x="4343755" y="91795"/>
                  </a:lnTo>
                  <a:lnTo>
                    <a:pt x="4343755" y="2341079"/>
                  </a:lnTo>
                  <a:lnTo>
                    <a:pt x="4342957" y="2353079"/>
                  </a:lnTo>
                  <a:lnTo>
                    <a:pt x="4340606" y="2364744"/>
                  </a:lnTo>
                  <a:lnTo>
                    <a:pt x="4317074" y="2405829"/>
                  </a:lnTo>
                  <a:lnTo>
                    <a:pt x="4275985" y="2429365"/>
                  </a:lnTo>
                  <a:lnTo>
                    <a:pt x="4252315" y="2432519"/>
                  </a:lnTo>
                  <a:lnTo>
                    <a:pt x="91439" y="2432519"/>
                  </a:lnTo>
                  <a:lnTo>
                    <a:pt x="45719" y="2420277"/>
                  </a:lnTo>
                  <a:lnTo>
                    <a:pt x="12230" y="2386799"/>
                  </a:lnTo>
                  <a:lnTo>
                    <a:pt x="0" y="2341079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255474"/>
            <a:ext cx="3562350" cy="23348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260985" marR="686435" indent="-248920">
              <a:lnSpc>
                <a:spcPct val="102499"/>
              </a:lnSpc>
              <a:spcBef>
                <a:spcPts val="509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List&lt;BudgetVariance&gt;</a:t>
            </a:r>
            <a:r>
              <a:rPr sz="800" spc="11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getBudgetVsActual(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Long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projectId,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int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year)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260985" marR="252729" indent="-12509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List&lt;BudgetLine&gt;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budget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=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budgetRepo.findByProjectAndYear(projectId,</a:t>
            </a:r>
            <a:r>
              <a:rPr sz="800" spc="3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year);</a:t>
            </a:r>
            <a:endParaRPr sz="800">
              <a:latin typeface="Courier New"/>
              <a:cs typeface="Courier New"/>
            </a:endParaRPr>
          </a:p>
          <a:p>
            <a:pPr marL="260985" marR="1370330" indent="-12509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return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budget.stream().map(b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-&gt;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BigDecimal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actual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endParaRPr sz="800">
              <a:latin typeface="Courier New"/>
              <a:cs typeface="Courier New"/>
            </a:endParaRPr>
          </a:p>
          <a:p>
            <a:pPr marL="509270" marR="935355" indent="-125095">
              <a:lnSpc>
                <a:spcPct val="102499"/>
              </a:lnSpc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journalLineRepo.sumByAccountAndYear(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b.getAccount().getId(),</a:t>
            </a:r>
            <a:r>
              <a:rPr sz="800" spc="1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year);</a:t>
            </a:r>
            <a:endParaRPr sz="800">
              <a:latin typeface="Courier New"/>
              <a:cs typeface="Courier New"/>
            </a:endParaRPr>
          </a:p>
          <a:p>
            <a:pPr marL="260985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BigDecimal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variance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b.getAmount().subtract(actual);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BigDecimal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pct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b.getAmount().compareTo(ZERO)==0</a:t>
            </a:r>
            <a:endParaRPr sz="800">
              <a:latin typeface="Courier New"/>
              <a:cs typeface="Courier New"/>
            </a:endParaRPr>
          </a:p>
          <a:p>
            <a:pPr marL="38417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?</a:t>
            </a:r>
            <a:r>
              <a:rPr sz="800" spc="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ZERO</a:t>
            </a:r>
            <a:endParaRPr sz="800">
              <a:latin typeface="Courier New"/>
              <a:cs typeface="Courier New"/>
            </a:endParaRPr>
          </a:p>
          <a:p>
            <a:pPr marR="178435" algn="ctr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:</a:t>
            </a:r>
            <a:r>
              <a:rPr sz="800" spc="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variance.divide(b.getAmount(),4,HALF_UP)</a:t>
            </a:r>
            <a:endParaRPr sz="800">
              <a:latin typeface="Courier New"/>
              <a:cs typeface="Courier New"/>
            </a:endParaRPr>
          </a:p>
          <a:p>
            <a:pPr marR="173990" algn="ctr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.multiply(valueOf(100));</a:t>
            </a:r>
            <a:endParaRPr sz="800">
              <a:latin typeface="Courier New"/>
              <a:cs typeface="Courier New"/>
            </a:endParaRPr>
          </a:p>
          <a:p>
            <a:pPr marL="187325" algn="ctr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return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new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BudgetVariance(b,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actual,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variance,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pct);</a:t>
            </a:r>
            <a:endParaRPr sz="800">
              <a:latin typeface="Courier New"/>
              <a:cs typeface="Courier New"/>
            </a:endParaRPr>
          </a:p>
          <a:p>
            <a:pPr marR="1979295" algn="ctr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}).collect(toList());</a:t>
            </a:r>
            <a:endParaRPr sz="800">
              <a:latin typeface="Courier New"/>
              <a:cs typeface="Courier New"/>
            </a:endParaRPr>
          </a:p>
          <a:p>
            <a:pPr marR="3465829" algn="ctr">
              <a:lnSpc>
                <a:spcPct val="100000"/>
              </a:lnSpc>
              <a:spcBef>
                <a:spcPts val="25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68926" y="1038227"/>
            <a:ext cx="4168775" cy="3775075"/>
            <a:chOff x="4768926" y="1038227"/>
            <a:chExt cx="4168775" cy="377507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8227"/>
              <a:ext cx="4168444" cy="377497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475088"/>
                  </a:lnTo>
                  <a:lnTo>
                    <a:pt x="939" y="3489511"/>
                  </a:lnTo>
                  <a:lnTo>
                    <a:pt x="14757" y="3530168"/>
                  </a:lnTo>
                  <a:lnTo>
                    <a:pt x="43003" y="3562109"/>
                  </a:lnTo>
                  <a:lnTo>
                    <a:pt x="81359" y="3581144"/>
                  </a:lnTo>
                  <a:lnTo>
                    <a:pt x="109791" y="3584879"/>
                  </a:lnTo>
                  <a:lnTo>
                    <a:pt x="3868191" y="3584879"/>
                  </a:lnTo>
                  <a:lnTo>
                    <a:pt x="3910262" y="3576526"/>
                  </a:lnTo>
                  <a:lnTo>
                    <a:pt x="3945764" y="3552712"/>
                  </a:lnTo>
                  <a:lnTo>
                    <a:pt x="3969565" y="3517152"/>
                  </a:lnTo>
                  <a:lnTo>
                    <a:pt x="3977995" y="3475088"/>
                  </a:lnTo>
                  <a:lnTo>
                    <a:pt x="3977972" y="109804"/>
                  </a:lnTo>
                  <a:lnTo>
                    <a:pt x="3969642" y="68095"/>
                  </a:lnTo>
                  <a:lnTo>
                    <a:pt x="3945772" y="32535"/>
                  </a:lnTo>
                  <a:lnTo>
                    <a:pt x="3910112" y="8721"/>
                  </a:lnTo>
                  <a:lnTo>
                    <a:pt x="38681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68"/>
                  </a:lnTo>
                  <a:lnTo>
                    <a:pt x="3910112" y="8721"/>
                  </a:lnTo>
                  <a:lnTo>
                    <a:pt x="3945772" y="32535"/>
                  </a:lnTo>
                  <a:lnTo>
                    <a:pt x="3969642" y="68095"/>
                  </a:lnTo>
                  <a:lnTo>
                    <a:pt x="3977995" y="110159"/>
                  </a:lnTo>
                  <a:lnTo>
                    <a:pt x="3977995" y="3475088"/>
                  </a:lnTo>
                  <a:lnTo>
                    <a:pt x="3977055" y="3489505"/>
                  </a:lnTo>
                  <a:lnTo>
                    <a:pt x="3974260" y="3503520"/>
                  </a:lnTo>
                  <a:lnTo>
                    <a:pt x="3955218" y="3541876"/>
                  </a:lnTo>
                  <a:lnTo>
                    <a:pt x="3923271" y="3570122"/>
                  </a:lnTo>
                  <a:lnTo>
                    <a:pt x="3882621" y="3583940"/>
                  </a:lnTo>
                  <a:lnTo>
                    <a:pt x="3868191" y="3584879"/>
                  </a:lnTo>
                  <a:lnTo>
                    <a:pt x="109791" y="3584879"/>
                  </a:lnTo>
                  <a:lnTo>
                    <a:pt x="67882" y="3576526"/>
                  </a:lnTo>
                  <a:lnTo>
                    <a:pt x="32213" y="3552712"/>
                  </a:lnTo>
                  <a:lnTo>
                    <a:pt x="8352" y="3517152"/>
                  </a:lnTo>
                  <a:lnTo>
                    <a:pt x="0" y="3475088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0377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970424" y="1167538"/>
            <a:ext cx="24209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055E45"/>
                </a:solidFill>
                <a:latin typeface="MingLiU_HKSCS-ExtB"/>
                <a:cs typeface="MingLiU_HKSCS-ExtB"/>
              </a:rPr>
              <a:t>✅</a:t>
            </a:r>
            <a:r>
              <a:rPr sz="1300" spc="-290" dirty="0">
                <a:solidFill>
                  <a:srgbClr val="055E45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Files</a:t>
            </a:r>
            <a:r>
              <a:rPr sz="1100" b="1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Generated</a:t>
            </a:r>
            <a:r>
              <a:rPr sz="1100" b="1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by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 Claude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70424" y="1597217"/>
            <a:ext cx="18510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Service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class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(full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implementation)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70424" y="1999705"/>
            <a:ext cx="15963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Unit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(JUnit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5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Mockito)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70424" y="2401826"/>
            <a:ext cx="15068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Integration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(MockMvc)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70424" y="2804301"/>
            <a:ext cx="18262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DTO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classes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(Request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Response)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70424" y="3206421"/>
            <a:ext cx="14160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Custom exception classes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70424" y="3608897"/>
            <a:ext cx="16751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Swagger/OpenAPI</a:t>
            </a:r>
            <a:r>
              <a:rPr sz="9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annotations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839664" y="3422346"/>
            <a:ext cx="3990975" cy="1247775"/>
            <a:chOff x="4839664" y="3422346"/>
            <a:chExt cx="3990975" cy="1247775"/>
          </a:xfrm>
        </p:grpSpPr>
        <p:sp>
          <p:nvSpPr>
            <p:cNvPr id="29" name="object 29"/>
            <p:cNvSpPr/>
            <p:nvPr/>
          </p:nvSpPr>
          <p:spPr>
            <a:xfrm>
              <a:off x="4845964" y="3428646"/>
              <a:ext cx="3978275" cy="1235075"/>
            </a:xfrm>
            <a:custGeom>
              <a:avLst/>
              <a:gdLst/>
              <a:ahLst/>
              <a:cxnLst/>
              <a:rect l="l" t="t" r="r" b="b"/>
              <a:pathLst>
                <a:path w="3978275" h="123507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143355"/>
                  </a:lnTo>
                  <a:lnTo>
                    <a:pt x="798" y="1155360"/>
                  </a:lnTo>
                  <a:lnTo>
                    <a:pt x="18830" y="1199119"/>
                  </a:lnTo>
                  <a:lnTo>
                    <a:pt x="56505" y="1227809"/>
                  </a:lnTo>
                  <a:lnTo>
                    <a:pt x="91439" y="1234795"/>
                  </a:lnTo>
                  <a:lnTo>
                    <a:pt x="3886555" y="1234795"/>
                  </a:lnTo>
                  <a:lnTo>
                    <a:pt x="3932275" y="1222552"/>
                  </a:lnTo>
                  <a:lnTo>
                    <a:pt x="3965752" y="1189075"/>
                  </a:lnTo>
                  <a:lnTo>
                    <a:pt x="3977995" y="1143355"/>
                  </a:lnTo>
                  <a:lnTo>
                    <a:pt x="3977971" y="91440"/>
                  </a:lnTo>
                  <a:lnTo>
                    <a:pt x="3965752" y="46075"/>
                  </a:lnTo>
                  <a:lnTo>
                    <a:pt x="3932275" y="12598"/>
                  </a:lnTo>
                  <a:lnTo>
                    <a:pt x="388655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B19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845964" y="3428646"/>
              <a:ext cx="3978275" cy="1235075"/>
            </a:xfrm>
            <a:custGeom>
              <a:avLst/>
              <a:gdLst/>
              <a:ahLst/>
              <a:cxnLst/>
              <a:rect l="l" t="t" r="r" b="b"/>
              <a:pathLst>
                <a:path w="3978275" h="123507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3886555" y="355"/>
                  </a:lnTo>
                  <a:lnTo>
                    <a:pt x="3932275" y="12598"/>
                  </a:lnTo>
                  <a:lnTo>
                    <a:pt x="3965752" y="46075"/>
                  </a:lnTo>
                  <a:lnTo>
                    <a:pt x="3977995" y="91795"/>
                  </a:lnTo>
                  <a:lnTo>
                    <a:pt x="3977995" y="1143355"/>
                  </a:lnTo>
                  <a:lnTo>
                    <a:pt x="3977197" y="1155360"/>
                  </a:lnTo>
                  <a:lnTo>
                    <a:pt x="3974846" y="1167025"/>
                  </a:lnTo>
                  <a:lnTo>
                    <a:pt x="3951314" y="1208114"/>
                  </a:lnTo>
                  <a:lnTo>
                    <a:pt x="3910225" y="1231646"/>
                  </a:lnTo>
                  <a:lnTo>
                    <a:pt x="3886555" y="1234795"/>
                  </a:lnTo>
                  <a:lnTo>
                    <a:pt x="91439" y="1234795"/>
                  </a:lnTo>
                  <a:lnTo>
                    <a:pt x="45720" y="1222552"/>
                  </a:lnTo>
                  <a:lnTo>
                    <a:pt x="12230" y="1189075"/>
                  </a:lnTo>
                  <a:lnTo>
                    <a:pt x="0" y="1143355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970424" y="3491825"/>
            <a:ext cx="1125576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Try</a:t>
            </a:r>
            <a:r>
              <a:rPr sz="900" b="1" spc="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it</a:t>
            </a:r>
            <a:r>
              <a:rPr sz="900" b="1" spc="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0C9387"/>
                </a:solidFill>
                <a:latin typeface="Calibri"/>
                <a:cs typeface="Calibri"/>
              </a:rPr>
              <a:t>now: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33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970424" y="3991586"/>
            <a:ext cx="3568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Open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Claude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Code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in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your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wamy-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finance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project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and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run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prompt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1E7EF"/>
                </a:solidFill>
                <a:latin typeface="Calibri"/>
                <a:cs typeface="Calibri"/>
              </a:rPr>
              <a:t>shown.</a:t>
            </a:r>
            <a:r>
              <a:rPr sz="900" spc="50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Compare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output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to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3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code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1E7EF"/>
                </a:solidFill>
                <a:latin typeface="Calibri"/>
                <a:cs typeface="Calibri"/>
              </a:rPr>
              <a:t>sample.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Bank</a:t>
            </a:r>
            <a:r>
              <a:rPr spc="-75" dirty="0"/>
              <a:t> </a:t>
            </a:r>
            <a:r>
              <a:rPr spc="-10" dirty="0"/>
              <a:t>Reconciliation</a:t>
            </a:r>
            <a:r>
              <a:rPr spc="-65" dirty="0"/>
              <a:t> </a:t>
            </a:r>
            <a:r>
              <a:rPr spc="-10" dirty="0"/>
              <a:t>Service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52158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Matching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bank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transactions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9FBFFF"/>
                </a:solidFill>
                <a:latin typeface="Arial"/>
                <a:cs typeface="Arial"/>
              </a:rPr>
              <a:t>to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45" dirty="0">
                <a:solidFill>
                  <a:srgbClr val="9FBFFF"/>
                </a:solidFill>
                <a:latin typeface="Arial"/>
                <a:cs typeface="Arial"/>
              </a:rPr>
              <a:t>GL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journal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entries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1"/>
            <a:ext cx="8474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227"/>
            <a:ext cx="4534535" cy="1270000"/>
            <a:chOff x="242646" y="1038227"/>
            <a:chExt cx="4534535" cy="12700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34204" cy="126937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277"/>
              <a:ext cx="4344035" cy="1079500"/>
            </a:xfrm>
            <a:custGeom>
              <a:avLst/>
              <a:gdLst/>
              <a:ahLst/>
              <a:cxnLst/>
              <a:rect l="l" t="t" r="r" b="b"/>
              <a:pathLst>
                <a:path w="4344035" h="1079500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987844"/>
                  </a:lnTo>
                  <a:lnTo>
                    <a:pt x="798" y="999849"/>
                  </a:lnTo>
                  <a:lnTo>
                    <a:pt x="18830" y="1043608"/>
                  </a:lnTo>
                  <a:lnTo>
                    <a:pt x="56505" y="1072297"/>
                  </a:lnTo>
                  <a:lnTo>
                    <a:pt x="91439" y="1079284"/>
                  </a:lnTo>
                  <a:lnTo>
                    <a:pt x="4252315" y="1079284"/>
                  </a:lnTo>
                  <a:lnTo>
                    <a:pt x="4298035" y="1067041"/>
                  </a:lnTo>
                  <a:lnTo>
                    <a:pt x="4331512" y="1033564"/>
                  </a:lnTo>
                  <a:lnTo>
                    <a:pt x="4343755" y="987844"/>
                  </a:lnTo>
                  <a:lnTo>
                    <a:pt x="4343731" y="91439"/>
                  </a:lnTo>
                  <a:lnTo>
                    <a:pt x="4331512" y="46088"/>
                  </a:lnTo>
                  <a:lnTo>
                    <a:pt x="4298035" y="12598"/>
                  </a:lnTo>
                  <a:lnTo>
                    <a:pt x="425231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277"/>
              <a:ext cx="4344035" cy="1079500"/>
            </a:xfrm>
            <a:custGeom>
              <a:avLst/>
              <a:gdLst/>
              <a:ahLst/>
              <a:cxnLst/>
              <a:rect l="l" t="t" r="r" b="b"/>
              <a:pathLst>
                <a:path w="4344035" h="1079500">
                  <a:moveTo>
                    <a:pt x="355" y="91439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68"/>
                  </a:lnTo>
                  <a:lnTo>
                    <a:pt x="4298035" y="12598"/>
                  </a:lnTo>
                  <a:lnTo>
                    <a:pt x="4331512" y="46088"/>
                  </a:lnTo>
                  <a:lnTo>
                    <a:pt x="4343755" y="91808"/>
                  </a:lnTo>
                  <a:lnTo>
                    <a:pt x="4343755" y="987844"/>
                  </a:lnTo>
                  <a:lnTo>
                    <a:pt x="4342957" y="999849"/>
                  </a:lnTo>
                  <a:lnTo>
                    <a:pt x="4340606" y="1011513"/>
                  </a:lnTo>
                  <a:lnTo>
                    <a:pt x="4317074" y="1052602"/>
                  </a:lnTo>
                  <a:lnTo>
                    <a:pt x="4275985" y="1076134"/>
                  </a:lnTo>
                  <a:lnTo>
                    <a:pt x="4252315" y="1079284"/>
                  </a:lnTo>
                  <a:lnTo>
                    <a:pt x="91439" y="1079284"/>
                  </a:lnTo>
                  <a:lnTo>
                    <a:pt x="45719" y="1067041"/>
                  </a:lnTo>
                  <a:lnTo>
                    <a:pt x="12230" y="1033564"/>
                  </a:lnTo>
                  <a:lnTo>
                    <a:pt x="0" y="987844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4095750" cy="97536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7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BankReconciliationService.java.</a:t>
            </a:r>
            <a:r>
              <a:rPr sz="850" i="1" spc="7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Method:</a:t>
            </a:r>
            <a:r>
              <a:rPr sz="850" i="1" spc="7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reconcile(Long</a:t>
            </a:r>
            <a:r>
              <a:rPr sz="850" i="1" spc="6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bankAccountId,</a:t>
            </a:r>
            <a:r>
              <a:rPr sz="850" i="1" spc="7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LocalDate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statementDate).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Load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bank_transactions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period,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load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journal_lines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bank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GL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account,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auto-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match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by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amount+date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(±3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days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tolerance),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flag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unmatched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items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on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both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sides.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Return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ReconciliationResult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matched,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unmatched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bank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txns,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unmatched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GL</a:t>
            </a:r>
            <a:r>
              <a:rPr sz="850" i="1" spc="50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entries,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opening/closing</a:t>
            </a:r>
            <a:r>
              <a:rPr sz="850" i="1" spc="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balance."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189875"/>
            <a:ext cx="4534535" cy="2622550"/>
            <a:chOff x="242646" y="2189875"/>
            <a:chExt cx="4534535" cy="262255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189875"/>
              <a:ext cx="4534204" cy="262224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266926"/>
              <a:ext cx="4344035" cy="2432685"/>
            </a:xfrm>
            <a:custGeom>
              <a:avLst/>
              <a:gdLst/>
              <a:ahLst/>
              <a:cxnLst/>
              <a:rect l="l" t="t" r="r" b="b"/>
              <a:pathLst>
                <a:path w="4344035" h="2432685">
                  <a:moveTo>
                    <a:pt x="91795" y="0"/>
                  </a:moveTo>
                  <a:lnTo>
                    <a:pt x="46075" y="12230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2341079"/>
                  </a:lnTo>
                  <a:lnTo>
                    <a:pt x="798" y="2353079"/>
                  </a:lnTo>
                  <a:lnTo>
                    <a:pt x="18830" y="2396836"/>
                  </a:lnTo>
                  <a:lnTo>
                    <a:pt x="56505" y="2425527"/>
                  </a:lnTo>
                  <a:lnTo>
                    <a:pt x="91439" y="2432519"/>
                  </a:lnTo>
                  <a:lnTo>
                    <a:pt x="4252315" y="2432519"/>
                  </a:lnTo>
                  <a:lnTo>
                    <a:pt x="4298035" y="2420277"/>
                  </a:lnTo>
                  <a:lnTo>
                    <a:pt x="4331512" y="2386799"/>
                  </a:lnTo>
                  <a:lnTo>
                    <a:pt x="4343755" y="2341079"/>
                  </a:lnTo>
                  <a:lnTo>
                    <a:pt x="4343731" y="91439"/>
                  </a:lnTo>
                  <a:lnTo>
                    <a:pt x="4331512" y="46075"/>
                  </a:lnTo>
                  <a:lnTo>
                    <a:pt x="4298035" y="12598"/>
                  </a:lnTo>
                  <a:lnTo>
                    <a:pt x="42523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266926"/>
              <a:ext cx="4344035" cy="2432685"/>
            </a:xfrm>
            <a:custGeom>
              <a:avLst/>
              <a:gdLst/>
              <a:ahLst/>
              <a:cxnLst/>
              <a:rect l="l" t="t" r="r" b="b"/>
              <a:pathLst>
                <a:path w="4344035" h="243268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4252315" y="355"/>
                  </a:lnTo>
                  <a:lnTo>
                    <a:pt x="4298035" y="12598"/>
                  </a:lnTo>
                  <a:lnTo>
                    <a:pt x="4331512" y="46075"/>
                  </a:lnTo>
                  <a:lnTo>
                    <a:pt x="4343755" y="91795"/>
                  </a:lnTo>
                  <a:lnTo>
                    <a:pt x="4343755" y="2341079"/>
                  </a:lnTo>
                  <a:lnTo>
                    <a:pt x="4342957" y="2353079"/>
                  </a:lnTo>
                  <a:lnTo>
                    <a:pt x="4340606" y="2364744"/>
                  </a:lnTo>
                  <a:lnTo>
                    <a:pt x="4317074" y="2405829"/>
                  </a:lnTo>
                  <a:lnTo>
                    <a:pt x="4275985" y="2429365"/>
                  </a:lnTo>
                  <a:lnTo>
                    <a:pt x="4252315" y="2432519"/>
                  </a:lnTo>
                  <a:lnTo>
                    <a:pt x="91439" y="2432519"/>
                  </a:lnTo>
                  <a:lnTo>
                    <a:pt x="45719" y="2420277"/>
                  </a:lnTo>
                  <a:lnTo>
                    <a:pt x="12230" y="2386799"/>
                  </a:lnTo>
                  <a:lnTo>
                    <a:pt x="0" y="2341079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50" b="0" spc="175" dirty="0">
                <a:latin typeface="MingLiU_HKSCS-ExtB"/>
                <a:cs typeface="MingLiU_HKSCS-ExtB"/>
              </a:rPr>
              <a:t>⚡</a:t>
            </a:r>
            <a:r>
              <a:rPr sz="1050" b="0" spc="-254" dirty="0">
                <a:latin typeface="MingLiU_HKSCS-ExtB"/>
                <a:cs typeface="MingLiU_HKSCS-ExtB"/>
              </a:rPr>
              <a:t> </a:t>
            </a:r>
            <a:r>
              <a:rPr spc="-10" dirty="0"/>
              <a:t>Generated</a:t>
            </a:r>
            <a:r>
              <a:rPr spc="-15" dirty="0"/>
              <a:t> </a:t>
            </a:r>
            <a:r>
              <a:rPr spc="-20" dirty="0"/>
              <a:t>Code</a:t>
            </a:r>
            <a:endParaRPr sz="1050">
              <a:latin typeface="MingLiU_HKSCS-ExtB"/>
              <a:cs typeface="MingLiU_HKSCS-ExtB"/>
            </a:endParaRPr>
          </a:p>
          <a:p>
            <a:pPr marL="260985" marR="1120775" indent="-248920">
              <a:lnSpc>
                <a:spcPct val="102499"/>
              </a:lnSpc>
              <a:spcBef>
                <a:spcPts val="509"/>
              </a:spcBef>
            </a:pPr>
            <a:r>
              <a:rPr sz="800" b="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b="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b="0" dirty="0">
                <a:solidFill>
                  <a:srgbClr val="E1E7EF"/>
                </a:solidFill>
                <a:latin typeface="Courier New"/>
                <a:cs typeface="Courier New"/>
              </a:rPr>
              <a:t>ReconciliationResult</a:t>
            </a:r>
            <a:r>
              <a:rPr sz="800" b="0" spc="11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b="0" spc="-10" dirty="0">
                <a:solidFill>
                  <a:srgbClr val="E1E7EF"/>
                </a:solidFill>
                <a:latin typeface="Courier New"/>
                <a:cs typeface="Courier New"/>
              </a:rPr>
              <a:t>reconcile( </a:t>
            </a:r>
            <a:r>
              <a:rPr sz="800" b="0" dirty="0">
                <a:solidFill>
                  <a:srgbClr val="E1E7EF"/>
                </a:solidFill>
                <a:latin typeface="Courier New"/>
                <a:cs typeface="Courier New"/>
              </a:rPr>
              <a:t>Long</a:t>
            </a:r>
            <a:r>
              <a:rPr sz="800" b="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b="0" dirty="0">
                <a:solidFill>
                  <a:srgbClr val="E1E7EF"/>
                </a:solidFill>
                <a:latin typeface="Courier New"/>
                <a:cs typeface="Courier New"/>
              </a:rPr>
              <a:t>bankAccountId,</a:t>
            </a:r>
            <a:r>
              <a:rPr sz="800" b="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b="0" dirty="0">
                <a:solidFill>
                  <a:srgbClr val="E1E7EF"/>
                </a:solidFill>
                <a:latin typeface="Courier New"/>
                <a:cs typeface="Courier New"/>
              </a:rPr>
              <a:t>LocalDate</a:t>
            </a:r>
            <a:r>
              <a:rPr sz="800" b="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b="0" dirty="0">
                <a:solidFill>
                  <a:srgbClr val="E1E7EF"/>
                </a:solidFill>
                <a:latin typeface="Courier New"/>
                <a:cs typeface="Courier New"/>
              </a:rPr>
              <a:t>date)</a:t>
            </a:r>
            <a:r>
              <a:rPr sz="800" b="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b="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260985" marR="5080" indent="-125095">
              <a:lnSpc>
                <a:spcPct val="102499"/>
              </a:lnSpc>
            </a:pPr>
            <a:r>
              <a:rPr sz="800" b="0" dirty="0">
                <a:solidFill>
                  <a:srgbClr val="E1E7EF"/>
                </a:solidFill>
                <a:latin typeface="Courier New"/>
                <a:cs typeface="Courier New"/>
              </a:rPr>
              <a:t>List&lt;BankTxn&gt;</a:t>
            </a:r>
            <a:r>
              <a:rPr sz="800" b="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b="0" dirty="0">
                <a:solidFill>
                  <a:srgbClr val="E1E7EF"/>
                </a:solidFill>
                <a:latin typeface="Courier New"/>
                <a:cs typeface="Courier New"/>
              </a:rPr>
              <a:t>bankTxns</a:t>
            </a:r>
            <a:r>
              <a:rPr sz="800" b="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b="0" spc="-50" dirty="0">
                <a:solidFill>
                  <a:srgbClr val="E1E7EF"/>
                </a:solidFill>
                <a:latin typeface="Courier New"/>
                <a:cs typeface="Courier New"/>
              </a:rPr>
              <a:t>= </a:t>
            </a:r>
            <a:r>
              <a:rPr sz="800" b="0" dirty="0">
                <a:solidFill>
                  <a:srgbClr val="E1E7EF"/>
                </a:solidFill>
                <a:latin typeface="Courier New"/>
                <a:cs typeface="Courier New"/>
              </a:rPr>
              <a:t>bankTxnRepo.findByAccountAndMonth(bankAccountId,</a:t>
            </a:r>
            <a:r>
              <a:rPr sz="800" b="0" spc="3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b="0" spc="-10" dirty="0">
                <a:solidFill>
                  <a:srgbClr val="E1E7EF"/>
                </a:solidFill>
                <a:latin typeface="Courier New"/>
                <a:cs typeface="Courier New"/>
              </a:rPr>
              <a:t>date);</a:t>
            </a:r>
            <a:endParaRPr sz="800">
              <a:latin typeface="Courier New"/>
              <a:cs typeface="Courier New"/>
            </a:endParaRPr>
          </a:p>
          <a:p>
            <a:pPr marL="260985" marR="5080" indent="-125095">
              <a:lnSpc>
                <a:spcPct val="102499"/>
              </a:lnSpc>
            </a:pPr>
            <a:r>
              <a:rPr sz="800" b="0" dirty="0">
                <a:solidFill>
                  <a:srgbClr val="E1E7EF"/>
                </a:solidFill>
                <a:latin typeface="Courier New"/>
                <a:cs typeface="Courier New"/>
              </a:rPr>
              <a:t>List&lt;JournalLine&gt;</a:t>
            </a:r>
            <a:r>
              <a:rPr sz="800" b="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b="0" dirty="0">
                <a:solidFill>
                  <a:srgbClr val="E1E7EF"/>
                </a:solidFill>
                <a:latin typeface="Courier New"/>
                <a:cs typeface="Courier New"/>
              </a:rPr>
              <a:t>glLines</a:t>
            </a:r>
            <a:r>
              <a:rPr sz="800" b="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b="0" spc="-50" dirty="0">
                <a:solidFill>
                  <a:srgbClr val="E1E7EF"/>
                </a:solidFill>
                <a:latin typeface="Courier New"/>
                <a:cs typeface="Courier New"/>
              </a:rPr>
              <a:t>= </a:t>
            </a:r>
            <a:r>
              <a:rPr sz="800" b="0" dirty="0">
                <a:solidFill>
                  <a:srgbClr val="E1E7EF"/>
                </a:solidFill>
                <a:latin typeface="Courier New"/>
                <a:cs typeface="Courier New"/>
              </a:rPr>
              <a:t>journalLineRepo.findByBankAccount(bankAccountId,</a:t>
            </a:r>
            <a:r>
              <a:rPr sz="800" b="0" spc="3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b="0" spc="-10" dirty="0">
                <a:solidFill>
                  <a:srgbClr val="E1E7EF"/>
                </a:solidFill>
                <a:latin typeface="Courier New"/>
                <a:cs typeface="Courier New"/>
              </a:rPr>
              <a:t>date);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622" y="3440419"/>
            <a:ext cx="2880360" cy="275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List&lt;MatchedPair&gt;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matched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new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ArrayList&lt;&gt;();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Set&lt;Long&gt;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usedGL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new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HashSet&lt;&gt;();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8622" y="3815183"/>
            <a:ext cx="2941955" cy="8997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160" marR="1122045" indent="-125095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for(BankTxn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txn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bankTxns)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glLines.stream()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.filter(gl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-&gt;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!usedGL.contains(gl.getId()))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.filter(gl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-&gt;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matchesAmount(txn,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gl))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.filter(gl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-&gt;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matchesDate(txn,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gl,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3))</a:t>
            </a:r>
            <a:endParaRPr sz="800">
              <a:latin typeface="Courier New"/>
              <a:cs typeface="Courier New"/>
            </a:endParaRPr>
          </a:p>
          <a:p>
            <a:pPr marL="385445" marR="190500" indent="-12509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.findFirst().ifPresent(gl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-&gt;</a:t>
            </a:r>
            <a:r>
              <a:rPr sz="800" spc="11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matched.add(new</a:t>
            </a:r>
            <a:r>
              <a:rPr sz="800" spc="1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MatchedPair(txn,</a:t>
            </a:r>
            <a:r>
              <a:rPr sz="800" spc="1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gl));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7021" y="4689629"/>
            <a:ext cx="1577340" cy="275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1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usedGL.add(gl.getId());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});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8622" y="4939464"/>
            <a:ext cx="8826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768926" y="1038227"/>
            <a:ext cx="4168775" cy="3775075"/>
            <a:chOff x="4768926" y="1038227"/>
            <a:chExt cx="4168775" cy="377507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8227"/>
              <a:ext cx="4168444" cy="377497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475088"/>
                  </a:lnTo>
                  <a:lnTo>
                    <a:pt x="939" y="3489511"/>
                  </a:lnTo>
                  <a:lnTo>
                    <a:pt x="14757" y="3530168"/>
                  </a:lnTo>
                  <a:lnTo>
                    <a:pt x="43003" y="3562109"/>
                  </a:lnTo>
                  <a:lnTo>
                    <a:pt x="81359" y="3581144"/>
                  </a:lnTo>
                  <a:lnTo>
                    <a:pt x="109791" y="3584879"/>
                  </a:lnTo>
                  <a:lnTo>
                    <a:pt x="3868191" y="3584879"/>
                  </a:lnTo>
                  <a:lnTo>
                    <a:pt x="3910262" y="3576526"/>
                  </a:lnTo>
                  <a:lnTo>
                    <a:pt x="3945764" y="3552712"/>
                  </a:lnTo>
                  <a:lnTo>
                    <a:pt x="3969565" y="3517152"/>
                  </a:lnTo>
                  <a:lnTo>
                    <a:pt x="3977995" y="3475088"/>
                  </a:lnTo>
                  <a:lnTo>
                    <a:pt x="3977972" y="109804"/>
                  </a:lnTo>
                  <a:lnTo>
                    <a:pt x="3969642" y="68095"/>
                  </a:lnTo>
                  <a:lnTo>
                    <a:pt x="3945772" y="32535"/>
                  </a:lnTo>
                  <a:lnTo>
                    <a:pt x="3910112" y="8721"/>
                  </a:lnTo>
                  <a:lnTo>
                    <a:pt x="38681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68"/>
                  </a:lnTo>
                  <a:lnTo>
                    <a:pt x="3910112" y="8721"/>
                  </a:lnTo>
                  <a:lnTo>
                    <a:pt x="3945772" y="32535"/>
                  </a:lnTo>
                  <a:lnTo>
                    <a:pt x="3969642" y="68095"/>
                  </a:lnTo>
                  <a:lnTo>
                    <a:pt x="3977995" y="110159"/>
                  </a:lnTo>
                  <a:lnTo>
                    <a:pt x="3977995" y="3475088"/>
                  </a:lnTo>
                  <a:lnTo>
                    <a:pt x="3977055" y="3489505"/>
                  </a:lnTo>
                  <a:lnTo>
                    <a:pt x="3974260" y="3503520"/>
                  </a:lnTo>
                  <a:lnTo>
                    <a:pt x="3955218" y="3541876"/>
                  </a:lnTo>
                  <a:lnTo>
                    <a:pt x="3923271" y="3570122"/>
                  </a:lnTo>
                  <a:lnTo>
                    <a:pt x="3882621" y="3583940"/>
                  </a:lnTo>
                  <a:lnTo>
                    <a:pt x="3868191" y="3584879"/>
                  </a:lnTo>
                  <a:lnTo>
                    <a:pt x="109791" y="3584879"/>
                  </a:lnTo>
                  <a:lnTo>
                    <a:pt x="67882" y="3576526"/>
                  </a:lnTo>
                  <a:lnTo>
                    <a:pt x="32213" y="3552712"/>
                  </a:lnTo>
                  <a:lnTo>
                    <a:pt x="8352" y="3517152"/>
                  </a:lnTo>
                  <a:lnTo>
                    <a:pt x="0" y="3475088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0377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970424" y="1167538"/>
            <a:ext cx="25733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055E45"/>
                </a:solidFill>
                <a:latin typeface="MingLiU_HKSCS-ExtB"/>
                <a:cs typeface="MingLiU_HKSCS-ExtB"/>
              </a:rPr>
              <a:t>✅</a:t>
            </a:r>
            <a:r>
              <a:rPr sz="1300" spc="-290" dirty="0">
                <a:solidFill>
                  <a:srgbClr val="055E45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Files</a:t>
            </a:r>
            <a:r>
              <a:rPr sz="1100" b="1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Generated</a:t>
            </a:r>
            <a:r>
              <a:rPr sz="1100" b="1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by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 Claude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70424" y="1597217"/>
            <a:ext cx="18510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Service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class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(full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implementation)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70424" y="1999705"/>
            <a:ext cx="15963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Unit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(JUnit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5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Mockito)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70424" y="2401826"/>
            <a:ext cx="15068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Integration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(MockMvc)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70424" y="2804301"/>
            <a:ext cx="18262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DTO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classes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(Request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Response)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70424" y="3206421"/>
            <a:ext cx="14160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Custom exception classes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70424" y="3608897"/>
            <a:ext cx="16751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Swagger/OpenAPI</a:t>
            </a:r>
            <a:r>
              <a:rPr sz="9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annotations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839664" y="3422346"/>
            <a:ext cx="3990975" cy="1247775"/>
            <a:chOff x="4839664" y="3422346"/>
            <a:chExt cx="3990975" cy="1247775"/>
          </a:xfrm>
        </p:grpSpPr>
        <p:sp>
          <p:nvSpPr>
            <p:cNvPr id="33" name="object 33"/>
            <p:cNvSpPr/>
            <p:nvPr/>
          </p:nvSpPr>
          <p:spPr>
            <a:xfrm>
              <a:off x="4845964" y="3428646"/>
              <a:ext cx="3978275" cy="1235075"/>
            </a:xfrm>
            <a:custGeom>
              <a:avLst/>
              <a:gdLst/>
              <a:ahLst/>
              <a:cxnLst/>
              <a:rect l="l" t="t" r="r" b="b"/>
              <a:pathLst>
                <a:path w="3978275" h="123507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143355"/>
                  </a:lnTo>
                  <a:lnTo>
                    <a:pt x="798" y="1155360"/>
                  </a:lnTo>
                  <a:lnTo>
                    <a:pt x="18830" y="1199119"/>
                  </a:lnTo>
                  <a:lnTo>
                    <a:pt x="56505" y="1227809"/>
                  </a:lnTo>
                  <a:lnTo>
                    <a:pt x="91439" y="1234795"/>
                  </a:lnTo>
                  <a:lnTo>
                    <a:pt x="3886555" y="1234795"/>
                  </a:lnTo>
                  <a:lnTo>
                    <a:pt x="3932275" y="1222552"/>
                  </a:lnTo>
                  <a:lnTo>
                    <a:pt x="3965752" y="1189075"/>
                  </a:lnTo>
                  <a:lnTo>
                    <a:pt x="3977995" y="1143355"/>
                  </a:lnTo>
                  <a:lnTo>
                    <a:pt x="3977971" y="91440"/>
                  </a:lnTo>
                  <a:lnTo>
                    <a:pt x="3965752" y="46075"/>
                  </a:lnTo>
                  <a:lnTo>
                    <a:pt x="3932275" y="12598"/>
                  </a:lnTo>
                  <a:lnTo>
                    <a:pt x="388655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B19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45964" y="3428646"/>
              <a:ext cx="3978275" cy="1235075"/>
            </a:xfrm>
            <a:custGeom>
              <a:avLst/>
              <a:gdLst/>
              <a:ahLst/>
              <a:cxnLst/>
              <a:rect l="l" t="t" r="r" b="b"/>
              <a:pathLst>
                <a:path w="3978275" h="123507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3886555" y="355"/>
                  </a:lnTo>
                  <a:lnTo>
                    <a:pt x="3932275" y="12598"/>
                  </a:lnTo>
                  <a:lnTo>
                    <a:pt x="3965752" y="46075"/>
                  </a:lnTo>
                  <a:lnTo>
                    <a:pt x="3977995" y="91795"/>
                  </a:lnTo>
                  <a:lnTo>
                    <a:pt x="3977995" y="1143355"/>
                  </a:lnTo>
                  <a:lnTo>
                    <a:pt x="3977197" y="1155360"/>
                  </a:lnTo>
                  <a:lnTo>
                    <a:pt x="3974846" y="1167025"/>
                  </a:lnTo>
                  <a:lnTo>
                    <a:pt x="3951314" y="1208114"/>
                  </a:lnTo>
                  <a:lnTo>
                    <a:pt x="3910225" y="1231646"/>
                  </a:lnTo>
                  <a:lnTo>
                    <a:pt x="3886555" y="1234795"/>
                  </a:lnTo>
                  <a:lnTo>
                    <a:pt x="91439" y="1234795"/>
                  </a:lnTo>
                  <a:lnTo>
                    <a:pt x="45720" y="1222552"/>
                  </a:lnTo>
                  <a:lnTo>
                    <a:pt x="12230" y="1189075"/>
                  </a:lnTo>
                  <a:lnTo>
                    <a:pt x="0" y="1143355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970424" y="3491825"/>
            <a:ext cx="1074775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Try</a:t>
            </a:r>
            <a:r>
              <a:rPr sz="900" b="1" spc="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it</a:t>
            </a:r>
            <a:r>
              <a:rPr sz="900" b="1" spc="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0C9387"/>
                </a:solidFill>
                <a:latin typeface="Calibri"/>
                <a:cs typeface="Calibri"/>
              </a:rPr>
              <a:t>now: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70424" y="3991586"/>
            <a:ext cx="3568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Open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Claude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Code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in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your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wamy-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finance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project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and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run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prompt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1E7EF"/>
                </a:solidFill>
                <a:latin typeface="Calibri"/>
                <a:cs typeface="Calibri"/>
              </a:rPr>
              <a:t>shown.</a:t>
            </a:r>
            <a:r>
              <a:rPr sz="900" spc="50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Compare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output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to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3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code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1E7EF"/>
                </a:solidFill>
                <a:latin typeface="Calibri"/>
                <a:cs typeface="Calibri"/>
              </a:rPr>
              <a:t>sample.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34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Spring</a:t>
            </a:r>
            <a:r>
              <a:rPr spc="-40" dirty="0"/>
              <a:t> </a:t>
            </a:r>
            <a:r>
              <a:rPr dirty="0"/>
              <a:t>Security</a:t>
            </a:r>
            <a:r>
              <a:rPr spc="-40" dirty="0"/>
              <a:t> </a:t>
            </a:r>
            <a:r>
              <a:rPr dirty="0"/>
              <a:t>—</a:t>
            </a:r>
            <a:r>
              <a:rPr spc="-40" dirty="0"/>
              <a:t> </a:t>
            </a:r>
            <a:r>
              <a:rPr dirty="0"/>
              <a:t>JWT</a:t>
            </a:r>
            <a:r>
              <a:rPr spc="-35" dirty="0"/>
              <a:t> </a:t>
            </a:r>
            <a:r>
              <a:rPr spc="-10" dirty="0"/>
              <a:t>Configuration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73367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120" dirty="0">
                <a:solidFill>
                  <a:srgbClr val="9FBFFF"/>
                </a:solidFill>
                <a:latin typeface="+mn-lt"/>
                <a:cs typeface="Arial"/>
              </a:rPr>
              <a:t>RS256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35" dirty="0">
                <a:solidFill>
                  <a:srgbClr val="9FBFFF"/>
                </a:solidFill>
                <a:latin typeface="Arial"/>
                <a:cs typeface="Arial"/>
              </a:rPr>
              <a:t>JWT</a:t>
            </a:r>
            <a:r>
              <a:rPr sz="1000" i="1" spc="-1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authentication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for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the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WAMY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0" dirty="0">
                <a:solidFill>
                  <a:srgbClr val="9FBFFF"/>
                </a:solidFill>
                <a:latin typeface="Arial"/>
                <a:cs typeface="Arial"/>
              </a:rPr>
              <a:t>Finance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API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227"/>
            <a:ext cx="4534535" cy="1270000"/>
            <a:chOff x="242646" y="1038227"/>
            <a:chExt cx="4534535" cy="12700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34204" cy="126937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277"/>
              <a:ext cx="4344035" cy="1079500"/>
            </a:xfrm>
            <a:custGeom>
              <a:avLst/>
              <a:gdLst/>
              <a:ahLst/>
              <a:cxnLst/>
              <a:rect l="l" t="t" r="r" b="b"/>
              <a:pathLst>
                <a:path w="4344035" h="1079500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987844"/>
                  </a:lnTo>
                  <a:lnTo>
                    <a:pt x="798" y="999849"/>
                  </a:lnTo>
                  <a:lnTo>
                    <a:pt x="18830" y="1043608"/>
                  </a:lnTo>
                  <a:lnTo>
                    <a:pt x="56505" y="1072297"/>
                  </a:lnTo>
                  <a:lnTo>
                    <a:pt x="91439" y="1079284"/>
                  </a:lnTo>
                  <a:lnTo>
                    <a:pt x="4252315" y="1079284"/>
                  </a:lnTo>
                  <a:lnTo>
                    <a:pt x="4298035" y="1067041"/>
                  </a:lnTo>
                  <a:lnTo>
                    <a:pt x="4331512" y="1033564"/>
                  </a:lnTo>
                  <a:lnTo>
                    <a:pt x="4343755" y="987844"/>
                  </a:lnTo>
                  <a:lnTo>
                    <a:pt x="4343731" y="91439"/>
                  </a:lnTo>
                  <a:lnTo>
                    <a:pt x="4331512" y="46088"/>
                  </a:lnTo>
                  <a:lnTo>
                    <a:pt x="4298035" y="12598"/>
                  </a:lnTo>
                  <a:lnTo>
                    <a:pt x="425231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277"/>
              <a:ext cx="4344035" cy="1079500"/>
            </a:xfrm>
            <a:custGeom>
              <a:avLst/>
              <a:gdLst/>
              <a:ahLst/>
              <a:cxnLst/>
              <a:rect l="l" t="t" r="r" b="b"/>
              <a:pathLst>
                <a:path w="4344035" h="1079500">
                  <a:moveTo>
                    <a:pt x="355" y="91439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68"/>
                  </a:lnTo>
                  <a:lnTo>
                    <a:pt x="4298035" y="12598"/>
                  </a:lnTo>
                  <a:lnTo>
                    <a:pt x="4331512" y="46088"/>
                  </a:lnTo>
                  <a:lnTo>
                    <a:pt x="4343755" y="91808"/>
                  </a:lnTo>
                  <a:lnTo>
                    <a:pt x="4343755" y="987844"/>
                  </a:lnTo>
                  <a:lnTo>
                    <a:pt x="4342957" y="999849"/>
                  </a:lnTo>
                  <a:lnTo>
                    <a:pt x="4340606" y="1011513"/>
                  </a:lnTo>
                  <a:lnTo>
                    <a:pt x="4317074" y="1052602"/>
                  </a:lnTo>
                  <a:lnTo>
                    <a:pt x="4275985" y="1076134"/>
                  </a:lnTo>
                  <a:lnTo>
                    <a:pt x="4252315" y="1079284"/>
                  </a:lnTo>
                  <a:lnTo>
                    <a:pt x="91439" y="1079284"/>
                  </a:lnTo>
                  <a:lnTo>
                    <a:pt x="45719" y="1067041"/>
                  </a:lnTo>
                  <a:lnTo>
                    <a:pt x="12230" y="1033564"/>
                  </a:lnTo>
                  <a:lnTo>
                    <a:pt x="0" y="987844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4011929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Spring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Security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6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configuration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API.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Requirements: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stateless </a:t>
            </a:r>
            <a:r>
              <a:rPr sz="850" i="1" spc="-120" dirty="0">
                <a:solidFill>
                  <a:srgbClr val="FCE589"/>
                </a:solidFill>
                <a:latin typeface="Arial"/>
                <a:cs typeface="Arial"/>
              </a:rPr>
              <a:t>JWT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using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5" dirty="0">
                <a:solidFill>
                  <a:srgbClr val="FCE589"/>
                </a:solidFill>
                <a:latin typeface="Arial"/>
                <a:cs typeface="Arial"/>
              </a:rPr>
              <a:t>RS256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20" dirty="0">
                <a:solidFill>
                  <a:srgbClr val="FCE589"/>
                </a:solidFill>
                <a:latin typeface="Arial"/>
                <a:cs typeface="Arial"/>
              </a:rPr>
              <a:t>(RSA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key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pair),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roles: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ADMIN/FINANCE_MGR/ACCOUNTANT/AUDITOR,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permit</a:t>
            </a:r>
            <a:r>
              <a:rPr sz="850" i="1" spc="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/api/v1/auth/login,</a:t>
            </a:r>
            <a:r>
              <a:rPr sz="850" i="1" spc="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secure</a:t>
            </a:r>
            <a:r>
              <a:rPr sz="850" i="1" spc="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all</a:t>
            </a:r>
            <a:r>
              <a:rPr sz="850" i="1" spc="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/api/v1/**</a:t>
            </a:r>
            <a:r>
              <a:rPr sz="850" i="1" spc="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endpoints.</a:t>
            </a:r>
            <a:r>
              <a:rPr sz="850" i="1" spc="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Include</a:t>
            </a:r>
            <a:r>
              <a:rPr sz="850" i="1" spc="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JwtAuthenticationFilter,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JwtService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 </a:t>
            </a:r>
            <a:r>
              <a:rPr sz="850" i="1" spc="-105" dirty="0">
                <a:solidFill>
                  <a:srgbClr val="FCE589"/>
                </a:solidFill>
                <a:latin typeface="Arial"/>
                <a:cs typeface="Arial"/>
              </a:rPr>
              <a:t>RS256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sign/verify,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SecurityFilterChain</a:t>
            </a:r>
            <a:r>
              <a:rPr sz="850" i="1" spc="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bean."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189875"/>
            <a:ext cx="4534535" cy="2622550"/>
            <a:chOff x="242646" y="2189875"/>
            <a:chExt cx="4534535" cy="262255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189875"/>
              <a:ext cx="4534204" cy="262224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266926"/>
              <a:ext cx="4344035" cy="2432685"/>
            </a:xfrm>
            <a:custGeom>
              <a:avLst/>
              <a:gdLst/>
              <a:ahLst/>
              <a:cxnLst/>
              <a:rect l="l" t="t" r="r" b="b"/>
              <a:pathLst>
                <a:path w="4344035" h="2432685">
                  <a:moveTo>
                    <a:pt x="91795" y="0"/>
                  </a:moveTo>
                  <a:lnTo>
                    <a:pt x="46075" y="12230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2341079"/>
                  </a:lnTo>
                  <a:lnTo>
                    <a:pt x="798" y="2353079"/>
                  </a:lnTo>
                  <a:lnTo>
                    <a:pt x="18830" y="2396836"/>
                  </a:lnTo>
                  <a:lnTo>
                    <a:pt x="56505" y="2425527"/>
                  </a:lnTo>
                  <a:lnTo>
                    <a:pt x="91439" y="2432519"/>
                  </a:lnTo>
                  <a:lnTo>
                    <a:pt x="4252315" y="2432519"/>
                  </a:lnTo>
                  <a:lnTo>
                    <a:pt x="4298035" y="2420277"/>
                  </a:lnTo>
                  <a:lnTo>
                    <a:pt x="4331512" y="2386799"/>
                  </a:lnTo>
                  <a:lnTo>
                    <a:pt x="4343755" y="2341079"/>
                  </a:lnTo>
                  <a:lnTo>
                    <a:pt x="4343731" y="91439"/>
                  </a:lnTo>
                  <a:lnTo>
                    <a:pt x="4331512" y="46075"/>
                  </a:lnTo>
                  <a:lnTo>
                    <a:pt x="4298035" y="12598"/>
                  </a:lnTo>
                  <a:lnTo>
                    <a:pt x="42523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266926"/>
              <a:ext cx="4344035" cy="2432685"/>
            </a:xfrm>
            <a:custGeom>
              <a:avLst/>
              <a:gdLst/>
              <a:ahLst/>
              <a:cxnLst/>
              <a:rect l="l" t="t" r="r" b="b"/>
              <a:pathLst>
                <a:path w="4344035" h="243268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4252315" y="355"/>
                  </a:lnTo>
                  <a:lnTo>
                    <a:pt x="4298035" y="12598"/>
                  </a:lnTo>
                  <a:lnTo>
                    <a:pt x="4331512" y="46075"/>
                  </a:lnTo>
                  <a:lnTo>
                    <a:pt x="4343755" y="91795"/>
                  </a:lnTo>
                  <a:lnTo>
                    <a:pt x="4343755" y="2341079"/>
                  </a:lnTo>
                  <a:lnTo>
                    <a:pt x="4342957" y="2353079"/>
                  </a:lnTo>
                  <a:lnTo>
                    <a:pt x="4340606" y="2364744"/>
                  </a:lnTo>
                  <a:lnTo>
                    <a:pt x="4317074" y="2405829"/>
                  </a:lnTo>
                  <a:lnTo>
                    <a:pt x="4275985" y="2429365"/>
                  </a:lnTo>
                  <a:lnTo>
                    <a:pt x="4252315" y="2432519"/>
                  </a:lnTo>
                  <a:lnTo>
                    <a:pt x="91439" y="2432519"/>
                  </a:lnTo>
                  <a:lnTo>
                    <a:pt x="45719" y="2420277"/>
                  </a:lnTo>
                  <a:lnTo>
                    <a:pt x="12230" y="2386799"/>
                  </a:lnTo>
                  <a:lnTo>
                    <a:pt x="0" y="2341079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255474"/>
            <a:ext cx="3500120" cy="24599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 marR="1245235">
              <a:lnSpc>
                <a:spcPct val="102499"/>
              </a:lnSpc>
              <a:spcBef>
                <a:spcPts val="509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@Configuration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@EnableMethodSecurity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class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SecurityConfig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@Bean</a:t>
            </a:r>
            <a:endParaRPr sz="800">
              <a:latin typeface="Courier New"/>
              <a:cs typeface="Courier New"/>
            </a:endParaRPr>
          </a:p>
          <a:p>
            <a:pPr marL="384175" marR="439420" indent="-24892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SecurityFilterChain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filterChain(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HttpSecurity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http,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JwtAuthFilter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jwtFilter)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throws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Exception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return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http</a:t>
            </a:r>
            <a:endParaRPr sz="800">
              <a:latin typeface="Courier New"/>
              <a:cs typeface="Courier New"/>
            </a:endParaRPr>
          </a:p>
          <a:p>
            <a:pPr marL="384175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.csrf(AbstractHttpConfigurer::disable)</a:t>
            </a:r>
            <a:endParaRPr sz="800">
              <a:latin typeface="Courier New"/>
              <a:cs typeface="Courier New"/>
            </a:endParaRPr>
          </a:p>
          <a:p>
            <a:pPr marL="634365" marR="5080" indent="-25019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.sessionManagement(sm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-&gt;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sm.sessionCreationPolicy( SessionCreationPolicy.STATELESS))</a:t>
            </a:r>
            <a:endParaRPr sz="800">
              <a:latin typeface="Courier New"/>
              <a:cs typeface="Courier New"/>
            </a:endParaRPr>
          </a:p>
          <a:p>
            <a:pPr marL="38417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.authorizeHttpRequests(auth</a:t>
            </a:r>
            <a:r>
              <a:rPr sz="800" spc="11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-&gt;</a:t>
            </a:r>
            <a:r>
              <a:rPr sz="800" spc="1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auth</a:t>
            </a:r>
            <a:endParaRPr sz="800">
              <a:latin typeface="Courier New"/>
              <a:cs typeface="Courier New"/>
            </a:endParaRPr>
          </a:p>
          <a:p>
            <a:pPr marL="50927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.requestMatchers("/api/v1/auth/**").permitAll()</a:t>
            </a:r>
            <a:endParaRPr sz="800">
              <a:latin typeface="Courier New"/>
              <a:cs typeface="Courier New"/>
            </a:endParaRPr>
          </a:p>
          <a:p>
            <a:pPr marL="50927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.requestMatchers("/actuator/health").permitAll()</a:t>
            </a:r>
            <a:endParaRPr sz="800">
              <a:latin typeface="Courier New"/>
              <a:cs typeface="Courier New"/>
            </a:endParaRPr>
          </a:p>
          <a:p>
            <a:pPr marL="50927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.anyRequest().authenticated())</a:t>
            </a:r>
            <a:endParaRPr sz="800">
              <a:latin typeface="Courier New"/>
              <a:cs typeface="Courier New"/>
            </a:endParaRPr>
          </a:p>
          <a:p>
            <a:pPr marL="634365" marR="189865" indent="-250190">
              <a:lnSpc>
                <a:spcPct val="102499"/>
              </a:lnSpc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.addFilterBefore(jwtFilter, UsernamePasswordAuthenticationFilter.class)</a:t>
            </a:r>
            <a:endParaRPr sz="800">
              <a:latin typeface="Courier New"/>
              <a:cs typeface="Courier New"/>
            </a:endParaRPr>
          </a:p>
          <a:p>
            <a:pPr marL="384175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.build();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140" y="4689629"/>
            <a:ext cx="211454" cy="275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120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768926" y="1038227"/>
            <a:ext cx="4168775" cy="3775075"/>
            <a:chOff x="4768926" y="1038227"/>
            <a:chExt cx="4168775" cy="377507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8227"/>
              <a:ext cx="4168444" cy="377497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475088"/>
                  </a:lnTo>
                  <a:lnTo>
                    <a:pt x="939" y="3489511"/>
                  </a:lnTo>
                  <a:lnTo>
                    <a:pt x="14757" y="3530168"/>
                  </a:lnTo>
                  <a:lnTo>
                    <a:pt x="43003" y="3562109"/>
                  </a:lnTo>
                  <a:lnTo>
                    <a:pt x="81359" y="3581144"/>
                  </a:lnTo>
                  <a:lnTo>
                    <a:pt x="109791" y="3584879"/>
                  </a:lnTo>
                  <a:lnTo>
                    <a:pt x="3868191" y="3584879"/>
                  </a:lnTo>
                  <a:lnTo>
                    <a:pt x="3910262" y="3576526"/>
                  </a:lnTo>
                  <a:lnTo>
                    <a:pt x="3945764" y="3552712"/>
                  </a:lnTo>
                  <a:lnTo>
                    <a:pt x="3969565" y="3517152"/>
                  </a:lnTo>
                  <a:lnTo>
                    <a:pt x="3977995" y="3475088"/>
                  </a:lnTo>
                  <a:lnTo>
                    <a:pt x="3977972" y="109804"/>
                  </a:lnTo>
                  <a:lnTo>
                    <a:pt x="3969642" y="68095"/>
                  </a:lnTo>
                  <a:lnTo>
                    <a:pt x="3945772" y="32535"/>
                  </a:lnTo>
                  <a:lnTo>
                    <a:pt x="3910112" y="8721"/>
                  </a:lnTo>
                  <a:lnTo>
                    <a:pt x="38681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68"/>
                  </a:lnTo>
                  <a:lnTo>
                    <a:pt x="3910112" y="8721"/>
                  </a:lnTo>
                  <a:lnTo>
                    <a:pt x="3945772" y="32535"/>
                  </a:lnTo>
                  <a:lnTo>
                    <a:pt x="3969642" y="68095"/>
                  </a:lnTo>
                  <a:lnTo>
                    <a:pt x="3977995" y="110159"/>
                  </a:lnTo>
                  <a:lnTo>
                    <a:pt x="3977995" y="3475088"/>
                  </a:lnTo>
                  <a:lnTo>
                    <a:pt x="3977055" y="3489505"/>
                  </a:lnTo>
                  <a:lnTo>
                    <a:pt x="3974260" y="3503520"/>
                  </a:lnTo>
                  <a:lnTo>
                    <a:pt x="3955218" y="3541876"/>
                  </a:lnTo>
                  <a:lnTo>
                    <a:pt x="3923271" y="3570122"/>
                  </a:lnTo>
                  <a:lnTo>
                    <a:pt x="3882621" y="3583940"/>
                  </a:lnTo>
                  <a:lnTo>
                    <a:pt x="3868191" y="3584879"/>
                  </a:lnTo>
                  <a:lnTo>
                    <a:pt x="109791" y="3584879"/>
                  </a:lnTo>
                  <a:lnTo>
                    <a:pt x="67882" y="3576526"/>
                  </a:lnTo>
                  <a:lnTo>
                    <a:pt x="32213" y="3552712"/>
                  </a:lnTo>
                  <a:lnTo>
                    <a:pt x="8352" y="3517152"/>
                  </a:lnTo>
                  <a:lnTo>
                    <a:pt x="0" y="3475088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0377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70424" y="1167538"/>
            <a:ext cx="24971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055E45"/>
                </a:solidFill>
                <a:latin typeface="MingLiU_HKSCS-ExtB"/>
                <a:cs typeface="MingLiU_HKSCS-ExtB"/>
              </a:rPr>
              <a:t>✅</a:t>
            </a:r>
            <a:r>
              <a:rPr sz="1300" spc="-290" dirty="0">
                <a:solidFill>
                  <a:srgbClr val="055E45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Files</a:t>
            </a:r>
            <a:r>
              <a:rPr sz="1100" b="1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Generated</a:t>
            </a:r>
            <a:r>
              <a:rPr sz="1100" b="1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by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 Claude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70424" y="1597217"/>
            <a:ext cx="18510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Service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class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(full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implementation)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70424" y="1999705"/>
            <a:ext cx="15963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Unit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(JUnit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5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Mockito)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70424" y="2401826"/>
            <a:ext cx="15068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Integration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(MockMvc)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70424" y="2804301"/>
            <a:ext cx="18262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DTO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classes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(Request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Response)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70424" y="3206421"/>
            <a:ext cx="14160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Custom exception classes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70424" y="3608897"/>
            <a:ext cx="16751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Swagger/OpenAPI</a:t>
            </a:r>
            <a:r>
              <a:rPr sz="9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annotations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839664" y="3422346"/>
            <a:ext cx="3990975" cy="1247775"/>
            <a:chOff x="4839664" y="3422346"/>
            <a:chExt cx="3990975" cy="1247775"/>
          </a:xfrm>
        </p:grpSpPr>
        <p:sp>
          <p:nvSpPr>
            <p:cNvPr id="30" name="object 30"/>
            <p:cNvSpPr/>
            <p:nvPr/>
          </p:nvSpPr>
          <p:spPr>
            <a:xfrm>
              <a:off x="4845964" y="3428646"/>
              <a:ext cx="3978275" cy="1235075"/>
            </a:xfrm>
            <a:custGeom>
              <a:avLst/>
              <a:gdLst/>
              <a:ahLst/>
              <a:cxnLst/>
              <a:rect l="l" t="t" r="r" b="b"/>
              <a:pathLst>
                <a:path w="3978275" h="123507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143355"/>
                  </a:lnTo>
                  <a:lnTo>
                    <a:pt x="798" y="1155360"/>
                  </a:lnTo>
                  <a:lnTo>
                    <a:pt x="18830" y="1199119"/>
                  </a:lnTo>
                  <a:lnTo>
                    <a:pt x="56505" y="1227809"/>
                  </a:lnTo>
                  <a:lnTo>
                    <a:pt x="91439" y="1234795"/>
                  </a:lnTo>
                  <a:lnTo>
                    <a:pt x="3886555" y="1234795"/>
                  </a:lnTo>
                  <a:lnTo>
                    <a:pt x="3932275" y="1222552"/>
                  </a:lnTo>
                  <a:lnTo>
                    <a:pt x="3965752" y="1189075"/>
                  </a:lnTo>
                  <a:lnTo>
                    <a:pt x="3977995" y="1143355"/>
                  </a:lnTo>
                  <a:lnTo>
                    <a:pt x="3977971" y="91440"/>
                  </a:lnTo>
                  <a:lnTo>
                    <a:pt x="3965752" y="46075"/>
                  </a:lnTo>
                  <a:lnTo>
                    <a:pt x="3932275" y="12598"/>
                  </a:lnTo>
                  <a:lnTo>
                    <a:pt x="388655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B19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845964" y="3428646"/>
              <a:ext cx="3978275" cy="1235075"/>
            </a:xfrm>
            <a:custGeom>
              <a:avLst/>
              <a:gdLst/>
              <a:ahLst/>
              <a:cxnLst/>
              <a:rect l="l" t="t" r="r" b="b"/>
              <a:pathLst>
                <a:path w="3978275" h="123507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3886555" y="355"/>
                  </a:lnTo>
                  <a:lnTo>
                    <a:pt x="3932275" y="12598"/>
                  </a:lnTo>
                  <a:lnTo>
                    <a:pt x="3965752" y="46075"/>
                  </a:lnTo>
                  <a:lnTo>
                    <a:pt x="3977995" y="91795"/>
                  </a:lnTo>
                  <a:lnTo>
                    <a:pt x="3977995" y="1143355"/>
                  </a:lnTo>
                  <a:lnTo>
                    <a:pt x="3977197" y="1155360"/>
                  </a:lnTo>
                  <a:lnTo>
                    <a:pt x="3974846" y="1167025"/>
                  </a:lnTo>
                  <a:lnTo>
                    <a:pt x="3951314" y="1208114"/>
                  </a:lnTo>
                  <a:lnTo>
                    <a:pt x="3910225" y="1231646"/>
                  </a:lnTo>
                  <a:lnTo>
                    <a:pt x="3886555" y="1234795"/>
                  </a:lnTo>
                  <a:lnTo>
                    <a:pt x="91439" y="1234795"/>
                  </a:lnTo>
                  <a:lnTo>
                    <a:pt x="45720" y="1222552"/>
                  </a:lnTo>
                  <a:lnTo>
                    <a:pt x="12230" y="1189075"/>
                  </a:lnTo>
                  <a:lnTo>
                    <a:pt x="0" y="1143355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970424" y="3491825"/>
            <a:ext cx="1277976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Try</a:t>
            </a:r>
            <a:r>
              <a:rPr sz="900" b="1" spc="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it</a:t>
            </a:r>
            <a:r>
              <a:rPr sz="900" b="1" spc="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0C9387"/>
                </a:solidFill>
                <a:latin typeface="Calibri"/>
                <a:cs typeface="Calibri"/>
              </a:rPr>
              <a:t>now: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70424" y="3991586"/>
            <a:ext cx="3568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Open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Claude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Code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in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your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wamy-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finance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project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and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run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prompt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1E7EF"/>
                </a:solidFill>
                <a:latin typeface="Calibri"/>
                <a:cs typeface="Calibri"/>
              </a:rPr>
              <a:t>shown.</a:t>
            </a:r>
            <a:r>
              <a:rPr sz="900" spc="50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Compare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output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to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3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code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1E7EF"/>
                </a:solidFill>
                <a:latin typeface="Calibri"/>
                <a:cs typeface="Calibri"/>
              </a:rPr>
              <a:t>sample.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35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Input</a:t>
            </a:r>
            <a:r>
              <a:rPr spc="-55" dirty="0"/>
              <a:t> </a:t>
            </a:r>
            <a:r>
              <a:rPr spc="-20" dirty="0"/>
              <a:t>Validation</a:t>
            </a:r>
            <a:r>
              <a:rPr spc="-50" dirty="0"/>
              <a:t> </a:t>
            </a:r>
            <a:r>
              <a:rPr dirty="0"/>
              <a:t>&amp;</a:t>
            </a:r>
            <a:r>
              <a:rPr spc="-55" dirty="0"/>
              <a:t> </a:t>
            </a:r>
            <a:r>
              <a:rPr dirty="0"/>
              <a:t>Error</a:t>
            </a:r>
            <a:r>
              <a:rPr spc="-50" dirty="0"/>
              <a:t> </a:t>
            </a:r>
            <a:r>
              <a:rPr spc="-10" dirty="0"/>
              <a:t>Handling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317436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80" dirty="0">
                <a:solidFill>
                  <a:srgbClr val="9FBFFF"/>
                </a:solidFill>
                <a:latin typeface="+mn-lt"/>
                <a:cs typeface="Arial"/>
              </a:rPr>
              <a:t>Bean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Validation</a:t>
            </a:r>
            <a:r>
              <a:rPr sz="1000" i="1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95" dirty="0">
                <a:solidFill>
                  <a:srgbClr val="9FBFFF"/>
                </a:solidFill>
                <a:latin typeface="+mn-lt"/>
                <a:cs typeface="Arial"/>
              </a:rPr>
              <a:t>+</a:t>
            </a:r>
            <a:r>
              <a:rPr sz="1000" i="1" spc="-1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+mn-lt"/>
                <a:cs typeface="Arial"/>
              </a:rPr>
              <a:t>GlobalExceptionHandler</a:t>
            </a:r>
            <a:r>
              <a:rPr sz="1000" i="1" spc="-1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for 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the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70" dirty="0">
                <a:solidFill>
                  <a:srgbClr val="9FBFFF"/>
                </a:solidFill>
                <a:latin typeface="+mn-lt"/>
                <a:cs typeface="Arial"/>
              </a:rPr>
              <a:t>Finance</a:t>
            </a:r>
            <a:r>
              <a:rPr sz="1000" i="1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API</a:t>
            </a:r>
            <a:endParaRPr sz="1000" dirty="0">
              <a:latin typeface="+mn-lt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1"/>
            <a:ext cx="8474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227"/>
            <a:ext cx="4534535" cy="1270000"/>
            <a:chOff x="242646" y="1038227"/>
            <a:chExt cx="4534535" cy="12700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34204" cy="126937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277"/>
              <a:ext cx="4344035" cy="1079500"/>
            </a:xfrm>
            <a:custGeom>
              <a:avLst/>
              <a:gdLst/>
              <a:ahLst/>
              <a:cxnLst/>
              <a:rect l="l" t="t" r="r" b="b"/>
              <a:pathLst>
                <a:path w="4344035" h="1079500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987844"/>
                  </a:lnTo>
                  <a:lnTo>
                    <a:pt x="798" y="999849"/>
                  </a:lnTo>
                  <a:lnTo>
                    <a:pt x="18830" y="1043608"/>
                  </a:lnTo>
                  <a:lnTo>
                    <a:pt x="56505" y="1072297"/>
                  </a:lnTo>
                  <a:lnTo>
                    <a:pt x="91439" y="1079284"/>
                  </a:lnTo>
                  <a:lnTo>
                    <a:pt x="4252315" y="1079284"/>
                  </a:lnTo>
                  <a:lnTo>
                    <a:pt x="4298035" y="1067041"/>
                  </a:lnTo>
                  <a:lnTo>
                    <a:pt x="4331512" y="1033564"/>
                  </a:lnTo>
                  <a:lnTo>
                    <a:pt x="4343755" y="987844"/>
                  </a:lnTo>
                  <a:lnTo>
                    <a:pt x="4343731" y="91439"/>
                  </a:lnTo>
                  <a:lnTo>
                    <a:pt x="4331512" y="46088"/>
                  </a:lnTo>
                  <a:lnTo>
                    <a:pt x="4298035" y="12598"/>
                  </a:lnTo>
                  <a:lnTo>
                    <a:pt x="425231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277"/>
              <a:ext cx="4344035" cy="1079500"/>
            </a:xfrm>
            <a:custGeom>
              <a:avLst/>
              <a:gdLst/>
              <a:ahLst/>
              <a:cxnLst/>
              <a:rect l="l" t="t" r="r" b="b"/>
              <a:pathLst>
                <a:path w="4344035" h="1079500">
                  <a:moveTo>
                    <a:pt x="355" y="91439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68"/>
                  </a:lnTo>
                  <a:lnTo>
                    <a:pt x="4298035" y="12598"/>
                  </a:lnTo>
                  <a:lnTo>
                    <a:pt x="4331512" y="46088"/>
                  </a:lnTo>
                  <a:lnTo>
                    <a:pt x="4343755" y="91808"/>
                  </a:lnTo>
                  <a:lnTo>
                    <a:pt x="4343755" y="987844"/>
                  </a:lnTo>
                  <a:lnTo>
                    <a:pt x="4342957" y="999849"/>
                  </a:lnTo>
                  <a:lnTo>
                    <a:pt x="4340606" y="1011513"/>
                  </a:lnTo>
                  <a:lnTo>
                    <a:pt x="4317074" y="1052602"/>
                  </a:lnTo>
                  <a:lnTo>
                    <a:pt x="4275985" y="1076134"/>
                  </a:lnTo>
                  <a:lnTo>
                    <a:pt x="4252315" y="1079284"/>
                  </a:lnTo>
                  <a:lnTo>
                    <a:pt x="91439" y="1079284"/>
                  </a:lnTo>
                  <a:lnTo>
                    <a:pt x="45719" y="1067041"/>
                  </a:lnTo>
                  <a:lnTo>
                    <a:pt x="12230" y="1033564"/>
                  </a:lnTo>
                  <a:lnTo>
                    <a:pt x="0" y="987844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4008754" cy="97536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GlobalExceptionHandler.java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using</a:t>
            </a:r>
            <a:r>
              <a:rPr sz="850" i="1" spc="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@RestControllerAdvice</a:t>
            </a:r>
            <a:r>
              <a:rPr sz="850" i="1" spc="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Finance.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Handle:</a:t>
            </a:r>
            <a:r>
              <a:rPr sz="850" i="1" spc="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MethodArgumentNotValidException</a:t>
            </a:r>
            <a:r>
              <a:rPr sz="850" i="1" spc="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(return</a:t>
            </a:r>
            <a:r>
              <a:rPr sz="850" i="1" spc="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field-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level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errors),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DoubleEntryViolationException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(400</a:t>
            </a:r>
            <a:r>
              <a:rPr sz="850" i="1" spc="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+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message),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EntityNotFoundException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(404),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AccessDeniedException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(403),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generic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Exception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(500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with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correlation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ID).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Return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consistent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ErrorResponse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DTO."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189875"/>
            <a:ext cx="4534535" cy="2622550"/>
            <a:chOff x="242646" y="2189875"/>
            <a:chExt cx="4534535" cy="262255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189875"/>
              <a:ext cx="4534204" cy="262224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266926"/>
              <a:ext cx="4344035" cy="2432685"/>
            </a:xfrm>
            <a:custGeom>
              <a:avLst/>
              <a:gdLst/>
              <a:ahLst/>
              <a:cxnLst/>
              <a:rect l="l" t="t" r="r" b="b"/>
              <a:pathLst>
                <a:path w="4344035" h="2432685">
                  <a:moveTo>
                    <a:pt x="91795" y="0"/>
                  </a:moveTo>
                  <a:lnTo>
                    <a:pt x="46075" y="12230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2341079"/>
                  </a:lnTo>
                  <a:lnTo>
                    <a:pt x="798" y="2353079"/>
                  </a:lnTo>
                  <a:lnTo>
                    <a:pt x="18830" y="2396836"/>
                  </a:lnTo>
                  <a:lnTo>
                    <a:pt x="56505" y="2425527"/>
                  </a:lnTo>
                  <a:lnTo>
                    <a:pt x="91439" y="2432519"/>
                  </a:lnTo>
                  <a:lnTo>
                    <a:pt x="4252315" y="2432519"/>
                  </a:lnTo>
                  <a:lnTo>
                    <a:pt x="4298035" y="2420277"/>
                  </a:lnTo>
                  <a:lnTo>
                    <a:pt x="4331512" y="2386799"/>
                  </a:lnTo>
                  <a:lnTo>
                    <a:pt x="4343755" y="2341079"/>
                  </a:lnTo>
                  <a:lnTo>
                    <a:pt x="4343731" y="91439"/>
                  </a:lnTo>
                  <a:lnTo>
                    <a:pt x="4331512" y="46075"/>
                  </a:lnTo>
                  <a:lnTo>
                    <a:pt x="4298035" y="12598"/>
                  </a:lnTo>
                  <a:lnTo>
                    <a:pt x="42523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266926"/>
              <a:ext cx="4344035" cy="2432685"/>
            </a:xfrm>
            <a:custGeom>
              <a:avLst/>
              <a:gdLst/>
              <a:ahLst/>
              <a:cxnLst/>
              <a:rect l="l" t="t" r="r" b="b"/>
              <a:pathLst>
                <a:path w="4344035" h="243268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4252315" y="355"/>
                  </a:lnTo>
                  <a:lnTo>
                    <a:pt x="4298035" y="12598"/>
                  </a:lnTo>
                  <a:lnTo>
                    <a:pt x="4331512" y="46075"/>
                  </a:lnTo>
                  <a:lnTo>
                    <a:pt x="4343755" y="91795"/>
                  </a:lnTo>
                  <a:lnTo>
                    <a:pt x="4343755" y="2341079"/>
                  </a:lnTo>
                  <a:lnTo>
                    <a:pt x="4342957" y="2353079"/>
                  </a:lnTo>
                  <a:lnTo>
                    <a:pt x="4340606" y="2364744"/>
                  </a:lnTo>
                  <a:lnTo>
                    <a:pt x="4317074" y="2405829"/>
                  </a:lnTo>
                  <a:lnTo>
                    <a:pt x="4275985" y="2429365"/>
                  </a:lnTo>
                  <a:lnTo>
                    <a:pt x="4252315" y="2432519"/>
                  </a:lnTo>
                  <a:lnTo>
                    <a:pt x="91439" y="2432519"/>
                  </a:lnTo>
                  <a:lnTo>
                    <a:pt x="45719" y="2420277"/>
                  </a:lnTo>
                  <a:lnTo>
                    <a:pt x="12230" y="2386799"/>
                  </a:lnTo>
                  <a:lnTo>
                    <a:pt x="0" y="2341079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255474"/>
            <a:ext cx="3624579" cy="19602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@RestControllerAdvice</a:t>
            </a:r>
            <a:endParaRPr sz="800">
              <a:latin typeface="Courier New"/>
              <a:cs typeface="Courier New"/>
            </a:endParaRPr>
          </a:p>
          <a:p>
            <a:pPr marL="135890" marR="5080" indent="-12382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class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GlobalExceptionHandler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@ExceptionHandler(MethodArgumentNotValidException.class)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1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ResponseEntity&lt;ErrorResponse&gt;</a:t>
            </a:r>
            <a:r>
              <a:rPr sz="800" spc="1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handleValidation(</a:t>
            </a:r>
            <a:endParaRPr sz="800">
              <a:latin typeface="Courier New"/>
              <a:cs typeface="Courier New"/>
            </a:endParaRPr>
          </a:p>
          <a:p>
            <a:pPr marL="260985" marR="438150" indent="123189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MethodArgumentNotValidException</a:t>
            </a:r>
            <a:r>
              <a:rPr sz="800" spc="1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ex)</a:t>
            </a:r>
            <a:r>
              <a:rPr sz="800" spc="1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List&lt;FieldError&gt;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errors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ex.getBindingResult()</a:t>
            </a:r>
            <a:endParaRPr sz="800">
              <a:latin typeface="Courier New"/>
              <a:cs typeface="Courier New"/>
            </a:endParaRPr>
          </a:p>
          <a:p>
            <a:pPr marL="384175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.getFieldErrors().stream()</a:t>
            </a:r>
            <a:endParaRPr sz="800">
              <a:latin typeface="Courier New"/>
              <a:cs typeface="Courier New"/>
            </a:endParaRPr>
          </a:p>
          <a:p>
            <a:pPr marL="38417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.map(fe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-&gt;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new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FieldError(</a:t>
            </a:r>
            <a:endParaRPr sz="800">
              <a:latin typeface="Courier New"/>
              <a:cs typeface="Courier New"/>
            </a:endParaRPr>
          </a:p>
          <a:p>
            <a:pPr marL="63436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fe.getField(),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fe.getDefaultMessage()))</a:t>
            </a:r>
            <a:endParaRPr sz="800">
              <a:latin typeface="Courier New"/>
              <a:cs typeface="Courier New"/>
            </a:endParaRPr>
          </a:p>
          <a:p>
            <a:pPr marL="384175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.collect(toList());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return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ResponseEntity.badRequest()</a:t>
            </a:r>
            <a:endParaRPr sz="800">
              <a:latin typeface="Courier New"/>
              <a:cs typeface="Courier New"/>
            </a:endParaRPr>
          </a:p>
          <a:p>
            <a:pPr marL="384175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.body(ErrorResponse.validation(errors));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0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622" y="4314865"/>
            <a:ext cx="3375660" cy="400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@ExceptionHandler(DoubleEntryViolationException.class)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1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ResponseEntity&lt;ErrorResponse&gt;</a:t>
            </a:r>
            <a:r>
              <a:rPr sz="800" spc="1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handleDE(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DoubleEntryViolationException</a:t>
            </a:r>
            <a:r>
              <a:rPr sz="800" spc="1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ex)</a:t>
            </a:r>
            <a:r>
              <a:rPr sz="800" spc="1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3539" y="4689629"/>
            <a:ext cx="3126740" cy="4006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return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ResponseEntity.badRequest()</a:t>
            </a:r>
            <a:endParaRPr sz="800">
              <a:latin typeface="Courier New"/>
              <a:cs typeface="Courier New"/>
            </a:endParaRPr>
          </a:p>
          <a:p>
            <a:pPr marL="385445" marR="5080" indent="-250190">
              <a:lnSpc>
                <a:spcPct val="102499"/>
              </a:lnSpc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.body(ErrorResponse.of("DOUBLE_ENTRY_VIOLATION",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"Debits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("+ex.getDebits()+")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≠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Credits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68926" y="1038227"/>
            <a:ext cx="4168775" cy="3775075"/>
            <a:chOff x="4768926" y="1038227"/>
            <a:chExt cx="4168775" cy="377507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8227"/>
              <a:ext cx="4168444" cy="377497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475088"/>
                  </a:lnTo>
                  <a:lnTo>
                    <a:pt x="939" y="3489511"/>
                  </a:lnTo>
                  <a:lnTo>
                    <a:pt x="14757" y="3530168"/>
                  </a:lnTo>
                  <a:lnTo>
                    <a:pt x="43003" y="3562109"/>
                  </a:lnTo>
                  <a:lnTo>
                    <a:pt x="81359" y="3581144"/>
                  </a:lnTo>
                  <a:lnTo>
                    <a:pt x="109791" y="3584879"/>
                  </a:lnTo>
                  <a:lnTo>
                    <a:pt x="3868191" y="3584879"/>
                  </a:lnTo>
                  <a:lnTo>
                    <a:pt x="3910262" y="3576526"/>
                  </a:lnTo>
                  <a:lnTo>
                    <a:pt x="3945764" y="3552712"/>
                  </a:lnTo>
                  <a:lnTo>
                    <a:pt x="3969565" y="3517152"/>
                  </a:lnTo>
                  <a:lnTo>
                    <a:pt x="3977995" y="3475088"/>
                  </a:lnTo>
                  <a:lnTo>
                    <a:pt x="3977972" y="109804"/>
                  </a:lnTo>
                  <a:lnTo>
                    <a:pt x="3969642" y="68095"/>
                  </a:lnTo>
                  <a:lnTo>
                    <a:pt x="3945772" y="32535"/>
                  </a:lnTo>
                  <a:lnTo>
                    <a:pt x="3910112" y="8721"/>
                  </a:lnTo>
                  <a:lnTo>
                    <a:pt x="38681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68"/>
                  </a:lnTo>
                  <a:lnTo>
                    <a:pt x="3910112" y="8721"/>
                  </a:lnTo>
                  <a:lnTo>
                    <a:pt x="3945772" y="32535"/>
                  </a:lnTo>
                  <a:lnTo>
                    <a:pt x="3969642" y="68095"/>
                  </a:lnTo>
                  <a:lnTo>
                    <a:pt x="3977995" y="110159"/>
                  </a:lnTo>
                  <a:lnTo>
                    <a:pt x="3977995" y="3475088"/>
                  </a:lnTo>
                  <a:lnTo>
                    <a:pt x="3977055" y="3489505"/>
                  </a:lnTo>
                  <a:lnTo>
                    <a:pt x="3974260" y="3503520"/>
                  </a:lnTo>
                  <a:lnTo>
                    <a:pt x="3955218" y="3541876"/>
                  </a:lnTo>
                  <a:lnTo>
                    <a:pt x="3923271" y="3570122"/>
                  </a:lnTo>
                  <a:lnTo>
                    <a:pt x="3882621" y="3583940"/>
                  </a:lnTo>
                  <a:lnTo>
                    <a:pt x="3868191" y="3584879"/>
                  </a:lnTo>
                  <a:lnTo>
                    <a:pt x="109791" y="3584879"/>
                  </a:lnTo>
                  <a:lnTo>
                    <a:pt x="67882" y="3576526"/>
                  </a:lnTo>
                  <a:lnTo>
                    <a:pt x="32213" y="3552712"/>
                  </a:lnTo>
                  <a:lnTo>
                    <a:pt x="8352" y="3517152"/>
                  </a:lnTo>
                  <a:lnTo>
                    <a:pt x="0" y="3475088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0377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970424" y="1167538"/>
            <a:ext cx="24971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055E45"/>
                </a:solidFill>
                <a:latin typeface="MingLiU_HKSCS-ExtB"/>
                <a:cs typeface="MingLiU_HKSCS-ExtB"/>
              </a:rPr>
              <a:t>✅</a:t>
            </a:r>
            <a:r>
              <a:rPr sz="1300" spc="-290" dirty="0">
                <a:solidFill>
                  <a:srgbClr val="055E45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Files</a:t>
            </a:r>
            <a:r>
              <a:rPr sz="1100" b="1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Generated</a:t>
            </a:r>
            <a:r>
              <a:rPr sz="1100" b="1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by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 Claude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70424" y="1597217"/>
            <a:ext cx="18510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Service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class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(full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implementation)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70424" y="1999705"/>
            <a:ext cx="15963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Unit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(JUnit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5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Mockito)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70424" y="2401826"/>
            <a:ext cx="15068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Integration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(MockMvc)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70424" y="2804301"/>
            <a:ext cx="18262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DTO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classes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(Request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Response)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70424" y="3206421"/>
            <a:ext cx="14160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Custom exception classes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70424" y="3608897"/>
            <a:ext cx="16751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Swagger/OpenAPI</a:t>
            </a:r>
            <a:r>
              <a:rPr sz="9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annotations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839664" y="3422346"/>
            <a:ext cx="3990975" cy="1247775"/>
            <a:chOff x="4839664" y="3422346"/>
            <a:chExt cx="3990975" cy="1247775"/>
          </a:xfrm>
        </p:grpSpPr>
        <p:sp>
          <p:nvSpPr>
            <p:cNvPr id="31" name="object 31"/>
            <p:cNvSpPr/>
            <p:nvPr/>
          </p:nvSpPr>
          <p:spPr>
            <a:xfrm>
              <a:off x="4845964" y="3428646"/>
              <a:ext cx="3978275" cy="1235075"/>
            </a:xfrm>
            <a:custGeom>
              <a:avLst/>
              <a:gdLst/>
              <a:ahLst/>
              <a:cxnLst/>
              <a:rect l="l" t="t" r="r" b="b"/>
              <a:pathLst>
                <a:path w="3978275" h="123507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143355"/>
                  </a:lnTo>
                  <a:lnTo>
                    <a:pt x="798" y="1155360"/>
                  </a:lnTo>
                  <a:lnTo>
                    <a:pt x="18830" y="1199119"/>
                  </a:lnTo>
                  <a:lnTo>
                    <a:pt x="56505" y="1227809"/>
                  </a:lnTo>
                  <a:lnTo>
                    <a:pt x="91439" y="1234795"/>
                  </a:lnTo>
                  <a:lnTo>
                    <a:pt x="3886555" y="1234795"/>
                  </a:lnTo>
                  <a:lnTo>
                    <a:pt x="3932275" y="1222552"/>
                  </a:lnTo>
                  <a:lnTo>
                    <a:pt x="3965752" y="1189075"/>
                  </a:lnTo>
                  <a:lnTo>
                    <a:pt x="3977995" y="1143355"/>
                  </a:lnTo>
                  <a:lnTo>
                    <a:pt x="3977971" y="91440"/>
                  </a:lnTo>
                  <a:lnTo>
                    <a:pt x="3965752" y="46075"/>
                  </a:lnTo>
                  <a:lnTo>
                    <a:pt x="3932275" y="12598"/>
                  </a:lnTo>
                  <a:lnTo>
                    <a:pt x="388655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B19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45964" y="3428646"/>
              <a:ext cx="3978275" cy="1235075"/>
            </a:xfrm>
            <a:custGeom>
              <a:avLst/>
              <a:gdLst/>
              <a:ahLst/>
              <a:cxnLst/>
              <a:rect l="l" t="t" r="r" b="b"/>
              <a:pathLst>
                <a:path w="3978275" h="123507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3886555" y="355"/>
                  </a:lnTo>
                  <a:lnTo>
                    <a:pt x="3932275" y="12598"/>
                  </a:lnTo>
                  <a:lnTo>
                    <a:pt x="3965752" y="46075"/>
                  </a:lnTo>
                  <a:lnTo>
                    <a:pt x="3977995" y="91795"/>
                  </a:lnTo>
                  <a:lnTo>
                    <a:pt x="3977995" y="1143355"/>
                  </a:lnTo>
                  <a:lnTo>
                    <a:pt x="3977197" y="1155360"/>
                  </a:lnTo>
                  <a:lnTo>
                    <a:pt x="3974846" y="1167025"/>
                  </a:lnTo>
                  <a:lnTo>
                    <a:pt x="3951314" y="1208114"/>
                  </a:lnTo>
                  <a:lnTo>
                    <a:pt x="3910225" y="1231646"/>
                  </a:lnTo>
                  <a:lnTo>
                    <a:pt x="3886555" y="1234795"/>
                  </a:lnTo>
                  <a:lnTo>
                    <a:pt x="91439" y="1234795"/>
                  </a:lnTo>
                  <a:lnTo>
                    <a:pt x="45720" y="1222552"/>
                  </a:lnTo>
                  <a:lnTo>
                    <a:pt x="12230" y="1189075"/>
                  </a:lnTo>
                  <a:lnTo>
                    <a:pt x="0" y="1143355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970424" y="3491825"/>
            <a:ext cx="1416050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Try</a:t>
            </a:r>
            <a:r>
              <a:rPr sz="900" b="1" spc="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it</a:t>
            </a:r>
            <a:r>
              <a:rPr sz="900" b="1" spc="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0C9387"/>
                </a:solidFill>
                <a:latin typeface="Calibri"/>
                <a:cs typeface="Calibri"/>
              </a:rPr>
              <a:t>now: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70424" y="3991586"/>
            <a:ext cx="3568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Open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Claude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Code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in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your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wamy-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finance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project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and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run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prompt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1E7EF"/>
                </a:solidFill>
                <a:latin typeface="Calibri"/>
                <a:cs typeface="Calibri"/>
              </a:rPr>
              <a:t>shown.</a:t>
            </a:r>
            <a:r>
              <a:rPr sz="900" spc="50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Compare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output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to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3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code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1E7EF"/>
                </a:solidFill>
                <a:latin typeface="Calibri"/>
                <a:cs typeface="Calibri"/>
              </a:rPr>
              <a:t>sample.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36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JUnit</a:t>
            </a:r>
            <a:r>
              <a:rPr spc="-40" dirty="0"/>
              <a:t> </a:t>
            </a:r>
            <a:r>
              <a:rPr dirty="0"/>
              <a:t>5</a:t>
            </a:r>
            <a:r>
              <a:rPr spc="-40" dirty="0"/>
              <a:t> </a:t>
            </a:r>
            <a:r>
              <a:rPr spc="-50" dirty="0"/>
              <a:t>Test</a:t>
            </a:r>
            <a:r>
              <a:rPr spc="-40" dirty="0"/>
              <a:t> </a:t>
            </a:r>
            <a:r>
              <a:rPr dirty="0"/>
              <a:t>Suite</a:t>
            </a:r>
            <a:r>
              <a:rPr spc="-50" dirty="0"/>
              <a:t> </a:t>
            </a:r>
            <a:r>
              <a:rPr dirty="0"/>
              <a:t>—</a:t>
            </a:r>
            <a:r>
              <a:rPr spc="-35" dirty="0"/>
              <a:t> </a:t>
            </a:r>
            <a:r>
              <a:rPr spc="-10" dirty="0"/>
              <a:t>AccountingService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5069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70" dirty="0">
                <a:solidFill>
                  <a:srgbClr val="9FBFFF"/>
                </a:solidFill>
                <a:latin typeface="Arial"/>
                <a:cs typeface="Arial"/>
              </a:rPr>
              <a:t>Comprehensive</a:t>
            </a:r>
            <a:r>
              <a:rPr sz="1000" i="1" spc="-1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tests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for</a:t>
            </a:r>
            <a:r>
              <a:rPr sz="1000" i="1" spc="-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the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double-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entry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engine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8474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227"/>
            <a:ext cx="4534535" cy="1270000"/>
            <a:chOff x="242646" y="1038227"/>
            <a:chExt cx="4534535" cy="12700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34204" cy="126937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277"/>
              <a:ext cx="4344035" cy="1079500"/>
            </a:xfrm>
            <a:custGeom>
              <a:avLst/>
              <a:gdLst/>
              <a:ahLst/>
              <a:cxnLst/>
              <a:rect l="l" t="t" r="r" b="b"/>
              <a:pathLst>
                <a:path w="4344035" h="1079500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987844"/>
                  </a:lnTo>
                  <a:lnTo>
                    <a:pt x="798" y="999849"/>
                  </a:lnTo>
                  <a:lnTo>
                    <a:pt x="18830" y="1043608"/>
                  </a:lnTo>
                  <a:lnTo>
                    <a:pt x="56505" y="1072297"/>
                  </a:lnTo>
                  <a:lnTo>
                    <a:pt x="91439" y="1079284"/>
                  </a:lnTo>
                  <a:lnTo>
                    <a:pt x="4252315" y="1079284"/>
                  </a:lnTo>
                  <a:lnTo>
                    <a:pt x="4298035" y="1067041"/>
                  </a:lnTo>
                  <a:lnTo>
                    <a:pt x="4331512" y="1033564"/>
                  </a:lnTo>
                  <a:lnTo>
                    <a:pt x="4343755" y="987844"/>
                  </a:lnTo>
                  <a:lnTo>
                    <a:pt x="4343731" y="91439"/>
                  </a:lnTo>
                  <a:lnTo>
                    <a:pt x="4331512" y="46088"/>
                  </a:lnTo>
                  <a:lnTo>
                    <a:pt x="4298035" y="12598"/>
                  </a:lnTo>
                  <a:lnTo>
                    <a:pt x="425231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277"/>
              <a:ext cx="4344035" cy="1079500"/>
            </a:xfrm>
            <a:custGeom>
              <a:avLst/>
              <a:gdLst/>
              <a:ahLst/>
              <a:cxnLst/>
              <a:rect l="l" t="t" r="r" b="b"/>
              <a:pathLst>
                <a:path w="4344035" h="1079500">
                  <a:moveTo>
                    <a:pt x="355" y="91439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68"/>
                  </a:lnTo>
                  <a:lnTo>
                    <a:pt x="4298035" y="12598"/>
                  </a:lnTo>
                  <a:lnTo>
                    <a:pt x="4331512" y="46088"/>
                  </a:lnTo>
                  <a:lnTo>
                    <a:pt x="4343755" y="91808"/>
                  </a:lnTo>
                  <a:lnTo>
                    <a:pt x="4343755" y="987844"/>
                  </a:lnTo>
                  <a:lnTo>
                    <a:pt x="4342957" y="999849"/>
                  </a:lnTo>
                  <a:lnTo>
                    <a:pt x="4340606" y="1011513"/>
                  </a:lnTo>
                  <a:lnTo>
                    <a:pt x="4317074" y="1052602"/>
                  </a:lnTo>
                  <a:lnTo>
                    <a:pt x="4275985" y="1076134"/>
                  </a:lnTo>
                  <a:lnTo>
                    <a:pt x="4252315" y="1079284"/>
                  </a:lnTo>
                  <a:lnTo>
                    <a:pt x="91439" y="1079284"/>
                  </a:lnTo>
                  <a:lnTo>
                    <a:pt x="45719" y="1067041"/>
                  </a:lnTo>
                  <a:lnTo>
                    <a:pt x="12230" y="1033564"/>
                  </a:lnTo>
                  <a:lnTo>
                    <a:pt x="0" y="987844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3937635" cy="97536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JUnit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5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tests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AccountingService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using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Mockito.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Test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cases: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(1)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postJournalEntry_success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—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valid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entry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balanced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lines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saves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publishes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event;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(2)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postJournalEntry_failsWhenUnbalanced</a:t>
            </a:r>
            <a:r>
              <a:rPr sz="850" i="1" spc="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—</a:t>
            </a:r>
            <a:r>
              <a:rPr sz="850" i="1" spc="8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throws</a:t>
            </a:r>
            <a:r>
              <a:rPr sz="850" i="1" spc="7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DoubleEntryViolationException;</a:t>
            </a:r>
            <a:r>
              <a:rPr sz="850" i="1" spc="6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(3)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voidEntry_createsReversalEntry;</a:t>
            </a:r>
            <a:r>
              <a:rPr sz="850" i="1" spc="1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(4)</a:t>
            </a:r>
            <a:r>
              <a:rPr sz="850" i="1" spc="1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postEntry_failsOnLockedPeriod.</a:t>
            </a:r>
            <a:r>
              <a:rPr sz="850" i="1" spc="1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Use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@ExtendWith(MockitoExtension.class)."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189875"/>
            <a:ext cx="4534535" cy="2622550"/>
            <a:chOff x="242646" y="2189875"/>
            <a:chExt cx="4534535" cy="262255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189875"/>
              <a:ext cx="4534204" cy="262224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266926"/>
              <a:ext cx="4344035" cy="2432685"/>
            </a:xfrm>
            <a:custGeom>
              <a:avLst/>
              <a:gdLst/>
              <a:ahLst/>
              <a:cxnLst/>
              <a:rect l="l" t="t" r="r" b="b"/>
              <a:pathLst>
                <a:path w="4344035" h="2432685">
                  <a:moveTo>
                    <a:pt x="91795" y="0"/>
                  </a:moveTo>
                  <a:lnTo>
                    <a:pt x="46075" y="12230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2341079"/>
                  </a:lnTo>
                  <a:lnTo>
                    <a:pt x="798" y="2353079"/>
                  </a:lnTo>
                  <a:lnTo>
                    <a:pt x="18830" y="2396836"/>
                  </a:lnTo>
                  <a:lnTo>
                    <a:pt x="56505" y="2425527"/>
                  </a:lnTo>
                  <a:lnTo>
                    <a:pt x="91439" y="2432519"/>
                  </a:lnTo>
                  <a:lnTo>
                    <a:pt x="4252315" y="2432519"/>
                  </a:lnTo>
                  <a:lnTo>
                    <a:pt x="4298035" y="2420277"/>
                  </a:lnTo>
                  <a:lnTo>
                    <a:pt x="4331512" y="2386799"/>
                  </a:lnTo>
                  <a:lnTo>
                    <a:pt x="4343755" y="2341079"/>
                  </a:lnTo>
                  <a:lnTo>
                    <a:pt x="4343731" y="91439"/>
                  </a:lnTo>
                  <a:lnTo>
                    <a:pt x="4331512" y="46075"/>
                  </a:lnTo>
                  <a:lnTo>
                    <a:pt x="4298035" y="12598"/>
                  </a:lnTo>
                  <a:lnTo>
                    <a:pt x="42523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266926"/>
              <a:ext cx="4344035" cy="2432685"/>
            </a:xfrm>
            <a:custGeom>
              <a:avLst/>
              <a:gdLst/>
              <a:ahLst/>
              <a:cxnLst/>
              <a:rect l="l" t="t" r="r" b="b"/>
              <a:pathLst>
                <a:path w="4344035" h="243268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4252315" y="355"/>
                  </a:lnTo>
                  <a:lnTo>
                    <a:pt x="4298035" y="12598"/>
                  </a:lnTo>
                  <a:lnTo>
                    <a:pt x="4331512" y="46075"/>
                  </a:lnTo>
                  <a:lnTo>
                    <a:pt x="4343755" y="91795"/>
                  </a:lnTo>
                  <a:lnTo>
                    <a:pt x="4343755" y="2341079"/>
                  </a:lnTo>
                  <a:lnTo>
                    <a:pt x="4342957" y="2353079"/>
                  </a:lnTo>
                  <a:lnTo>
                    <a:pt x="4340606" y="2364744"/>
                  </a:lnTo>
                  <a:lnTo>
                    <a:pt x="4317074" y="2405829"/>
                  </a:lnTo>
                  <a:lnTo>
                    <a:pt x="4275985" y="2429365"/>
                  </a:lnTo>
                  <a:lnTo>
                    <a:pt x="4252315" y="2432519"/>
                  </a:lnTo>
                  <a:lnTo>
                    <a:pt x="91439" y="2432519"/>
                  </a:lnTo>
                  <a:lnTo>
                    <a:pt x="45719" y="2420277"/>
                  </a:lnTo>
                  <a:lnTo>
                    <a:pt x="12230" y="2386799"/>
                  </a:lnTo>
                  <a:lnTo>
                    <a:pt x="0" y="2341079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255474"/>
            <a:ext cx="2569210" cy="9607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 marR="375920">
              <a:lnSpc>
                <a:spcPct val="102499"/>
              </a:lnSpc>
              <a:spcBef>
                <a:spcPts val="509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@ExtendWith(MockitoExtension.class)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class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AccountingServiceTest</a:t>
            </a:r>
            <a:r>
              <a:rPr sz="800" spc="11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13589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@Mock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JournalEntryRepository</a:t>
            </a:r>
            <a:r>
              <a:rPr sz="800" spc="11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repo;</a:t>
            </a:r>
            <a:r>
              <a:rPr sz="800" spc="5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@Mock</a:t>
            </a:r>
            <a:r>
              <a:rPr sz="800" spc="11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ApplicationEventPublisher</a:t>
            </a:r>
            <a:r>
              <a:rPr sz="800" spc="1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events;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@InjectMocks</a:t>
            </a:r>
            <a:r>
              <a:rPr sz="800" spc="11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AccountingService</a:t>
            </a:r>
            <a:r>
              <a:rPr sz="800" spc="1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svc;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622" y="3315502"/>
            <a:ext cx="3688079" cy="5251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@Test</a:t>
            </a:r>
            <a:endParaRPr sz="800">
              <a:latin typeface="Courier New"/>
              <a:cs typeface="Courier New"/>
            </a:endParaRPr>
          </a:p>
          <a:p>
            <a:pPr marL="137160" marR="5080" indent="-12509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void</a:t>
            </a:r>
            <a:r>
              <a:rPr sz="800" spc="1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postEntry_success_publishesEvent()</a:t>
            </a:r>
            <a:r>
              <a:rPr sz="800" spc="1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JournalEntryRequest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req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buildBalancedEntry();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when(repo.save(any())).thenAnswer(i</a:t>
            </a:r>
            <a:r>
              <a:rPr sz="800" spc="1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&gt;</a:t>
            </a:r>
            <a:r>
              <a:rPr sz="800" spc="1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i.getArgument(0));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3539" y="3940100"/>
            <a:ext cx="163957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svc.postJournalEntry(req);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3539" y="4189948"/>
            <a:ext cx="3686175" cy="275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verify(repo).save(any()); verify(events).publishEvent(any(JournalPostedEvent.class));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8622" y="4439782"/>
            <a:ext cx="8826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8622" y="4689629"/>
            <a:ext cx="3190875" cy="4006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@Test</a:t>
            </a:r>
            <a:endParaRPr sz="800">
              <a:latin typeface="Courier New"/>
              <a:cs typeface="Courier New"/>
            </a:endParaRPr>
          </a:p>
          <a:p>
            <a:pPr marL="137160" marR="5080" indent="-12509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void</a:t>
            </a:r>
            <a:r>
              <a:rPr sz="800" spc="1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postEntry_failsWhenUnbalanced()</a:t>
            </a:r>
            <a:r>
              <a:rPr sz="800" spc="1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JournalEntryRequest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req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buildUnbalancedEntry();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768926" y="1038227"/>
            <a:ext cx="4168775" cy="3775075"/>
            <a:chOff x="4768926" y="1038227"/>
            <a:chExt cx="4168775" cy="377507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8227"/>
              <a:ext cx="4168444" cy="377497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475088"/>
                  </a:lnTo>
                  <a:lnTo>
                    <a:pt x="939" y="3489511"/>
                  </a:lnTo>
                  <a:lnTo>
                    <a:pt x="14757" y="3530168"/>
                  </a:lnTo>
                  <a:lnTo>
                    <a:pt x="43003" y="3562109"/>
                  </a:lnTo>
                  <a:lnTo>
                    <a:pt x="81359" y="3581144"/>
                  </a:lnTo>
                  <a:lnTo>
                    <a:pt x="109791" y="3584879"/>
                  </a:lnTo>
                  <a:lnTo>
                    <a:pt x="3868191" y="3584879"/>
                  </a:lnTo>
                  <a:lnTo>
                    <a:pt x="3910262" y="3576526"/>
                  </a:lnTo>
                  <a:lnTo>
                    <a:pt x="3945764" y="3552712"/>
                  </a:lnTo>
                  <a:lnTo>
                    <a:pt x="3969565" y="3517152"/>
                  </a:lnTo>
                  <a:lnTo>
                    <a:pt x="3977995" y="3475088"/>
                  </a:lnTo>
                  <a:lnTo>
                    <a:pt x="3977972" y="109804"/>
                  </a:lnTo>
                  <a:lnTo>
                    <a:pt x="3969642" y="68095"/>
                  </a:lnTo>
                  <a:lnTo>
                    <a:pt x="3945772" y="32535"/>
                  </a:lnTo>
                  <a:lnTo>
                    <a:pt x="3910112" y="8721"/>
                  </a:lnTo>
                  <a:lnTo>
                    <a:pt x="38681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68"/>
                  </a:lnTo>
                  <a:lnTo>
                    <a:pt x="3910112" y="8721"/>
                  </a:lnTo>
                  <a:lnTo>
                    <a:pt x="3945772" y="32535"/>
                  </a:lnTo>
                  <a:lnTo>
                    <a:pt x="3969642" y="68095"/>
                  </a:lnTo>
                  <a:lnTo>
                    <a:pt x="3977995" y="110159"/>
                  </a:lnTo>
                  <a:lnTo>
                    <a:pt x="3977995" y="3475088"/>
                  </a:lnTo>
                  <a:lnTo>
                    <a:pt x="3977055" y="3489505"/>
                  </a:lnTo>
                  <a:lnTo>
                    <a:pt x="3974260" y="3503520"/>
                  </a:lnTo>
                  <a:lnTo>
                    <a:pt x="3955218" y="3541876"/>
                  </a:lnTo>
                  <a:lnTo>
                    <a:pt x="3923271" y="3570122"/>
                  </a:lnTo>
                  <a:lnTo>
                    <a:pt x="3882621" y="3583940"/>
                  </a:lnTo>
                  <a:lnTo>
                    <a:pt x="3868191" y="3584879"/>
                  </a:lnTo>
                  <a:lnTo>
                    <a:pt x="109791" y="3584879"/>
                  </a:lnTo>
                  <a:lnTo>
                    <a:pt x="67882" y="3576526"/>
                  </a:lnTo>
                  <a:lnTo>
                    <a:pt x="32213" y="3552712"/>
                  </a:lnTo>
                  <a:lnTo>
                    <a:pt x="8352" y="3517152"/>
                  </a:lnTo>
                  <a:lnTo>
                    <a:pt x="0" y="3475088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0377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70424" y="1167538"/>
            <a:ext cx="23447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055E45"/>
                </a:solidFill>
                <a:latin typeface="MingLiU_HKSCS-ExtB"/>
                <a:cs typeface="MingLiU_HKSCS-ExtB"/>
              </a:rPr>
              <a:t>✅</a:t>
            </a:r>
            <a:r>
              <a:rPr sz="1300" spc="-290" dirty="0">
                <a:solidFill>
                  <a:srgbClr val="055E45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Files</a:t>
            </a:r>
            <a:r>
              <a:rPr sz="1100" b="1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Generated</a:t>
            </a:r>
            <a:r>
              <a:rPr sz="1100" b="1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by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 Claude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70424" y="1597217"/>
            <a:ext cx="18510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Service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class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(full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implementation)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70424" y="1999705"/>
            <a:ext cx="15963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Unit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(JUnit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5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Mockito)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70424" y="2401826"/>
            <a:ext cx="15068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Integration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(MockMvc)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70424" y="2804301"/>
            <a:ext cx="18262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DTO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classes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(Request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Response)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70424" y="3206421"/>
            <a:ext cx="14160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Custom exception classes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70424" y="3608897"/>
            <a:ext cx="16751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Swagger/OpenAPI</a:t>
            </a:r>
            <a:r>
              <a:rPr sz="9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annotations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839664" y="3422346"/>
            <a:ext cx="3990975" cy="1247775"/>
            <a:chOff x="4839664" y="3422346"/>
            <a:chExt cx="3990975" cy="1247775"/>
          </a:xfrm>
        </p:grpSpPr>
        <p:sp>
          <p:nvSpPr>
            <p:cNvPr id="34" name="object 34"/>
            <p:cNvSpPr/>
            <p:nvPr/>
          </p:nvSpPr>
          <p:spPr>
            <a:xfrm>
              <a:off x="4845964" y="3428646"/>
              <a:ext cx="3978275" cy="1235075"/>
            </a:xfrm>
            <a:custGeom>
              <a:avLst/>
              <a:gdLst/>
              <a:ahLst/>
              <a:cxnLst/>
              <a:rect l="l" t="t" r="r" b="b"/>
              <a:pathLst>
                <a:path w="3978275" h="123507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143355"/>
                  </a:lnTo>
                  <a:lnTo>
                    <a:pt x="798" y="1155360"/>
                  </a:lnTo>
                  <a:lnTo>
                    <a:pt x="18830" y="1199119"/>
                  </a:lnTo>
                  <a:lnTo>
                    <a:pt x="56505" y="1227809"/>
                  </a:lnTo>
                  <a:lnTo>
                    <a:pt x="91439" y="1234795"/>
                  </a:lnTo>
                  <a:lnTo>
                    <a:pt x="3886555" y="1234795"/>
                  </a:lnTo>
                  <a:lnTo>
                    <a:pt x="3932275" y="1222552"/>
                  </a:lnTo>
                  <a:lnTo>
                    <a:pt x="3965752" y="1189075"/>
                  </a:lnTo>
                  <a:lnTo>
                    <a:pt x="3977995" y="1143355"/>
                  </a:lnTo>
                  <a:lnTo>
                    <a:pt x="3977971" y="91440"/>
                  </a:lnTo>
                  <a:lnTo>
                    <a:pt x="3965752" y="46075"/>
                  </a:lnTo>
                  <a:lnTo>
                    <a:pt x="3932275" y="12598"/>
                  </a:lnTo>
                  <a:lnTo>
                    <a:pt x="388655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B19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845964" y="3428646"/>
              <a:ext cx="3978275" cy="1235075"/>
            </a:xfrm>
            <a:custGeom>
              <a:avLst/>
              <a:gdLst/>
              <a:ahLst/>
              <a:cxnLst/>
              <a:rect l="l" t="t" r="r" b="b"/>
              <a:pathLst>
                <a:path w="3978275" h="123507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3886555" y="355"/>
                  </a:lnTo>
                  <a:lnTo>
                    <a:pt x="3932275" y="12598"/>
                  </a:lnTo>
                  <a:lnTo>
                    <a:pt x="3965752" y="46075"/>
                  </a:lnTo>
                  <a:lnTo>
                    <a:pt x="3977995" y="91795"/>
                  </a:lnTo>
                  <a:lnTo>
                    <a:pt x="3977995" y="1143355"/>
                  </a:lnTo>
                  <a:lnTo>
                    <a:pt x="3977197" y="1155360"/>
                  </a:lnTo>
                  <a:lnTo>
                    <a:pt x="3974846" y="1167025"/>
                  </a:lnTo>
                  <a:lnTo>
                    <a:pt x="3951314" y="1208114"/>
                  </a:lnTo>
                  <a:lnTo>
                    <a:pt x="3910225" y="1231646"/>
                  </a:lnTo>
                  <a:lnTo>
                    <a:pt x="3886555" y="1234795"/>
                  </a:lnTo>
                  <a:lnTo>
                    <a:pt x="91439" y="1234795"/>
                  </a:lnTo>
                  <a:lnTo>
                    <a:pt x="45720" y="1222552"/>
                  </a:lnTo>
                  <a:lnTo>
                    <a:pt x="12230" y="1189075"/>
                  </a:lnTo>
                  <a:lnTo>
                    <a:pt x="0" y="1143355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970424" y="3491825"/>
            <a:ext cx="1125576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Try</a:t>
            </a:r>
            <a:r>
              <a:rPr sz="900" b="1" spc="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it</a:t>
            </a:r>
            <a:r>
              <a:rPr sz="900" b="1" spc="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0C9387"/>
                </a:solidFill>
                <a:latin typeface="Calibri"/>
                <a:cs typeface="Calibri"/>
              </a:rPr>
              <a:t>now: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970424" y="3991586"/>
            <a:ext cx="3568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Open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Claude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Code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in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your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wamy-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finance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project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and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run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prompt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1E7EF"/>
                </a:solidFill>
                <a:latin typeface="Calibri"/>
                <a:cs typeface="Calibri"/>
              </a:rPr>
              <a:t>shown.</a:t>
            </a:r>
            <a:r>
              <a:rPr sz="900" spc="50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Compare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output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to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3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code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1E7EF"/>
                </a:solidFill>
                <a:latin typeface="Calibri"/>
                <a:cs typeface="Calibri"/>
              </a:rPr>
              <a:t>sample.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37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Integration</a:t>
            </a:r>
            <a:r>
              <a:rPr spc="-75" dirty="0"/>
              <a:t> </a:t>
            </a:r>
            <a:r>
              <a:rPr spc="-40" dirty="0"/>
              <a:t>Tests</a:t>
            </a:r>
            <a:r>
              <a:rPr spc="-70" dirty="0"/>
              <a:t> </a:t>
            </a:r>
            <a:r>
              <a:rPr dirty="0"/>
              <a:t>—</a:t>
            </a:r>
            <a:r>
              <a:rPr spc="-65" dirty="0"/>
              <a:t> </a:t>
            </a:r>
            <a:r>
              <a:rPr dirty="0"/>
              <a:t>REST</a:t>
            </a:r>
            <a:r>
              <a:rPr spc="-60" dirty="0"/>
              <a:t> </a:t>
            </a:r>
            <a:r>
              <a:rPr spc="-25" dirty="0"/>
              <a:t>API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21234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60" dirty="0">
                <a:solidFill>
                  <a:srgbClr val="9FBFFF"/>
                </a:solidFill>
                <a:latin typeface="+mn-lt"/>
                <a:cs typeface="Arial"/>
              </a:rPr>
              <a:t>Full</a:t>
            </a: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+mn-lt"/>
                <a:cs typeface="Arial"/>
              </a:rPr>
              <a:t>Spring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Boot 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test</a:t>
            </a:r>
            <a:r>
              <a:rPr sz="1000" i="1" spc="-5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dirty="0">
                <a:solidFill>
                  <a:srgbClr val="9FBFFF"/>
                </a:solidFill>
                <a:latin typeface="+mn-lt"/>
                <a:cs typeface="Arial"/>
              </a:rPr>
              <a:t>with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+mn-lt"/>
                <a:cs typeface="Arial"/>
              </a:rPr>
              <a:t>@SpringBootTest</a:t>
            </a:r>
            <a:endParaRPr sz="1000" dirty="0">
              <a:latin typeface="+mn-lt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227"/>
            <a:ext cx="4534535" cy="1270000"/>
            <a:chOff x="242646" y="1038227"/>
            <a:chExt cx="4534535" cy="12700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34204" cy="126937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277"/>
              <a:ext cx="4344035" cy="1079500"/>
            </a:xfrm>
            <a:custGeom>
              <a:avLst/>
              <a:gdLst/>
              <a:ahLst/>
              <a:cxnLst/>
              <a:rect l="l" t="t" r="r" b="b"/>
              <a:pathLst>
                <a:path w="4344035" h="1079500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987844"/>
                  </a:lnTo>
                  <a:lnTo>
                    <a:pt x="798" y="999849"/>
                  </a:lnTo>
                  <a:lnTo>
                    <a:pt x="18830" y="1043608"/>
                  </a:lnTo>
                  <a:lnTo>
                    <a:pt x="56505" y="1072297"/>
                  </a:lnTo>
                  <a:lnTo>
                    <a:pt x="91439" y="1079284"/>
                  </a:lnTo>
                  <a:lnTo>
                    <a:pt x="4252315" y="1079284"/>
                  </a:lnTo>
                  <a:lnTo>
                    <a:pt x="4298035" y="1067041"/>
                  </a:lnTo>
                  <a:lnTo>
                    <a:pt x="4331512" y="1033564"/>
                  </a:lnTo>
                  <a:lnTo>
                    <a:pt x="4343755" y="987844"/>
                  </a:lnTo>
                  <a:lnTo>
                    <a:pt x="4343731" y="91439"/>
                  </a:lnTo>
                  <a:lnTo>
                    <a:pt x="4331512" y="46088"/>
                  </a:lnTo>
                  <a:lnTo>
                    <a:pt x="4298035" y="12598"/>
                  </a:lnTo>
                  <a:lnTo>
                    <a:pt x="425231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277"/>
              <a:ext cx="4344035" cy="1079500"/>
            </a:xfrm>
            <a:custGeom>
              <a:avLst/>
              <a:gdLst/>
              <a:ahLst/>
              <a:cxnLst/>
              <a:rect l="l" t="t" r="r" b="b"/>
              <a:pathLst>
                <a:path w="4344035" h="1079500">
                  <a:moveTo>
                    <a:pt x="355" y="91439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68"/>
                  </a:lnTo>
                  <a:lnTo>
                    <a:pt x="4298035" y="12598"/>
                  </a:lnTo>
                  <a:lnTo>
                    <a:pt x="4331512" y="46088"/>
                  </a:lnTo>
                  <a:lnTo>
                    <a:pt x="4343755" y="91808"/>
                  </a:lnTo>
                  <a:lnTo>
                    <a:pt x="4343755" y="987844"/>
                  </a:lnTo>
                  <a:lnTo>
                    <a:pt x="4342957" y="999849"/>
                  </a:lnTo>
                  <a:lnTo>
                    <a:pt x="4340606" y="1011513"/>
                  </a:lnTo>
                  <a:lnTo>
                    <a:pt x="4317074" y="1052602"/>
                  </a:lnTo>
                  <a:lnTo>
                    <a:pt x="4275985" y="1076134"/>
                  </a:lnTo>
                  <a:lnTo>
                    <a:pt x="4252315" y="1079284"/>
                  </a:lnTo>
                  <a:lnTo>
                    <a:pt x="91439" y="1079284"/>
                  </a:lnTo>
                  <a:lnTo>
                    <a:pt x="45719" y="1067041"/>
                  </a:lnTo>
                  <a:lnTo>
                    <a:pt x="12230" y="1033564"/>
                  </a:lnTo>
                  <a:lnTo>
                    <a:pt x="0" y="987844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4089400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integration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tests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JournalEntryController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using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@SpringBootTest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MockMvc.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Test: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40" dirty="0">
                <a:solidFill>
                  <a:srgbClr val="FCE589"/>
                </a:solidFill>
                <a:latin typeface="Arial"/>
                <a:cs typeface="Arial"/>
              </a:rPr>
              <a:t>POST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/api/v1/journal-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entries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valid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10" dirty="0">
                <a:solidFill>
                  <a:srgbClr val="FCE589"/>
                </a:solidFill>
                <a:latin typeface="Arial"/>
                <a:cs typeface="Arial"/>
              </a:rPr>
              <a:t>JWT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14" dirty="0">
                <a:solidFill>
                  <a:srgbClr val="FCE589"/>
                </a:solidFill>
                <a:latin typeface="Arial"/>
                <a:cs typeface="Arial"/>
              </a:rPr>
              <a:t>(ACCOUNTANT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role)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returns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201;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40" dirty="0">
                <a:solidFill>
                  <a:srgbClr val="FCE589"/>
                </a:solidFill>
                <a:latin typeface="Arial"/>
                <a:cs typeface="Arial"/>
              </a:rPr>
              <a:t>POST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with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unbalanced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entry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returns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400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with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error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message;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40" dirty="0">
                <a:solidFill>
                  <a:srgbClr val="FCE589"/>
                </a:solidFill>
                <a:latin typeface="Arial"/>
                <a:cs typeface="Arial"/>
              </a:rPr>
              <a:t>GET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/api/v1/reports/profit-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loss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returns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correct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P&amp;L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structure.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Use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@WithMockUser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for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auth."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189875"/>
            <a:ext cx="4534535" cy="2622550"/>
            <a:chOff x="242646" y="2189875"/>
            <a:chExt cx="4534535" cy="262255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189875"/>
              <a:ext cx="4534204" cy="262224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266926"/>
              <a:ext cx="4344035" cy="2432685"/>
            </a:xfrm>
            <a:custGeom>
              <a:avLst/>
              <a:gdLst/>
              <a:ahLst/>
              <a:cxnLst/>
              <a:rect l="l" t="t" r="r" b="b"/>
              <a:pathLst>
                <a:path w="4344035" h="2432685">
                  <a:moveTo>
                    <a:pt x="91795" y="0"/>
                  </a:moveTo>
                  <a:lnTo>
                    <a:pt x="46075" y="12230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2341079"/>
                  </a:lnTo>
                  <a:lnTo>
                    <a:pt x="798" y="2353079"/>
                  </a:lnTo>
                  <a:lnTo>
                    <a:pt x="18830" y="2396836"/>
                  </a:lnTo>
                  <a:lnTo>
                    <a:pt x="56505" y="2425527"/>
                  </a:lnTo>
                  <a:lnTo>
                    <a:pt x="91439" y="2432519"/>
                  </a:lnTo>
                  <a:lnTo>
                    <a:pt x="4252315" y="2432519"/>
                  </a:lnTo>
                  <a:lnTo>
                    <a:pt x="4298035" y="2420277"/>
                  </a:lnTo>
                  <a:lnTo>
                    <a:pt x="4331512" y="2386799"/>
                  </a:lnTo>
                  <a:lnTo>
                    <a:pt x="4343755" y="2341079"/>
                  </a:lnTo>
                  <a:lnTo>
                    <a:pt x="4343731" y="91439"/>
                  </a:lnTo>
                  <a:lnTo>
                    <a:pt x="4331512" y="46075"/>
                  </a:lnTo>
                  <a:lnTo>
                    <a:pt x="4298035" y="12598"/>
                  </a:lnTo>
                  <a:lnTo>
                    <a:pt x="42523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266926"/>
              <a:ext cx="4344035" cy="2432685"/>
            </a:xfrm>
            <a:custGeom>
              <a:avLst/>
              <a:gdLst/>
              <a:ahLst/>
              <a:cxnLst/>
              <a:rect l="l" t="t" r="r" b="b"/>
              <a:pathLst>
                <a:path w="4344035" h="243268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4252315" y="355"/>
                  </a:lnTo>
                  <a:lnTo>
                    <a:pt x="4298035" y="12598"/>
                  </a:lnTo>
                  <a:lnTo>
                    <a:pt x="4331512" y="46075"/>
                  </a:lnTo>
                  <a:lnTo>
                    <a:pt x="4343755" y="91795"/>
                  </a:lnTo>
                  <a:lnTo>
                    <a:pt x="4343755" y="2341079"/>
                  </a:lnTo>
                  <a:lnTo>
                    <a:pt x="4342957" y="2353079"/>
                  </a:lnTo>
                  <a:lnTo>
                    <a:pt x="4340606" y="2364744"/>
                  </a:lnTo>
                  <a:lnTo>
                    <a:pt x="4317074" y="2405829"/>
                  </a:lnTo>
                  <a:lnTo>
                    <a:pt x="4275985" y="2429365"/>
                  </a:lnTo>
                  <a:lnTo>
                    <a:pt x="4252315" y="2432519"/>
                  </a:lnTo>
                  <a:lnTo>
                    <a:pt x="91439" y="2432519"/>
                  </a:lnTo>
                  <a:lnTo>
                    <a:pt x="45719" y="2420277"/>
                  </a:lnTo>
                  <a:lnTo>
                    <a:pt x="12230" y="2386799"/>
                  </a:lnTo>
                  <a:lnTo>
                    <a:pt x="0" y="2341079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255474"/>
            <a:ext cx="2322195" cy="8356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2499"/>
              </a:lnSpc>
              <a:spcBef>
                <a:spcPts val="509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@SpringBootTest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@AutoConfigureMockMvc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class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JournalEntryControllerIT</a:t>
            </a:r>
            <a:r>
              <a:rPr sz="800" spc="1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135890" marR="25400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@Autowired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MockMvc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mockMvc;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@Autowired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ObjectMapper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mapper;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622" y="3190584"/>
            <a:ext cx="3314065" cy="5251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@Test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@WithMockUser(roles="ACCOUNTANT")</a:t>
            </a:r>
            <a:endParaRPr sz="800">
              <a:latin typeface="Courier New"/>
              <a:cs typeface="Courier New"/>
            </a:endParaRPr>
          </a:p>
          <a:p>
            <a:pPr marL="137160" marR="5080" indent="-12509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void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postJournalEntry_returns201()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throws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Exception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String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body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mapper.writeValueAsString(</a:t>
            </a:r>
            <a:endParaRPr sz="800">
              <a:latin typeface="Courier New"/>
              <a:cs typeface="Courier New"/>
            </a:endParaRPr>
          </a:p>
          <a:p>
            <a:pPr marL="385445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buildBalancedEntryRequest());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3539" y="3815183"/>
            <a:ext cx="3189605" cy="775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mockMvc.perform(post("/api/v1/journal-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entries")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.contentType(APPLICATION_JSON)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.content(body))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.andExpect(status().isCreated())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.andExpect(jsonPath("$.id").exists())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.andExpect(jsonPath("$.status").value("POSTED"));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8622" y="4564699"/>
            <a:ext cx="8826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8622" y="4814546"/>
            <a:ext cx="3500754" cy="275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@Test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@WithMockUser(roles="ACCOUNTANT")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void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postUnbalancedEntry_returns400()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throws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Exception</a:t>
            </a:r>
            <a:r>
              <a:rPr sz="800" spc="11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768926" y="1038227"/>
            <a:ext cx="4168775" cy="3775075"/>
            <a:chOff x="4768926" y="1038227"/>
            <a:chExt cx="4168775" cy="377507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8227"/>
              <a:ext cx="4168444" cy="377497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475088"/>
                  </a:lnTo>
                  <a:lnTo>
                    <a:pt x="939" y="3489511"/>
                  </a:lnTo>
                  <a:lnTo>
                    <a:pt x="14757" y="3530168"/>
                  </a:lnTo>
                  <a:lnTo>
                    <a:pt x="43003" y="3562109"/>
                  </a:lnTo>
                  <a:lnTo>
                    <a:pt x="81359" y="3581144"/>
                  </a:lnTo>
                  <a:lnTo>
                    <a:pt x="109791" y="3584879"/>
                  </a:lnTo>
                  <a:lnTo>
                    <a:pt x="3868191" y="3584879"/>
                  </a:lnTo>
                  <a:lnTo>
                    <a:pt x="3910262" y="3576526"/>
                  </a:lnTo>
                  <a:lnTo>
                    <a:pt x="3945764" y="3552712"/>
                  </a:lnTo>
                  <a:lnTo>
                    <a:pt x="3969565" y="3517152"/>
                  </a:lnTo>
                  <a:lnTo>
                    <a:pt x="3977995" y="3475088"/>
                  </a:lnTo>
                  <a:lnTo>
                    <a:pt x="3977972" y="109804"/>
                  </a:lnTo>
                  <a:lnTo>
                    <a:pt x="3969642" y="68095"/>
                  </a:lnTo>
                  <a:lnTo>
                    <a:pt x="3945772" y="32535"/>
                  </a:lnTo>
                  <a:lnTo>
                    <a:pt x="3910112" y="8721"/>
                  </a:lnTo>
                  <a:lnTo>
                    <a:pt x="38681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68"/>
                  </a:lnTo>
                  <a:lnTo>
                    <a:pt x="3910112" y="8721"/>
                  </a:lnTo>
                  <a:lnTo>
                    <a:pt x="3945772" y="32535"/>
                  </a:lnTo>
                  <a:lnTo>
                    <a:pt x="3969642" y="68095"/>
                  </a:lnTo>
                  <a:lnTo>
                    <a:pt x="3977995" y="110159"/>
                  </a:lnTo>
                  <a:lnTo>
                    <a:pt x="3977995" y="3475088"/>
                  </a:lnTo>
                  <a:lnTo>
                    <a:pt x="3977055" y="3489505"/>
                  </a:lnTo>
                  <a:lnTo>
                    <a:pt x="3974260" y="3503520"/>
                  </a:lnTo>
                  <a:lnTo>
                    <a:pt x="3955218" y="3541876"/>
                  </a:lnTo>
                  <a:lnTo>
                    <a:pt x="3923271" y="3570122"/>
                  </a:lnTo>
                  <a:lnTo>
                    <a:pt x="3882621" y="3583940"/>
                  </a:lnTo>
                  <a:lnTo>
                    <a:pt x="3868191" y="3584879"/>
                  </a:lnTo>
                  <a:lnTo>
                    <a:pt x="109791" y="3584879"/>
                  </a:lnTo>
                  <a:lnTo>
                    <a:pt x="67882" y="3576526"/>
                  </a:lnTo>
                  <a:lnTo>
                    <a:pt x="32213" y="3552712"/>
                  </a:lnTo>
                  <a:lnTo>
                    <a:pt x="8352" y="3517152"/>
                  </a:lnTo>
                  <a:lnTo>
                    <a:pt x="0" y="3475088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0377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970424" y="1167538"/>
            <a:ext cx="25733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055E45"/>
                </a:solidFill>
                <a:latin typeface="MingLiU_HKSCS-ExtB"/>
                <a:cs typeface="MingLiU_HKSCS-ExtB"/>
              </a:rPr>
              <a:t>✅</a:t>
            </a:r>
            <a:r>
              <a:rPr sz="1300" spc="-290" dirty="0">
                <a:solidFill>
                  <a:srgbClr val="055E45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Files</a:t>
            </a:r>
            <a:r>
              <a:rPr sz="1100" b="1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Generated</a:t>
            </a:r>
            <a:r>
              <a:rPr sz="1100" b="1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by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 Claude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70424" y="1597217"/>
            <a:ext cx="18510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Service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class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(full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implementation)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70424" y="1999705"/>
            <a:ext cx="15963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Unit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(JUnit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5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Mockito)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70424" y="2401826"/>
            <a:ext cx="15068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Integration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(MockMvc)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70424" y="2804301"/>
            <a:ext cx="18262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DTO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classes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(Request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Response)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70424" y="3206421"/>
            <a:ext cx="14160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Custom exception classes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70424" y="3608897"/>
            <a:ext cx="16751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Swagger/OpenAPI</a:t>
            </a:r>
            <a:r>
              <a:rPr sz="9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annotations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839664" y="3422346"/>
            <a:ext cx="3990975" cy="1247775"/>
            <a:chOff x="4839664" y="3422346"/>
            <a:chExt cx="3990975" cy="1247775"/>
          </a:xfrm>
        </p:grpSpPr>
        <p:sp>
          <p:nvSpPr>
            <p:cNvPr id="33" name="object 33"/>
            <p:cNvSpPr/>
            <p:nvPr/>
          </p:nvSpPr>
          <p:spPr>
            <a:xfrm>
              <a:off x="4845964" y="3428646"/>
              <a:ext cx="3978275" cy="1235075"/>
            </a:xfrm>
            <a:custGeom>
              <a:avLst/>
              <a:gdLst/>
              <a:ahLst/>
              <a:cxnLst/>
              <a:rect l="l" t="t" r="r" b="b"/>
              <a:pathLst>
                <a:path w="3978275" h="123507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143355"/>
                  </a:lnTo>
                  <a:lnTo>
                    <a:pt x="798" y="1155360"/>
                  </a:lnTo>
                  <a:lnTo>
                    <a:pt x="18830" y="1199119"/>
                  </a:lnTo>
                  <a:lnTo>
                    <a:pt x="56505" y="1227809"/>
                  </a:lnTo>
                  <a:lnTo>
                    <a:pt x="91439" y="1234795"/>
                  </a:lnTo>
                  <a:lnTo>
                    <a:pt x="3886555" y="1234795"/>
                  </a:lnTo>
                  <a:lnTo>
                    <a:pt x="3932275" y="1222552"/>
                  </a:lnTo>
                  <a:lnTo>
                    <a:pt x="3965752" y="1189075"/>
                  </a:lnTo>
                  <a:lnTo>
                    <a:pt x="3977995" y="1143355"/>
                  </a:lnTo>
                  <a:lnTo>
                    <a:pt x="3977971" y="91440"/>
                  </a:lnTo>
                  <a:lnTo>
                    <a:pt x="3965752" y="46075"/>
                  </a:lnTo>
                  <a:lnTo>
                    <a:pt x="3932275" y="12598"/>
                  </a:lnTo>
                  <a:lnTo>
                    <a:pt x="388655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B19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45964" y="3428646"/>
              <a:ext cx="3978275" cy="1235075"/>
            </a:xfrm>
            <a:custGeom>
              <a:avLst/>
              <a:gdLst/>
              <a:ahLst/>
              <a:cxnLst/>
              <a:rect l="l" t="t" r="r" b="b"/>
              <a:pathLst>
                <a:path w="3978275" h="123507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3886555" y="355"/>
                  </a:lnTo>
                  <a:lnTo>
                    <a:pt x="3932275" y="12598"/>
                  </a:lnTo>
                  <a:lnTo>
                    <a:pt x="3965752" y="46075"/>
                  </a:lnTo>
                  <a:lnTo>
                    <a:pt x="3977995" y="91795"/>
                  </a:lnTo>
                  <a:lnTo>
                    <a:pt x="3977995" y="1143355"/>
                  </a:lnTo>
                  <a:lnTo>
                    <a:pt x="3977197" y="1155360"/>
                  </a:lnTo>
                  <a:lnTo>
                    <a:pt x="3974846" y="1167025"/>
                  </a:lnTo>
                  <a:lnTo>
                    <a:pt x="3951314" y="1208114"/>
                  </a:lnTo>
                  <a:lnTo>
                    <a:pt x="3910225" y="1231646"/>
                  </a:lnTo>
                  <a:lnTo>
                    <a:pt x="3886555" y="1234795"/>
                  </a:lnTo>
                  <a:lnTo>
                    <a:pt x="91439" y="1234795"/>
                  </a:lnTo>
                  <a:lnTo>
                    <a:pt x="45720" y="1222552"/>
                  </a:lnTo>
                  <a:lnTo>
                    <a:pt x="12230" y="1189075"/>
                  </a:lnTo>
                  <a:lnTo>
                    <a:pt x="0" y="1143355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970424" y="3491825"/>
            <a:ext cx="1201776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Try</a:t>
            </a:r>
            <a:r>
              <a:rPr sz="900" b="1" spc="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it</a:t>
            </a:r>
            <a:r>
              <a:rPr sz="900" b="1" spc="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0C9387"/>
                </a:solidFill>
                <a:latin typeface="Calibri"/>
                <a:cs typeface="Calibri"/>
              </a:rPr>
              <a:t>now: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70424" y="3991586"/>
            <a:ext cx="3568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Open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Claude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Code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in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your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wamy-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finance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project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and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run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prompt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1E7EF"/>
                </a:solidFill>
                <a:latin typeface="Calibri"/>
                <a:cs typeface="Calibri"/>
              </a:rPr>
              <a:t>shown.</a:t>
            </a:r>
            <a:r>
              <a:rPr sz="900" spc="50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Compare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output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to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3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code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1E7EF"/>
                </a:solidFill>
                <a:latin typeface="Calibri"/>
                <a:cs typeface="Calibri"/>
              </a:rPr>
              <a:t>sample.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38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Audit</a:t>
            </a:r>
            <a:r>
              <a:rPr spc="-60" dirty="0"/>
              <a:t> </a:t>
            </a:r>
            <a:r>
              <a:rPr dirty="0"/>
              <a:t>Logging</a:t>
            </a:r>
            <a:r>
              <a:rPr spc="-55" dirty="0"/>
              <a:t> </a:t>
            </a:r>
            <a:r>
              <a:rPr dirty="0"/>
              <a:t>with</a:t>
            </a:r>
            <a:r>
              <a:rPr spc="-60" dirty="0"/>
              <a:t> </a:t>
            </a:r>
            <a:r>
              <a:rPr dirty="0"/>
              <a:t>Spring</a:t>
            </a:r>
            <a:r>
              <a:rPr spc="-55" dirty="0"/>
              <a:t> </a:t>
            </a:r>
            <a:r>
              <a:rPr spc="-25" dirty="0"/>
              <a:t>AOP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6460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Automatic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audit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9FBFFF"/>
                </a:solidFill>
                <a:latin typeface="Arial"/>
                <a:cs typeface="Arial"/>
              </a:rPr>
              <a:t>trail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for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Arial"/>
                <a:cs typeface="Arial"/>
              </a:rPr>
              <a:t>every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financial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transaction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227"/>
            <a:ext cx="4534535" cy="1270000"/>
            <a:chOff x="242646" y="1038227"/>
            <a:chExt cx="4534535" cy="12700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34204" cy="126937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277"/>
              <a:ext cx="4344035" cy="1079500"/>
            </a:xfrm>
            <a:custGeom>
              <a:avLst/>
              <a:gdLst/>
              <a:ahLst/>
              <a:cxnLst/>
              <a:rect l="l" t="t" r="r" b="b"/>
              <a:pathLst>
                <a:path w="4344035" h="1079500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987844"/>
                  </a:lnTo>
                  <a:lnTo>
                    <a:pt x="798" y="999849"/>
                  </a:lnTo>
                  <a:lnTo>
                    <a:pt x="18830" y="1043608"/>
                  </a:lnTo>
                  <a:lnTo>
                    <a:pt x="56505" y="1072297"/>
                  </a:lnTo>
                  <a:lnTo>
                    <a:pt x="91439" y="1079284"/>
                  </a:lnTo>
                  <a:lnTo>
                    <a:pt x="4252315" y="1079284"/>
                  </a:lnTo>
                  <a:lnTo>
                    <a:pt x="4298035" y="1067041"/>
                  </a:lnTo>
                  <a:lnTo>
                    <a:pt x="4331512" y="1033564"/>
                  </a:lnTo>
                  <a:lnTo>
                    <a:pt x="4343755" y="987844"/>
                  </a:lnTo>
                  <a:lnTo>
                    <a:pt x="4343731" y="91439"/>
                  </a:lnTo>
                  <a:lnTo>
                    <a:pt x="4331512" y="46088"/>
                  </a:lnTo>
                  <a:lnTo>
                    <a:pt x="4298035" y="12598"/>
                  </a:lnTo>
                  <a:lnTo>
                    <a:pt x="425231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277"/>
              <a:ext cx="4344035" cy="1079500"/>
            </a:xfrm>
            <a:custGeom>
              <a:avLst/>
              <a:gdLst/>
              <a:ahLst/>
              <a:cxnLst/>
              <a:rect l="l" t="t" r="r" b="b"/>
              <a:pathLst>
                <a:path w="4344035" h="1079500">
                  <a:moveTo>
                    <a:pt x="355" y="91439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68"/>
                  </a:lnTo>
                  <a:lnTo>
                    <a:pt x="4298035" y="12598"/>
                  </a:lnTo>
                  <a:lnTo>
                    <a:pt x="4331512" y="46088"/>
                  </a:lnTo>
                  <a:lnTo>
                    <a:pt x="4343755" y="91808"/>
                  </a:lnTo>
                  <a:lnTo>
                    <a:pt x="4343755" y="987844"/>
                  </a:lnTo>
                  <a:lnTo>
                    <a:pt x="4342957" y="999849"/>
                  </a:lnTo>
                  <a:lnTo>
                    <a:pt x="4340606" y="1011513"/>
                  </a:lnTo>
                  <a:lnTo>
                    <a:pt x="4317074" y="1052602"/>
                  </a:lnTo>
                  <a:lnTo>
                    <a:pt x="4275985" y="1076134"/>
                  </a:lnTo>
                  <a:lnTo>
                    <a:pt x="4252315" y="1079284"/>
                  </a:lnTo>
                  <a:lnTo>
                    <a:pt x="91439" y="1079284"/>
                  </a:lnTo>
                  <a:lnTo>
                    <a:pt x="45719" y="1067041"/>
                  </a:lnTo>
                  <a:lnTo>
                    <a:pt x="12230" y="1033564"/>
                  </a:lnTo>
                  <a:lnTo>
                    <a:pt x="0" y="987844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4001770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AuditLoggingAspect.java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using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Spring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20" dirty="0">
                <a:solidFill>
                  <a:srgbClr val="FCE589"/>
                </a:solidFill>
                <a:latin typeface="Arial"/>
                <a:cs typeface="Arial"/>
              </a:rPr>
              <a:t>AOP.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Intercept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all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@Service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methods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in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com.wamy.finance.service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with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@Around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advice.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Log: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method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name,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user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(from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SecurityContext),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timestamp,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arguments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(masked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for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sensitive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fields),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execution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time.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Write to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audit_logs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table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via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AuditLogRepository.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Exclude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getters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read-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only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methods."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189875"/>
            <a:ext cx="4534535" cy="2622550"/>
            <a:chOff x="242646" y="2189875"/>
            <a:chExt cx="4534535" cy="262255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189875"/>
              <a:ext cx="4534204" cy="262224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266926"/>
              <a:ext cx="4344035" cy="2432685"/>
            </a:xfrm>
            <a:custGeom>
              <a:avLst/>
              <a:gdLst/>
              <a:ahLst/>
              <a:cxnLst/>
              <a:rect l="l" t="t" r="r" b="b"/>
              <a:pathLst>
                <a:path w="4344035" h="2432685">
                  <a:moveTo>
                    <a:pt x="91795" y="0"/>
                  </a:moveTo>
                  <a:lnTo>
                    <a:pt x="46075" y="12230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2341079"/>
                  </a:lnTo>
                  <a:lnTo>
                    <a:pt x="798" y="2353079"/>
                  </a:lnTo>
                  <a:lnTo>
                    <a:pt x="18830" y="2396836"/>
                  </a:lnTo>
                  <a:lnTo>
                    <a:pt x="56505" y="2425527"/>
                  </a:lnTo>
                  <a:lnTo>
                    <a:pt x="91439" y="2432519"/>
                  </a:lnTo>
                  <a:lnTo>
                    <a:pt x="4252315" y="2432519"/>
                  </a:lnTo>
                  <a:lnTo>
                    <a:pt x="4298035" y="2420277"/>
                  </a:lnTo>
                  <a:lnTo>
                    <a:pt x="4331512" y="2386799"/>
                  </a:lnTo>
                  <a:lnTo>
                    <a:pt x="4343755" y="2341079"/>
                  </a:lnTo>
                  <a:lnTo>
                    <a:pt x="4343731" y="91439"/>
                  </a:lnTo>
                  <a:lnTo>
                    <a:pt x="4331512" y="46075"/>
                  </a:lnTo>
                  <a:lnTo>
                    <a:pt x="4298035" y="12598"/>
                  </a:lnTo>
                  <a:lnTo>
                    <a:pt x="42523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266926"/>
              <a:ext cx="4344035" cy="2432685"/>
            </a:xfrm>
            <a:custGeom>
              <a:avLst/>
              <a:gdLst/>
              <a:ahLst/>
              <a:cxnLst/>
              <a:rect l="l" t="t" r="r" b="b"/>
              <a:pathLst>
                <a:path w="4344035" h="243268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4252315" y="355"/>
                  </a:lnTo>
                  <a:lnTo>
                    <a:pt x="4298035" y="12598"/>
                  </a:lnTo>
                  <a:lnTo>
                    <a:pt x="4331512" y="46075"/>
                  </a:lnTo>
                  <a:lnTo>
                    <a:pt x="4343755" y="91795"/>
                  </a:lnTo>
                  <a:lnTo>
                    <a:pt x="4343755" y="2341079"/>
                  </a:lnTo>
                  <a:lnTo>
                    <a:pt x="4342957" y="2353079"/>
                  </a:lnTo>
                  <a:lnTo>
                    <a:pt x="4340606" y="2364744"/>
                  </a:lnTo>
                  <a:lnTo>
                    <a:pt x="4317074" y="2405829"/>
                  </a:lnTo>
                  <a:lnTo>
                    <a:pt x="4275985" y="2429365"/>
                  </a:lnTo>
                  <a:lnTo>
                    <a:pt x="4252315" y="2432519"/>
                  </a:lnTo>
                  <a:lnTo>
                    <a:pt x="91439" y="2432519"/>
                  </a:lnTo>
                  <a:lnTo>
                    <a:pt x="45719" y="2420277"/>
                  </a:lnTo>
                  <a:lnTo>
                    <a:pt x="12230" y="2386799"/>
                  </a:lnTo>
                  <a:lnTo>
                    <a:pt x="0" y="2341079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255474"/>
            <a:ext cx="2816860" cy="7112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 marR="128270">
              <a:lnSpc>
                <a:spcPct val="102499"/>
              </a:lnSpc>
              <a:spcBef>
                <a:spcPts val="509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@Aspect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@Component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@RequiredArgsConstructor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class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AuditLoggingAspect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private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final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AuditLogRepository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auditRepo;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622" y="3065667"/>
            <a:ext cx="3191510" cy="8997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0540" marR="5080" indent="-498475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@Around("execution(*</a:t>
            </a:r>
            <a:r>
              <a:rPr sz="800" spc="1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com.wamy.finance.service.*"</a:t>
            </a:r>
            <a:r>
              <a:rPr sz="800" spc="1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+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"Service.*(..))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&amp;&amp;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!@annotation(ReadOnly)")</a:t>
            </a:r>
            <a:endParaRPr sz="800">
              <a:latin typeface="Courier New"/>
              <a:cs typeface="Courier New"/>
            </a:endParaRPr>
          </a:p>
          <a:p>
            <a:pPr marL="260985" marR="440690" indent="-24892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Object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audit(ProceedingJoinPoint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pjp)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throws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Throwable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13716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String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user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SecurityContextHolder.getContext()</a:t>
            </a:r>
            <a:endParaRPr sz="800">
              <a:latin typeface="Courier New"/>
              <a:cs typeface="Courier New"/>
            </a:endParaRPr>
          </a:p>
          <a:p>
            <a:pPr marL="137160" marR="563880" indent="248285">
              <a:lnSpc>
                <a:spcPct val="102499"/>
              </a:lnSpc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.getAuthentication().getName();</a:t>
            </a:r>
            <a:r>
              <a:rPr sz="800" spc="500" dirty="0">
                <a:solidFill>
                  <a:srgbClr val="E1E7EF"/>
                </a:solidFill>
                <a:latin typeface="Courier New"/>
                <a:cs typeface="Courier New"/>
              </a:rPr>
              <a:t> 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long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start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System.currentTimeMillis();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3539" y="4065018"/>
            <a:ext cx="188722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Object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result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pjp.proceed();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3539" y="4314865"/>
            <a:ext cx="2570480" cy="4006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AuditLog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log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AuditLog.builder()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.user(user)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.action(pjp.getSignature().getName())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1938" y="4689629"/>
            <a:ext cx="3190875" cy="4006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.entity(pjp.getTarget().getClass().getSimpleName())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.duration(System.currentTimeMillis()</a:t>
            </a:r>
            <a:r>
              <a:rPr sz="800" spc="1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1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start)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.timestamp(LocalDateTime.now())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768926" y="1038227"/>
            <a:ext cx="4168775" cy="3775075"/>
            <a:chOff x="4768926" y="1038227"/>
            <a:chExt cx="4168775" cy="377507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8227"/>
              <a:ext cx="4168444" cy="377497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475088"/>
                  </a:lnTo>
                  <a:lnTo>
                    <a:pt x="939" y="3489511"/>
                  </a:lnTo>
                  <a:lnTo>
                    <a:pt x="14757" y="3530168"/>
                  </a:lnTo>
                  <a:lnTo>
                    <a:pt x="43003" y="3562109"/>
                  </a:lnTo>
                  <a:lnTo>
                    <a:pt x="81359" y="3581144"/>
                  </a:lnTo>
                  <a:lnTo>
                    <a:pt x="109791" y="3584879"/>
                  </a:lnTo>
                  <a:lnTo>
                    <a:pt x="3868191" y="3584879"/>
                  </a:lnTo>
                  <a:lnTo>
                    <a:pt x="3910262" y="3576526"/>
                  </a:lnTo>
                  <a:lnTo>
                    <a:pt x="3945764" y="3552712"/>
                  </a:lnTo>
                  <a:lnTo>
                    <a:pt x="3969565" y="3517152"/>
                  </a:lnTo>
                  <a:lnTo>
                    <a:pt x="3977995" y="3475088"/>
                  </a:lnTo>
                  <a:lnTo>
                    <a:pt x="3977972" y="109804"/>
                  </a:lnTo>
                  <a:lnTo>
                    <a:pt x="3969642" y="68095"/>
                  </a:lnTo>
                  <a:lnTo>
                    <a:pt x="3945772" y="32535"/>
                  </a:lnTo>
                  <a:lnTo>
                    <a:pt x="3910112" y="8721"/>
                  </a:lnTo>
                  <a:lnTo>
                    <a:pt x="38681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68"/>
                  </a:lnTo>
                  <a:lnTo>
                    <a:pt x="3910112" y="8721"/>
                  </a:lnTo>
                  <a:lnTo>
                    <a:pt x="3945772" y="32535"/>
                  </a:lnTo>
                  <a:lnTo>
                    <a:pt x="3969642" y="68095"/>
                  </a:lnTo>
                  <a:lnTo>
                    <a:pt x="3977995" y="110159"/>
                  </a:lnTo>
                  <a:lnTo>
                    <a:pt x="3977995" y="3475088"/>
                  </a:lnTo>
                  <a:lnTo>
                    <a:pt x="3977055" y="3489505"/>
                  </a:lnTo>
                  <a:lnTo>
                    <a:pt x="3974260" y="3503520"/>
                  </a:lnTo>
                  <a:lnTo>
                    <a:pt x="3955218" y="3541876"/>
                  </a:lnTo>
                  <a:lnTo>
                    <a:pt x="3923271" y="3570122"/>
                  </a:lnTo>
                  <a:lnTo>
                    <a:pt x="3882621" y="3583940"/>
                  </a:lnTo>
                  <a:lnTo>
                    <a:pt x="3868191" y="3584879"/>
                  </a:lnTo>
                  <a:lnTo>
                    <a:pt x="109791" y="3584879"/>
                  </a:lnTo>
                  <a:lnTo>
                    <a:pt x="67882" y="3576526"/>
                  </a:lnTo>
                  <a:lnTo>
                    <a:pt x="32213" y="3552712"/>
                  </a:lnTo>
                  <a:lnTo>
                    <a:pt x="8352" y="3517152"/>
                  </a:lnTo>
                  <a:lnTo>
                    <a:pt x="0" y="3475088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0377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970424" y="1167538"/>
            <a:ext cx="21161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055E45"/>
                </a:solidFill>
                <a:latin typeface="MingLiU_HKSCS-ExtB"/>
                <a:cs typeface="MingLiU_HKSCS-ExtB"/>
              </a:rPr>
              <a:t>✅</a:t>
            </a:r>
            <a:r>
              <a:rPr sz="1300" spc="-290" dirty="0">
                <a:solidFill>
                  <a:srgbClr val="055E45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Files</a:t>
            </a:r>
            <a:r>
              <a:rPr sz="1100" b="1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Generated</a:t>
            </a:r>
            <a:r>
              <a:rPr sz="1100" b="1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by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 Claude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70424" y="1597217"/>
            <a:ext cx="18510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Service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class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(full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implementation)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70424" y="1999705"/>
            <a:ext cx="15963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Unit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(JUnit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5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Mockito)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70424" y="2401826"/>
            <a:ext cx="15068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Integration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(MockMvc)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70424" y="2804301"/>
            <a:ext cx="18262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DTO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classes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(Request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Response)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70424" y="3206421"/>
            <a:ext cx="14160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Custom exception classes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70424" y="3608897"/>
            <a:ext cx="16751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Swagger/OpenAPI</a:t>
            </a:r>
            <a:r>
              <a:rPr sz="9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annotations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839664" y="3422346"/>
            <a:ext cx="3990975" cy="1247775"/>
            <a:chOff x="4839664" y="3422346"/>
            <a:chExt cx="3990975" cy="1247775"/>
          </a:xfrm>
        </p:grpSpPr>
        <p:sp>
          <p:nvSpPr>
            <p:cNvPr id="33" name="object 33"/>
            <p:cNvSpPr/>
            <p:nvPr/>
          </p:nvSpPr>
          <p:spPr>
            <a:xfrm>
              <a:off x="4845964" y="3428646"/>
              <a:ext cx="3978275" cy="1235075"/>
            </a:xfrm>
            <a:custGeom>
              <a:avLst/>
              <a:gdLst/>
              <a:ahLst/>
              <a:cxnLst/>
              <a:rect l="l" t="t" r="r" b="b"/>
              <a:pathLst>
                <a:path w="3978275" h="123507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143355"/>
                  </a:lnTo>
                  <a:lnTo>
                    <a:pt x="798" y="1155360"/>
                  </a:lnTo>
                  <a:lnTo>
                    <a:pt x="18830" y="1199119"/>
                  </a:lnTo>
                  <a:lnTo>
                    <a:pt x="56505" y="1227809"/>
                  </a:lnTo>
                  <a:lnTo>
                    <a:pt x="91439" y="1234795"/>
                  </a:lnTo>
                  <a:lnTo>
                    <a:pt x="3886555" y="1234795"/>
                  </a:lnTo>
                  <a:lnTo>
                    <a:pt x="3932275" y="1222552"/>
                  </a:lnTo>
                  <a:lnTo>
                    <a:pt x="3965752" y="1189075"/>
                  </a:lnTo>
                  <a:lnTo>
                    <a:pt x="3977995" y="1143355"/>
                  </a:lnTo>
                  <a:lnTo>
                    <a:pt x="3977971" y="91440"/>
                  </a:lnTo>
                  <a:lnTo>
                    <a:pt x="3965752" y="46075"/>
                  </a:lnTo>
                  <a:lnTo>
                    <a:pt x="3932275" y="12598"/>
                  </a:lnTo>
                  <a:lnTo>
                    <a:pt x="388655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B19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45964" y="3428646"/>
              <a:ext cx="3978275" cy="1235075"/>
            </a:xfrm>
            <a:custGeom>
              <a:avLst/>
              <a:gdLst/>
              <a:ahLst/>
              <a:cxnLst/>
              <a:rect l="l" t="t" r="r" b="b"/>
              <a:pathLst>
                <a:path w="3978275" h="123507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3886555" y="355"/>
                  </a:lnTo>
                  <a:lnTo>
                    <a:pt x="3932275" y="12598"/>
                  </a:lnTo>
                  <a:lnTo>
                    <a:pt x="3965752" y="46075"/>
                  </a:lnTo>
                  <a:lnTo>
                    <a:pt x="3977995" y="91795"/>
                  </a:lnTo>
                  <a:lnTo>
                    <a:pt x="3977995" y="1143355"/>
                  </a:lnTo>
                  <a:lnTo>
                    <a:pt x="3977197" y="1155360"/>
                  </a:lnTo>
                  <a:lnTo>
                    <a:pt x="3974846" y="1167025"/>
                  </a:lnTo>
                  <a:lnTo>
                    <a:pt x="3951314" y="1208114"/>
                  </a:lnTo>
                  <a:lnTo>
                    <a:pt x="3910225" y="1231646"/>
                  </a:lnTo>
                  <a:lnTo>
                    <a:pt x="3886555" y="1234795"/>
                  </a:lnTo>
                  <a:lnTo>
                    <a:pt x="91439" y="1234795"/>
                  </a:lnTo>
                  <a:lnTo>
                    <a:pt x="45720" y="1222552"/>
                  </a:lnTo>
                  <a:lnTo>
                    <a:pt x="12230" y="1189075"/>
                  </a:lnTo>
                  <a:lnTo>
                    <a:pt x="0" y="1143355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970424" y="3491825"/>
            <a:ext cx="1323352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Try</a:t>
            </a:r>
            <a:r>
              <a:rPr sz="900" b="1" spc="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it</a:t>
            </a:r>
            <a:r>
              <a:rPr sz="900" b="1" spc="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0C9387"/>
                </a:solidFill>
                <a:latin typeface="Calibri"/>
                <a:cs typeface="Calibri"/>
              </a:rPr>
              <a:t>now: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70424" y="3991586"/>
            <a:ext cx="3568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Open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Claude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Code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in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your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wamy-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finance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project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and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run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prompt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1E7EF"/>
                </a:solidFill>
                <a:latin typeface="Calibri"/>
                <a:cs typeface="Calibri"/>
              </a:rPr>
              <a:t>shown.</a:t>
            </a:r>
            <a:r>
              <a:rPr sz="900" spc="50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Compare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output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to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3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code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1E7EF"/>
                </a:solidFill>
                <a:latin typeface="Calibri"/>
                <a:cs typeface="Calibri"/>
              </a:rPr>
              <a:t>sample.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39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Scheduled</a:t>
            </a:r>
            <a:r>
              <a:rPr spc="-60" dirty="0"/>
              <a:t> </a:t>
            </a:r>
            <a:r>
              <a:rPr dirty="0"/>
              <a:t>Jobs</a:t>
            </a:r>
            <a:r>
              <a:rPr spc="-60" dirty="0"/>
              <a:t> </a:t>
            </a:r>
            <a:r>
              <a:rPr dirty="0"/>
              <a:t>—</a:t>
            </a:r>
            <a:r>
              <a:rPr spc="-65" dirty="0"/>
              <a:t> </a:t>
            </a:r>
            <a:r>
              <a:rPr dirty="0"/>
              <a:t>Period</a:t>
            </a:r>
            <a:r>
              <a:rPr spc="-55" dirty="0"/>
              <a:t> </a:t>
            </a:r>
            <a:r>
              <a:rPr dirty="0"/>
              <a:t>Close</a:t>
            </a:r>
            <a:r>
              <a:rPr spc="-55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spc="-10" dirty="0"/>
              <a:t>Alerts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5355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Spring</a:t>
            </a:r>
            <a:r>
              <a:rPr sz="1000" i="1" spc="-1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85" dirty="0">
                <a:solidFill>
                  <a:srgbClr val="9FBFFF"/>
                </a:solidFill>
                <a:latin typeface="Arial"/>
                <a:cs typeface="Arial"/>
              </a:rPr>
              <a:t>@Scheduled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 for</a:t>
            </a:r>
            <a:r>
              <a:rPr sz="1000" i="1" spc="-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automated</a:t>
            </a:r>
            <a:r>
              <a:rPr sz="1000" i="1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financial</a:t>
            </a:r>
            <a:r>
              <a:rPr sz="1000" i="1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tasks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8474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227"/>
            <a:ext cx="4534535" cy="1270000"/>
            <a:chOff x="242646" y="1038227"/>
            <a:chExt cx="4534535" cy="12700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34204" cy="126937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277"/>
              <a:ext cx="4344035" cy="1079500"/>
            </a:xfrm>
            <a:custGeom>
              <a:avLst/>
              <a:gdLst/>
              <a:ahLst/>
              <a:cxnLst/>
              <a:rect l="l" t="t" r="r" b="b"/>
              <a:pathLst>
                <a:path w="4344035" h="1079500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987844"/>
                  </a:lnTo>
                  <a:lnTo>
                    <a:pt x="798" y="999849"/>
                  </a:lnTo>
                  <a:lnTo>
                    <a:pt x="18830" y="1043608"/>
                  </a:lnTo>
                  <a:lnTo>
                    <a:pt x="56505" y="1072297"/>
                  </a:lnTo>
                  <a:lnTo>
                    <a:pt x="91439" y="1079284"/>
                  </a:lnTo>
                  <a:lnTo>
                    <a:pt x="4252315" y="1079284"/>
                  </a:lnTo>
                  <a:lnTo>
                    <a:pt x="4298035" y="1067041"/>
                  </a:lnTo>
                  <a:lnTo>
                    <a:pt x="4331512" y="1033564"/>
                  </a:lnTo>
                  <a:lnTo>
                    <a:pt x="4343755" y="987844"/>
                  </a:lnTo>
                  <a:lnTo>
                    <a:pt x="4343731" y="91439"/>
                  </a:lnTo>
                  <a:lnTo>
                    <a:pt x="4331512" y="46088"/>
                  </a:lnTo>
                  <a:lnTo>
                    <a:pt x="4298035" y="12598"/>
                  </a:lnTo>
                  <a:lnTo>
                    <a:pt x="425231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277"/>
              <a:ext cx="4344035" cy="1079500"/>
            </a:xfrm>
            <a:custGeom>
              <a:avLst/>
              <a:gdLst/>
              <a:ahLst/>
              <a:cxnLst/>
              <a:rect l="l" t="t" r="r" b="b"/>
              <a:pathLst>
                <a:path w="4344035" h="1079500">
                  <a:moveTo>
                    <a:pt x="355" y="91439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68"/>
                  </a:lnTo>
                  <a:lnTo>
                    <a:pt x="4298035" y="12598"/>
                  </a:lnTo>
                  <a:lnTo>
                    <a:pt x="4331512" y="46088"/>
                  </a:lnTo>
                  <a:lnTo>
                    <a:pt x="4343755" y="91808"/>
                  </a:lnTo>
                  <a:lnTo>
                    <a:pt x="4343755" y="987844"/>
                  </a:lnTo>
                  <a:lnTo>
                    <a:pt x="4342957" y="999849"/>
                  </a:lnTo>
                  <a:lnTo>
                    <a:pt x="4340606" y="1011513"/>
                  </a:lnTo>
                  <a:lnTo>
                    <a:pt x="4317074" y="1052602"/>
                  </a:lnTo>
                  <a:lnTo>
                    <a:pt x="4275985" y="1076134"/>
                  </a:lnTo>
                  <a:lnTo>
                    <a:pt x="4252315" y="1079284"/>
                  </a:lnTo>
                  <a:lnTo>
                    <a:pt x="91439" y="1079284"/>
                  </a:lnTo>
                  <a:lnTo>
                    <a:pt x="45719" y="1067041"/>
                  </a:lnTo>
                  <a:lnTo>
                    <a:pt x="12230" y="1033564"/>
                  </a:lnTo>
                  <a:lnTo>
                    <a:pt x="0" y="987844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3823970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FinanceScheduler.java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with: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@Scheduled(cron='0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0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8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1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95" dirty="0">
                <a:solidFill>
                  <a:srgbClr val="FCE589"/>
                </a:solidFill>
                <a:latin typeface="Arial"/>
                <a:cs typeface="Arial"/>
              </a:rPr>
              <a:t>*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*')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monthly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—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send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budget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utilisation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alert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emails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to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Managers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any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project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over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80%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budget;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@Scheduled(cron='0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0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1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95" dirty="0">
                <a:solidFill>
                  <a:srgbClr val="FCE589"/>
                </a:solidFill>
                <a:latin typeface="Arial"/>
                <a:cs typeface="Arial"/>
              </a:rPr>
              <a:t>*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95" dirty="0">
                <a:solidFill>
                  <a:srgbClr val="FCE589"/>
                </a:solidFill>
                <a:latin typeface="Arial"/>
                <a:cs typeface="Arial"/>
              </a:rPr>
              <a:t>*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*')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nightly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—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generate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trial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balance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snapshot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store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in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report_snapshots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table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for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fast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dashboard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loading."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189875"/>
            <a:ext cx="4534535" cy="2622550"/>
            <a:chOff x="242646" y="2189875"/>
            <a:chExt cx="4534535" cy="262255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189875"/>
              <a:ext cx="4534204" cy="262224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266926"/>
              <a:ext cx="4344035" cy="2432685"/>
            </a:xfrm>
            <a:custGeom>
              <a:avLst/>
              <a:gdLst/>
              <a:ahLst/>
              <a:cxnLst/>
              <a:rect l="l" t="t" r="r" b="b"/>
              <a:pathLst>
                <a:path w="4344035" h="2432685">
                  <a:moveTo>
                    <a:pt x="91795" y="0"/>
                  </a:moveTo>
                  <a:lnTo>
                    <a:pt x="46075" y="12230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2341079"/>
                  </a:lnTo>
                  <a:lnTo>
                    <a:pt x="798" y="2353079"/>
                  </a:lnTo>
                  <a:lnTo>
                    <a:pt x="18830" y="2396836"/>
                  </a:lnTo>
                  <a:lnTo>
                    <a:pt x="56505" y="2425527"/>
                  </a:lnTo>
                  <a:lnTo>
                    <a:pt x="91439" y="2432519"/>
                  </a:lnTo>
                  <a:lnTo>
                    <a:pt x="4252315" y="2432519"/>
                  </a:lnTo>
                  <a:lnTo>
                    <a:pt x="4298035" y="2420277"/>
                  </a:lnTo>
                  <a:lnTo>
                    <a:pt x="4331512" y="2386799"/>
                  </a:lnTo>
                  <a:lnTo>
                    <a:pt x="4343755" y="2341079"/>
                  </a:lnTo>
                  <a:lnTo>
                    <a:pt x="4343731" y="91439"/>
                  </a:lnTo>
                  <a:lnTo>
                    <a:pt x="4331512" y="46075"/>
                  </a:lnTo>
                  <a:lnTo>
                    <a:pt x="4298035" y="12598"/>
                  </a:lnTo>
                  <a:lnTo>
                    <a:pt x="42523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266926"/>
              <a:ext cx="4344035" cy="2432685"/>
            </a:xfrm>
            <a:custGeom>
              <a:avLst/>
              <a:gdLst/>
              <a:ahLst/>
              <a:cxnLst/>
              <a:rect l="l" t="t" r="r" b="b"/>
              <a:pathLst>
                <a:path w="4344035" h="243268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4252315" y="355"/>
                  </a:lnTo>
                  <a:lnTo>
                    <a:pt x="4298035" y="12598"/>
                  </a:lnTo>
                  <a:lnTo>
                    <a:pt x="4331512" y="46075"/>
                  </a:lnTo>
                  <a:lnTo>
                    <a:pt x="4343755" y="91795"/>
                  </a:lnTo>
                  <a:lnTo>
                    <a:pt x="4343755" y="2341079"/>
                  </a:lnTo>
                  <a:lnTo>
                    <a:pt x="4342957" y="2353079"/>
                  </a:lnTo>
                  <a:lnTo>
                    <a:pt x="4340606" y="2364744"/>
                  </a:lnTo>
                  <a:lnTo>
                    <a:pt x="4317074" y="2405829"/>
                  </a:lnTo>
                  <a:lnTo>
                    <a:pt x="4275985" y="2429365"/>
                  </a:lnTo>
                  <a:lnTo>
                    <a:pt x="4252315" y="2432519"/>
                  </a:lnTo>
                  <a:lnTo>
                    <a:pt x="91439" y="2432519"/>
                  </a:lnTo>
                  <a:lnTo>
                    <a:pt x="45719" y="2420277"/>
                  </a:lnTo>
                  <a:lnTo>
                    <a:pt x="12230" y="2386799"/>
                  </a:lnTo>
                  <a:lnTo>
                    <a:pt x="0" y="2341079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255474"/>
            <a:ext cx="3376295" cy="9607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 marR="1183640">
              <a:lnSpc>
                <a:spcPct val="102499"/>
              </a:lnSpc>
              <a:spcBef>
                <a:spcPts val="509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@Component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@RequiredArgsConstructor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class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FinanceScheduler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135890" marR="87503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private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final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BudgetService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budgetSvc;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private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final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EmailService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emailSvc;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private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final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ReportSnapshotRepository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snapshotRepo;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622" y="3315502"/>
            <a:ext cx="3129915" cy="1399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37260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@Scheduled(cron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"0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8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1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*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*")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void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monthlyBudgetAlerts()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137160" marR="19177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log.info("Running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monthly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budget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alerts...");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List&lt;BudgetVariance&gt;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overruns</a:t>
            </a:r>
            <a:r>
              <a:rPr sz="800" spc="1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budgetSvc.getAllActiveProjects().stream()</a:t>
            </a:r>
            <a:endParaRPr sz="800">
              <a:latin typeface="Courier New"/>
              <a:cs typeface="Courier New"/>
            </a:endParaRPr>
          </a:p>
          <a:p>
            <a:pPr marL="38544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.flatMap(p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-&gt;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budgetSvc</a:t>
            </a:r>
            <a:endParaRPr sz="800">
              <a:latin typeface="Courier New"/>
              <a:cs typeface="Courier New"/>
            </a:endParaRPr>
          </a:p>
          <a:p>
            <a:pPr marL="882650" marR="5080" indent="-248920">
              <a:lnSpc>
                <a:spcPct val="102499"/>
              </a:lnSpc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.getBudgetVsActual(p.getId(), LocalDate.now().getYear()).stream())</a:t>
            </a:r>
            <a:endParaRPr sz="800">
              <a:latin typeface="Courier New"/>
              <a:cs typeface="Courier New"/>
            </a:endParaRPr>
          </a:p>
          <a:p>
            <a:pPr marL="38544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.filter(v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-&gt;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v.getUtilisationPct()</a:t>
            </a:r>
            <a:endParaRPr sz="800">
              <a:latin typeface="Courier New"/>
              <a:cs typeface="Courier New"/>
            </a:endParaRPr>
          </a:p>
          <a:p>
            <a:pPr marL="63436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.compareTo(new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BigDecimal("80"))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&gt;=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0)</a:t>
            </a:r>
            <a:endParaRPr sz="800">
              <a:latin typeface="Courier New"/>
              <a:cs typeface="Courier New"/>
            </a:endParaRPr>
          </a:p>
          <a:p>
            <a:pPr marL="385445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.collect(toList());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3539" y="4814546"/>
            <a:ext cx="2941320" cy="275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890" marR="5080" indent="-123825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overruns.forEach(v</a:t>
            </a:r>
            <a:r>
              <a:rPr sz="800" spc="1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&gt;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emailSvc.sendBudgetAlert(v.getProject(),</a:t>
            </a:r>
            <a:r>
              <a:rPr sz="800" spc="31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v));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68926" y="1038227"/>
            <a:ext cx="4168775" cy="3775075"/>
            <a:chOff x="4768926" y="1038227"/>
            <a:chExt cx="4168775" cy="377507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8227"/>
              <a:ext cx="4168444" cy="377497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475088"/>
                  </a:lnTo>
                  <a:lnTo>
                    <a:pt x="939" y="3489511"/>
                  </a:lnTo>
                  <a:lnTo>
                    <a:pt x="14757" y="3530168"/>
                  </a:lnTo>
                  <a:lnTo>
                    <a:pt x="43003" y="3562109"/>
                  </a:lnTo>
                  <a:lnTo>
                    <a:pt x="81359" y="3581144"/>
                  </a:lnTo>
                  <a:lnTo>
                    <a:pt x="109791" y="3584879"/>
                  </a:lnTo>
                  <a:lnTo>
                    <a:pt x="3868191" y="3584879"/>
                  </a:lnTo>
                  <a:lnTo>
                    <a:pt x="3910262" y="3576526"/>
                  </a:lnTo>
                  <a:lnTo>
                    <a:pt x="3945764" y="3552712"/>
                  </a:lnTo>
                  <a:lnTo>
                    <a:pt x="3969565" y="3517152"/>
                  </a:lnTo>
                  <a:lnTo>
                    <a:pt x="3977995" y="3475088"/>
                  </a:lnTo>
                  <a:lnTo>
                    <a:pt x="3977972" y="109804"/>
                  </a:lnTo>
                  <a:lnTo>
                    <a:pt x="3969642" y="68095"/>
                  </a:lnTo>
                  <a:lnTo>
                    <a:pt x="3945772" y="32535"/>
                  </a:lnTo>
                  <a:lnTo>
                    <a:pt x="3910112" y="8721"/>
                  </a:lnTo>
                  <a:lnTo>
                    <a:pt x="38681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68"/>
                  </a:lnTo>
                  <a:lnTo>
                    <a:pt x="3910112" y="8721"/>
                  </a:lnTo>
                  <a:lnTo>
                    <a:pt x="3945772" y="32535"/>
                  </a:lnTo>
                  <a:lnTo>
                    <a:pt x="3969642" y="68095"/>
                  </a:lnTo>
                  <a:lnTo>
                    <a:pt x="3977995" y="110159"/>
                  </a:lnTo>
                  <a:lnTo>
                    <a:pt x="3977995" y="3475088"/>
                  </a:lnTo>
                  <a:lnTo>
                    <a:pt x="3977055" y="3489505"/>
                  </a:lnTo>
                  <a:lnTo>
                    <a:pt x="3974260" y="3503520"/>
                  </a:lnTo>
                  <a:lnTo>
                    <a:pt x="3955218" y="3541876"/>
                  </a:lnTo>
                  <a:lnTo>
                    <a:pt x="3923271" y="3570122"/>
                  </a:lnTo>
                  <a:lnTo>
                    <a:pt x="3882621" y="3583940"/>
                  </a:lnTo>
                  <a:lnTo>
                    <a:pt x="3868191" y="3584879"/>
                  </a:lnTo>
                  <a:lnTo>
                    <a:pt x="109791" y="3584879"/>
                  </a:lnTo>
                  <a:lnTo>
                    <a:pt x="67882" y="3576526"/>
                  </a:lnTo>
                  <a:lnTo>
                    <a:pt x="32213" y="3552712"/>
                  </a:lnTo>
                  <a:lnTo>
                    <a:pt x="8352" y="3517152"/>
                  </a:lnTo>
                  <a:lnTo>
                    <a:pt x="0" y="3475088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0377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970424" y="1167538"/>
            <a:ext cx="24209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055E45"/>
                </a:solidFill>
                <a:latin typeface="MingLiU_HKSCS-ExtB"/>
                <a:cs typeface="MingLiU_HKSCS-ExtB"/>
              </a:rPr>
              <a:t>✅</a:t>
            </a:r>
            <a:r>
              <a:rPr sz="1300" spc="-290" dirty="0">
                <a:solidFill>
                  <a:srgbClr val="055E45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Files</a:t>
            </a:r>
            <a:r>
              <a:rPr sz="1100" b="1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Generated</a:t>
            </a:r>
            <a:r>
              <a:rPr sz="1100" b="1" spc="-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55E45"/>
                </a:solidFill>
                <a:latin typeface="Calibri"/>
                <a:cs typeface="Calibri"/>
              </a:rPr>
              <a:t>by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 Claude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70424" y="1597217"/>
            <a:ext cx="18510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Service</a:t>
            </a:r>
            <a:r>
              <a:rPr sz="9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class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(full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implementation)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70424" y="1999705"/>
            <a:ext cx="15963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Unit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tests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(JUnit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5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Mockito)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70424" y="2401826"/>
            <a:ext cx="15068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Integration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 (MockMvc)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70424" y="2804301"/>
            <a:ext cx="18262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DTO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classes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(Request</a:t>
            </a:r>
            <a:r>
              <a:rPr sz="9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Response)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70424" y="3206421"/>
            <a:ext cx="14160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Custom exception classes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70424" y="3608897"/>
            <a:ext cx="16751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67005" algn="l"/>
              </a:tabLst>
            </a:pP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Swagger/OpenAPI</a:t>
            </a:r>
            <a:r>
              <a:rPr sz="9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annotations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839664" y="3422346"/>
            <a:ext cx="3990975" cy="1247775"/>
            <a:chOff x="4839664" y="3422346"/>
            <a:chExt cx="3990975" cy="1247775"/>
          </a:xfrm>
        </p:grpSpPr>
        <p:sp>
          <p:nvSpPr>
            <p:cNvPr id="31" name="object 31"/>
            <p:cNvSpPr/>
            <p:nvPr/>
          </p:nvSpPr>
          <p:spPr>
            <a:xfrm>
              <a:off x="4845964" y="3428646"/>
              <a:ext cx="3978275" cy="1235075"/>
            </a:xfrm>
            <a:custGeom>
              <a:avLst/>
              <a:gdLst/>
              <a:ahLst/>
              <a:cxnLst/>
              <a:rect l="l" t="t" r="r" b="b"/>
              <a:pathLst>
                <a:path w="3978275" h="123507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143355"/>
                  </a:lnTo>
                  <a:lnTo>
                    <a:pt x="798" y="1155360"/>
                  </a:lnTo>
                  <a:lnTo>
                    <a:pt x="18830" y="1199119"/>
                  </a:lnTo>
                  <a:lnTo>
                    <a:pt x="56505" y="1227809"/>
                  </a:lnTo>
                  <a:lnTo>
                    <a:pt x="91439" y="1234795"/>
                  </a:lnTo>
                  <a:lnTo>
                    <a:pt x="3886555" y="1234795"/>
                  </a:lnTo>
                  <a:lnTo>
                    <a:pt x="3932275" y="1222552"/>
                  </a:lnTo>
                  <a:lnTo>
                    <a:pt x="3965752" y="1189075"/>
                  </a:lnTo>
                  <a:lnTo>
                    <a:pt x="3977995" y="1143355"/>
                  </a:lnTo>
                  <a:lnTo>
                    <a:pt x="3977971" y="91440"/>
                  </a:lnTo>
                  <a:lnTo>
                    <a:pt x="3965752" y="46075"/>
                  </a:lnTo>
                  <a:lnTo>
                    <a:pt x="3932275" y="12598"/>
                  </a:lnTo>
                  <a:lnTo>
                    <a:pt x="388655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B19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45964" y="3428646"/>
              <a:ext cx="3978275" cy="1235075"/>
            </a:xfrm>
            <a:custGeom>
              <a:avLst/>
              <a:gdLst/>
              <a:ahLst/>
              <a:cxnLst/>
              <a:rect l="l" t="t" r="r" b="b"/>
              <a:pathLst>
                <a:path w="3978275" h="123507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3886555" y="355"/>
                  </a:lnTo>
                  <a:lnTo>
                    <a:pt x="3932275" y="12598"/>
                  </a:lnTo>
                  <a:lnTo>
                    <a:pt x="3965752" y="46075"/>
                  </a:lnTo>
                  <a:lnTo>
                    <a:pt x="3977995" y="91795"/>
                  </a:lnTo>
                  <a:lnTo>
                    <a:pt x="3977995" y="1143355"/>
                  </a:lnTo>
                  <a:lnTo>
                    <a:pt x="3977197" y="1155360"/>
                  </a:lnTo>
                  <a:lnTo>
                    <a:pt x="3974846" y="1167025"/>
                  </a:lnTo>
                  <a:lnTo>
                    <a:pt x="3951314" y="1208114"/>
                  </a:lnTo>
                  <a:lnTo>
                    <a:pt x="3910225" y="1231646"/>
                  </a:lnTo>
                  <a:lnTo>
                    <a:pt x="3886555" y="1234795"/>
                  </a:lnTo>
                  <a:lnTo>
                    <a:pt x="91439" y="1234795"/>
                  </a:lnTo>
                  <a:lnTo>
                    <a:pt x="45720" y="1222552"/>
                  </a:lnTo>
                  <a:lnTo>
                    <a:pt x="12230" y="1189075"/>
                  </a:lnTo>
                  <a:lnTo>
                    <a:pt x="0" y="1143355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970424" y="3491825"/>
            <a:ext cx="1201776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Try</a:t>
            </a:r>
            <a:r>
              <a:rPr sz="900" b="1" spc="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it</a:t>
            </a:r>
            <a:r>
              <a:rPr sz="900" b="1" spc="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0C9387"/>
                </a:solidFill>
                <a:latin typeface="Calibri"/>
                <a:cs typeface="Calibri"/>
              </a:rPr>
              <a:t>now: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70424" y="3991586"/>
            <a:ext cx="3568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Open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Claude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Code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in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your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wamy-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finance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project</a:t>
            </a:r>
            <a:r>
              <a:rPr sz="900" spc="-1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and</a:t>
            </a:r>
            <a:r>
              <a:rPr sz="900" spc="-3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run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prompt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1E7EF"/>
                </a:solidFill>
                <a:latin typeface="Calibri"/>
                <a:cs typeface="Calibri"/>
              </a:rPr>
              <a:t>shown.</a:t>
            </a:r>
            <a:r>
              <a:rPr sz="900" spc="50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Compare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20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output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to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the</a:t>
            </a:r>
            <a:r>
              <a:rPr sz="900" spc="-3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1E7EF"/>
                </a:solidFill>
                <a:latin typeface="Calibri"/>
                <a:cs typeface="Calibri"/>
              </a:rPr>
              <a:t>code</a:t>
            </a:r>
            <a:r>
              <a:rPr sz="900" spc="-25" dirty="0">
                <a:solidFill>
                  <a:srgbClr val="E1E7E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1E7EF"/>
                </a:solidFill>
                <a:latin typeface="Calibri"/>
                <a:cs typeface="Calibri"/>
              </a:rPr>
              <a:t>sample.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40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9356" y="502198"/>
            <a:ext cx="1280795" cy="329565"/>
          </a:xfrm>
          <a:custGeom>
            <a:avLst/>
            <a:gdLst/>
            <a:ahLst/>
            <a:cxnLst/>
            <a:rect l="l" t="t" r="r" b="b"/>
            <a:pathLst>
              <a:path w="1280795" h="329565">
                <a:moveTo>
                  <a:pt x="91808" y="0"/>
                </a:moveTo>
                <a:lnTo>
                  <a:pt x="46088" y="12242"/>
                </a:lnTo>
                <a:lnTo>
                  <a:pt x="12598" y="45720"/>
                </a:lnTo>
                <a:lnTo>
                  <a:pt x="368" y="91439"/>
                </a:lnTo>
                <a:lnTo>
                  <a:pt x="0" y="237959"/>
                </a:lnTo>
                <a:lnTo>
                  <a:pt x="798" y="249966"/>
                </a:lnTo>
                <a:lnTo>
                  <a:pt x="18843" y="293724"/>
                </a:lnTo>
                <a:lnTo>
                  <a:pt x="56512" y="322418"/>
                </a:lnTo>
                <a:lnTo>
                  <a:pt x="91439" y="329399"/>
                </a:lnTo>
                <a:lnTo>
                  <a:pt x="1189088" y="329399"/>
                </a:lnTo>
                <a:lnTo>
                  <a:pt x="1234808" y="317169"/>
                </a:lnTo>
                <a:lnTo>
                  <a:pt x="1268285" y="283679"/>
                </a:lnTo>
                <a:lnTo>
                  <a:pt x="1280528" y="237959"/>
                </a:lnTo>
                <a:lnTo>
                  <a:pt x="1280503" y="91439"/>
                </a:lnTo>
                <a:lnTo>
                  <a:pt x="1268285" y="46088"/>
                </a:lnTo>
                <a:lnTo>
                  <a:pt x="1234808" y="12598"/>
                </a:lnTo>
                <a:lnTo>
                  <a:pt x="1189088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2901" y="578067"/>
            <a:ext cx="6343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0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06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27024" y="1020142"/>
            <a:ext cx="465582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/>
              <a:t>Frontend</a:t>
            </a:r>
            <a:r>
              <a:rPr sz="4200" spc="-110" dirty="0"/>
              <a:t> </a:t>
            </a:r>
            <a:r>
              <a:rPr sz="4200" dirty="0"/>
              <a:t>—</a:t>
            </a:r>
            <a:r>
              <a:rPr sz="4200" spc="-110" dirty="0"/>
              <a:t> </a:t>
            </a:r>
            <a:r>
              <a:rPr sz="4200" dirty="0"/>
              <a:t>React</a:t>
            </a:r>
            <a:r>
              <a:rPr sz="4200" spc="-105" dirty="0"/>
              <a:t> </a:t>
            </a:r>
            <a:r>
              <a:rPr sz="4200" spc="-25" dirty="0"/>
              <a:t>19</a:t>
            </a:r>
            <a:endParaRPr sz="4200"/>
          </a:p>
        </p:txBody>
      </p:sp>
      <p:sp>
        <p:nvSpPr>
          <p:cNvPr id="6" name="object 6"/>
          <p:cNvSpPr txBox="1"/>
          <p:nvPr/>
        </p:nvSpPr>
        <p:spPr>
          <a:xfrm>
            <a:off x="627024" y="1838428"/>
            <a:ext cx="5246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70" dirty="0">
                <a:solidFill>
                  <a:srgbClr val="F49D0A"/>
                </a:solidFill>
                <a:latin typeface="Arial"/>
                <a:cs typeface="Arial"/>
              </a:rPr>
              <a:t>Build</a:t>
            </a:r>
            <a:r>
              <a:rPr sz="1500" i="1" spc="-5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40" dirty="0">
                <a:solidFill>
                  <a:srgbClr val="F49D0A"/>
                </a:solidFill>
                <a:latin typeface="Arial"/>
                <a:cs typeface="Arial"/>
              </a:rPr>
              <a:t>the</a:t>
            </a:r>
            <a:r>
              <a:rPr sz="1500" i="1" spc="-6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40" dirty="0">
                <a:solidFill>
                  <a:srgbClr val="F49D0A"/>
                </a:solidFill>
                <a:latin typeface="Arial"/>
                <a:cs typeface="Arial"/>
              </a:rPr>
              <a:t>WAMY</a:t>
            </a:r>
            <a:r>
              <a:rPr sz="1500" i="1" spc="-6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05" dirty="0">
                <a:solidFill>
                  <a:srgbClr val="F49D0A"/>
                </a:solidFill>
                <a:latin typeface="Arial"/>
                <a:cs typeface="Arial"/>
              </a:rPr>
              <a:t>Finance</a:t>
            </a:r>
            <a:r>
              <a:rPr sz="1500" i="1" spc="-5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80" dirty="0">
                <a:solidFill>
                  <a:srgbClr val="F49D0A"/>
                </a:solidFill>
                <a:latin typeface="Arial"/>
                <a:cs typeface="Arial"/>
              </a:rPr>
              <a:t>dashboard</a:t>
            </a:r>
            <a:r>
              <a:rPr sz="1500" i="1" spc="-6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dirty="0">
                <a:solidFill>
                  <a:srgbClr val="F49D0A"/>
                </a:solidFill>
                <a:latin typeface="Arial"/>
                <a:cs typeface="Arial"/>
              </a:rPr>
              <a:t>with</a:t>
            </a:r>
            <a:r>
              <a:rPr sz="1500" i="1" spc="-50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14" dirty="0">
                <a:solidFill>
                  <a:srgbClr val="F49D0A"/>
                </a:solidFill>
                <a:latin typeface="Arial"/>
                <a:cs typeface="Arial"/>
              </a:rPr>
              <a:t>React</a:t>
            </a:r>
            <a:r>
              <a:rPr sz="1500" i="1" spc="-5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95" dirty="0">
                <a:solidFill>
                  <a:srgbClr val="F49D0A"/>
                </a:solidFill>
                <a:latin typeface="Arial"/>
                <a:cs typeface="Arial"/>
              </a:rPr>
              <a:t>19</a:t>
            </a:r>
            <a:r>
              <a:rPr sz="1500" i="1" spc="-5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40" dirty="0">
                <a:solidFill>
                  <a:srgbClr val="F49D0A"/>
                </a:solidFill>
                <a:latin typeface="Arial"/>
                <a:cs typeface="Arial"/>
              </a:rPr>
              <a:t>+</a:t>
            </a:r>
            <a:r>
              <a:rPr sz="1500" i="1" spc="-60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30" dirty="0">
                <a:solidFill>
                  <a:srgbClr val="F49D0A"/>
                </a:solidFill>
                <a:latin typeface="Arial"/>
                <a:cs typeface="Arial"/>
              </a:rPr>
              <a:t>TanStack</a:t>
            </a:r>
            <a:r>
              <a:rPr sz="1500" i="1" spc="-6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25" dirty="0">
                <a:solidFill>
                  <a:srgbClr val="F49D0A"/>
                </a:solidFill>
                <a:latin typeface="Arial"/>
                <a:cs typeface="Arial"/>
              </a:rPr>
              <a:t>Query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8600" y="2325422"/>
            <a:ext cx="2024380" cy="515620"/>
            <a:chOff x="633424" y="2325422"/>
            <a:chExt cx="2024380" cy="515620"/>
          </a:xfrm>
        </p:grpSpPr>
        <p:sp>
          <p:nvSpPr>
            <p:cNvPr id="8" name="object 8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191987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5" y="434789"/>
                  </a:lnTo>
                  <a:lnTo>
                    <a:pt x="3148" y="435149"/>
                  </a:lnTo>
                  <a:lnTo>
                    <a:pt x="6859" y="446051"/>
                  </a:lnTo>
                  <a:lnTo>
                    <a:pt x="35675" y="484083"/>
                  </a:lnTo>
                  <a:lnTo>
                    <a:pt x="79433" y="502121"/>
                  </a:lnTo>
                  <a:lnTo>
                    <a:pt x="91440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08402" y="435149"/>
                  </a:lnTo>
                  <a:lnTo>
                    <a:pt x="2008525" y="434789"/>
                  </a:lnTo>
                  <a:lnTo>
                    <a:pt x="2010806" y="423485"/>
                  </a:lnTo>
                  <a:lnTo>
                    <a:pt x="2010879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11" y="91439"/>
                  </a:lnTo>
                  <a:lnTo>
                    <a:pt x="1999081" y="45719"/>
                  </a:lnTo>
                  <a:lnTo>
                    <a:pt x="1965591" y="12242"/>
                  </a:lnTo>
                  <a:lnTo>
                    <a:pt x="1931878" y="798"/>
                  </a:lnTo>
                  <a:lnTo>
                    <a:pt x="1919871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0" y="91439"/>
                  </a:moveTo>
                  <a:lnTo>
                    <a:pt x="798" y="79434"/>
                  </a:lnTo>
                  <a:lnTo>
                    <a:pt x="3148" y="67770"/>
                  </a:lnTo>
                  <a:lnTo>
                    <a:pt x="26679" y="26681"/>
                  </a:lnTo>
                  <a:lnTo>
                    <a:pt x="67765" y="3149"/>
                  </a:lnTo>
                  <a:lnTo>
                    <a:pt x="91440" y="0"/>
                  </a:lnTo>
                  <a:lnTo>
                    <a:pt x="1919871" y="0"/>
                  </a:lnTo>
                  <a:lnTo>
                    <a:pt x="1965591" y="12242"/>
                  </a:lnTo>
                  <a:lnTo>
                    <a:pt x="1999081" y="45719"/>
                  </a:lnTo>
                  <a:lnTo>
                    <a:pt x="2011311" y="91439"/>
                  </a:lnTo>
                  <a:lnTo>
                    <a:pt x="2011679" y="411124"/>
                  </a:lnTo>
                  <a:lnTo>
                    <a:pt x="2010879" y="423124"/>
                  </a:lnTo>
                  <a:lnTo>
                    <a:pt x="2008525" y="434789"/>
                  </a:lnTo>
                  <a:lnTo>
                    <a:pt x="1984989" y="475873"/>
                  </a:lnTo>
                  <a:lnTo>
                    <a:pt x="1943904" y="499410"/>
                  </a:lnTo>
                  <a:lnTo>
                    <a:pt x="91440" y="502919"/>
                  </a:lnTo>
                  <a:lnTo>
                    <a:pt x="45720" y="490677"/>
                  </a:lnTo>
                  <a:lnTo>
                    <a:pt x="12230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00799" y="2497939"/>
            <a:ext cx="6781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Project</a:t>
            </a:r>
            <a:r>
              <a:rPr sz="950" spc="-55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Setup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04796" y="2325422"/>
            <a:ext cx="2024380" cy="515620"/>
            <a:chOff x="2809620" y="2325422"/>
            <a:chExt cx="2024380" cy="515620"/>
          </a:xfrm>
        </p:grpSpPr>
        <p:sp>
          <p:nvSpPr>
            <p:cNvPr id="12" name="object 12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76" y="484083"/>
                  </a:lnTo>
                  <a:lnTo>
                    <a:pt x="79433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79" y="411124"/>
                  </a:lnTo>
                  <a:lnTo>
                    <a:pt x="2010881" y="423124"/>
                  </a:lnTo>
                  <a:lnTo>
                    <a:pt x="2008530" y="434789"/>
                  </a:lnTo>
                  <a:lnTo>
                    <a:pt x="1984994" y="475873"/>
                  </a:lnTo>
                  <a:lnTo>
                    <a:pt x="1943909" y="499410"/>
                  </a:lnTo>
                  <a:lnTo>
                    <a:pt x="91439" y="502919"/>
                  </a:lnTo>
                  <a:lnTo>
                    <a:pt x="45719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58719" y="2497939"/>
            <a:ext cx="5175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API</a:t>
            </a:r>
            <a:r>
              <a:rPr sz="950" spc="-25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Hooks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80992" y="2325422"/>
            <a:ext cx="2024380" cy="515620"/>
            <a:chOff x="4985816" y="2325422"/>
            <a:chExt cx="2024380" cy="515620"/>
          </a:xfrm>
        </p:grpSpPr>
        <p:sp>
          <p:nvSpPr>
            <p:cNvPr id="16" name="object 16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83" y="484083"/>
                  </a:lnTo>
                  <a:lnTo>
                    <a:pt x="79440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49" y="456844"/>
                  </a:lnTo>
                  <a:lnTo>
                    <a:pt x="2008409" y="435149"/>
                  </a:lnTo>
                  <a:lnTo>
                    <a:pt x="2008531" y="434789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80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9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90" y="26681"/>
                  </a:lnTo>
                  <a:lnTo>
                    <a:pt x="6777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80" y="411124"/>
                  </a:lnTo>
                  <a:lnTo>
                    <a:pt x="2010881" y="423124"/>
                  </a:lnTo>
                  <a:lnTo>
                    <a:pt x="2008531" y="434789"/>
                  </a:lnTo>
                  <a:lnTo>
                    <a:pt x="1985000" y="475873"/>
                  </a:lnTo>
                  <a:lnTo>
                    <a:pt x="1943914" y="499410"/>
                  </a:lnTo>
                  <a:lnTo>
                    <a:pt x="91439" y="502919"/>
                  </a:lnTo>
                  <a:lnTo>
                    <a:pt x="45720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204601" y="2497939"/>
            <a:ext cx="77660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P&amp;L</a:t>
            </a:r>
            <a:r>
              <a:rPr sz="950" spc="-4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Dashboard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57555" y="2325422"/>
            <a:ext cx="1987550" cy="515620"/>
            <a:chOff x="7162379" y="2325422"/>
            <a:chExt cx="1987550" cy="515620"/>
          </a:xfrm>
        </p:grpSpPr>
        <p:sp>
          <p:nvSpPr>
            <p:cNvPr id="20" name="object 20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1988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12242" y="457200"/>
                  </a:lnTo>
                  <a:lnTo>
                    <a:pt x="45720" y="490677"/>
                  </a:lnTo>
                  <a:lnTo>
                    <a:pt x="91440" y="502919"/>
                  </a:lnTo>
                  <a:lnTo>
                    <a:pt x="1920240" y="502564"/>
                  </a:lnTo>
                  <a:lnTo>
                    <a:pt x="1965960" y="490321"/>
                  </a:lnTo>
                  <a:lnTo>
                    <a:pt x="1974951" y="484412"/>
                  </a:lnTo>
                  <a:lnTo>
                    <a:pt x="1974951" y="18383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74951" y="484412"/>
                  </a:moveTo>
                  <a:lnTo>
                    <a:pt x="1932245" y="501764"/>
                  </a:lnTo>
                  <a:lnTo>
                    <a:pt x="91440" y="502919"/>
                  </a:lnTo>
                  <a:lnTo>
                    <a:pt x="79434" y="502121"/>
                  </a:lnTo>
                  <a:lnTo>
                    <a:pt x="35676" y="484083"/>
                  </a:lnTo>
                  <a:lnTo>
                    <a:pt x="6986" y="446409"/>
                  </a:lnTo>
                  <a:lnTo>
                    <a:pt x="0" y="411479"/>
                  </a:lnTo>
                  <a:lnTo>
                    <a:pt x="0" y="91439"/>
                  </a:lnTo>
                  <a:lnTo>
                    <a:pt x="12242" y="45719"/>
                  </a:lnTo>
                  <a:lnTo>
                    <a:pt x="45720" y="12242"/>
                  </a:lnTo>
                  <a:lnTo>
                    <a:pt x="91440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74951" y="18383"/>
                  </a:lnTo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412470" y="2497939"/>
            <a:ext cx="71310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Budget Charts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41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E957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React</a:t>
            </a:r>
            <a:r>
              <a:rPr spc="-80" dirty="0"/>
              <a:t> </a:t>
            </a:r>
            <a:r>
              <a:rPr dirty="0"/>
              <a:t>19</a:t>
            </a:r>
            <a:r>
              <a:rPr spc="-80" dirty="0"/>
              <a:t> </a:t>
            </a:r>
            <a:r>
              <a:rPr dirty="0"/>
              <a:t>Project</a:t>
            </a:r>
            <a:r>
              <a:rPr spc="-80" dirty="0"/>
              <a:t> </a:t>
            </a:r>
            <a:r>
              <a:rPr spc="-20" dirty="0"/>
              <a:t>Setup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35140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Vite </a:t>
            </a:r>
            <a:r>
              <a:rPr sz="1000" i="1" spc="-95" dirty="0">
                <a:solidFill>
                  <a:srgbClr val="9FBFFF"/>
                </a:solidFill>
                <a:latin typeface="+mn-lt"/>
                <a:cs typeface="Arial"/>
              </a:rPr>
              <a:t>+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75" dirty="0">
                <a:solidFill>
                  <a:srgbClr val="9FBFFF"/>
                </a:solidFill>
                <a:latin typeface="+mn-lt"/>
                <a:cs typeface="Arial"/>
              </a:rPr>
              <a:t>TypeScript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95" dirty="0">
                <a:solidFill>
                  <a:srgbClr val="9FBFFF"/>
                </a:solidFill>
                <a:latin typeface="+mn-lt"/>
                <a:cs typeface="Arial"/>
              </a:rPr>
              <a:t>+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90" dirty="0">
                <a:solidFill>
                  <a:srgbClr val="9FBFFF"/>
                </a:solidFill>
                <a:latin typeface="+mn-lt"/>
                <a:cs typeface="Arial"/>
              </a:rPr>
              <a:t>TanStack</a:t>
            </a: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+mn-lt"/>
                <a:cs typeface="Arial"/>
              </a:rPr>
              <a:t>Query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95" dirty="0">
                <a:solidFill>
                  <a:srgbClr val="9FBFFF"/>
                </a:solidFill>
                <a:latin typeface="+mn-lt"/>
                <a:cs typeface="Arial"/>
              </a:rPr>
              <a:t>+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Recharts</a:t>
            </a:r>
            <a:endParaRPr sz="1000" dirty="0">
              <a:latin typeface="+mn-lt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7871"/>
            <a:ext cx="4533900" cy="1237079"/>
            <a:chOff x="242646" y="1037871"/>
            <a:chExt cx="4533900" cy="13792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7871"/>
              <a:ext cx="4533836" cy="137916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4922"/>
              <a:ext cx="4344035" cy="1189355"/>
            </a:xfrm>
            <a:custGeom>
              <a:avLst/>
              <a:gdLst/>
              <a:ahLst/>
              <a:cxnLst/>
              <a:rect l="l" t="t" r="r" b="b"/>
              <a:pathLst>
                <a:path w="4344035" h="1189355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097635"/>
                  </a:lnTo>
                  <a:lnTo>
                    <a:pt x="798" y="1109642"/>
                  </a:lnTo>
                  <a:lnTo>
                    <a:pt x="18830" y="1153399"/>
                  </a:lnTo>
                  <a:lnTo>
                    <a:pt x="56505" y="1182094"/>
                  </a:lnTo>
                  <a:lnTo>
                    <a:pt x="91439" y="1189075"/>
                  </a:lnTo>
                  <a:lnTo>
                    <a:pt x="4252315" y="1189075"/>
                  </a:lnTo>
                  <a:lnTo>
                    <a:pt x="4298035" y="1176845"/>
                  </a:lnTo>
                  <a:lnTo>
                    <a:pt x="4331512" y="1143355"/>
                  </a:lnTo>
                  <a:lnTo>
                    <a:pt x="4343755" y="1097635"/>
                  </a:lnTo>
                  <a:lnTo>
                    <a:pt x="4343731" y="91440"/>
                  </a:lnTo>
                  <a:lnTo>
                    <a:pt x="4331512" y="46075"/>
                  </a:lnTo>
                  <a:lnTo>
                    <a:pt x="4298035" y="12598"/>
                  </a:lnTo>
                  <a:lnTo>
                    <a:pt x="42523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4922"/>
              <a:ext cx="4344035" cy="1189355"/>
            </a:xfrm>
            <a:custGeom>
              <a:avLst/>
              <a:gdLst/>
              <a:ahLst/>
              <a:cxnLst/>
              <a:rect l="l" t="t" r="r" b="b"/>
              <a:pathLst>
                <a:path w="4344035" h="118935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81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55"/>
                  </a:lnTo>
                  <a:lnTo>
                    <a:pt x="4298035" y="12598"/>
                  </a:lnTo>
                  <a:lnTo>
                    <a:pt x="4331512" y="46075"/>
                  </a:lnTo>
                  <a:lnTo>
                    <a:pt x="4343755" y="91795"/>
                  </a:lnTo>
                  <a:lnTo>
                    <a:pt x="4343755" y="1097635"/>
                  </a:lnTo>
                  <a:lnTo>
                    <a:pt x="4342957" y="1109642"/>
                  </a:lnTo>
                  <a:lnTo>
                    <a:pt x="4340606" y="1121309"/>
                  </a:lnTo>
                  <a:lnTo>
                    <a:pt x="4317074" y="1162396"/>
                  </a:lnTo>
                  <a:lnTo>
                    <a:pt x="4275985" y="1185927"/>
                  </a:lnTo>
                  <a:lnTo>
                    <a:pt x="4252315" y="1189075"/>
                  </a:lnTo>
                  <a:lnTo>
                    <a:pt x="91439" y="1189075"/>
                  </a:lnTo>
                  <a:lnTo>
                    <a:pt x="45719" y="1176845"/>
                  </a:lnTo>
                  <a:lnTo>
                    <a:pt x="12230" y="1143355"/>
                  </a:lnTo>
                  <a:lnTo>
                    <a:pt x="0" y="1097635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147"/>
            <a:ext cx="3968115" cy="84645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40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"Set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up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React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19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frontend.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Generate: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vite.config.ts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proxy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to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Spring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Boot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:8080,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package.json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dependencies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(react@19,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tanstack/react-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query,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recharts,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react-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hook-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form,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zod,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axios,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tailwindcss),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main.tsx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with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QueryClientProvider,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tailwind.config.ts,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global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API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client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(axios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instance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20" dirty="0">
                <a:solidFill>
                  <a:srgbClr val="FCE589"/>
                </a:solidFill>
                <a:latin typeface="Arial"/>
                <a:cs typeface="Arial"/>
              </a:rPr>
              <a:t>JWT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interceptor)."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193925"/>
            <a:ext cx="4534535" cy="2522220"/>
            <a:chOff x="242646" y="2300022"/>
            <a:chExt cx="4534535" cy="252222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300022"/>
              <a:ext cx="4534204" cy="252218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0040" y="2377441"/>
              <a:ext cx="4343400" cy="2331720"/>
            </a:xfrm>
            <a:custGeom>
              <a:avLst/>
              <a:gdLst/>
              <a:ahLst/>
              <a:cxnLst/>
              <a:rect l="l" t="t" r="r" b="b"/>
              <a:pathLst>
                <a:path w="4343400" h="2331720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40"/>
                  </a:lnTo>
                  <a:lnTo>
                    <a:pt x="0" y="2240279"/>
                  </a:lnTo>
                  <a:lnTo>
                    <a:pt x="774" y="2251924"/>
                  </a:lnTo>
                  <a:lnTo>
                    <a:pt x="798" y="2252285"/>
                  </a:lnTo>
                  <a:lnTo>
                    <a:pt x="3076" y="2263589"/>
                  </a:lnTo>
                  <a:lnTo>
                    <a:pt x="3149" y="2263949"/>
                  </a:lnTo>
                  <a:lnTo>
                    <a:pt x="26681" y="2305038"/>
                  </a:lnTo>
                  <a:lnTo>
                    <a:pt x="67770" y="2328570"/>
                  </a:lnTo>
                  <a:lnTo>
                    <a:pt x="91439" y="2331720"/>
                  </a:lnTo>
                  <a:lnTo>
                    <a:pt x="4251960" y="2331364"/>
                  </a:lnTo>
                  <a:lnTo>
                    <a:pt x="4297680" y="2319121"/>
                  </a:lnTo>
                  <a:lnTo>
                    <a:pt x="4331157" y="2285644"/>
                  </a:lnTo>
                  <a:lnTo>
                    <a:pt x="4342528" y="2252285"/>
                  </a:lnTo>
                  <a:lnTo>
                    <a:pt x="4342601" y="2251924"/>
                  </a:lnTo>
                  <a:lnTo>
                    <a:pt x="4343376" y="2240279"/>
                  </a:lnTo>
                  <a:lnTo>
                    <a:pt x="4343400" y="2239924"/>
                  </a:lnTo>
                  <a:lnTo>
                    <a:pt x="4343044" y="91439"/>
                  </a:lnTo>
                  <a:lnTo>
                    <a:pt x="4330801" y="45719"/>
                  </a:lnTo>
                  <a:lnTo>
                    <a:pt x="4297324" y="12242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40" y="2377441"/>
              <a:ext cx="4343400" cy="2331720"/>
            </a:xfrm>
            <a:custGeom>
              <a:avLst/>
              <a:gdLst/>
              <a:ahLst/>
              <a:cxnLst/>
              <a:rect l="l" t="t" r="r" b="b"/>
              <a:pathLst>
                <a:path w="4343400" h="2331720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42"/>
                  </a:lnTo>
                  <a:lnTo>
                    <a:pt x="4330801" y="45719"/>
                  </a:lnTo>
                  <a:lnTo>
                    <a:pt x="4343044" y="91439"/>
                  </a:lnTo>
                  <a:lnTo>
                    <a:pt x="4343400" y="2239924"/>
                  </a:lnTo>
                  <a:lnTo>
                    <a:pt x="4342601" y="2251924"/>
                  </a:lnTo>
                  <a:lnTo>
                    <a:pt x="4340250" y="2263589"/>
                  </a:lnTo>
                  <a:lnTo>
                    <a:pt x="4316718" y="2304673"/>
                  </a:lnTo>
                  <a:lnTo>
                    <a:pt x="4275629" y="2328210"/>
                  </a:lnTo>
                  <a:lnTo>
                    <a:pt x="91439" y="2331720"/>
                  </a:lnTo>
                  <a:lnTo>
                    <a:pt x="45720" y="2319477"/>
                  </a:lnTo>
                  <a:lnTo>
                    <a:pt x="12242" y="2286000"/>
                  </a:lnTo>
                  <a:lnTo>
                    <a:pt x="0" y="22402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259198"/>
            <a:ext cx="3066415" cy="9607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 marR="377825">
              <a:lnSpc>
                <a:spcPct val="102499"/>
              </a:lnSpc>
              <a:spcBef>
                <a:spcPts val="509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api/client.ts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Generated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by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Claude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Code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apiClient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axios.create({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baseURL: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import.meta.env.VITE_API_URL,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headers: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'Content-Type':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'application/json'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});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140" y="3319209"/>
            <a:ext cx="3314065" cy="775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890" marR="438784" indent="-123825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apiClient.interceptors.request.use(config</a:t>
            </a:r>
            <a:r>
              <a:rPr sz="800" spc="1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=&gt;</a:t>
            </a:r>
            <a:r>
              <a:rPr sz="800" spc="1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token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localStorage.getItem('jwt');</a:t>
            </a:r>
            <a:r>
              <a:rPr sz="800" spc="500" dirty="0">
                <a:solidFill>
                  <a:srgbClr val="E1E7EF"/>
                </a:solidFill>
                <a:latin typeface="Courier New"/>
                <a:cs typeface="Courier New"/>
              </a:rPr>
              <a:t> 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if</a:t>
            </a:r>
            <a:r>
              <a:rPr sz="800" spc="1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(token)</a:t>
            </a:r>
            <a:endParaRPr sz="800">
              <a:latin typeface="Courier New"/>
              <a:cs typeface="Courier New"/>
            </a:endParaRPr>
          </a:p>
          <a:p>
            <a:pPr marL="135890" marR="5080" indent="12446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config.headers.Authorization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`Bearer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${token}`;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return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config;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});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5140" y="4193642"/>
            <a:ext cx="2259965" cy="400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890" marR="5080" indent="-123825">
              <a:lnSpc>
                <a:spcPct val="102499"/>
              </a:lnSpc>
              <a:spcBef>
                <a:spcPts val="9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apiClient.interceptors.response.use(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res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=&gt;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res,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async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err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=&gt;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3539" y="5049268"/>
            <a:ext cx="8826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68926" y="1037871"/>
            <a:ext cx="4168775" cy="3662553"/>
            <a:chOff x="4768926" y="1037871"/>
            <a:chExt cx="4168775" cy="378396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7871"/>
              <a:ext cx="4168444" cy="378396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932"/>
                  </a:lnTo>
                  <a:lnTo>
                    <a:pt x="355" y="109804"/>
                  </a:lnTo>
                  <a:lnTo>
                    <a:pt x="0" y="3484079"/>
                  </a:lnTo>
                  <a:lnTo>
                    <a:pt x="929" y="3498349"/>
                  </a:lnTo>
                  <a:lnTo>
                    <a:pt x="939" y="3498510"/>
                  </a:lnTo>
                  <a:lnTo>
                    <a:pt x="3699" y="3512385"/>
                  </a:lnTo>
                  <a:lnTo>
                    <a:pt x="3735" y="3512567"/>
                  </a:lnTo>
                  <a:lnTo>
                    <a:pt x="8284" y="3525949"/>
                  </a:lnTo>
                  <a:lnTo>
                    <a:pt x="32213" y="3561703"/>
                  </a:lnTo>
                  <a:lnTo>
                    <a:pt x="67932" y="3585525"/>
                  </a:lnTo>
                  <a:lnTo>
                    <a:pt x="109791" y="3593884"/>
                  </a:lnTo>
                  <a:lnTo>
                    <a:pt x="3868191" y="3593884"/>
                  </a:lnTo>
                  <a:lnTo>
                    <a:pt x="3910262" y="3585525"/>
                  </a:lnTo>
                  <a:lnTo>
                    <a:pt x="3945766" y="3561703"/>
                  </a:lnTo>
                  <a:lnTo>
                    <a:pt x="3969542" y="3526151"/>
                  </a:lnTo>
                  <a:lnTo>
                    <a:pt x="3974198" y="3512567"/>
                  </a:lnTo>
                  <a:lnTo>
                    <a:pt x="3974260" y="3512385"/>
                  </a:lnTo>
                  <a:lnTo>
                    <a:pt x="3977023" y="3498510"/>
                  </a:lnTo>
                  <a:lnTo>
                    <a:pt x="3977055" y="3498349"/>
                  </a:lnTo>
                  <a:lnTo>
                    <a:pt x="3977995" y="3484079"/>
                  </a:lnTo>
                  <a:lnTo>
                    <a:pt x="3977972" y="109804"/>
                  </a:lnTo>
                  <a:lnTo>
                    <a:pt x="3969642" y="68088"/>
                  </a:lnTo>
                  <a:lnTo>
                    <a:pt x="3945772" y="32535"/>
                  </a:lnTo>
                  <a:lnTo>
                    <a:pt x="3910062" y="8713"/>
                  </a:lnTo>
                  <a:lnTo>
                    <a:pt x="3868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355" y="109804"/>
                  </a:moveTo>
                  <a:lnTo>
                    <a:pt x="1295" y="95529"/>
                  </a:lnTo>
                  <a:lnTo>
                    <a:pt x="4090" y="81494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55"/>
                  </a:lnTo>
                  <a:lnTo>
                    <a:pt x="3910062" y="8713"/>
                  </a:lnTo>
                  <a:lnTo>
                    <a:pt x="3945772" y="32535"/>
                  </a:lnTo>
                  <a:lnTo>
                    <a:pt x="3969642" y="68088"/>
                  </a:lnTo>
                  <a:lnTo>
                    <a:pt x="3977995" y="110159"/>
                  </a:lnTo>
                  <a:lnTo>
                    <a:pt x="3977995" y="3484079"/>
                  </a:lnTo>
                  <a:lnTo>
                    <a:pt x="3977055" y="3498349"/>
                  </a:lnTo>
                  <a:lnTo>
                    <a:pt x="3974260" y="3512385"/>
                  </a:lnTo>
                  <a:lnTo>
                    <a:pt x="3955218" y="3550872"/>
                  </a:lnTo>
                  <a:lnTo>
                    <a:pt x="3923271" y="3579114"/>
                  </a:lnTo>
                  <a:lnTo>
                    <a:pt x="3882621" y="3592944"/>
                  </a:lnTo>
                  <a:lnTo>
                    <a:pt x="3868191" y="3593884"/>
                  </a:lnTo>
                  <a:lnTo>
                    <a:pt x="109791" y="3593884"/>
                  </a:lnTo>
                  <a:lnTo>
                    <a:pt x="67932" y="3585525"/>
                  </a:lnTo>
                  <a:lnTo>
                    <a:pt x="32213" y="3561703"/>
                  </a:lnTo>
                  <a:lnTo>
                    <a:pt x="8352" y="3526151"/>
                  </a:lnTo>
                  <a:lnTo>
                    <a:pt x="0" y="348407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E957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970424" y="1167538"/>
            <a:ext cx="27257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E9570B"/>
                </a:solidFill>
                <a:latin typeface="MingLiU_HKSCS-ExtB"/>
                <a:cs typeface="MingLiU_HKSCS-ExtB"/>
              </a:rPr>
              <a:t>🌐</a:t>
            </a:r>
            <a:r>
              <a:rPr sz="1300" spc="-290" dirty="0">
                <a:solidFill>
                  <a:srgbClr val="E9570B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What</a:t>
            </a:r>
            <a:r>
              <a:rPr sz="1100" b="1" spc="-50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This</a:t>
            </a:r>
            <a:r>
              <a:rPr sz="1100" b="1" spc="-15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Component</a:t>
            </a:r>
            <a:r>
              <a:rPr sz="1100" b="1" spc="-30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E9570B"/>
                </a:solidFill>
                <a:latin typeface="Calibri"/>
                <a:cs typeface="Calibri"/>
              </a:rPr>
              <a:t>Does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70424" y="1568782"/>
            <a:ext cx="35775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Full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working component generated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by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Claude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Code.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Ready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to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use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with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minor</a:t>
            </a:r>
            <a:r>
              <a:rPr sz="90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customisation.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70424" y="2037010"/>
            <a:ext cx="1887576" cy="1930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0" dirty="0">
                <a:solidFill>
                  <a:srgbClr val="E9570B"/>
                </a:solidFill>
                <a:latin typeface="MingLiU_HKSCS-ExtB"/>
                <a:cs typeface="MingLiU_HKSCS-ExtB"/>
              </a:rPr>
              <a:t>📝</a:t>
            </a:r>
            <a:r>
              <a:rPr sz="1000" b="1" spc="10" dirty="0">
                <a:solidFill>
                  <a:srgbClr val="E9570B"/>
                </a:solidFill>
                <a:latin typeface="Calibri"/>
                <a:cs typeface="Calibri"/>
              </a:rPr>
              <a:t>Next</a:t>
            </a:r>
            <a:r>
              <a:rPr sz="1000" b="1" spc="185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E9570B"/>
                </a:solidFill>
                <a:latin typeface="Calibri"/>
                <a:cs typeface="Calibri"/>
              </a:rPr>
              <a:t>Step: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70424" y="2512341"/>
            <a:ext cx="36582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prompt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in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Claude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Code.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Review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generated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component.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Accept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diff.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Run: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npm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13016" y="4747783"/>
            <a:ext cx="8517255" cy="360680"/>
            <a:chOff x="313016" y="4656786"/>
            <a:chExt cx="8517255" cy="360680"/>
          </a:xfrm>
        </p:grpSpPr>
        <p:sp>
          <p:nvSpPr>
            <p:cNvPr id="29" name="object 29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18744" y="4636625"/>
            <a:ext cx="248793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650" spc="292" baseline="-37878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650" spc="127" baseline="-37878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if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(err.response?.status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===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401)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1423" y="4810760"/>
            <a:ext cx="6661150" cy="35496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0"/>
              </a:spcBef>
            </a:pPr>
            <a:r>
              <a:rPr sz="950" spc="-150" dirty="0">
                <a:solidFill>
                  <a:srgbClr val="774409"/>
                </a:solidFill>
                <a:latin typeface="Calibri"/>
                <a:cs typeface="Calibri"/>
              </a:rPr>
              <a:t>Rea</a:t>
            </a:r>
            <a:r>
              <a:rPr sz="1200" spc="-225" baseline="-17361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15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225" baseline="-17361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15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1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555" baseline="-17361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950" spc="-114" dirty="0">
                <a:solidFill>
                  <a:srgbClr val="774409"/>
                </a:solidFill>
                <a:latin typeface="Calibri"/>
                <a:cs typeface="Calibri"/>
              </a:rPr>
              <a:t>1</a:t>
            </a:r>
            <a:r>
              <a:rPr sz="1200" spc="-569" baseline="-17361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100" dirty="0">
                <a:solidFill>
                  <a:srgbClr val="774409"/>
                </a:solidFill>
                <a:latin typeface="Calibri"/>
                <a:cs typeface="Calibri"/>
              </a:rPr>
              <a:t>9</a:t>
            </a:r>
            <a:r>
              <a:rPr sz="1200" spc="-270" baseline="-17361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28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330" baseline="-17361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1200" spc="-712" baseline="-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950" spc="-240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1200" spc="-37" baseline="-17361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525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7" baseline="-17361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1200" spc="-405" baseline="-17361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450" baseline="-17361" dirty="0">
                <a:solidFill>
                  <a:srgbClr val="E1E7EF"/>
                </a:solidFill>
                <a:latin typeface="Courier New"/>
                <a:cs typeface="Courier New"/>
              </a:rPr>
              <a:t>g</a:t>
            </a:r>
            <a:r>
              <a:rPr sz="950" spc="-215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1200" spc="-412" baseline="-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229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412" baseline="-17361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135" baseline="-17361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434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112" baseline="-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430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97" baseline="-17361" dirty="0">
                <a:solidFill>
                  <a:srgbClr val="E1E7EF"/>
                </a:solidFill>
                <a:latin typeface="Courier New"/>
                <a:cs typeface="Courier New"/>
              </a:rPr>
              <a:t>m</a:t>
            </a:r>
            <a:r>
              <a:rPr sz="950" spc="-459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60" baseline="-17361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44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7" baseline="-17361" dirty="0">
                <a:solidFill>
                  <a:srgbClr val="E1E7EF"/>
                </a:solidFill>
                <a:latin typeface="Courier New"/>
                <a:cs typeface="Courier New"/>
              </a:rPr>
              <a:t>v</a:t>
            </a:r>
            <a:r>
              <a:rPr sz="1200" spc="-502" baseline="-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170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1200" spc="-502" baseline="-17361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170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480" baseline="-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465" baseline="-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17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480" baseline="-17361" dirty="0">
                <a:solidFill>
                  <a:srgbClr val="E1E7EF"/>
                </a:solidFill>
                <a:latin typeface="Courier New"/>
                <a:cs typeface="Courier New"/>
              </a:rPr>
              <a:t>m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-36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217" baseline="-17361" dirty="0">
                <a:solidFill>
                  <a:srgbClr val="E1E7EF"/>
                </a:solidFill>
                <a:latin typeface="Courier New"/>
                <a:cs typeface="Courier New"/>
              </a:rPr>
              <a:t>(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494" baseline="-17361" dirty="0">
                <a:solidFill>
                  <a:srgbClr val="E1E7EF"/>
                </a:solidFill>
                <a:latin typeface="Courier New"/>
                <a:cs typeface="Courier New"/>
              </a:rPr>
              <a:t>'</a:t>
            </a:r>
            <a:r>
              <a:rPr sz="950" spc="-12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547" baseline="-17361" dirty="0">
                <a:solidFill>
                  <a:srgbClr val="E1E7EF"/>
                </a:solidFill>
                <a:latin typeface="Courier New"/>
                <a:cs typeface="Courier New"/>
              </a:rPr>
              <a:t>j</a:t>
            </a:r>
            <a:r>
              <a:rPr sz="950" spc="-150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509" baseline="-17361" dirty="0">
                <a:solidFill>
                  <a:srgbClr val="E1E7EF"/>
                </a:solidFill>
                <a:latin typeface="Courier New"/>
                <a:cs typeface="Courier New"/>
              </a:rPr>
              <a:t>w</a:t>
            </a:r>
            <a:r>
              <a:rPr sz="950" spc="-16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509" baseline="-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367" baseline="-17361" dirty="0">
                <a:solidFill>
                  <a:srgbClr val="E1E7EF"/>
                </a:solidFill>
                <a:latin typeface="Courier New"/>
                <a:cs typeface="Courier New"/>
              </a:rPr>
              <a:t>'</a:t>
            </a:r>
            <a:r>
              <a:rPr sz="950" spc="-27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375" baseline="-17361" dirty="0">
                <a:solidFill>
                  <a:srgbClr val="E1E7EF"/>
                </a:solidFill>
                <a:latin typeface="Courier New"/>
                <a:cs typeface="Courier New"/>
              </a:rPr>
              <a:t>)</a:t>
            </a:r>
            <a:r>
              <a:rPr sz="950" spc="-229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90" baseline="-17361" dirty="0">
                <a:solidFill>
                  <a:srgbClr val="E1E7EF"/>
                </a:solidFill>
                <a:latin typeface="Courier New"/>
                <a:cs typeface="Courier New"/>
              </a:rPr>
              <a:t>;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 19 Server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Components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 — specify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'use client'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or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'use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server'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your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prompt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 when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needed.</a:t>
            </a:r>
            <a:endParaRPr sz="950" dirty="0">
              <a:latin typeface="Calibri"/>
              <a:cs typeface="Calibri"/>
            </a:endParaRPr>
          </a:p>
          <a:p>
            <a:pPr marL="198120">
              <a:lnSpc>
                <a:spcPct val="100000"/>
              </a:lnSpc>
              <a:spcBef>
                <a:spcPts val="24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window.location.href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'/login';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42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E957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TanStack</a:t>
            </a:r>
            <a:r>
              <a:rPr spc="-50" dirty="0"/>
              <a:t> </a:t>
            </a:r>
            <a:r>
              <a:rPr dirty="0"/>
              <a:t>Query</a:t>
            </a:r>
            <a:r>
              <a:rPr spc="-50" dirty="0"/>
              <a:t> </a:t>
            </a:r>
            <a:r>
              <a:rPr dirty="0"/>
              <a:t>—</a:t>
            </a:r>
            <a:r>
              <a:rPr spc="-45" dirty="0"/>
              <a:t> </a:t>
            </a:r>
            <a:r>
              <a:rPr dirty="0"/>
              <a:t>Finance</a:t>
            </a:r>
            <a:r>
              <a:rPr spc="-45" dirty="0"/>
              <a:t> </a:t>
            </a:r>
            <a:r>
              <a:rPr dirty="0"/>
              <a:t>API</a:t>
            </a:r>
            <a:r>
              <a:rPr spc="-55" dirty="0"/>
              <a:t> </a:t>
            </a:r>
            <a:r>
              <a:rPr spc="-10" dirty="0"/>
              <a:t>Hooks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75780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90" dirty="0">
                <a:solidFill>
                  <a:srgbClr val="9FBFFF"/>
                </a:solidFill>
                <a:latin typeface="+mn-lt"/>
                <a:cs typeface="Arial"/>
              </a:rPr>
              <a:t>Type-</a:t>
            </a:r>
            <a:r>
              <a:rPr sz="1000" i="1" spc="-60" dirty="0">
                <a:solidFill>
                  <a:srgbClr val="9FBFFF"/>
                </a:solidFill>
                <a:latin typeface="+mn-lt"/>
                <a:cs typeface="Arial"/>
              </a:rPr>
              <a:t>safe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80" dirty="0">
                <a:solidFill>
                  <a:srgbClr val="9FBFFF"/>
                </a:solidFill>
                <a:latin typeface="+mn-lt"/>
                <a:cs typeface="Arial"/>
              </a:rPr>
              <a:t>React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+mn-lt"/>
                <a:cs typeface="Arial"/>
              </a:rPr>
              <a:t>Query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+mn-lt"/>
                <a:cs typeface="Arial"/>
              </a:rPr>
              <a:t>hooks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for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all</a:t>
            </a:r>
            <a:r>
              <a:rPr sz="1000" i="1" spc="-45" dirty="0">
                <a:solidFill>
                  <a:srgbClr val="9FBFFF"/>
                </a:solidFill>
                <a:latin typeface="+mn-lt"/>
                <a:cs typeface="Arial"/>
              </a:rPr>
              <a:t> finance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endpoints</a:t>
            </a:r>
            <a:endParaRPr sz="1000" dirty="0">
              <a:latin typeface="+mn-lt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8474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7871"/>
            <a:ext cx="4533900" cy="1379220"/>
            <a:chOff x="242646" y="1037871"/>
            <a:chExt cx="4533900" cy="13792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7871"/>
              <a:ext cx="4533836" cy="137916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4922"/>
              <a:ext cx="4344035" cy="1189355"/>
            </a:xfrm>
            <a:custGeom>
              <a:avLst/>
              <a:gdLst/>
              <a:ahLst/>
              <a:cxnLst/>
              <a:rect l="l" t="t" r="r" b="b"/>
              <a:pathLst>
                <a:path w="4344035" h="1189355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097635"/>
                  </a:lnTo>
                  <a:lnTo>
                    <a:pt x="798" y="1109642"/>
                  </a:lnTo>
                  <a:lnTo>
                    <a:pt x="18830" y="1153399"/>
                  </a:lnTo>
                  <a:lnTo>
                    <a:pt x="56505" y="1182094"/>
                  </a:lnTo>
                  <a:lnTo>
                    <a:pt x="91439" y="1189075"/>
                  </a:lnTo>
                  <a:lnTo>
                    <a:pt x="4252315" y="1189075"/>
                  </a:lnTo>
                  <a:lnTo>
                    <a:pt x="4298035" y="1176845"/>
                  </a:lnTo>
                  <a:lnTo>
                    <a:pt x="4331512" y="1143355"/>
                  </a:lnTo>
                  <a:lnTo>
                    <a:pt x="4343755" y="1097635"/>
                  </a:lnTo>
                  <a:lnTo>
                    <a:pt x="4343731" y="91440"/>
                  </a:lnTo>
                  <a:lnTo>
                    <a:pt x="4331512" y="46075"/>
                  </a:lnTo>
                  <a:lnTo>
                    <a:pt x="4298035" y="12598"/>
                  </a:lnTo>
                  <a:lnTo>
                    <a:pt x="42523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4922"/>
              <a:ext cx="4344035" cy="1189355"/>
            </a:xfrm>
            <a:custGeom>
              <a:avLst/>
              <a:gdLst/>
              <a:ahLst/>
              <a:cxnLst/>
              <a:rect l="l" t="t" r="r" b="b"/>
              <a:pathLst>
                <a:path w="4344035" h="118935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81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55"/>
                  </a:lnTo>
                  <a:lnTo>
                    <a:pt x="4298035" y="12598"/>
                  </a:lnTo>
                  <a:lnTo>
                    <a:pt x="4331512" y="46075"/>
                  </a:lnTo>
                  <a:lnTo>
                    <a:pt x="4343755" y="91795"/>
                  </a:lnTo>
                  <a:lnTo>
                    <a:pt x="4343755" y="1097635"/>
                  </a:lnTo>
                  <a:lnTo>
                    <a:pt x="4342957" y="1109642"/>
                  </a:lnTo>
                  <a:lnTo>
                    <a:pt x="4340606" y="1121309"/>
                  </a:lnTo>
                  <a:lnTo>
                    <a:pt x="4317074" y="1162396"/>
                  </a:lnTo>
                  <a:lnTo>
                    <a:pt x="4275985" y="1185927"/>
                  </a:lnTo>
                  <a:lnTo>
                    <a:pt x="4252315" y="1189075"/>
                  </a:lnTo>
                  <a:lnTo>
                    <a:pt x="91439" y="1189075"/>
                  </a:lnTo>
                  <a:lnTo>
                    <a:pt x="45719" y="1176845"/>
                  </a:lnTo>
                  <a:lnTo>
                    <a:pt x="12230" y="1143355"/>
                  </a:lnTo>
                  <a:lnTo>
                    <a:pt x="0" y="1097635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147"/>
            <a:ext cx="4008120" cy="84645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40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React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Query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hooks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(useQuery,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useMutation)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API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in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hooks/useFinance.ts.</a:t>
            </a:r>
            <a:r>
              <a:rPr sz="850" i="1" spc="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Include:</a:t>
            </a:r>
            <a:r>
              <a:rPr sz="850" i="1" spc="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useProfitLoss(projectId,</a:t>
            </a:r>
            <a:r>
              <a:rPr sz="850" i="1" spc="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from,</a:t>
            </a:r>
            <a:r>
              <a:rPr sz="850" i="1" spc="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to),</a:t>
            </a:r>
            <a:r>
              <a:rPr sz="850" i="1" spc="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useBalanceSheet(projectId,</a:t>
            </a:r>
            <a:r>
              <a:rPr sz="850" i="1" spc="50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asOf),</a:t>
            </a:r>
            <a:r>
              <a:rPr sz="850" i="1" spc="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useJournalEntries(projectId,</a:t>
            </a:r>
            <a:r>
              <a:rPr sz="850" i="1" spc="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page),</a:t>
            </a:r>
            <a:r>
              <a:rPr sz="850" i="1" spc="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usePostJournalEntry()</a:t>
            </a:r>
            <a:r>
              <a:rPr sz="850" i="1" spc="6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mutation</a:t>
            </a:r>
            <a:r>
              <a:rPr sz="850" i="1" spc="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optimistic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update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cache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invalidation."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300022"/>
            <a:ext cx="4534535" cy="2522220"/>
            <a:chOff x="242646" y="2300022"/>
            <a:chExt cx="4534535" cy="252222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300022"/>
              <a:ext cx="4534204" cy="252218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0040" y="2377441"/>
              <a:ext cx="4343400" cy="2331720"/>
            </a:xfrm>
            <a:custGeom>
              <a:avLst/>
              <a:gdLst/>
              <a:ahLst/>
              <a:cxnLst/>
              <a:rect l="l" t="t" r="r" b="b"/>
              <a:pathLst>
                <a:path w="4343400" h="2331720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40"/>
                  </a:lnTo>
                  <a:lnTo>
                    <a:pt x="0" y="2240279"/>
                  </a:lnTo>
                  <a:lnTo>
                    <a:pt x="774" y="2251924"/>
                  </a:lnTo>
                  <a:lnTo>
                    <a:pt x="798" y="2252285"/>
                  </a:lnTo>
                  <a:lnTo>
                    <a:pt x="3076" y="2263589"/>
                  </a:lnTo>
                  <a:lnTo>
                    <a:pt x="3149" y="2263949"/>
                  </a:lnTo>
                  <a:lnTo>
                    <a:pt x="26681" y="2305038"/>
                  </a:lnTo>
                  <a:lnTo>
                    <a:pt x="67770" y="2328570"/>
                  </a:lnTo>
                  <a:lnTo>
                    <a:pt x="91439" y="2331720"/>
                  </a:lnTo>
                  <a:lnTo>
                    <a:pt x="4251960" y="2331364"/>
                  </a:lnTo>
                  <a:lnTo>
                    <a:pt x="4297680" y="2319121"/>
                  </a:lnTo>
                  <a:lnTo>
                    <a:pt x="4331157" y="2285644"/>
                  </a:lnTo>
                  <a:lnTo>
                    <a:pt x="4342528" y="2252285"/>
                  </a:lnTo>
                  <a:lnTo>
                    <a:pt x="4342601" y="2251924"/>
                  </a:lnTo>
                  <a:lnTo>
                    <a:pt x="4343376" y="2240279"/>
                  </a:lnTo>
                  <a:lnTo>
                    <a:pt x="4343400" y="2239924"/>
                  </a:lnTo>
                  <a:lnTo>
                    <a:pt x="4343044" y="91439"/>
                  </a:lnTo>
                  <a:lnTo>
                    <a:pt x="4330801" y="45719"/>
                  </a:lnTo>
                  <a:lnTo>
                    <a:pt x="4297324" y="12242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40" y="2377441"/>
              <a:ext cx="4343400" cy="2331720"/>
            </a:xfrm>
            <a:custGeom>
              <a:avLst/>
              <a:gdLst/>
              <a:ahLst/>
              <a:cxnLst/>
              <a:rect l="l" t="t" r="r" b="b"/>
              <a:pathLst>
                <a:path w="4343400" h="2331720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42"/>
                  </a:lnTo>
                  <a:lnTo>
                    <a:pt x="4330801" y="45719"/>
                  </a:lnTo>
                  <a:lnTo>
                    <a:pt x="4343044" y="91439"/>
                  </a:lnTo>
                  <a:lnTo>
                    <a:pt x="4343400" y="2239924"/>
                  </a:lnTo>
                  <a:lnTo>
                    <a:pt x="4342601" y="2251924"/>
                  </a:lnTo>
                  <a:lnTo>
                    <a:pt x="4340250" y="2263589"/>
                  </a:lnTo>
                  <a:lnTo>
                    <a:pt x="4316718" y="2304673"/>
                  </a:lnTo>
                  <a:lnTo>
                    <a:pt x="4275629" y="2328210"/>
                  </a:lnTo>
                  <a:lnTo>
                    <a:pt x="91439" y="2331720"/>
                  </a:lnTo>
                  <a:lnTo>
                    <a:pt x="45720" y="2319477"/>
                  </a:lnTo>
                  <a:lnTo>
                    <a:pt x="12242" y="2286000"/>
                  </a:lnTo>
                  <a:lnTo>
                    <a:pt x="0" y="22402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365295"/>
            <a:ext cx="3190875" cy="208470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1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hooks/useFinance.ts</a:t>
            </a:r>
            <a:endParaRPr sz="800">
              <a:latin typeface="Courier New"/>
              <a:cs typeface="Courier New"/>
            </a:endParaRPr>
          </a:p>
          <a:p>
            <a:pPr marL="135890" marR="1308735" indent="-12382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export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useProfitLoss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(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projectId: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number,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from: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string,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to: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string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)</a:t>
            </a:r>
            <a:r>
              <a:rPr sz="800" spc="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=&gt;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useQuery({</a:t>
            </a:r>
            <a:endParaRPr sz="800">
              <a:latin typeface="Courier New"/>
              <a:cs typeface="Courier New"/>
            </a:endParaRPr>
          </a:p>
          <a:p>
            <a:pPr marL="260985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queryKey: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['profit-loss',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projectId,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from,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to],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queryFn: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()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=&gt;</a:t>
            </a:r>
            <a:endParaRPr sz="800">
              <a:latin typeface="Courier New"/>
              <a:cs typeface="Courier New"/>
            </a:endParaRPr>
          </a:p>
          <a:p>
            <a:pPr marL="384175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apiClient.get&lt;ProfitLossReport&gt;(</a:t>
            </a:r>
            <a:endParaRPr sz="800">
              <a:latin typeface="Courier New"/>
              <a:cs typeface="Courier New"/>
            </a:endParaRPr>
          </a:p>
          <a:p>
            <a:pPr marL="50927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`/reports/profit-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loss`,</a:t>
            </a:r>
            <a:endParaRPr sz="800">
              <a:latin typeface="Courier New"/>
              <a:cs typeface="Courier New"/>
            </a:endParaRPr>
          </a:p>
          <a:p>
            <a:pPr marL="50927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params: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projectId,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from,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  <a:p>
            <a:pPr marL="38417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).then(r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=&gt;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r.data),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staleTime: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5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*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60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*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1000,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5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min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cache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});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140" y="4549586"/>
            <a:ext cx="263207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export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usePostJournalEntry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()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=&gt;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8622" y="4674503"/>
            <a:ext cx="176276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qc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useQueryClient();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7021" y="5049268"/>
            <a:ext cx="250761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apiClient.post('/journal-entries',</a:t>
            </a:r>
            <a:r>
              <a:rPr sz="800" spc="2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req),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68926" y="1037871"/>
            <a:ext cx="4168775" cy="3783965"/>
            <a:chOff x="4768926" y="1037871"/>
            <a:chExt cx="4168775" cy="378396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7871"/>
              <a:ext cx="4168444" cy="378396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932"/>
                  </a:lnTo>
                  <a:lnTo>
                    <a:pt x="355" y="109804"/>
                  </a:lnTo>
                  <a:lnTo>
                    <a:pt x="0" y="3484079"/>
                  </a:lnTo>
                  <a:lnTo>
                    <a:pt x="929" y="3498349"/>
                  </a:lnTo>
                  <a:lnTo>
                    <a:pt x="939" y="3498510"/>
                  </a:lnTo>
                  <a:lnTo>
                    <a:pt x="3699" y="3512385"/>
                  </a:lnTo>
                  <a:lnTo>
                    <a:pt x="3735" y="3512567"/>
                  </a:lnTo>
                  <a:lnTo>
                    <a:pt x="8284" y="3525949"/>
                  </a:lnTo>
                  <a:lnTo>
                    <a:pt x="32213" y="3561703"/>
                  </a:lnTo>
                  <a:lnTo>
                    <a:pt x="67932" y="3585525"/>
                  </a:lnTo>
                  <a:lnTo>
                    <a:pt x="109791" y="3593884"/>
                  </a:lnTo>
                  <a:lnTo>
                    <a:pt x="3868191" y="3593884"/>
                  </a:lnTo>
                  <a:lnTo>
                    <a:pt x="3910262" y="3585525"/>
                  </a:lnTo>
                  <a:lnTo>
                    <a:pt x="3945766" y="3561703"/>
                  </a:lnTo>
                  <a:lnTo>
                    <a:pt x="3969542" y="3526151"/>
                  </a:lnTo>
                  <a:lnTo>
                    <a:pt x="3974198" y="3512567"/>
                  </a:lnTo>
                  <a:lnTo>
                    <a:pt x="3974260" y="3512385"/>
                  </a:lnTo>
                  <a:lnTo>
                    <a:pt x="3977023" y="3498510"/>
                  </a:lnTo>
                  <a:lnTo>
                    <a:pt x="3977055" y="3498349"/>
                  </a:lnTo>
                  <a:lnTo>
                    <a:pt x="3977995" y="3484079"/>
                  </a:lnTo>
                  <a:lnTo>
                    <a:pt x="3977972" y="109804"/>
                  </a:lnTo>
                  <a:lnTo>
                    <a:pt x="3969642" y="68088"/>
                  </a:lnTo>
                  <a:lnTo>
                    <a:pt x="3945772" y="32535"/>
                  </a:lnTo>
                  <a:lnTo>
                    <a:pt x="3910062" y="8713"/>
                  </a:lnTo>
                  <a:lnTo>
                    <a:pt x="3868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355" y="109804"/>
                  </a:moveTo>
                  <a:lnTo>
                    <a:pt x="1295" y="95529"/>
                  </a:lnTo>
                  <a:lnTo>
                    <a:pt x="4090" y="81494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55"/>
                  </a:lnTo>
                  <a:lnTo>
                    <a:pt x="3910062" y="8713"/>
                  </a:lnTo>
                  <a:lnTo>
                    <a:pt x="3945772" y="32535"/>
                  </a:lnTo>
                  <a:lnTo>
                    <a:pt x="3969642" y="68088"/>
                  </a:lnTo>
                  <a:lnTo>
                    <a:pt x="3977995" y="110159"/>
                  </a:lnTo>
                  <a:lnTo>
                    <a:pt x="3977995" y="3484079"/>
                  </a:lnTo>
                  <a:lnTo>
                    <a:pt x="3977055" y="3498349"/>
                  </a:lnTo>
                  <a:lnTo>
                    <a:pt x="3974260" y="3512385"/>
                  </a:lnTo>
                  <a:lnTo>
                    <a:pt x="3955218" y="3550872"/>
                  </a:lnTo>
                  <a:lnTo>
                    <a:pt x="3923271" y="3579114"/>
                  </a:lnTo>
                  <a:lnTo>
                    <a:pt x="3882621" y="3592944"/>
                  </a:lnTo>
                  <a:lnTo>
                    <a:pt x="3868191" y="3593884"/>
                  </a:lnTo>
                  <a:lnTo>
                    <a:pt x="109791" y="3593884"/>
                  </a:lnTo>
                  <a:lnTo>
                    <a:pt x="67932" y="3585525"/>
                  </a:lnTo>
                  <a:lnTo>
                    <a:pt x="32213" y="3561703"/>
                  </a:lnTo>
                  <a:lnTo>
                    <a:pt x="8352" y="3526151"/>
                  </a:lnTo>
                  <a:lnTo>
                    <a:pt x="0" y="348407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E957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970424" y="1167538"/>
            <a:ext cx="25733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E9570B"/>
                </a:solidFill>
                <a:latin typeface="MingLiU_HKSCS-ExtB"/>
                <a:cs typeface="MingLiU_HKSCS-ExtB"/>
              </a:rPr>
              <a:t>🌐</a:t>
            </a:r>
            <a:r>
              <a:rPr sz="1300" spc="-290" dirty="0">
                <a:solidFill>
                  <a:srgbClr val="E9570B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What</a:t>
            </a:r>
            <a:r>
              <a:rPr sz="1100" b="1" spc="-50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This</a:t>
            </a:r>
            <a:r>
              <a:rPr sz="1100" b="1" spc="-15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Component</a:t>
            </a:r>
            <a:r>
              <a:rPr sz="1100" b="1" spc="-30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E9570B"/>
                </a:solidFill>
                <a:latin typeface="Calibri"/>
                <a:cs typeface="Calibri"/>
              </a:rPr>
              <a:t>Does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70424" y="1568782"/>
            <a:ext cx="35775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Full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working component generated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by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Claude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Code.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Ready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to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use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with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minor</a:t>
            </a:r>
            <a:r>
              <a:rPr sz="90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customisation.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70424" y="2037010"/>
            <a:ext cx="1963776" cy="1930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0" dirty="0">
                <a:solidFill>
                  <a:srgbClr val="E9570B"/>
                </a:solidFill>
                <a:latin typeface="MingLiU_HKSCS-ExtB"/>
                <a:cs typeface="MingLiU_HKSCS-ExtB"/>
              </a:rPr>
              <a:t>📝</a:t>
            </a:r>
            <a:r>
              <a:rPr sz="1000" b="1" spc="10" dirty="0">
                <a:solidFill>
                  <a:srgbClr val="E9570B"/>
                </a:solidFill>
                <a:latin typeface="Calibri"/>
                <a:cs typeface="Calibri"/>
              </a:rPr>
              <a:t>Next</a:t>
            </a:r>
            <a:r>
              <a:rPr sz="1000" b="1" spc="185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E9570B"/>
                </a:solidFill>
                <a:latin typeface="Calibri"/>
                <a:cs typeface="Calibri"/>
              </a:rPr>
              <a:t>Step: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70424" y="2512341"/>
            <a:ext cx="36582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prompt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in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Claude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Code.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Review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generated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component.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Accept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diff.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Run: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npm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13016" y="4747375"/>
            <a:ext cx="8517255" cy="360680"/>
            <a:chOff x="313016" y="4656786"/>
            <a:chExt cx="8517255" cy="360680"/>
          </a:xfrm>
        </p:grpSpPr>
        <p:sp>
          <p:nvSpPr>
            <p:cNvPr id="29" name="object 29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18744" y="4789170"/>
            <a:ext cx="6863715" cy="37655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70"/>
              </a:spcBef>
            </a:pPr>
            <a:r>
              <a:rPr sz="1100" spc="-204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200" spc="-307" baseline="-17361" dirty="0">
                <a:solidFill>
                  <a:srgbClr val="E1E7EF"/>
                </a:solidFill>
                <a:latin typeface="Courier New"/>
                <a:cs typeface="Courier New"/>
              </a:rPr>
              <a:t>re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307" baseline="-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07" baseline="-17361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307" baseline="-17361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307" baseline="-17361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1</a:t>
            </a:r>
            <a:r>
              <a:rPr sz="1200" spc="-307" baseline="-17361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9</a:t>
            </a:r>
            <a:r>
              <a:rPr sz="1200" spc="-307" baseline="-17361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307" baseline="-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1200" spc="-307" baseline="-17361" dirty="0">
                <a:solidFill>
                  <a:srgbClr val="E1E7EF"/>
                </a:solidFill>
                <a:latin typeface="Courier New"/>
                <a:cs typeface="Courier New"/>
              </a:rPr>
              <a:t>M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307" baseline="-17361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315" baseline="-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Cl</a:t>
            </a:r>
            <a:r>
              <a:rPr sz="1200" spc="-315" baseline="-17361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315" baseline="-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1200" spc="-315" baseline="-17361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315" baseline="-17361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15" baseline="-17361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315" baseline="-17361" dirty="0">
                <a:solidFill>
                  <a:srgbClr val="E1E7EF"/>
                </a:solidFill>
                <a:latin typeface="Courier New"/>
                <a:cs typeface="Courier New"/>
              </a:rPr>
              <a:t>(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315" baseline="-17361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de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understands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React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19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Server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Components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specify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'use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client'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or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'use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server'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your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prompt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when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needed.</a:t>
            </a:r>
            <a:endParaRPr sz="950" dirty="0">
              <a:latin typeface="Calibri"/>
              <a:cs typeface="Calibri"/>
            </a:endParaRPr>
          </a:p>
          <a:p>
            <a:pPr marL="277495">
              <a:lnSpc>
                <a:spcPct val="100000"/>
              </a:lnSpc>
              <a:spcBef>
                <a:spcPts val="204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mutationFn: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(req: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JournalEntryRequest)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=&gt;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43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E957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P&amp;L</a:t>
            </a:r>
            <a:r>
              <a:rPr spc="-60" dirty="0"/>
              <a:t> </a:t>
            </a:r>
            <a:r>
              <a:rPr spc="-10" dirty="0"/>
              <a:t>Dashboard</a:t>
            </a:r>
            <a:r>
              <a:rPr spc="-60" dirty="0"/>
              <a:t> </a:t>
            </a:r>
            <a:r>
              <a:rPr spc="-10" dirty="0"/>
              <a:t>Component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35331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65" dirty="0">
                <a:solidFill>
                  <a:srgbClr val="9FBFFF"/>
                </a:solidFill>
                <a:latin typeface="+mn-lt"/>
                <a:cs typeface="Arial"/>
              </a:rPr>
              <a:t>Income</a:t>
            </a:r>
            <a:r>
              <a:rPr sz="1000" i="1" spc="-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+mn-lt"/>
                <a:cs typeface="Arial"/>
              </a:rPr>
              <a:t>Statement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visualisation</a:t>
            </a:r>
            <a:r>
              <a:rPr sz="1000" i="1" spc="-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with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Recharts</a:t>
            </a:r>
            <a:endParaRPr sz="1000" dirty="0">
              <a:latin typeface="+mn-lt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1"/>
            <a:ext cx="774002" cy="1498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7871"/>
            <a:ext cx="4533900" cy="1379220"/>
            <a:chOff x="242646" y="1037871"/>
            <a:chExt cx="4533900" cy="13792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7871"/>
              <a:ext cx="4533836" cy="137916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4922"/>
              <a:ext cx="4344035" cy="1189355"/>
            </a:xfrm>
            <a:custGeom>
              <a:avLst/>
              <a:gdLst/>
              <a:ahLst/>
              <a:cxnLst/>
              <a:rect l="l" t="t" r="r" b="b"/>
              <a:pathLst>
                <a:path w="4344035" h="1189355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097635"/>
                  </a:lnTo>
                  <a:lnTo>
                    <a:pt x="798" y="1109642"/>
                  </a:lnTo>
                  <a:lnTo>
                    <a:pt x="18830" y="1153399"/>
                  </a:lnTo>
                  <a:lnTo>
                    <a:pt x="56505" y="1182094"/>
                  </a:lnTo>
                  <a:lnTo>
                    <a:pt x="91439" y="1189075"/>
                  </a:lnTo>
                  <a:lnTo>
                    <a:pt x="4252315" y="1189075"/>
                  </a:lnTo>
                  <a:lnTo>
                    <a:pt x="4298035" y="1176845"/>
                  </a:lnTo>
                  <a:lnTo>
                    <a:pt x="4331512" y="1143355"/>
                  </a:lnTo>
                  <a:lnTo>
                    <a:pt x="4343755" y="1097635"/>
                  </a:lnTo>
                  <a:lnTo>
                    <a:pt x="4343731" y="91440"/>
                  </a:lnTo>
                  <a:lnTo>
                    <a:pt x="4331512" y="46075"/>
                  </a:lnTo>
                  <a:lnTo>
                    <a:pt x="4298035" y="12598"/>
                  </a:lnTo>
                  <a:lnTo>
                    <a:pt x="42523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4922"/>
              <a:ext cx="4344035" cy="1189355"/>
            </a:xfrm>
            <a:custGeom>
              <a:avLst/>
              <a:gdLst/>
              <a:ahLst/>
              <a:cxnLst/>
              <a:rect l="l" t="t" r="r" b="b"/>
              <a:pathLst>
                <a:path w="4344035" h="118935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81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55"/>
                  </a:lnTo>
                  <a:lnTo>
                    <a:pt x="4298035" y="12598"/>
                  </a:lnTo>
                  <a:lnTo>
                    <a:pt x="4331512" y="46075"/>
                  </a:lnTo>
                  <a:lnTo>
                    <a:pt x="4343755" y="91795"/>
                  </a:lnTo>
                  <a:lnTo>
                    <a:pt x="4343755" y="1097635"/>
                  </a:lnTo>
                  <a:lnTo>
                    <a:pt x="4342957" y="1109642"/>
                  </a:lnTo>
                  <a:lnTo>
                    <a:pt x="4340606" y="1121309"/>
                  </a:lnTo>
                  <a:lnTo>
                    <a:pt x="4317074" y="1162396"/>
                  </a:lnTo>
                  <a:lnTo>
                    <a:pt x="4275985" y="1185927"/>
                  </a:lnTo>
                  <a:lnTo>
                    <a:pt x="4252315" y="1189075"/>
                  </a:lnTo>
                  <a:lnTo>
                    <a:pt x="91439" y="1189075"/>
                  </a:lnTo>
                  <a:lnTo>
                    <a:pt x="45719" y="1176845"/>
                  </a:lnTo>
                  <a:lnTo>
                    <a:pt x="12230" y="1143355"/>
                  </a:lnTo>
                  <a:lnTo>
                    <a:pt x="0" y="1097635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147"/>
            <a:ext cx="4077970" cy="975994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40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ProfitLossDashboard.tsx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React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19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component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Finance.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Props: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projectId,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year.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Show: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(1)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Recharts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BarChart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comparing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Revenue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vs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Expenses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by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month,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(2)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summary </a:t>
            </a:r>
            <a:r>
              <a:rPr sz="850" i="1" spc="-95" dirty="0">
                <a:solidFill>
                  <a:srgbClr val="FCE589"/>
                </a:solidFill>
                <a:latin typeface="Arial"/>
                <a:cs typeface="Arial"/>
              </a:rPr>
              <a:t>KPI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cards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(Total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Revenue,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Total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Expenses,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Net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Income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colour: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green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if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positive,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red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if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negative),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(3)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drill-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down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table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of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accounts.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Use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TailwindCSS.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Handle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loading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skeleton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50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error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states."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300022"/>
            <a:ext cx="4534535" cy="2522220"/>
            <a:chOff x="242646" y="2300022"/>
            <a:chExt cx="4534535" cy="252222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300022"/>
              <a:ext cx="4534204" cy="252218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0040" y="2377441"/>
              <a:ext cx="4343400" cy="2331720"/>
            </a:xfrm>
            <a:custGeom>
              <a:avLst/>
              <a:gdLst/>
              <a:ahLst/>
              <a:cxnLst/>
              <a:rect l="l" t="t" r="r" b="b"/>
              <a:pathLst>
                <a:path w="4343400" h="2331720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40"/>
                  </a:lnTo>
                  <a:lnTo>
                    <a:pt x="0" y="2240279"/>
                  </a:lnTo>
                  <a:lnTo>
                    <a:pt x="774" y="2251924"/>
                  </a:lnTo>
                  <a:lnTo>
                    <a:pt x="798" y="2252285"/>
                  </a:lnTo>
                  <a:lnTo>
                    <a:pt x="3076" y="2263589"/>
                  </a:lnTo>
                  <a:lnTo>
                    <a:pt x="3149" y="2263949"/>
                  </a:lnTo>
                  <a:lnTo>
                    <a:pt x="26681" y="2305038"/>
                  </a:lnTo>
                  <a:lnTo>
                    <a:pt x="67770" y="2328570"/>
                  </a:lnTo>
                  <a:lnTo>
                    <a:pt x="91439" y="2331720"/>
                  </a:lnTo>
                  <a:lnTo>
                    <a:pt x="4251960" y="2331364"/>
                  </a:lnTo>
                  <a:lnTo>
                    <a:pt x="4297680" y="2319121"/>
                  </a:lnTo>
                  <a:lnTo>
                    <a:pt x="4331157" y="2285644"/>
                  </a:lnTo>
                  <a:lnTo>
                    <a:pt x="4342528" y="2252285"/>
                  </a:lnTo>
                  <a:lnTo>
                    <a:pt x="4342601" y="2251924"/>
                  </a:lnTo>
                  <a:lnTo>
                    <a:pt x="4343376" y="2240279"/>
                  </a:lnTo>
                  <a:lnTo>
                    <a:pt x="4343400" y="2239924"/>
                  </a:lnTo>
                  <a:lnTo>
                    <a:pt x="4343044" y="91439"/>
                  </a:lnTo>
                  <a:lnTo>
                    <a:pt x="4330801" y="45719"/>
                  </a:lnTo>
                  <a:lnTo>
                    <a:pt x="4297324" y="12242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40" y="2377441"/>
              <a:ext cx="4343400" cy="2331720"/>
            </a:xfrm>
            <a:custGeom>
              <a:avLst/>
              <a:gdLst/>
              <a:ahLst/>
              <a:cxnLst/>
              <a:rect l="l" t="t" r="r" b="b"/>
              <a:pathLst>
                <a:path w="4343400" h="2331720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42"/>
                  </a:lnTo>
                  <a:lnTo>
                    <a:pt x="4330801" y="45719"/>
                  </a:lnTo>
                  <a:lnTo>
                    <a:pt x="4343044" y="91439"/>
                  </a:lnTo>
                  <a:lnTo>
                    <a:pt x="4343400" y="2239924"/>
                  </a:lnTo>
                  <a:lnTo>
                    <a:pt x="4342601" y="2251924"/>
                  </a:lnTo>
                  <a:lnTo>
                    <a:pt x="4340250" y="2263589"/>
                  </a:lnTo>
                  <a:lnTo>
                    <a:pt x="4316718" y="2304673"/>
                  </a:lnTo>
                  <a:lnTo>
                    <a:pt x="4275629" y="2328210"/>
                  </a:lnTo>
                  <a:lnTo>
                    <a:pt x="91439" y="2331720"/>
                  </a:lnTo>
                  <a:lnTo>
                    <a:pt x="45720" y="2319477"/>
                  </a:lnTo>
                  <a:lnTo>
                    <a:pt x="12242" y="2286000"/>
                  </a:lnTo>
                  <a:lnTo>
                    <a:pt x="0" y="22402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365295"/>
            <a:ext cx="3375660" cy="108585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35890" marR="5080" indent="-123825">
              <a:lnSpc>
                <a:spcPct val="102499"/>
              </a:lnSpc>
              <a:spcBef>
                <a:spcPts val="509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export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ProfitLossDashboard: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React.FC&lt;Props&gt;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({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projectId,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year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})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=&gt;</a:t>
            </a:r>
            <a:r>
              <a:rPr sz="800" spc="1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260985" marR="1307465" indent="-12509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data: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pl,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isLoading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=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useProfitLoss(projectId,</a:t>
            </a:r>
            <a:endParaRPr sz="800">
              <a:latin typeface="Courier New"/>
              <a:cs typeface="Courier New"/>
            </a:endParaRPr>
          </a:p>
          <a:p>
            <a:pPr marL="38417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`${year}-01-01`,</a:t>
            </a:r>
            <a:r>
              <a:rPr sz="800" spc="21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`${year}-12-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31`);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622" y="3550223"/>
            <a:ext cx="3314065" cy="11499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if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(isLoading)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return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&lt;DashboardSkeleton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/&gt;;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204900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netIncome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pl.totalRevenue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pl.totalExpenses;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return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(</a:t>
            </a:r>
            <a:endParaRPr sz="800">
              <a:latin typeface="Courier New"/>
              <a:cs typeface="Courier New"/>
            </a:endParaRPr>
          </a:p>
          <a:p>
            <a:pPr marL="13716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&lt;div</a:t>
            </a:r>
            <a:r>
              <a:rPr sz="800" spc="1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className="space-y-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6"&gt;</a:t>
            </a:r>
            <a:endParaRPr sz="800">
              <a:latin typeface="Courier New"/>
              <a:cs typeface="Courier New"/>
            </a:endParaRPr>
          </a:p>
          <a:p>
            <a:pPr marL="882650" marR="748030" indent="-62230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&lt;KPICards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revenue={pl.totalRevenue} expenses={pl.totalExpenses}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net={netIncome}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/&gt;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7021" y="4674503"/>
            <a:ext cx="294259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&lt;ResponsiveContainer</a:t>
            </a:r>
            <a:r>
              <a:rPr sz="800" spc="1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width="100%"</a:t>
            </a:r>
            <a:r>
              <a:rPr sz="800" spc="1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height={320}&gt;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56855" y="5049268"/>
            <a:ext cx="58356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&lt;YAxis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/&gt;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68926" y="1037871"/>
            <a:ext cx="4168775" cy="3783965"/>
            <a:chOff x="4768926" y="1037871"/>
            <a:chExt cx="4168775" cy="378396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7871"/>
              <a:ext cx="4168444" cy="378396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932"/>
                  </a:lnTo>
                  <a:lnTo>
                    <a:pt x="355" y="109804"/>
                  </a:lnTo>
                  <a:lnTo>
                    <a:pt x="0" y="3484079"/>
                  </a:lnTo>
                  <a:lnTo>
                    <a:pt x="929" y="3498349"/>
                  </a:lnTo>
                  <a:lnTo>
                    <a:pt x="939" y="3498510"/>
                  </a:lnTo>
                  <a:lnTo>
                    <a:pt x="3699" y="3512385"/>
                  </a:lnTo>
                  <a:lnTo>
                    <a:pt x="3735" y="3512567"/>
                  </a:lnTo>
                  <a:lnTo>
                    <a:pt x="8284" y="3525949"/>
                  </a:lnTo>
                  <a:lnTo>
                    <a:pt x="32213" y="3561703"/>
                  </a:lnTo>
                  <a:lnTo>
                    <a:pt x="67932" y="3585525"/>
                  </a:lnTo>
                  <a:lnTo>
                    <a:pt x="109791" y="3593884"/>
                  </a:lnTo>
                  <a:lnTo>
                    <a:pt x="3868191" y="3593884"/>
                  </a:lnTo>
                  <a:lnTo>
                    <a:pt x="3910262" y="3585525"/>
                  </a:lnTo>
                  <a:lnTo>
                    <a:pt x="3945766" y="3561703"/>
                  </a:lnTo>
                  <a:lnTo>
                    <a:pt x="3969542" y="3526151"/>
                  </a:lnTo>
                  <a:lnTo>
                    <a:pt x="3974198" y="3512567"/>
                  </a:lnTo>
                  <a:lnTo>
                    <a:pt x="3974260" y="3512385"/>
                  </a:lnTo>
                  <a:lnTo>
                    <a:pt x="3977023" y="3498510"/>
                  </a:lnTo>
                  <a:lnTo>
                    <a:pt x="3977055" y="3498349"/>
                  </a:lnTo>
                  <a:lnTo>
                    <a:pt x="3977995" y="3484079"/>
                  </a:lnTo>
                  <a:lnTo>
                    <a:pt x="3977972" y="109804"/>
                  </a:lnTo>
                  <a:lnTo>
                    <a:pt x="3969642" y="68088"/>
                  </a:lnTo>
                  <a:lnTo>
                    <a:pt x="3945772" y="32535"/>
                  </a:lnTo>
                  <a:lnTo>
                    <a:pt x="3910062" y="8713"/>
                  </a:lnTo>
                  <a:lnTo>
                    <a:pt x="3868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355" y="109804"/>
                  </a:moveTo>
                  <a:lnTo>
                    <a:pt x="1295" y="95529"/>
                  </a:lnTo>
                  <a:lnTo>
                    <a:pt x="4090" y="81494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55"/>
                  </a:lnTo>
                  <a:lnTo>
                    <a:pt x="3910062" y="8713"/>
                  </a:lnTo>
                  <a:lnTo>
                    <a:pt x="3945772" y="32535"/>
                  </a:lnTo>
                  <a:lnTo>
                    <a:pt x="3969642" y="68088"/>
                  </a:lnTo>
                  <a:lnTo>
                    <a:pt x="3977995" y="110159"/>
                  </a:lnTo>
                  <a:lnTo>
                    <a:pt x="3977995" y="3484079"/>
                  </a:lnTo>
                  <a:lnTo>
                    <a:pt x="3977055" y="3498349"/>
                  </a:lnTo>
                  <a:lnTo>
                    <a:pt x="3974260" y="3512385"/>
                  </a:lnTo>
                  <a:lnTo>
                    <a:pt x="3955218" y="3550872"/>
                  </a:lnTo>
                  <a:lnTo>
                    <a:pt x="3923271" y="3579114"/>
                  </a:lnTo>
                  <a:lnTo>
                    <a:pt x="3882621" y="3592944"/>
                  </a:lnTo>
                  <a:lnTo>
                    <a:pt x="3868191" y="3593884"/>
                  </a:lnTo>
                  <a:lnTo>
                    <a:pt x="109791" y="3593884"/>
                  </a:lnTo>
                  <a:lnTo>
                    <a:pt x="67932" y="3585525"/>
                  </a:lnTo>
                  <a:lnTo>
                    <a:pt x="32213" y="3561703"/>
                  </a:lnTo>
                  <a:lnTo>
                    <a:pt x="8352" y="3526151"/>
                  </a:lnTo>
                  <a:lnTo>
                    <a:pt x="0" y="348407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E957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970424" y="1167538"/>
            <a:ext cx="24971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E9570B"/>
                </a:solidFill>
                <a:latin typeface="MingLiU_HKSCS-ExtB"/>
                <a:cs typeface="MingLiU_HKSCS-ExtB"/>
              </a:rPr>
              <a:t>🌐</a:t>
            </a:r>
            <a:r>
              <a:rPr sz="1300" spc="-290" dirty="0">
                <a:solidFill>
                  <a:srgbClr val="E9570B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What</a:t>
            </a:r>
            <a:r>
              <a:rPr sz="1100" b="1" spc="-50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This</a:t>
            </a:r>
            <a:r>
              <a:rPr sz="1100" b="1" spc="-15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Component</a:t>
            </a:r>
            <a:r>
              <a:rPr sz="1100" b="1" spc="-30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E9570B"/>
                </a:solidFill>
                <a:latin typeface="Calibri"/>
                <a:cs typeface="Calibri"/>
              </a:rPr>
              <a:t>Does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70424" y="1568782"/>
            <a:ext cx="35775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Full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working component generated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by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Claude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Code.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Ready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to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use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with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minor</a:t>
            </a:r>
            <a:r>
              <a:rPr sz="90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customisation.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70424" y="2037010"/>
            <a:ext cx="1430376" cy="1930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0" dirty="0">
                <a:solidFill>
                  <a:srgbClr val="E9570B"/>
                </a:solidFill>
                <a:latin typeface="MingLiU_HKSCS-ExtB"/>
                <a:cs typeface="MingLiU_HKSCS-ExtB"/>
              </a:rPr>
              <a:t>📝</a:t>
            </a:r>
            <a:r>
              <a:rPr sz="1000" b="1" spc="10" dirty="0">
                <a:solidFill>
                  <a:srgbClr val="E9570B"/>
                </a:solidFill>
                <a:latin typeface="Calibri"/>
                <a:cs typeface="Calibri"/>
              </a:rPr>
              <a:t>Next</a:t>
            </a:r>
            <a:r>
              <a:rPr sz="1000" b="1" spc="185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E9570B"/>
                </a:solidFill>
                <a:latin typeface="Calibri"/>
                <a:cs typeface="Calibri"/>
              </a:rPr>
              <a:t>Step: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70424" y="2512341"/>
            <a:ext cx="36582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prompt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in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Claude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Code.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Review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generated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component.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Accept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diff.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Run: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npm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13016" y="4747375"/>
            <a:ext cx="8517255" cy="360680"/>
            <a:chOff x="313016" y="4656786"/>
            <a:chExt cx="8517255" cy="360680"/>
          </a:xfrm>
        </p:grpSpPr>
        <p:sp>
          <p:nvSpPr>
            <p:cNvPr id="29" name="object 29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18744" y="4789170"/>
            <a:ext cx="6863715" cy="37655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70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5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React</a:t>
            </a:r>
            <a:r>
              <a:rPr sz="950" spc="-10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569" baseline="-17361" dirty="0">
                <a:solidFill>
                  <a:srgbClr val="E1E7EF"/>
                </a:solidFill>
                <a:latin typeface="Courier New"/>
                <a:cs typeface="Courier New"/>
              </a:rPr>
              <a:t>&lt;</a:t>
            </a:r>
            <a:r>
              <a:rPr sz="950" spc="-114" dirty="0">
                <a:solidFill>
                  <a:srgbClr val="774409"/>
                </a:solidFill>
                <a:latin typeface="Calibri"/>
                <a:cs typeface="Calibri"/>
              </a:rPr>
              <a:t>1</a:t>
            </a:r>
            <a:r>
              <a:rPr sz="1200" spc="-569" baseline="-17361" dirty="0">
                <a:solidFill>
                  <a:srgbClr val="E1E7EF"/>
                </a:solidFill>
                <a:latin typeface="Courier New"/>
                <a:cs typeface="Courier New"/>
              </a:rPr>
              <a:t>B</a:t>
            </a:r>
            <a:r>
              <a:rPr sz="950" spc="-100" dirty="0">
                <a:solidFill>
                  <a:srgbClr val="774409"/>
                </a:solidFill>
                <a:latin typeface="Calibri"/>
                <a:cs typeface="Calibri"/>
              </a:rPr>
              <a:t>9</a:t>
            </a:r>
            <a:r>
              <a:rPr sz="1200" spc="-270" baseline="-17361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28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330" baseline="-17361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509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7" baseline="-17361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950" spc="-250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1200" spc="-37" baseline="-17361" dirty="0">
                <a:solidFill>
                  <a:srgbClr val="E1E7EF"/>
                </a:solidFill>
                <a:latin typeface="Courier New"/>
                <a:cs typeface="Courier New"/>
              </a:rPr>
              <a:t>h</a:t>
            </a:r>
            <a:r>
              <a:rPr sz="950" spc="-52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7" baseline="-17361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215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1200" spc="-405" baseline="-17361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450" baseline="-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950" spc="-215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427" baseline="-17361" dirty="0">
                <a:solidFill>
                  <a:srgbClr val="E1E7EF"/>
                </a:solidFill>
                <a:latin typeface="Courier New"/>
                <a:cs typeface="Courier New"/>
              </a:rPr>
              <a:t>d</a:t>
            </a:r>
            <a:r>
              <a:rPr sz="950" spc="-20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135" baseline="-17361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43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112" baseline="-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430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97" baseline="-17361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445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75" baseline="-17361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950" spc="-43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22" baseline="-17361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1200" spc="-502" baseline="-17361" dirty="0">
                <a:solidFill>
                  <a:srgbClr val="E1E7EF"/>
                </a:solidFill>
                <a:latin typeface="Courier New"/>
                <a:cs typeface="Courier New"/>
              </a:rPr>
              <a:t>p</a:t>
            </a:r>
            <a:r>
              <a:rPr sz="950" spc="-170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1200" spc="-502" baseline="-17361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170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487" baseline="-17361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480" baseline="-17361" dirty="0">
                <a:solidFill>
                  <a:srgbClr val="E1E7EF"/>
                </a:solidFill>
                <a:latin typeface="Courier New"/>
                <a:cs typeface="Courier New"/>
              </a:rPr>
              <a:t>m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502" baseline="-17361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-36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225" baseline="-17361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17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502" baseline="-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2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547" baseline="-17361" dirty="0">
                <a:solidFill>
                  <a:srgbClr val="E1E7EF"/>
                </a:solidFill>
                <a:latin typeface="Courier New"/>
                <a:cs typeface="Courier New"/>
              </a:rPr>
              <a:t>h</a:t>
            </a:r>
            <a:r>
              <a:rPr sz="950" spc="-13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532" baseline="-17361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145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532" baseline="-17361" dirty="0">
                <a:solidFill>
                  <a:srgbClr val="E1E7EF"/>
                </a:solidFill>
                <a:latin typeface="Courier New"/>
                <a:cs typeface="Courier New"/>
              </a:rPr>
              <a:t>y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375" baseline="-17361" dirty="0">
                <a:solidFill>
                  <a:srgbClr val="E1E7EF"/>
                </a:solidFill>
                <a:latin typeface="Courier New"/>
                <a:cs typeface="Courier New"/>
              </a:rPr>
              <a:t>D</a:t>
            </a:r>
            <a:r>
              <a:rPr sz="950" spc="-26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375" baseline="-17361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229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90" baseline="-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465" baseline="-17361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9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585" baseline="-17361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14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202" baseline="-17361" dirty="0">
                <a:solidFill>
                  <a:srgbClr val="E1E7EF"/>
                </a:solidFill>
                <a:latin typeface="Courier New"/>
                <a:cs typeface="Courier New"/>
              </a:rPr>
              <a:t>&gt;</a:t>
            </a:r>
            <a:r>
              <a:rPr sz="950" spc="-135" dirty="0">
                <a:solidFill>
                  <a:srgbClr val="774409"/>
                </a:solidFill>
                <a:latin typeface="Calibri"/>
                <a:cs typeface="Calibri"/>
              </a:rPr>
              <a:t>19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Server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Components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 — specify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'use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client'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or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'use server' in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your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prompt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 when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needed.</a:t>
            </a:r>
            <a:endParaRPr sz="950" dirty="0">
              <a:latin typeface="Calibri"/>
              <a:cs typeface="Calibri"/>
            </a:endParaRPr>
          </a:p>
          <a:p>
            <a:pPr marL="650240">
              <a:lnSpc>
                <a:spcPct val="100000"/>
              </a:lnSpc>
              <a:spcBef>
                <a:spcPts val="204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&lt;XAxis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dataKey="month"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/&gt;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44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E957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Journal</a:t>
            </a:r>
            <a:r>
              <a:rPr spc="-65" dirty="0"/>
              <a:t> </a:t>
            </a:r>
            <a:r>
              <a:rPr dirty="0"/>
              <a:t>Entry</a:t>
            </a:r>
            <a:r>
              <a:rPr spc="-60" dirty="0"/>
              <a:t> </a:t>
            </a:r>
            <a:r>
              <a:rPr spc="-20" dirty="0"/>
              <a:t>Form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31273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80" dirty="0">
                <a:solidFill>
                  <a:srgbClr val="9FBFFF"/>
                </a:solidFill>
                <a:latin typeface="Arial"/>
                <a:cs typeface="Arial"/>
              </a:rPr>
              <a:t>React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19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form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9FBFFF"/>
                </a:solidFill>
                <a:latin typeface="Arial"/>
                <a:cs typeface="Arial"/>
              </a:rPr>
              <a:t>with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dynamic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debit/credit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rows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and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validation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1"/>
            <a:ext cx="713982" cy="1498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7871"/>
            <a:ext cx="4533900" cy="1379220"/>
            <a:chOff x="242646" y="1037871"/>
            <a:chExt cx="4533900" cy="13792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7871"/>
              <a:ext cx="4533836" cy="137916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4922"/>
              <a:ext cx="4344035" cy="1189355"/>
            </a:xfrm>
            <a:custGeom>
              <a:avLst/>
              <a:gdLst/>
              <a:ahLst/>
              <a:cxnLst/>
              <a:rect l="l" t="t" r="r" b="b"/>
              <a:pathLst>
                <a:path w="4344035" h="1189355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097635"/>
                  </a:lnTo>
                  <a:lnTo>
                    <a:pt x="798" y="1109642"/>
                  </a:lnTo>
                  <a:lnTo>
                    <a:pt x="18830" y="1153399"/>
                  </a:lnTo>
                  <a:lnTo>
                    <a:pt x="56505" y="1182094"/>
                  </a:lnTo>
                  <a:lnTo>
                    <a:pt x="91439" y="1189075"/>
                  </a:lnTo>
                  <a:lnTo>
                    <a:pt x="4252315" y="1189075"/>
                  </a:lnTo>
                  <a:lnTo>
                    <a:pt x="4298035" y="1176845"/>
                  </a:lnTo>
                  <a:lnTo>
                    <a:pt x="4331512" y="1143355"/>
                  </a:lnTo>
                  <a:lnTo>
                    <a:pt x="4343755" y="1097635"/>
                  </a:lnTo>
                  <a:lnTo>
                    <a:pt x="4343731" y="91440"/>
                  </a:lnTo>
                  <a:lnTo>
                    <a:pt x="4331512" y="46075"/>
                  </a:lnTo>
                  <a:lnTo>
                    <a:pt x="4298035" y="12598"/>
                  </a:lnTo>
                  <a:lnTo>
                    <a:pt x="42523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4922"/>
              <a:ext cx="4344035" cy="1189355"/>
            </a:xfrm>
            <a:custGeom>
              <a:avLst/>
              <a:gdLst/>
              <a:ahLst/>
              <a:cxnLst/>
              <a:rect l="l" t="t" r="r" b="b"/>
              <a:pathLst>
                <a:path w="4344035" h="118935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81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55"/>
                  </a:lnTo>
                  <a:lnTo>
                    <a:pt x="4298035" y="12598"/>
                  </a:lnTo>
                  <a:lnTo>
                    <a:pt x="4331512" y="46075"/>
                  </a:lnTo>
                  <a:lnTo>
                    <a:pt x="4343755" y="91795"/>
                  </a:lnTo>
                  <a:lnTo>
                    <a:pt x="4343755" y="1097635"/>
                  </a:lnTo>
                  <a:lnTo>
                    <a:pt x="4342957" y="1109642"/>
                  </a:lnTo>
                  <a:lnTo>
                    <a:pt x="4340606" y="1121309"/>
                  </a:lnTo>
                  <a:lnTo>
                    <a:pt x="4317074" y="1162396"/>
                  </a:lnTo>
                  <a:lnTo>
                    <a:pt x="4275985" y="1185927"/>
                  </a:lnTo>
                  <a:lnTo>
                    <a:pt x="4252315" y="1189075"/>
                  </a:lnTo>
                  <a:lnTo>
                    <a:pt x="91439" y="1189075"/>
                  </a:lnTo>
                  <a:lnTo>
                    <a:pt x="45719" y="1176845"/>
                  </a:lnTo>
                  <a:lnTo>
                    <a:pt x="12230" y="1143355"/>
                  </a:lnTo>
                  <a:lnTo>
                    <a:pt x="0" y="1097635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147"/>
            <a:ext cx="3992879" cy="975994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40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JournalEntryForm.tsx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using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react-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hook-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form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zod.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Dynamic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form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with: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date,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description,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project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selector,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dynamic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line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items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array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(add/remove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rows).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Each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line: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account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selector,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debit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amount,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credit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amount.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Zod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validation: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minimum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2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lines,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total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debit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must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equal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total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credit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(real-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time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running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totals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shown).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Submit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via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usePostJournalEntry mutation."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300022"/>
            <a:ext cx="4534535" cy="2522220"/>
            <a:chOff x="242646" y="2300022"/>
            <a:chExt cx="4534535" cy="252222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300022"/>
              <a:ext cx="4534204" cy="252218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0040" y="2377441"/>
              <a:ext cx="4343400" cy="2331720"/>
            </a:xfrm>
            <a:custGeom>
              <a:avLst/>
              <a:gdLst/>
              <a:ahLst/>
              <a:cxnLst/>
              <a:rect l="l" t="t" r="r" b="b"/>
              <a:pathLst>
                <a:path w="4343400" h="2331720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40"/>
                  </a:lnTo>
                  <a:lnTo>
                    <a:pt x="0" y="2240279"/>
                  </a:lnTo>
                  <a:lnTo>
                    <a:pt x="774" y="2251924"/>
                  </a:lnTo>
                  <a:lnTo>
                    <a:pt x="798" y="2252285"/>
                  </a:lnTo>
                  <a:lnTo>
                    <a:pt x="3076" y="2263589"/>
                  </a:lnTo>
                  <a:lnTo>
                    <a:pt x="3149" y="2263949"/>
                  </a:lnTo>
                  <a:lnTo>
                    <a:pt x="26681" y="2305038"/>
                  </a:lnTo>
                  <a:lnTo>
                    <a:pt x="67770" y="2328570"/>
                  </a:lnTo>
                  <a:lnTo>
                    <a:pt x="91439" y="2331720"/>
                  </a:lnTo>
                  <a:lnTo>
                    <a:pt x="4251960" y="2331364"/>
                  </a:lnTo>
                  <a:lnTo>
                    <a:pt x="4297680" y="2319121"/>
                  </a:lnTo>
                  <a:lnTo>
                    <a:pt x="4331157" y="2285644"/>
                  </a:lnTo>
                  <a:lnTo>
                    <a:pt x="4342528" y="2252285"/>
                  </a:lnTo>
                  <a:lnTo>
                    <a:pt x="4342601" y="2251924"/>
                  </a:lnTo>
                  <a:lnTo>
                    <a:pt x="4343376" y="2240279"/>
                  </a:lnTo>
                  <a:lnTo>
                    <a:pt x="4343400" y="2239924"/>
                  </a:lnTo>
                  <a:lnTo>
                    <a:pt x="4343044" y="91439"/>
                  </a:lnTo>
                  <a:lnTo>
                    <a:pt x="4330801" y="45719"/>
                  </a:lnTo>
                  <a:lnTo>
                    <a:pt x="4297324" y="12242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40" y="2377441"/>
              <a:ext cx="4343400" cy="2331720"/>
            </a:xfrm>
            <a:custGeom>
              <a:avLst/>
              <a:gdLst/>
              <a:ahLst/>
              <a:cxnLst/>
              <a:rect l="l" t="t" r="r" b="b"/>
              <a:pathLst>
                <a:path w="4343400" h="2331720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42"/>
                  </a:lnTo>
                  <a:lnTo>
                    <a:pt x="4330801" y="45719"/>
                  </a:lnTo>
                  <a:lnTo>
                    <a:pt x="4343044" y="91439"/>
                  </a:lnTo>
                  <a:lnTo>
                    <a:pt x="4343400" y="2239924"/>
                  </a:lnTo>
                  <a:lnTo>
                    <a:pt x="4342601" y="2251924"/>
                  </a:lnTo>
                  <a:lnTo>
                    <a:pt x="4340250" y="2263589"/>
                  </a:lnTo>
                  <a:lnTo>
                    <a:pt x="4316718" y="2304673"/>
                  </a:lnTo>
                  <a:lnTo>
                    <a:pt x="4275629" y="2328210"/>
                  </a:lnTo>
                  <a:lnTo>
                    <a:pt x="91439" y="2331720"/>
                  </a:lnTo>
                  <a:lnTo>
                    <a:pt x="45720" y="2319477"/>
                  </a:lnTo>
                  <a:lnTo>
                    <a:pt x="12242" y="2286000"/>
                  </a:lnTo>
                  <a:lnTo>
                    <a:pt x="0" y="22402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365295"/>
            <a:ext cx="3561715" cy="22098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35890" marR="1989455" indent="-123825">
              <a:lnSpc>
                <a:spcPct val="102499"/>
              </a:lnSpc>
              <a:spcBef>
                <a:spcPts val="509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schema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z.object({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date: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z.string(),</a:t>
            </a:r>
            <a:endParaRPr sz="800">
              <a:latin typeface="Courier New"/>
              <a:cs typeface="Courier New"/>
            </a:endParaRPr>
          </a:p>
          <a:p>
            <a:pPr marL="135890" marR="149352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description: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z.string().min(5),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projectId: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z.number(),</a:t>
            </a:r>
            <a:endParaRPr sz="800">
              <a:latin typeface="Courier New"/>
              <a:cs typeface="Courier New"/>
            </a:endParaRPr>
          </a:p>
          <a:p>
            <a:pPr marL="260985" marR="1678939" indent="-12509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lines: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z.array(z.object({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accountId: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z.number(),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debit: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z.number().min(0),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credit: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z.number().min(0)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})).min(2)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}).refine(data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=&gt;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13589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totD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data.lines.reduce((s,l)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=&gt;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s+l.debit,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0);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totC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data.lines.reduce((s,l)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=&gt;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s+l.credit,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0);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return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Math.abs(totD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totC)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&lt;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0.001;</a:t>
            </a:r>
            <a:endParaRPr sz="800">
              <a:latin typeface="Courier New"/>
              <a:cs typeface="Courier New"/>
            </a:endParaRPr>
          </a:p>
          <a:p>
            <a:pPr marL="323215" marR="934085" indent="-31115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},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message: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"Debits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must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equal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Credits",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path: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["lines"]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});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140" y="4674503"/>
            <a:ext cx="213550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Running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totals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shown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footer: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768926" y="1037871"/>
            <a:ext cx="4168775" cy="3783965"/>
            <a:chOff x="4768926" y="1037871"/>
            <a:chExt cx="4168775" cy="378396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7871"/>
              <a:ext cx="4168444" cy="378396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932"/>
                  </a:lnTo>
                  <a:lnTo>
                    <a:pt x="355" y="109804"/>
                  </a:lnTo>
                  <a:lnTo>
                    <a:pt x="0" y="3484079"/>
                  </a:lnTo>
                  <a:lnTo>
                    <a:pt x="929" y="3498349"/>
                  </a:lnTo>
                  <a:lnTo>
                    <a:pt x="939" y="3498510"/>
                  </a:lnTo>
                  <a:lnTo>
                    <a:pt x="3699" y="3512385"/>
                  </a:lnTo>
                  <a:lnTo>
                    <a:pt x="3735" y="3512567"/>
                  </a:lnTo>
                  <a:lnTo>
                    <a:pt x="8284" y="3525949"/>
                  </a:lnTo>
                  <a:lnTo>
                    <a:pt x="32213" y="3561703"/>
                  </a:lnTo>
                  <a:lnTo>
                    <a:pt x="67932" y="3585525"/>
                  </a:lnTo>
                  <a:lnTo>
                    <a:pt x="109791" y="3593884"/>
                  </a:lnTo>
                  <a:lnTo>
                    <a:pt x="3868191" y="3593884"/>
                  </a:lnTo>
                  <a:lnTo>
                    <a:pt x="3910262" y="3585525"/>
                  </a:lnTo>
                  <a:lnTo>
                    <a:pt x="3945766" y="3561703"/>
                  </a:lnTo>
                  <a:lnTo>
                    <a:pt x="3969542" y="3526151"/>
                  </a:lnTo>
                  <a:lnTo>
                    <a:pt x="3974198" y="3512567"/>
                  </a:lnTo>
                  <a:lnTo>
                    <a:pt x="3974260" y="3512385"/>
                  </a:lnTo>
                  <a:lnTo>
                    <a:pt x="3977023" y="3498510"/>
                  </a:lnTo>
                  <a:lnTo>
                    <a:pt x="3977055" y="3498349"/>
                  </a:lnTo>
                  <a:lnTo>
                    <a:pt x="3977995" y="3484079"/>
                  </a:lnTo>
                  <a:lnTo>
                    <a:pt x="3977972" y="109804"/>
                  </a:lnTo>
                  <a:lnTo>
                    <a:pt x="3969642" y="68088"/>
                  </a:lnTo>
                  <a:lnTo>
                    <a:pt x="3945772" y="32535"/>
                  </a:lnTo>
                  <a:lnTo>
                    <a:pt x="3910062" y="8713"/>
                  </a:lnTo>
                  <a:lnTo>
                    <a:pt x="3868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355" y="109804"/>
                  </a:moveTo>
                  <a:lnTo>
                    <a:pt x="1295" y="95529"/>
                  </a:lnTo>
                  <a:lnTo>
                    <a:pt x="4090" y="81494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55"/>
                  </a:lnTo>
                  <a:lnTo>
                    <a:pt x="3910062" y="8713"/>
                  </a:lnTo>
                  <a:lnTo>
                    <a:pt x="3945772" y="32535"/>
                  </a:lnTo>
                  <a:lnTo>
                    <a:pt x="3969642" y="68088"/>
                  </a:lnTo>
                  <a:lnTo>
                    <a:pt x="3977995" y="110159"/>
                  </a:lnTo>
                  <a:lnTo>
                    <a:pt x="3977995" y="3484079"/>
                  </a:lnTo>
                  <a:lnTo>
                    <a:pt x="3977055" y="3498349"/>
                  </a:lnTo>
                  <a:lnTo>
                    <a:pt x="3974260" y="3512385"/>
                  </a:lnTo>
                  <a:lnTo>
                    <a:pt x="3955218" y="3550872"/>
                  </a:lnTo>
                  <a:lnTo>
                    <a:pt x="3923271" y="3579114"/>
                  </a:lnTo>
                  <a:lnTo>
                    <a:pt x="3882621" y="3592944"/>
                  </a:lnTo>
                  <a:lnTo>
                    <a:pt x="3868191" y="3593884"/>
                  </a:lnTo>
                  <a:lnTo>
                    <a:pt x="109791" y="3593884"/>
                  </a:lnTo>
                  <a:lnTo>
                    <a:pt x="67932" y="3585525"/>
                  </a:lnTo>
                  <a:lnTo>
                    <a:pt x="32213" y="3561703"/>
                  </a:lnTo>
                  <a:lnTo>
                    <a:pt x="8352" y="3526151"/>
                  </a:lnTo>
                  <a:lnTo>
                    <a:pt x="0" y="348407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E957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70424" y="1167538"/>
            <a:ext cx="2311921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E9570B"/>
                </a:solidFill>
                <a:latin typeface="MingLiU_HKSCS-ExtB"/>
                <a:cs typeface="MingLiU_HKSCS-ExtB"/>
              </a:rPr>
              <a:t>🌐</a:t>
            </a:r>
            <a:r>
              <a:rPr sz="1300" spc="-290" dirty="0">
                <a:solidFill>
                  <a:srgbClr val="E9570B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What</a:t>
            </a:r>
            <a:r>
              <a:rPr sz="1100" b="1" spc="-50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This</a:t>
            </a:r>
            <a:r>
              <a:rPr sz="1100" b="1" spc="-15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Component</a:t>
            </a:r>
            <a:r>
              <a:rPr sz="1100" b="1" spc="-30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E9570B"/>
                </a:solidFill>
                <a:latin typeface="Calibri"/>
                <a:cs typeface="Calibri"/>
              </a:rPr>
              <a:t>Does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70424" y="1568782"/>
            <a:ext cx="35775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Full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working component generated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by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Claude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Code.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Ready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to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use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with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minor</a:t>
            </a:r>
            <a:r>
              <a:rPr sz="90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customisation.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70424" y="2037010"/>
            <a:ext cx="1735176" cy="1930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0" dirty="0">
                <a:solidFill>
                  <a:srgbClr val="E9570B"/>
                </a:solidFill>
                <a:latin typeface="MingLiU_HKSCS-ExtB"/>
                <a:cs typeface="MingLiU_HKSCS-ExtB"/>
              </a:rPr>
              <a:t>📝</a:t>
            </a:r>
            <a:r>
              <a:rPr sz="1000" b="1" spc="10" dirty="0">
                <a:solidFill>
                  <a:srgbClr val="E9570B"/>
                </a:solidFill>
                <a:latin typeface="Calibri"/>
                <a:cs typeface="Calibri"/>
              </a:rPr>
              <a:t>Next</a:t>
            </a:r>
            <a:r>
              <a:rPr sz="1000" b="1" spc="185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E9570B"/>
                </a:solidFill>
                <a:latin typeface="Calibri"/>
                <a:cs typeface="Calibri"/>
              </a:rPr>
              <a:t>Step: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70424" y="2512341"/>
            <a:ext cx="36582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prompt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in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Claude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Code.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Review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generated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component.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Accept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diff.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Run: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npm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13016" y="4784725"/>
            <a:ext cx="8517255" cy="360680"/>
            <a:chOff x="313016" y="4656786"/>
            <a:chExt cx="8517255" cy="360680"/>
          </a:xfrm>
        </p:grpSpPr>
        <p:sp>
          <p:nvSpPr>
            <p:cNvPr id="27" name="object 27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09740" y="4858519"/>
            <a:ext cx="687260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200" spc="-592" baseline="-17361" dirty="0">
                <a:solidFill>
                  <a:srgbClr val="E1E7EF"/>
                </a:solidFill>
                <a:latin typeface="Courier New"/>
                <a:cs typeface="Courier New"/>
              </a:rPr>
              <a:t>/</a:t>
            </a:r>
            <a:r>
              <a:rPr sz="1100" spc="-74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200" spc="30" baseline="-17361" dirty="0">
                <a:solidFill>
                  <a:srgbClr val="E1E7EF"/>
                </a:solidFill>
                <a:latin typeface="Courier New"/>
                <a:cs typeface="Courier New"/>
              </a:rPr>
              <a:t>/</a:t>
            </a:r>
            <a:r>
              <a:rPr sz="1200" spc="120" baseline="-17361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1200" spc="-345" baseline="-17361" dirty="0">
                <a:solidFill>
                  <a:srgbClr val="E1E7EF"/>
                </a:solidFill>
                <a:latin typeface="Courier New"/>
                <a:cs typeface="Courier New"/>
              </a:rPr>
              <a:t>D</a:t>
            </a:r>
            <a:r>
              <a:rPr sz="950" spc="-229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345" baseline="-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229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45" baseline="-17361" dirty="0">
                <a:solidFill>
                  <a:srgbClr val="E1E7EF"/>
                </a:solidFill>
                <a:latin typeface="Courier New"/>
                <a:cs typeface="Courier New"/>
              </a:rPr>
              <a:t>b</a:t>
            </a:r>
            <a:r>
              <a:rPr sz="950" spc="-229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345" baseline="-17361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229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345" baseline="-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229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10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337" baseline="-17361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225" dirty="0">
                <a:solidFill>
                  <a:srgbClr val="774409"/>
                </a:solidFill>
                <a:latin typeface="Calibri"/>
                <a:cs typeface="Calibri"/>
              </a:rPr>
              <a:t>1</a:t>
            </a:r>
            <a:r>
              <a:rPr sz="1200" spc="-337" baseline="-17361" dirty="0">
                <a:solidFill>
                  <a:srgbClr val="E1E7EF"/>
                </a:solidFill>
                <a:latin typeface="Courier New"/>
                <a:cs typeface="Courier New"/>
              </a:rPr>
              <a:t>:</a:t>
            </a:r>
            <a:r>
              <a:rPr sz="950" spc="-225" dirty="0">
                <a:solidFill>
                  <a:srgbClr val="774409"/>
                </a:solidFill>
                <a:latin typeface="Calibri"/>
                <a:cs typeface="Calibri"/>
              </a:rPr>
              <a:t>9</a:t>
            </a:r>
            <a:r>
              <a:rPr sz="950" spc="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29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330" baseline="-17361" dirty="0">
                <a:solidFill>
                  <a:srgbClr val="E1E7EF"/>
                </a:solidFill>
                <a:latin typeface="Courier New"/>
                <a:cs typeface="Courier New"/>
              </a:rPr>
              <a:t>5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1200" spc="-727" baseline="-17361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950" spc="-250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1200" spc="-44" baseline="-17361" dirty="0">
                <a:solidFill>
                  <a:srgbClr val="E1E7EF"/>
                </a:solidFill>
                <a:latin typeface="Courier New"/>
                <a:cs typeface="Courier New"/>
              </a:rPr>
              <a:t>,</a:t>
            </a:r>
            <a:r>
              <a:rPr sz="950" spc="-52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15" baseline="-17361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950" spc="-225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1200" spc="-412" baseline="-17361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450" baseline="-17361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950" spc="-215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1200" spc="-427" baseline="-17361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r>
              <a:rPr sz="950" spc="-229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427" baseline="-17361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150" baseline="-17361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950" spc="-459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75" baseline="-17361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950" spc="-44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15" baseline="-17361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1200" spc="-509" baseline="-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170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1200" spc="-509" baseline="-17361" dirty="0">
                <a:solidFill>
                  <a:srgbClr val="E1E7EF"/>
                </a:solidFill>
                <a:latin typeface="Courier New"/>
                <a:cs typeface="Courier New"/>
              </a:rPr>
              <a:t>d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480" baseline="-17361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480" baseline="-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7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494" baseline="-17361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-36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232" baseline="-17361" dirty="0">
                <a:solidFill>
                  <a:srgbClr val="E1E7EF"/>
                </a:solidFill>
                <a:latin typeface="Courier New"/>
                <a:cs typeface="Courier New"/>
              </a:rPr>
              <a:t>: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12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562" baseline="-17361" dirty="0">
                <a:solidFill>
                  <a:srgbClr val="E1E7EF"/>
                </a:solidFill>
                <a:latin typeface="Courier New"/>
                <a:cs typeface="Courier New"/>
              </a:rPr>
              <a:t>5</a:t>
            </a:r>
            <a:r>
              <a:rPr sz="950" spc="-14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525" baseline="-17361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950" spc="-16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525" baseline="-17361" dirty="0">
                <a:solidFill>
                  <a:srgbClr val="E1E7EF"/>
                </a:solidFill>
                <a:latin typeface="Courier New"/>
                <a:cs typeface="Courier New"/>
              </a:rPr>
              <a:t>,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390" baseline="-17361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950" spc="-27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390" baseline="-17361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950" spc="-229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405" baseline="-17361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457" baseline="-17361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r>
              <a:rPr sz="950" spc="-105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577" baseline="-17361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14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195" baseline="-17361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950" spc="-130" dirty="0">
                <a:solidFill>
                  <a:srgbClr val="774409"/>
                </a:solidFill>
                <a:latin typeface="Calibri"/>
                <a:cs typeface="Calibri"/>
              </a:rPr>
              <a:t>19</a:t>
            </a:r>
            <a:r>
              <a:rPr sz="950" spc="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23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352" baseline="-17361" dirty="0">
                <a:solidFill>
                  <a:srgbClr val="E1E7EF"/>
                </a:solidFill>
                <a:latin typeface="SimSun-ExtB"/>
                <a:cs typeface="SimSun-ExtB"/>
              </a:rPr>
              <a:t>✓</a:t>
            </a:r>
            <a:r>
              <a:rPr sz="950" spc="-235" dirty="0">
                <a:solidFill>
                  <a:srgbClr val="774409"/>
                </a:solidFill>
                <a:latin typeface="Calibri"/>
                <a:cs typeface="Calibri"/>
              </a:rPr>
              <a:t>er</a:t>
            </a:r>
            <a:r>
              <a:rPr sz="1200" spc="-352" baseline="-17361" dirty="0">
                <a:solidFill>
                  <a:srgbClr val="E1E7EF"/>
                </a:solidFill>
                <a:latin typeface="Courier New"/>
                <a:cs typeface="Courier New"/>
              </a:rPr>
              <a:t>B</a:t>
            </a:r>
            <a:r>
              <a:rPr sz="950" spc="-235" dirty="0">
                <a:solidFill>
                  <a:srgbClr val="774409"/>
                </a:solidFill>
                <a:latin typeface="Calibri"/>
                <a:cs typeface="Calibri"/>
              </a:rPr>
              <a:t>v</a:t>
            </a:r>
            <a:r>
              <a:rPr sz="1200" spc="-352" baseline="-17361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23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52" baseline="-17361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23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-5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247" baseline="-17361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165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247" baseline="-17361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165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247" baseline="-17361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950" spc="-165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1200" spc="-247" baseline="-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165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247" baseline="-17361" dirty="0">
                <a:solidFill>
                  <a:srgbClr val="E1E7EF"/>
                </a:solidFill>
                <a:latin typeface="Courier New"/>
                <a:cs typeface="Courier New"/>
              </a:rPr>
              <a:t>d</a:t>
            </a:r>
            <a:r>
              <a:rPr sz="950" spc="-165" dirty="0">
                <a:solidFill>
                  <a:srgbClr val="774409"/>
                </a:solidFill>
                <a:latin typeface="Calibri"/>
                <a:cs typeface="Calibri"/>
              </a:rPr>
              <a:t>onents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specify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'use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client'</a:t>
            </a:r>
            <a:r>
              <a:rPr sz="950" spc="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or</a:t>
            </a:r>
            <a:r>
              <a:rPr sz="950" spc="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'use</a:t>
            </a:r>
            <a:r>
              <a:rPr sz="950" spc="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server'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950" spc="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your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prompt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when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needed.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45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E957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Financial</a:t>
            </a:r>
            <a:r>
              <a:rPr spc="-90" dirty="0"/>
              <a:t> </a:t>
            </a:r>
            <a:r>
              <a:rPr dirty="0"/>
              <a:t>Reports</a:t>
            </a:r>
            <a:r>
              <a:rPr spc="-90" dirty="0"/>
              <a:t> </a:t>
            </a:r>
            <a:r>
              <a:rPr spc="-30" dirty="0"/>
              <a:t>Table</a:t>
            </a:r>
            <a:r>
              <a:rPr spc="-95" dirty="0"/>
              <a:t> </a:t>
            </a:r>
            <a:r>
              <a:rPr dirty="0"/>
              <a:t>—</a:t>
            </a:r>
            <a:r>
              <a:rPr spc="-85" dirty="0"/>
              <a:t> </a:t>
            </a:r>
            <a:r>
              <a:rPr spc="-10" dirty="0"/>
              <a:t>Trial</a:t>
            </a:r>
            <a:r>
              <a:rPr spc="-85" dirty="0"/>
              <a:t> </a:t>
            </a:r>
            <a:r>
              <a:rPr spc="-10" dirty="0"/>
              <a:t>Balance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21297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55" dirty="0">
                <a:solidFill>
                  <a:srgbClr val="9FBFFF"/>
                </a:solidFill>
                <a:latin typeface="+mn-lt"/>
                <a:cs typeface="Arial"/>
              </a:rPr>
              <a:t>Sortable,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filterable,</a:t>
            </a:r>
            <a:r>
              <a:rPr sz="1000" i="1" spc="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+mn-lt"/>
                <a:cs typeface="Arial"/>
              </a:rPr>
              <a:t>exportable</a:t>
            </a:r>
            <a:r>
              <a:rPr sz="1000" i="1" spc="1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report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table</a:t>
            </a:r>
            <a:endParaRPr sz="1000" dirty="0">
              <a:latin typeface="+mn-lt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7871"/>
            <a:ext cx="4533900" cy="1379220"/>
            <a:chOff x="242646" y="1037871"/>
            <a:chExt cx="4533900" cy="13792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7871"/>
              <a:ext cx="4533836" cy="137916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4922"/>
              <a:ext cx="4344035" cy="1189355"/>
            </a:xfrm>
            <a:custGeom>
              <a:avLst/>
              <a:gdLst/>
              <a:ahLst/>
              <a:cxnLst/>
              <a:rect l="l" t="t" r="r" b="b"/>
              <a:pathLst>
                <a:path w="4344035" h="1189355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097635"/>
                  </a:lnTo>
                  <a:lnTo>
                    <a:pt x="798" y="1109642"/>
                  </a:lnTo>
                  <a:lnTo>
                    <a:pt x="18830" y="1153399"/>
                  </a:lnTo>
                  <a:lnTo>
                    <a:pt x="56505" y="1182094"/>
                  </a:lnTo>
                  <a:lnTo>
                    <a:pt x="91439" y="1189075"/>
                  </a:lnTo>
                  <a:lnTo>
                    <a:pt x="4252315" y="1189075"/>
                  </a:lnTo>
                  <a:lnTo>
                    <a:pt x="4298035" y="1176845"/>
                  </a:lnTo>
                  <a:lnTo>
                    <a:pt x="4331512" y="1143355"/>
                  </a:lnTo>
                  <a:lnTo>
                    <a:pt x="4343755" y="1097635"/>
                  </a:lnTo>
                  <a:lnTo>
                    <a:pt x="4343731" y="91440"/>
                  </a:lnTo>
                  <a:lnTo>
                    <a:pt x="4331512" y="46075"/>
                  </a:lnTo>
                  <a:lnTo>
                    <a:pt x="4298035" y="12598"/>
                  </a:lnTo>
                  <a:lnTo>
                    <a:pt x="42523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4922"/>
              <a:ext cx="4344035" cy="1189355"/>
            </a:xfrm>
            <a:custGeom>
              <a:avLst/>
              <a:gdLst/>
              <a:ahLst/>
              <a:cxnLst/>
              <a:rect l="l" t="t" r="r" b="b"/>
              <a:pathLst>
                <a:path w="4344035" h="118935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81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55"/>
                  </a:lnTo>
                  <a:lnTo>
                    <a:pt x="4298035" y="12598"/>
                  </a:lnTo>
                  <a:lnTo>
                    <a:pt x="4331512" y="46075"/>
                  </a:lnTo>
                  <a:lnTo>
                    <a:pt x="4343755" y="91795"/>
                  </a:lnTo>
                  <a:lnTo>
                    <a:pt x="4343755" y="1097635"/>
                  </a:lnTo>
                  <a:lnTo>
                    <a:pt x="4342957" y="1109642"/>
                  </a:lnTo>
                  <a:lnTo>
                    <a:pt x="4340606" y="1121309"/>
                  </a:lnTo>
                  <a:lnTo>
                    <a:pt x="4317074" y="1162396"/>
                  </a:lnTo>
                  <a:lnTo>
                    <a:pt x="4275985" y="1185927"/>
                  </a:lnTo>
                  <a:lnTo>
                    <a:pt x="4252315" y="1189075"/>
                  </a:lnTo>
                  <a:lnTo>
                    <a:pt x="91439" y="1189075"/>
                  </a:lnTo>
                  <a:lnTo>
                    <a:pt x="45719" y="1176845"/>
                  </a:lnTo>
                  <a:lnTo>
                    <a:pt x="12230" y="1143355"/>
                  </a:lnTo>
                  <a:lnTo>
                    <a:pt x="0" y="1097635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147"/>
            <a:ext cx="3978910" cy="975994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40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TrialBalanceReport.tsx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React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component.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Display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Trial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Balance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in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table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with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columns: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Account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Code,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Account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Name,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Type,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Debit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Total,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Credit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Total,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Balance.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Features: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sort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by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any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column,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filter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by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account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type,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search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by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account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name,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export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to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Excel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(using </a:t>
            </a:r>
            <a:r>
              <a:rPr sz="850" i="1" spc="-90" dirty="0">
                <a:solidFill>
                  <a:srgbClr val="FCE589"/>
                </a:solidFill>
                <a:latin typeface="Arial"/>
                <a:cs typeface="Arial"/>
              </a:rPr>
              <a:t>SheetJS),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export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to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20" dirty="0">
                <a:solidFill>
                  <a:srgbClr val="FCE589"/>
                </a:solidFill>
                <a:latin typeface="Arial"/>
                <a:cs typeface="Arial"/>
              </a:rPr>
              <a:t>PDF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(print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stylesheet).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Show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totals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row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at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bottom.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Loading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skeleton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and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empty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state."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300022"/>
            <a:ext cx="4534535" cy="2522220"/>
            <a:chOff x="242646" y="2300022"/>
            <a:chExt cx="4534535" cy="252222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300022"/>
              <a:ext cx="4534204" cy="252218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0040" y="2377441"/>
              <a:ext cx="4343400" cy="2331720"/>
            </a:xfrm>
            <a:custGeom>
              <a:avLst/>
              <a:gdLst/>
              <a:ahLst/>
              <a:cxnLst/>
              <a:rect l="l" t="t" r="r" b="b"/>
              <a:pathLst>
                <a:path w="4343400" h="2331720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40"/>
                  </a:lnTo>
                  <a:lnTo>
                    <a:pt x="0" y="2240279"/>
                  </a:lnTo>
                  <a:lnTo>
                    <a:pt x="774" y="2251924"/>
                  </a:lnTo>
                  <a:lnTo>
                    <a:pt x="798" y="2252285"/>
                  </a:lnTo>
                  <a:lnTo>
                    <a:pt x="3076" y="2263589"/>
                  </a:lnTo>
                  <a:lnTo>
                    <a:pt x="3149" y="2263949"/>
                  </a:lnTo>
                  <a:lnTo>
                    <a:pt x="26681" y="2305038"/>
                  </a:lnTo>
                  <a:lnTo>
                    <a:pt x="67770" y="2328570"/>
                  </a:lnTo>
                  <a:lnTo>
                    <a:pt x="91439" y="2331720"/>
                  </a:lnTo>
                  <a:lnTo>
                    <a:pt x="4251960" y="2331364"/>
                  </a:lnTo>
                  <a:lnTo>
                    <a:pt x="4297680" y="2319121"/>
                  </a:lnTo>
                  <a:lnTo>
                    <a:pt x="4331157" y="2285644"/>
                  </a:lnTo>
                  <a:lnTo>
                    <a:pt x="4342528" y="2252285"/>
                  </a:lnTo>
                  <a:lnTo>
                    <a:pt x="4342601" y="2251924"/>
                  </a:lnTo>
                  <a:lnTo>
                    <a:pt x="4343376" y="2240279"/>
                  </a:lnTo>
                  <a:lnTo>
                    <a:pt x="4343400" y="2239924"/>
                  </a:lnTo>
                  <a:lnTo>
                    <a:pt x="4343044" y="91439"/>
                  </a:lnTo>
                  <a:lnTo>
                    <a:pt x="4330801" y="45719"/>
                  </a:lnTo>
                  <a:lnTo>
                    <a:pt x="4297324" y="12242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40" y="2377441"/>
              <a:ext cx="4343400" cy="2331720"/>
            </a:xfrm>
            <a:custGeom>
              <a:avLst/>
              <a:gdLst/>
              <a:ahLst/>
              <a:cxnLst/>
              <a:rect l="l" t="t" r="r" b="b"/>
              <a:pathLst>
                <a:path w="4343400" h="2331720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42"/>
                  </a:lnTo>
                  <a:lnTo>
                    <a:pt x="4330801" y="45719"/>
                  </a:lnTo>
                  <a:lnTo>
                    <a:pt x="4343044" y="91439"/>
                  </a:lnTo>
                  <a:lnTo>
                    <a:pt x="4343400" y="2239924"/>
                  </a:lnTo>
                  <a:lnTo>
                    <a:pt x="4342601" y="2251924"/>
                  </a:lnTo>
                  <a:lnTo>
                    <a:pt x="4340250" y="2263589"/>
                  </a:lnTo>
                  <a:lnTo>
                    <a:pt x="4316718" y="2304673"/>
                  </a:lnTo>
                  <a:lnTo>
                    <a:pt x="4275629" y="2328210"/>
                  </a:lnTo>
                  <a:lnTo>
                    <a:pt x="91439" y="2331720"/>
                  </a:lnTo>
                  <a:lnTo>
                    <a:pt x="45720" y="2319477"/>
                  </a:lnTo>
                  <a:lnTo>
                    <a:pt x="12242" y="2286000"/>
                  </a:lnTo>
                  <a:lnTo>
                    <a:pt x="0" y="22402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365295"/>
            <a:ext cx="3314065" cy="108585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35890" marR="5080" indent="-123825">
              <a:lnSpc>
                <a:spcPct val="102499"/>
              </a:lnSpc>
              <a:spcBef>
                <a:spcPts val="509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export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TrialBalanceReport: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React.FC&lt;Props&gt;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35" dirty="0">
                <a:solidFill>
                  <a:srgbClr val="E1E7EF"/>
                </a:solidFill>
                <a:latin typeface="Courier New"/>
                <a:cs typeface="Courier New"/>
              </a:rPr>
              <a:t>({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projectId,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asOf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})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=&gt;</a:t>
            </a:r>
            <a:r>
              <a:rPr sz="800" spc="1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13589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data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useTrialBalance(projectId,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asOf);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[sort,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setSort]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useState&lt;SortConfig&gt;(null);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[filter,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setFilter]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useState('');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622" y="3550223"/>
            <a:ext cx="3500754" cy="11499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exportExcel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()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=&gt;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260985" marR="1120775" indent="-12382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ws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XLSX.utils.json_to_sheet(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data.accounts.map(acc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=&gt;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({</a:t>
            </a:r>
            <a:endParaRPr sz="800">
              <a:latin typeface="Courier New"/>
              <a:cs typeface="Courier New"/>
            </a:endParaRPr>
          </a:p>
          <a:p>
            <a:pPr marL="385445" marR="934719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'Code':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acc.code,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'Name':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acc.name,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'Debit':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acc.debitTotal,</a:t>
            </a:r>
            <a:endParaRPr sz="800">
              <a:latin typeface="Courier New"/>
              <a:cs typeface="Courier New"/>
            </a:endParaRPr>
          </a:p>
          <a:p>
            <a:pPr marL="38544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'Credit':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acc.creditTotal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})));</a:t>
            </a:r>
            <a:endParaRPr sz="800">
              <a:latin typeface="Courier New"/>
              <a:cs typeface="Courier New"/>
            </a:endParaRPr>
          </a:p>
          <a:p>
            <a:pPr marL="13716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wb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XLSX.utils.book_new();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XLSX.utils.book_append_sheet(wb,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ws,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'Trial</a:t>
            </a:r>
            <a:r>
              <a:rPr sz="800" spc="1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Balance');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5140" y="5049268"/>
            <a:ext cx="14859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};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68926" y="1037871"/>
            <a:ext cx="4168775" cy="3783965"/>
            <a:chOff x="4768926" y="1037871"/>
            <a:chExt cx="4168775" cy="378396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7871"/>
              <a:ext cx="4168444" cy="378396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932"/>
                  </a:lnTo>
                  <a:lnTo>
                    <a:pt x="355" y="109804"/>
                  </a:lnTo>
                  <a:lnTo>
                    <a:pt x="0" y="3484079"/>
                  </a:lnTo>
                  <a:lnTo>
                    <a:pt x="929" y="3498349"/>
                  </a:lnTo>
                  <a:lnTo>
                    <a:pt x="939" y="3498510"/>
                  </a:lnTo>
                  <a:lnTo>
                    <a:pt x="3699" y="3512385"/>
                  </a:lnTo>
                  <a:lnTo>
                    <a:pt x="3735" y="3512567"/>
                  </a:lnTo>
                  <a:lnTo>
                    <a:pt x="8284" y="3525949"/>
                  </a:lnTo>
                  <a:lnTo>
                    <a:pt x="32213" y="3561703"/>
                  </a:lnTo>
                  <a:lnTo>
                    <a:pt x="67932" y="3585525"/>
                  </a:lnTo>
                  <a:lnTo>
                    <a:pt x="109791" y="3593884"/>
                  </a:lnTo>
                  <a:lnTo>
                    <a:pt x="3868191" y="3593884"/>
                  </a:lnTo>
                  <a:lnTo>
                    <a:pt x="3910262" y="3585525"/>
                  </a:lnTo>
                  <a:lnTo>
                    <a:pt x="3945766" y="3561703"/>
                  </a:lnTo>
                  <a:lnTo>
                    <a:pt x="3969542" y="3526151"/>
                  </a:lnTo>
                  <a:lnTo>
                    <a:pt x="3974198" y="3512567"/>
                  </a:lnTo>
                  <a:lnTo>
                    <a:pt x="3974260" y="3512385"/>
                  </a:lnTo>
                  <a:lnTo>
                    <a:pt x="3977023" y="3498510"/>
                  </a:lnTo>
                  <a:lnTo>
                    <a:pt x="3977055" y="3498349"/>
                  </a:lnTo>
                  <a:lnTo>
                    <a:pt x="3977995" y="3484079"/>
                  </a:lnTo>
                  <a:lnTo>
                    <a:pt x="3977972" y="109804"/>
                  </a:lnTo>
                  <a:lnTo>
                    <a:pt x="3969642" y="68088"/>
                  </a:lnTo>
                  <a:lnTo>
                    <a:pt x="3945772" y="32535"/>
                  </a:lnTo>
                  <a:lnTo>
                    <a:pt x="3910062" y="8713"/>
                  </a:lnTo>
                  <a:lnTo>
                    <a:pt x="3868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355" y="109804"/>
                  </a:moveTo>
                  <a:lnTo>
                    <a:pt x="1295" y="95529"/>
                  </a:lnTo>
                  <a:lnTo>
                    <a:pt x="4090" y="81494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55"/>
                  </a:lnTo>
                  <a:lnTo>
                    <a:pt x="3910062" y="8713"/>
                  </a:lnTo>
                  <a:lnTo>
                    <a:pt x="3945772" y="32535"/>
                  </a:lnTo>
                  <a:lnTo>
                    <a:pt x="3969642" y="68088"/>
                  </a:lnTo>
                  <a:lnTo>
                    <a:pt x="3977995" y="110159"/>
                  </a:lnTo>
                  <a:lnTo>
                    <a:pt x="3977995" y="3484079"/>
                  </a:lnTo>
                  <a:lnTo>
                    <a:pt x="3977055" y="3498349"/>
                  </a:lnTo>
                  <a:lnTo>
                    <a:pt x="3974260" y="3512385"/>
                  </a:lnTo>
                  <a:lnTo>
                    <a:pt x="3955218" y="3550872"/>
                  </a:lnTo>
                  <a:lnTo>
                    <a:pt x="3923271" y="3579114"/>
                  </a:lnTo>
                  <a:lnTo>
                    <a:pt x="3882621" y="3592944"/>
                  </a:lnTo>
                  <a:lnTo>
                    <a:pt x="3868191" y="3593884"/>
                  </a:lnTo>
                  <a:lnTo>
                    <a:pt x="109791" y="3593884"/>
                  </a:lnTo>
                  <a:lnTo>
                    <a:pt x="67932" y="3585525"/>
                  </a:lnTo>
                  <a:lnTo>
                    <a:pt x="32213" y="3561703"/>
                  </a:lnTo>
                  <a:lnTo>
                    <a:pt x="8352" y="3526151"/>
                  </a:lnTo>
                  <a:lnTo>
                    <a:pt x="0" y="348407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E957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970424" y="1167538"/>
            <a:ext cx="24971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E9570B"/>
                </a:solidFill>
                <a:latin typeface="MingLiU_HKSCS-ExtB"/>
                <a:cs typeface="MingLiU_HKSCS-ExtB"/>
              </a:rPr>
              <a:t>🌐</a:t>
            </a:r>
            <a:r>
              <a:rPr sz="1300" spc="-290" dirty="0">
                <a:solidFill>
                  <a:srgbClr val="E9570B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What</a:t>
            </a:r>
            <a:r>
              <a:rPr sz="1100" b="1" spc="-50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This</a:t>
            </a:r>
            <a:r>
              <a:rPr sz="1100" b="1" spc="-15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Component</a:t>
            </a:r>
            <a:r>
              <a:rPr sz="1100" b="1" spc="-30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E9570B"/>
                </a:solidFill>
                <a:latin typeface="Calibri"/>
                <a:cs typeface="Calibri"/>
              </a:rPr>
              <a:t>Does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70424" y="1568782"/>
            <a:ext cx="35775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Full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working component generated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by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Claude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Code.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Ready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to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use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with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minor</a:t>
            </a:r>
            <a:r>
              <a:rPr sz="90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customisation.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70424" y="2037010"/>
            <a:ext cx="1735176" cy="1930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0" dirty="0">
                <a:solidFill>
                  <a:srgbClr val="E9570B"/>
                </a:solidFill>
                <a:latin typeface="MingLiU_HKSCS-ExtB"/>
                <a:cs typeface="MingLiU_HKSCS-ExtB"/>
              </a:rPr>
              <a:t>📝</a:t>
            </a:r>
            <a:r>
              <a:rPr sz="1000" b="1" spc="10" dirty="0">
                <a:solidFill>
                  <a:srgbClr val="E9570B"/>
                </a:solidFill>
                <a:latin typeface="Calibri"/>
                <a:cs typeface="Calibri"/>
              </a:rPr>
              <a:t>Next</a:t>
            </a:r>
            <a:r>
              <a:rPr sz="1000" b="1" spc="185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E9570B"/>
                </a:solidFill>
                <a:latin typeface="Calibri"/>
                <a:cs typeface="Calibri"/>
              </a:rPr>
              <a:t>Step: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70424" y="2512341"/>
            <a:ext cx="36582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prompt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in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Claude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Code.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Review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generated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component.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Accept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diff.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Run: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npm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13016" y="4747783"/>
            <a:ext cx="8517255" cy="360680"/>
            <a:chOff x="313016" y="4656786"/>
            <a:chExt cx="8517255" cy="360680"/>
          </a:xfrm>
        </p:grpSpPr>
        <p:sp>
          <p:nvSpPr>
            <p:cNvPr id="28" name="object 28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18744" y="4636625"/>
            <a:ext cx="267335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650" spc="292" baseline="-37878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650" spc="157" baseline="-37878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XLSX.writeFile(wb,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`TB_${asOf}.xlsx`);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3222" y="4810760"/>
            <a:ext cx="6749415" cy="35496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0"/>
              </a:spcBef>
            </a:pPr>
            <a:r>
              <a:rPr sz="1200" spc="-67" baseline="-17361" dirty="0">
                <a:solidFill>
                  <a:srgbClr val="E1E7EF"/>
                </a:solidFill>
                <a:latin typeface="Courier New"/>
                <a:cs typeface="Courier New"/>
              </a:rPr>
              <a:t>};</a:t>
            </a:r>
            <a:r>
              <a:rPr sz="950" spc="-45" dirty="0">
                <a:solidFill>
                  <a:srgbClr val="774409"/>
                </a:solidFill>
                <a:latin typeface="Calibri"/>
                <a:cs typeface="Calibri"/>
              </a:rPr>
              <a:t>React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19</a:t>
            </a:r>
            <a:r>
              <a:rPr sz="950" spc="-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Tip: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Claude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Code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understands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React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19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Server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Components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specify</a:t>
            </a:r>
            <a:r>
              <a:rPr sz="950" spc="-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'use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client'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or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'use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server'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your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prompt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when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needed.</a:t>
            </a:r>
            <a:endParaRPr sz="950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24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...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table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render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with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sort/filter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46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E957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Budget</a:t>
            </a:r>
            <a:r>
              <a:rPr spc="-65" dirty="0"/>
              <a:t> </a:t>
            </a:r>
            <a:r>
              <a:rPr dirty="0"/>
              <a:t>vs</a:t>
            </a:r>
            <a:r>
              <a:rPr spc="-65" dirty="0"/>
              <a:t> </a:t>
            </a:r>
            <a:r>
              <a:rPr dirty="0"/>
              <a:t>Actual</a:t>
            </a:r>
            <a:r>
              <a:rPr spc="-55" dirty="0"/>
              <a:t> </a:t>
            </a:r>
            <a:r>
              <a:rPr spc="-10" dirty="0"/>
              <a:t>Chart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4771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Variance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Arial"/>
                <a:cs typeface="Arial"/>
              </a:rPr>
              <a:t>analysis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9FBFFF"/>
                </a:solidFill>
                <a:latin typeface="Arial"/>
                <a:cs typeface="Arial"/>
              </a:rPr>
              <a:t>with 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conditional</a:t>
            </a:r>
            <a:r>
              <a:rPr sz="1000" i="1" spc="-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colour</a:t>
            </a:r>
            <a:r>
              <a:rPr sz="1000" i="1" spc="-1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coding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7871"/>
            <a:ext cx="4533900" cy="1379220"/>
            <a:chOff x="242646" y="1037871"/>
            <a:chExt cx="4533900" cy="13792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7871"/>
              <a:ext cx="4533836" cy="137916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4922"/>
              <a:ext cx="4344035" cy="1189355"/>
            </a:xfrm>
            <a:custGeom>
              <a:avLst/>
              <a:gdLst/>
              <a:ahLst/>
              <a:cxnLst/>
              <a:rect l="l" t="t" r="r" b="b"/>
              <a:pathLst>
                <a:path w="4344035" h="1189355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097635"/>
                  </a:lnTo>
                  <a:lnTo>
                    <a:pt x="798" y="1109642"/>
                  </a:lnTo>
                  <a:lnTo>
                    <a:pt x="18830" y="1153399"/>
                  </a:lnTo>
                  <a:lnTo>
                    <a:pt x="56505" y="1182094"/>
                  </a:lnTo>
                  <a:lnTo>
                    <a:pt x="91439" y="1189075"/>
                  </a:lnTo>
                  <a:lnTo>
                    <a:pt x="4252315" y="1189075"/>
                  </a:lnTo>
                  <a:lnTo>
                    <a:pt x="4298035" y="1176845"/>
                  </a:lnTo>
                  <a:lnTo>
                    <a:pt x="4331512" y="1143355"/>
                  </a:lnTo>
                  <a:lnTo>
                    <a:pt x="4343755" y="1097635"/>
                  </a:lnTo>
                  <a:lnTo>
                    <a:pt x="4343731" y="91440"/>
                  </a:lnTo>
                  <a:lnTo>
                    <a:pt x="4331512" y="46075"/>
                  </a:lnTo>
                  <a:lnTo>
                    <a:pt x="4298035" y="12598"/>
                  </a:lnTo>
                  <a:lnTo>
                    <a:pt x="42523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4922"/>
              <a:ext cx="4344035" cy="1189355"/>
            </a:xfrm>
            <a:custGeom>
              <a:avLst/>
              <a:gdLst/>
              <a:ahLst/>
              <a:cxnLst/>
              <a:rect l="l" t="t" r="r" b="b"/>
              <a:pathLst>
                <a:path w="4344035" h="118935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81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55"/>
                  </a:lnTo>
                  <a:lnTo>
                    <a:pt x="4298035" y="12598"/>
                  </a:lnTo>
                  <a:lnTo>
                    <a:pt x="4331512" y="46075"/>
                  </a:lnTo>
                  <a:lnTo>
                    <a:pt x="4343755" y="91795"/>
                  </a:lnTo>
                  <a:lnTo>
                    <a:pt x="4343755" y="1097635"/>
                  </a:lnTo>
                  <a:lnTo>
                    <a:pt x="4342957" y="1109642"/>
                  </a:lnTo>
                  <a:lnTo>
                    <a:pt x="4340606" y="1121309"/>
                  </a:lnTo>
                  <a:lnTo>
                    <a:pt x="4317074" y="1162396"/>
                  </a:lnTo>
                  <a:lnTo>
                    <a:pt x="4275985" y="1185927"/>
                  </a:lnTo>
                  <a:lnTo>
                    <a:pt x="4252315" y="1189075"/>
                  </a:lnTo>
                  <a:lnTo>
                    <a:pt x="91439" y="1189075"/>
                  </a:lnTo>
                  <a:lnTo>
                    <a:pt x="45719" y="1176845"/>
                  </a:lnTo>
                  <a:lnTo>
                    <a:pt x="12230" y="1143355"/>
                  </a:lnTo>
                  <a:lnTo>
                    <a:pt x="0" y="1097635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147"/>
            <a:ext cx="4107815" cy="84645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40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BudgetVsActualChart.tsx.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Show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Recharts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ComposedChart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with: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bars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budget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amount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(blue),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bars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actual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amount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(green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if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under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budget,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red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if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over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budget),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line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for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cumulative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variance.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5" dirty="0">
                <a:solidFill>
                  <a:srgbClr val="FCE589"/>
                </a:solidFill>
                <a:latin typeface="Arial"/>
                <a:cs typeface="Arial"/>
              </a:rPr>
              <a:t>KPI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row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above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chart: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Total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Budget,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Total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Actual,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Variance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Amount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(BDT),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Variance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0" dirty="0">
                <a:solidFill>
                  <a:srgbClr val="FCE589"/>
                </a:solidFill>
                <a:latin typeface="Arial"/>
                <a:cs typeface="Arial"/>
              </a:rPr>
              <a:t>%.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Export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to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20" dirty="0">
                <a:solidFill>
                  <a:srgbClr val="FCE589"/>
                </a:solidFill>
                <a:latin typeface="Arial"/>
                <a:cs typeface="Arial"/>
              </a:rPr>
              <a:t>PDF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button.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Responsive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mobile."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300022"/>
            <a:ext cx="4534535" cy="2522220"/>
            <a:chOff x="242646" y="2300022"/>
            <a:chExt cx="4534535" cy="252222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300022"/>
              <a:ext cx="4534204" cy="252218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0040" y="2377441"/>
              <a:ext cx="4343400" cy="2331720"/>
            </a:xfrm>
            <a:custGeom>
              <a:avLst/>
              <a:gdLst/>
              <a:ahLst/>
              <a:cxnLst/>
              <a:rect l="l" t="t" r="r" b="b"/>
              <a:pathLst>
                <a:path w="4343400" h="2331720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40"/>
                  </a:lnTo>
                  <a:lnTo>
                    <a:pt x="0" y="2240279"/>
                  </a:lnTo>
                  <a:lnTo>
                    <a:pt x="774" y="2251924"/>
                  </a:lnTo>
                  <a:lnTo>
                    <a:pt x="798" y="2252285"/>
                  </a:lnTo>
                  <a:lnTo>
                    <a:pt x="3076" y="2263589"/>
                  </a:lnTo>
                  <a:lnTo>
                    <a:pt x="3149" y="2263949"/>
                  </a:lnTo>
                  <a:lnTo>
                    <a:pt x="26681" y="2305038"/>
                  </a:lnTo>
                  <a:lnTo>
                    <a:pt x="67770" y="2328570"/>
                  </a:lnTo>
                  <a:lnTo>
                    <a:pt x="91439" y="2331720"/>
                  </a:lnTo>
                  <a:lnTo>
                    <a:pt x="4251960" y="2331364"/>
                  </a:lnTo>
                  <a:lnTo>
                    <a:pt x="4297680" y="2319121"/>
                  </a:lnTo>
                  <a:lnTo>
                    <a:pt x="4331157" y="2285644"/>
                  </a:lnTo>
                  <a:lnTo>
                    <a:pt x="4342528" y="2252285"/>
                  </a:lnTo>
                  <a:lnTo>
                    <a:pt x="4342601" y="2251924"/>
                  </a:lnTo>
                  <a:lnTo>
                    <a:pt x="4343376" y="2240279"/>
                  </a:lnTo>
                  <a:lnTo>
                    <a:pt x="4343400" y="2239924"/>
                  </a:lnTo>
                  <a:lnTo>
                    <a:pt x="4343044" y="91439"/>
                  </a:lnTo>
                  <a:lnTo>
                    <a:pt x="4330801" y="45719"/>
                  </a:lnTo>
                  <a:lnTo>
                    <a:pt x="4297324" y="12242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40" y="2377441"/>
              <a:ext cx="4343400" cy="2331720"/>
            </a:xfrm>
            <a:custGeom>
              <a:avLst/>
              <a:gdLst/>
              <a:ahLst/>
              <a:cxnLst/>
              <a:rect l="l" t="t" r="r" b="b"/>
              <a:pathLst>
                <a:path w="4343400" h="2331720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42"/>
                  </a:lnTo>
                  <a:lnTo>
                    <a:pt x="4330801" y="45719"/>
                  </a:lnTo>
                  <a:lnTo>
                    <a:pt x="4343044" y="91439"/>
                  </a:lnTo>
                  <a:lnTo>
                    <a:pt x="4343400" y="2239924"/>
                  </a:lnTo>
                  <a:lnTo>
                    <a:pt x="4342601" y="2251924"/>
                  </a:lnTo>
                  <a:lnTo>
                    <a:pt x="4340250" y="2263589"/>
                  </a:lnTo>
                  <a:lnTo>
                    <a:pt x="4316718" y="2304673"/>
                  </a:lnTo>
                  <a:lnTo>
                    <a:pt x="4275629" y="2328210"/>
                  </a:lnTo>
                  <a:lnTo>
                    <a:pt x="91439" y="2331720"/>
                  </a:lnTo>
                  <a:lnTo>
                    <a:pt x="45720" y="2319477"/>
                  </a:lnTo>
                  <a:lnTo>
                    <a:pt x="12242" y="2286000"/>
                  </a:lnTo>
                  <a:lnTo>
                    <a:pt x="0" y="22402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365295"/>
            <a:ext cx="3499485" cy="12103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BudgetBar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(props: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any)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=&gt;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13589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x,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y,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width,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height,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actual,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budget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props;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isOver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actual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&gt;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budget;</a:t>
            </a:r>
            <a:endParaRPr sz="800">
              <a:latin typeface="Courier New"/>
              <a:cs typeface="Courier New"/>
            </a:endParaRPr>
          </a:p>
          <a:p>
            <a:pPr marL="260985" marR="5080" indent="-12509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return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&lt;rect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x={x}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y={y}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width={width}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height={height}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fill={isOver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?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'#EF4444'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: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'#22C55E'}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rx={3}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/&gt;;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};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140" y="3675140"/>
            <a:ext cx="2755900" cy="10248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&lt;ComposedChart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data={data.lines}&gt;</a:t>
            </a:r>
            <a:endParaRPr sz="800">
              <a:latin typeface="Courier New"/>
              <a:cs typeface="Courier New"/>
            </a:endParaRPr>
          </a:p>
          <a:p>
            <a:pPr marL="447040" marR="377190" indent="-31115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&lt;Bar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dataKey="budget"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fill="#2563EB"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name="Budget"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/&gt;</a:t>
            </a:r>
            <a:endParaRPr sz="800">
              <a:latin typeface="Courier New"/>
              <a:cs typeface="Courier New"/>
            </a:endParaRPr>
          </a:p>
          <a:p>
            <a:pPr marL="447040" marR="5080" indent="-31115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&lt;Bar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dataKey="actual"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shape={&lt;BudgetBar/&gt;}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name="Actual"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/&gt;</a:t>
            </a:r>
            <a:endParaRPr sz="800">
              <a:latin typeface="Courier New"/>
              <a:cs typeface="Courier New"/>
            </a:endParaRPr>
          </a:p>
          <a:p>
            <a:pPr marL="509270" marR="252095" indent="-3733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&lt;Line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type="monotone" dataKey="cumulativeVariance"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stroke="#F59E0B"</a:t>
            </a:r>
            <a:r>
              <a:rPr sz="800" spc="1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strokeWidth={2}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1938" y="4674503"/>
            <a:ext cx="188722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dot={false}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name="Variance"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/&gt;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140" y="5049268"/>
            <a:ext cx="101917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&lt;/ComposedChart&gt;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68926" y="1037871"/>
            <a:ext cx="4168775" cy="3783965"/>
            <a:chOff x="4768926" y="1037871"/>
            <a:chExt cx="4168775" cy="378396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7871"/>
              <a:ext cx="4168444" cy="378396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932"/>
                  </a:lnTo>
                  <a:lnTo>
                    <a:pt x="355" y="109804"/>
                  </a:lnTo>
                  <a:lnTo>
                    <a:pt x="0" y="3484079"/>
                  </a:lnTo>
                  <a:lnTo>
                    <a:pt x="929" y="3498349"/>
                  </a:lnTo>
                  <a:lnTo>
                    <a:pt x="939" y="3498510"/>
                  </a:lnTo>
                  <a:lnTo>
                    <a:pt x="3699" y="3512385"/>
                  </a:lnTo>
                  <a:lnTo>
                    <a:pt x="3735" y="3512567"/>
                  </a:lnTo>
                  <a:lnTo>
                    <a:pt x="8284" y="3525949"/>
                  </a:lnTo>
                  <a:lnTo>
                    <a:pt x="32213" y="3561703"/>
                  </a:lnTo>
                  <a:lnTo>
                    <a:pt x="67932" y="3585525"/>
                  </a:lnTo>
                  <a:lnTo>
                    <a:pt x="109791" y="3593884"/>
                  </a:lnTo>
                  <a:lnTo>
                    <a:pt x="3868191" y="3593884"/>
                  </a:lnTo>
                  <a:lnTo>
                    <a:pt x="3910262" y="3585525"/>
                  </a:lnTo>
                  <a:lnTo>
                    <a:pt x="3945766" y="3561703"/>
                  </a:lnTo>
                  <a:lnTo>
                    <a:pt x="3969542" y="3526151"/>
                  </a:lnTo>
                  <a:lnTo>
                    <a:pt x="3974198" y="3512567"/>
                  </a:lnTo>
                  <a:lnTo>
                    <a:pt x="3974260" y="3512385"/>
                  </a:lnTo>
                  <a:lnTo>
                    <a:pt x="3977023" y="3498510"/>
                  </a:lnTo>
                  <a:lnTo>
                    <a:pt x="3977055" y="3498349"/>
                  </a:lnTo>
                  <a:lnTo>
                    <a:pt x="3977995" y="3484079"/>
                  </a:lnTo>
                  <a:lnTo>
                    <a:pt x="3977972" y="109804"/>
                  </a:lnTo>
                  <a:lnTo>
                    <a:pt x="3969642" y="68088"/>
                  </a:lnTo>
                  <a:lnTo>
                    <a:pt x="3945772" y="32535"/>
                  </a:lnTo>
                  <a:lnTo>
                    <a:pt x="3910062" y="8713"/>
                  </a:lnTo>
                  <a:lnTo>
                    <a:pt x="3868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355" y="109804"/>
                  </a:moveTo>
                  <a:lnTo>
                    <a:pt x="1295" y="95529"/>
                  </a:lnTo>
                  <a:lnTo>
                    <a:pt x="4090" y="81494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55"/>
                  </a:lnTo>
                  <a:lnTo>
                    <a:pt x="3910062" y="8713"/>
                  </a:lnTo>
                  <a:lnTo>
                    <a:pt x="3945772" y="32535"/>
                  </a:lnTo>
                  <a:lnTo>
                    <a:pt x="3969642" y="68088"/>
                  </a:lnTo>
                  <a:lnTo>
                    <a:pt x="3977995" y="110159"/>
                  </a:lnTo>
                  <a:lnTo>
                    <a:pt x="3977995" y="3484079"/>
                  </a:lnTo>
                  <a:lnTo>
                    <a:pt x="3977055" y="3498349"/>
                  </a:lnTo>
                  <a:lnTo>
                    <a:pt x="3974260" y="3512385"/>
                  </a:lnTo>
                  <a:lnTo>
                    <a:pt x="3955218" y="3550872"/>
                  </a:lnTo>
                  <a:lnTo>
                    <a:pt x="3923271" y="3579114"/>
                  </a:lnTo>
                  <a:lnTo>
                    <a:pt x="3882621" y="3592944"/>
                  </a:lnTo>
                  <a:lnTo>
                    <a:pt x="3868191" y="3593884"/>
                  </a:lnTo>
                  <a:lnTo>
                    <a:pt x="109791" y="3593884"/>
                  </a:lnTo>
                  <a:lnTo>
                    <a:pt x="67932" y="3585525"/>
                  </a:lnTo>
                  <a:lnTo>
                    <a:pt x="32213" y="3561703"/>
                  </a:lnTo>
                  <a:lnTo>
                    <a:pt x="8352" y="3526151"/>
                  </a:lnTo>
                  <a:lnTo>
                    <a:pt x="0" y="348407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E957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970424" y="1167538"/>
            <a:ext cx="24971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E9570B"/>
                </a:solidFill>
                <a:latin typeface="MingLiU_HKSCS-ExtB"/>
                <a:cs typeface="MingLiU_HKSCS-ExtB"/>
              </a:rPr>
              <a:t>🌐</a:t>
            </a:r>
            <a:r>
              <a:rPr sz="1300" spc="-290" dirty="0">
                <a:solidFill>
                  <a:srgbClr val="E9570B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What</a:t>
            </a:r>
            <a:r>
              <a:rPr sz="1100" b="1" spc="-50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This</a:t>
            </a:r>
            <a:r>
              <a:rPr sz="1100" b="1" spc="-15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Component</a:t>
            </a:r>
            <a:r>
              <a:rPr sz="1100" b="1" spc="-30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E9570B"/>
                </a:solidFill>
                <a:latin typeface="Calibri"/>
                <a:cs typeface="Calibri"/>
              </a:rPr>
              <a:t>Does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70424" y="1568782"/>
            <a:ext cx="35775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Full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working component generated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by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Claude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Code.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Ready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to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use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with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minor</a:t>
            </a:r>
            <a:r>
              <a:rPr sz="90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customisation.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70424" y="2037010"/>
            <a:ext cx="1506576" cy="1930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0" dirty="0">
                <a:solidFill>
                  <a:srgbClr val="E9570B"/>
                </a:solidFill>
                <a:latin typeface="MingLiU_HKSCS-ExtB"/>
                <a:cs typeface="MingLiU_HKSCS-ExtB"/>
              </a:rPr>
              <a:t>📝</a:t>
            </a:r>
            <a:r>
              <a:rPr sz="1000" b="1" spc="10" dirty="0">
                <a:solidFill>
                  <a:srgbClr val="E9570B"/>
                </a:solidFill>
                <a:latin typeface="Calibri"/>
                <a:cs typeface="Calibri"/>
              </a:rPr>
              <a:t>Next</a:t>
            </a:r>
            <a:r>
              <a:rPr sz="1000" b="1" spc="185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E9570B"/>
                </a:solidFill>
                <a:latin typeface="Calibri"/>
                <a:cs typeface="Calibri"/>
              </a:rPr>
              <a:t>Step: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70424" y="2512341"/>
            <a:ext cx="36582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prompt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in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Claude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Code.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Review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generated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component.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Accept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diff.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Run: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npm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13016" y="4747375"/>
            <a:ext cx="8517255" cy="360680"/>
            <a:chOff x="313016" y="4656786"/>
            <a:chExt cx="8517255" cy="360680"/>
          </a:xfrm>
        </p:grpSpPr>
        <p:sp>
          <p:nvSpPr>
            <p:cNvPr id="29" name="object 29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18744" y="4789170"/>
            <a:ext cx="6876415" cy="37655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70"/>
              </a:spcBef>
            </a:pPr>
            <a:r>
              <a:rPr sz="1100" spc="-210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200" spc="-315" baseline="-17361" dirty="0">
                <a:solidFill>
                  <a:srgbClr val="E1E7EF"/>
                </a:solidFill>
                <a:latin typeface="Courier New"/>
                <a:cs typeface="Courier New"/>
              </a:rPr>
              <a:t>&lt;R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315" baseline="-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15" baseline="-17361" dirty="0">
                <a:solidFill>
                  <a:srgbClr val="E1E7EF"/>
                </a:solidFill>
                <a:latin typeface="Courier New"/>
                <a:cs typeface="Courier New"/>
              </a:rPr>
              <a:t>f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315" baseline="-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315" baseline="-17361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1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330" baseline="-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220" dirty="0">
                <a:solidFill>
                  <a:srgbClr val="774409"/>
                </a:solidFill>
                <a:latin typeface="Calibri"/>
                <a:cs typeface="Calibri"/>
              </a:rPr>
              <a:t>1</a:t>
            </a:r>
            <a:r>
              <a:rPr sz="1200" spc="-330" baseline="-17361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220" dirty="0">
                <a:solidFill>
                  <a:srgbClr val="774409"/>
                </a:solidFill>
                <a:latin typeface="Calibri"/>
                <a:cs typeface="Calibri"/>
              </a:rPr>
              <a:t>9</a:t>
            </a:r>
            <a:r>
              <a:rPr sz="1200" spc="-330" baseline="-17361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950" spc="-22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330" baseline="-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220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1200" spc="-330" baseline="-17361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220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330" baseline="-17361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220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727" baseline="-17361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750" baseline="-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215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1200" spc="-434" baseline="-17361" dirty="0">
                <a:solidFill>
                  <a:srgbClr val="E1E7EF"/>
                </a:solidFill>
                <a:latin typeface="Courier New"/>
                <a:cs typeface="Courier New"/>
              </a:rPr>
              <a:t>y</a:t>
            </a:r>
            <a:r>
              <a:rPr sz="950" spc="-24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412" baseline="-17361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950" spc="-21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15" baseline="-17361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1200" spc="-112" baseline="-17361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950" spc="-1010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950" spc="6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97" baseline="-17361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950" spc="-45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15" baseline="-17361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1200" spc="-502" baseline="-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1200" spc="-502" baseline="-17361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487" baseline="-17361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480" baseline="-17361" dirty="0">
                <a:solidFill>
                  <a:srgbClr val="E1E7EF"/>
                </a:solidFill>
                <a:latin typeface="Courier New"/>
                <a:cs typeface="Courier New"/>
              </a:rPr>
              <a:t>k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480" baseline="-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742" baseline="-17361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950" spc="-18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494" baseline="-17361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r>
              <a:rPr sz="950" spc="-13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547" baseline="-17361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950" spc="-14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532" baseline="-17361" dirty="0">
                <a:solidFill>
                  <a:srgbClr val="E1E7EF"/>
                </a:solidFill>
                <a:latin typeface="Courier New"/>
                <a:cs typeface="Courier New"/>
              </a:rPr>
              <a:t>9</a:t>
            </a:r>
            <a:r>
              <a:rPr sz="950" spc="-16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532" baseline="-17361" dirty="0">
                <a:solidFill>
                  <a:srgbClr val="E1E7EF"/>
                </a:solidFill>
                <a:latin typeface="Courier New"/>
                <a:cs typeface="Courier New"/>
              </a:rPr>
              <a:t>4</a:t>
            </a:r>
            <a:r>
              <a:rPr sz="950" spc="-40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375" baseline="-17361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27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375" baseline="-17361" dirty="0">
                <a:solidFill>
                  <a:srgbClr val="E1E7EF"/>
                </a:solidFill>
                <a:latin typeface="Courier New"/>
                <a:cs typeface="Courier New"/>
              </a:rPr>
              <a:t>3</a:t>
            </a:r>
            <a:r>
              <a:rPr sz="950" spc="-23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90" baseline="-17361" dirty="0">
                <a:solidFill>
                  <a:srgbClr val="E1E7EF"/>
                </a:solidFill>
                <a:latin typeface="Courier New"/>
                <a:cs typeface="Courier New"/>
              </a:rPr>
              <a:t>B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465" baseline="-17361" dirty="0">
                <a:solidFill>
                  <a:srgbClr val="E1E7EF"/>
                </a:solidFill>
                <a:latin typeface="Courier New"/>
                <a:cs typeface="Courier New"/>
              </a:rPr>
              <a:t>8</a:t>
            </a:r>
            <a:r>
              <a:rPr sz="950" spc="-10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585" baseline="-17361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19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Server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Components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specify 'use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client'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or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'use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server'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your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prompt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when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needed.</a:t>
            </a:r>
            <a:endParaRPr sz="950" dirty="0">
              <a:latin typeface="Calibri"/>
              <a:cs typeface="Calibri"/>
            </a:endParaRPr>
          </a:p>
          <a:p>
            <a:pPr marL="277495">
              <a:lnSpc>
                <a:spcPct val="100000"/>
              </a:lnSpc>
              <a:spcBef>
                <a:spcPts val="204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strokeDasharray="3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3"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/&gt;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47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E957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React</a:t>
            </a:r>
            <a:r>
              <a:rPr spc="-50" dirty="0"/>
              <a:t> </a:t>
            </a:r>
            <a:r>
              <a:rPr dirty="0"/>
              <a:t>19</a:t>
            </a:r>
            <a:r>
              <a:rPr spc="-55" dirty="0"/>
              <a:t> </a:t>
            </a:r>
            <a:r>
              <a:rPr dirty="0"/>
              <a:t>—</a:t>
            </a:r>
            <a:r>
              <a:rPr spc="-55" dirty="0"/>
              <a:t> </a:t>
            </a:r>
            <a:r>
              <a:rPr spc="-10" dirty="0"/>
              <a:t>Authentication</a:t>
            </a:r>
            <a:r>
              <a:rPr spc="-50" dirty="0"/>
              <a:t> </a:t>
            </a:r>
            <a:r>
              <a:rPr spc="-20" dirty="0"/>
              <a:t>Flow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30740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Login,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35" dirty="0">
                <a:solidFill>
                  <a:srgbClr val="9FBFFF"/>
                </a:solidFill>
                <a:latin typeface="Arial"/>
                <a:cs typeface="Arial"/>
              </a:rPr>
              <a:t>JWT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storage,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protected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routes,</a:t>
            </a:r>
            <a:r>
              <a:rPr sz="1000" i="1" spc="-1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role-</a:t>
            </a:r>
            <a:r>
              <a:rPr sz="1000" i="1" spc="-70" dirty="0">
                <a:solidFill>
                  <a:srgbClr val="9FBFFF"/>
                </a:solidFill>
                <a:latin typeface="Arial"/>
                <a:cs typeface="Arial"/>
              </a:rPr>
              <a:t>based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 navigation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1"/>
            <a:ext cx="847482" cy="1498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7871"/>
            <a:ext cx="4533900" cy="1379220"/>
            <a:chOff x="242646" y="1037871"/>
            <a:chExt cx="4533900" cy="13792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7871"/>
              <a:ext cx="4533836" cy="137916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4922"/>
              <a:ext cx="4344035" cy="1189355"/>
            </a:xfrm>
            <a:custGeom>
              <a:avLst/>
              <a:gdLst/>
              <a:ahLst/>
              <a:cxnLst/>
              <a:rect l="l" t="t" r="r" b="b"/>
              <a:pathLst>
                <a:path w="4344035" h="1189355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097635"/>
                  </a:lnTo>
                  <a:lnTo>
                    <a:pt x="798" y="1109642"/>
                  </a:lnTo>
                  <a:lnTo>
                    <a:pt x="18830" y="1153399"/>
                  </a:lnTo>
                  <a:lnTo>
                    <a:pt x="56505" y="1182094"/>
                  </a:lnTo>
                  <a:lnTo>
                    <a:pt x="91439" y="1189075"/>
                  </a:lnTo>
                  <a:lnTo>
                    <a:pt x="4252315" y="1189075"/>
                  </a:lnTo>
                  <a:lnTo>
                    <a:pt x="4298035" y="1176845"/>
                  </a:lnTo>
                  <a:lnTo>
                    <a:pt x="4331512" y="1143355"/>
                  </a:lnTo>
                  <a:lnTo>
                    <a:pt x="4343755" y="1097635"/>
                  </a:lnTo>
                  <a:lnTo>
                    <a:pt x="4343731" y="91440"/>
                  </a:lnTo>
                  <a:lnTo>
                    <a:pt x="4331512" y="46075"/>
                  </a:lnTo>
                  <a:lnTo>
                    <a:pt x="4298035" y="12598"/>
                  </a:lnTo>
                  <a:lnTo>
                    <a:pt x="42523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4922"/>
              <a:ext cx="4344035" cy="1189355"/>
            </a:xfrm>
            <a:custGeom>
              <a:avLst/>
              <a:gdLst/>
              <a:ahLst/>
              <a:cxnLst/>
              <a:rect l="l" t="t" r="r" b="b"/>
              <a:pathLst>
                <a:path w="4344035" h="118935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81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55"/>
                  </a:lnTo>
                  <a:lnTo>
                    <a:pt x="4298035" y="12598"/>
                  </a:lnTo>
                  <a:lnTo>
                    <a:pt x="4331512" y="46075"/>
                  </a:lnTo>
                  <a:lnTo>
                    <a:pt x="4343755" y="91795"/>
                  </a:lnTo>
                  <a:lnTo>
                    <a:pt x="4343755" y="1097635"/>
                  </a:lnTo>
                  <a:lnTo>
                    <a:pt x="4342957" y="1109642"/>
                  </a:lnTo>
                  <a:lnTo>
                    <a:pt x="4340606" y="1121309"/>
                  </a:lnTo>
                  <a:lnTo>
                    <a:pt x="4317074" y="1162396"/>
                  </a:lnTo>
                  <a:lnTo>
                    <a:pt x="4275985" y="1185927"/>
                  </a:lnTo>
                  <a:lnTo>
                    <a:pt x="4252315" y="1189075"/>
                  </a:lnTo>
                  <a:lnTo>
                    <a:pt x="91439" y="1189075"/>
                  </a:lnTo>
                  <a:lnTo>
                    <a:pt x="45719" y="1176845"/>
                  </a:lnTo>
                  <a:lnTo>
                    <a:pt x="12230" y="1143355"/>
                  </a:lnTo>
                  <a:lnTo>
                    <a:pt x="0" y="1097635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147"/>
            <a:ext cx="4044950" cy="975994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40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Claude</a:t>
            </a:r>
            <a:r>
              <a:rPr sz="85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Code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authentication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flow: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LoginPage.tsx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with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email/password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form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(react-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hook-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form),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AuthContext.tsx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useReducer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auth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state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(user,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token,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roles),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ProtectedRoute.tsx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that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redirects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to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/login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if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not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authenticated,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RoleGuard.tsx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that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renders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children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only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if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user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has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required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role.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Store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20" dirty="0">
                <a:solidFill>
                  <a:srgbClr val="FCE589"/>
                </a:solidFill>
                <a:latin typeface="Arial"/>
                <a:cs typeface="Arial"/>
              </a:rPr>
              <a:t>JWT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in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memory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(not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localStorage)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XSS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protection."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300022"/>
            <a:ext cx="4534535" cy="2522220"/>
            <a:chOff x="242646" y="2300022"/>
            <a:chExt cx="4534535" cy="252222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300022"/>
              <a:ext cx="4534204" cy="252218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0040" y="2377441"/>
              <a:ext cx="4343400" cy="2331720"/>
            </a:xfrm>
            <a:custGeom>
              <a:avLst/>
              <a:gdLst/>
              <a:ahLst/>
              <a:cxnLst/>
              <a:rect l="l" t="t" r="r" b="b"/>
              <a:pathLst>
                <a:path w="4343400" h="2331720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40"/>
                  </a:lnTo>
                  <a:lnTo>
                    <a:pt x="0" y="2240279"/>
                  </a:lnTo>
                  <a:lnTo>
                    <a:pt x="774" y="2251924"/>
                  </a:lnTo>
                  <a:lnTo>
                    <a:pt x="798" y="2252285"/>
                  </a:lnTo>
                  <a:lnTo>
                    <a:pt x="3076" y="2263589"/>
                  </a:lnTo>
                  <a:lnTo>
                    <a:pt x="3149" y="2263949"/>
                  </a:lnTo>
                  <a:lnTo>
                    <a:pt x="26681" y="2305038"/>
                  </a:lnTo>
                  <a:lnTo>
                    <a:pt x="67770" y="2328570"/>
                  </a:lnTo>
                  <a:lnTo>
                    <a:pt x="91439" y="2331720"/>
                  </a:lnTo>
                  <a:lnTo>
                    <a:pt x="4251960" y="2331364"/>
                  </a:lnTo>
                  <a:lnTo>
                    <a:pt x="4297680" y="2319121"/>
                  </a:lnTo>
                  <a:lnTo>
                    <a:pt x="4331157" y="2285644"/>
                  </a:lnTo>
                  <a:lnTo>
                    <a:pt x="4342528" y="2252285"/>
                  </a:lnTo>
                  <a:lnTo>
                    <a:pt x="4342601" y="2251924"/>
                  </a:lnTo>
                  <a:lnTo>
                    <a:pt x="4343376" y="2240279"/>
                  </a:lnTo>
                  <a:lnTo>
                    <a:pt x="4343400" y="2239924"/>
                  </a:lnTo>
                  <a:lnTo>
                    <a:pt x="4343044" y="91439"/>
                  </a:lnTo>
                  <a:lnTo>
                    <a:pt x="4330801" y="45719"/>
                  </a:lnTo>
                  <a:lnTo>
                    <a:pt x="4297324" y="12242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40" y="2377441"/>
              <a:ext cx="4343400" cy="2331720"/>
            </a:xfrm>
            <a:custGeom>
              <a:avLst/>
              <a:gdLst/>
              <a:ahLst/>
              <a:cxnLst/>
              <a:rect l="l" t="t" r="r" b="b"/>
              <a:pathLst>
                <a:path w="4343400" h="2331720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42"/>
                  </a:lnTo>
                  <a:lnTo>
                    <a:pt x="4330801" y="45719"/>
                  </a:lnTo>
                  <a:lnTo>
                    <a:pt x="4343044" y="91439"/>
                  </a:lnTo>
                  <a:lnTo>
                    <a:pt x="4343400" y="2239924"/>
                  </a:lnTo>
                  <a:lnTo>
                    <a:pt x="4342601" y="2251924"/>
                  </a:lnTo>
                  <a:lnTo>
                    <a:pt x="4340250" y="2263589"/>
                  </a:lnTo>
                  <a:lnTo>
                    <a:pt x="4316718" y="2304673"/>
                  </a:lnTo>
                  <a:lnTo>
                    <a:pt x="4275629" y="2328210"/>
                  </a:lnTo>
                  <a:lnTo>
                    <a:pt x="91439" y="2331720"/>
                  </a:lnTo>
                  <a:lnTo>
                    <a:pt x="45720" y="2319477"/>
                  </a:lnTo>
                  <a:lnTo>
                    <a:pt x="12242" y="2286000"/>
                  </a:lnTo>
                  <a:lnTo>
                    <a:pt x="0" y="22402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365295"/>
            <a:ext cx="3749040" cy="9607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AuthContext.tsx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JWT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memory,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not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localStorage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export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AuthProvider: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React.FC&lt;{children: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ReactNode}&gt;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=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({children})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=&gt;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R="564515" algn="r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[state,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dispatch]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useReducer(authReducer,</a:t>
            </a:r>
            <a:endParaRPr sz="800">
              <a:latin typeface="Courier New"/>
              <a:cs typeface="Courier New"/>
            </a:endParaRPr>
          </a:p>
          <a:p>
            <a:pPr marR="624840" algn="r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user: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null,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token: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null,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isLoading: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true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});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622" y="3425306"/>
            <a:ext cx="3749040" cy="1275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160" marR="129539" indent="-125095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login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async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(email: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string,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password: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string)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=&gt;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data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await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apiClient.post('/auth/login',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email,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password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});</a:t>
            </a:r>
            <a:endParaRPr sz="800">
              <a:latin typeface="Courier New"/>
              <a:cs typeface="Courier New"/>
            </a:endParaRPr>
          </a:p>
          <a:p>
            <a:pPr marL="137160" marR="62547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Store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memory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NOT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localStorage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(XSS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safe)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tokenRef.current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data.accessToken;</a:t>
            </a:r>
            <a:endParaRPr sz="800">
              <a:latin typeface="Courier New"/>
              <a:cs typeface="Courier New"/>
            </a:endParaRPr>
          </a:p>
          <a:p>
            <a:pPr marL="13716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dispatch({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type: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'LOGIN',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payload: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data.user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});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};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return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(</a:t>
            </a:r>
            <a:endParaRPr sz="800">
              <a:latin typeface="Courier New"/>
              <a:cs typeface="Courier New"/>
            </a:endParaRPr>
          </a:p>
          <a:p>
            <a:pPr marL="13716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&lt;AuthContext.Provider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value={{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...state,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login,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logout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}}&gt;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7021" y="4674503"/>
            <a:ext cx="64643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{children}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140" y="5049268"/>
            <a:ext cx="14859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};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68926" y="1037871"/>
            <a:ext cx="4168775" cy="3783965"/>
            <a:chOff x="4768926" y="1037871"/>
            <a:chExt cx="4168775" cy="378396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7871"/>
              <a:ext cx="4168444" cy="378396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932"/>
                  </a:lnTo>
                  <a:lnTo>
                    <a:pt x="355" y="109804"/>
                  </a:lnTo>
                  <a:lnTo>
                    <a:pt x="0" y="3484079"/>
                  </a:lnTo>
                  <a:lnTo>
                    <a:pt x="929" y="3498349"/>
                  </a:lnTo>
                  <a:lnTo>
                    <a:pt x="939" y="3498510"/>
                  </a:lnTo>
                  <a:lnTo>
                    <a:pt x="3699" y="3512385"/>
                  </a:lnTo>
                  <a:lnTo>
                    <a:pt x="3735" y="3512567"/>
                  </a:lnTo>
                  <a:lnTo>
                    <a:pt x="8284" y="3525949"/>
                  </a:lnTo>
                  <a:lnTo>
                    <a:pt x="32213" y="3561703"/>
                  </a:lnTo>
                  <a:lnTo>
                    <a:pt x="67932" y="3585525"/>
                  </a:lnTo>
                  <a:lnTo>
                    <a:pt x="109791" y="3593884"/>
                  </a:lnTo>
                  <a:lnTo>
                    <a:pt x="3868191" y="3593884"/>
                  </a:lnTo>
                  <a:lnTo>
                    <a:pt x="3910262" y="3585525"/>
                  </a:lnTo>
                  <a:lnTo>
                    <a:pt x="3945766" y="3561703"/>
                  </a:lnTo>
                  <a:lnTo>
                    <a:pt x="3969542" y="3526151"/>
                  </a:lnTo>
                  <a:lnTo>
                    <a:pt x="3974198" y="3512567"/>
                  </a:lnTo>
                  <a:lnTo>
                    <a:pt x="3974260" y="3512385"/>
                  </a:lnTo>
                  <a:lnTo>
                    <a:pt x="3977023" y="3498510"/>
                  </a:lnTo>
                  <a:lnTo>
                    <a:pt x="3977055" y="3498349"/>
                  </a:lnTo>
                  <a:lnTo>
                    <a:pt x="3977995" y="3484079"/>
                  </a:lnTo>
                  <a:lnTo>
                    <a:pt x="3977972" y="109804"/>
                  </a:lnTo>
                  <a:lnTo>
                    <a:pt x="3969642" y="68088"/>
                  </a:lnTo>
                  <a:lnTo>
                    <a:pt x="3945772" y="32535"/>
                  </a:lnTo>
                  <a:lnTo>
                    <a:pt x="3910062" y="8713"/>
                  </a:lnTo>
                  <a:lnTo>
                    <a:pt x="3868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355" y="109804"/>
                  </a:moveTo>
                  <a:lnTo>
                    <a:pt x="1295" y="95529"/>
                  </a:lnTo>
                  <a:lnTo>
                    <a:pt x="4090" y="81494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55"/>
                  </a:lnTo>
                  <a:lnTo>
                    <a:pt x="3910062" y="8713"/>
                  </a:lnTo>
                  <a:lnTo>
                    <a:pt x="3945772" y="32535"/>
                  </a:lnTo>
                  <a:lnTo>
                    <a:pt x="3969642" y="68088"/>
                  </a:lnTo>
                  <a:lnTo>
                    <a:pt x="3977995" y="110159"/>
                  </a:lnTo>
                  <a:lnTo>
                    <a:pt x="3977995" y="3484079"/>
                  </a:lnTo>
                  <a:lnTo>
                    <a:pt x="3977055" y="3498349"/>
                  </a:lnTo>
                  <a:lnTo>
                    <a:pt x="3974260" y="3512385"/>
                  </a:lnTo>
                  <a:lnTo>
                    <a:pt x="3955218" y="3550872"/>
                  </a:lnTo>
                  <a:lnTo>
                    <a:pt x="3923271" y="3579114"/>
                  </a:lnTo>
                  <a:lnTo>
                    <a:pt x="3882621" y="3592944"/>
                  </a:lnTo>
                  <a:lnTo>
                    <a:pt x="3868191" y="3593884"/>
                  </a:lnTo>
                  <a:lnTo>
                    <a:pt x="109791" y="3593884"/>
                  </a:lnTo>
                  <a:lnTo>
                    <a:pt x="67932" y="3585525"/>
                  </a:lnTo>
                  <a:lnTo>
                    <a:pt x="32213" y="3561703"/>
                  </a:lnTo>
                  <a:lnTo>
                    <a:pt x="8352" y="3526151"/>
                  </a:lnTo>
                  <a:lnTo>
                    <a:pt x="0" y="348407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E957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970424" y="1167538"/>
            <a:ext cx="25733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E9570B"/>
                </a:solidFill>
                <a:latin typeface="MingLiU_HKSCS-ExtB"/>
                <a:cs typeface="MingLiU_HKSCS-ExtB"/>
              </a:rPr>
              <a:t>🌐</a:t>
            </a:r>
            <a:r>
              <a:rPr sz="1300" spc="-290" dirty="0">
                <a:solidFill>
                  <a:srgbClr val="E9570B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What</a:t>
            </a:r>
            <a:r>
              <a:rPr sz="1100" b="1" spc="-50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This</a:t>
            </a:r>
            <a:r>
              <a:rPr sz="1100" b="1" spc="-15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9570B"/>
                </a:solidFill>
                <a:latin typeface="Calibri"/>
                <a:cs typeface="Calibri"/>
              </a:rPr>
              <a:t>Component</a:t>
            </a:r>
            <a:r>
              <a:rPr sz="1100" b="1" spc="-30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E9570B"/>
                </a:solidFill>
                <a:latin typeface="Calibri"/>
                <a:cs typeface="Calibri"/>
              </a:rPr>
              <a:t>Does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70424" y="1568782"/>
            <a:ext cx="35775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Full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working component generated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by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Claude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Code.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Ready</a:t>
            </a:r>
            <a:r>
              <a:rPr sz="9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to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use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with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minor</a:t>
            </a:r>
            <a:r>
              <a:rPr sz="90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customisation.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70424" y="2037010"/>
            <a:ext cx="1582776" cy="1930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0" dirty="0">
                <a:solidFill>
                  <a:srgbClr val="E9570B"/>
                </a:solidFill>
                <a:latin typeface="MingLiU_HKSCS-ExtB"/>
                <a:cs typeface="MingLiU_HKSCS-ExtB"/>
              </a:rPr>
              <a:t>📝</a:t>
            </a:r>
            <a:r>
              <a:rPr sz="1000" b="1" spc="10" dirty="0">
                <a:solidFill>
                  <a:srgbClr val="E9570B"/>
                </a:solidFill>
                <a:latin typeface="Calibri"/>
                <a:cs typeface="Calibri"/>
              </a:rPr>
              <a:t>Next</a:t>
            </a:r>
            <a:r>
              <a:rPr sz="1000" b="1" spc="185" dirty="0">
                <a:solidFill>
                  <a:srgbClr val="E9570B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E9570B"/>
                </a:solidFill>
                <a:latin typeface="Calibri"/>
                <a:cs typeface="Calibri"/>
              </a:rPr>
              <a:t>Step: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70424" y="2512341"/>
            <a:ext cx="36582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prompt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in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Claude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Code.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Review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generated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component.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D283A"/>
                </a:solidFill>
                <a:latin typeface="Calibri"/>
                <a:cs typeface="Calibri"/>
              </a:rPr>
              <a:t>Accept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diff.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Run: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D283A"/>
                </a:solidFill>
                <a:latin typeface="Calibri"/>
                <a:cs typeface="Calibri"/>
              </a:rPr>
              <a:t>npm</a:t>
            </a:r>
            <a:r>
              <a:rPr sz="9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D283A"/>
                </a:solidFill>
                <a:latin typeface="Calibri"/>
                <a:cs typeface="Calibri"/>
              </a:rPr>
              <a:t>test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29" name="object 29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18744" y="4698581"/>
            <a:ext cx="6863715" cy="37655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70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spc="-22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337" baseline="-17361" dirty="0">
                <a:solidFill>
                  <a:srgbClr val="E1E7EF"/>
                </a:solidFill>
                <a:latin typeface="Courier New"/>
                <a:cs typeface="Courier New"/>
              </a:rPr>
              <a:t>&lt;</a:t>
            </a:r>
            <a:r>
              <a:rPr sz="950" spc="-22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37" baseline="-17361" dirty="0">
                <a:solidFill>
                  <a:srgbClr val="E1E7EF"/>
                </a:solidFill>
                <a:latin typeface="Courier New"/>
                <a:cs typeface="Courier New"/>
              </a:rPr>
              <a:t>/</a:t>
            </a:r>
            <a:r>
              <a:rPr sz="950" spc="-22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337" baseline="-17361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225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337" baseline="-17361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950" spc="-22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114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562" baseline="-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05" dirty="0">
                <a:solidFill>
                  <a:srgbClr val="774409"/>
                </a:solidFill>
                <a:latin typeface="Calibri"/>
                <a:cs typeface="Calibri"/>
              </a:rPr>
              <a:t>1</a:t>
            </a:r>
            <a:r>
              <a:rPr sz="1200" spc="-585" baseline="-17361" dirty="0">
                <a:solidFill>
                  <a:srgbClr val="E1E7EF"/>
                </a:solidFill>
                <a:latin typeface="Courier New"/>
                <a:cs typeface="Courier New"/>
              </a:rPr>
              <a:t>h</a:t>
            </a:r>
            <a:r>
              <a:rPr sz="950" spc="-105" dirty="0">
                <a:solidFill>
                  <a:srgbClr val="774409"/>
                </a:solidFill>
                <a:latin typeface="Calibri"/>
                <a:cs typeface="Calibri"/>
              </a:rPr>
              <a:t>9</a:t>
            </a:r>
            <a:r>
              <a:rPr sz="1200" spc="-262" baseline="-17361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950" spc="-28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322" baseline="-17361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1200" spc="-727" baseline="-17361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950" spc="-245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1200" spc="-37" baseline="-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515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15" baseline="-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1200" spc="-405" baseline="-17361" dirty="0">
                <a:solidFill>
                  <a:srgbClr val="E1E7EF"/>
                </a:solidFill>
                <a:latin typeface="Courier New"/>
                <a:cs typeface="Courier New"/>
              </a:rPr>
              <a:t>x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450" baseline="-17361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1200" spc="-427" baseline="-17361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r>
              <a:rPr sz="950" spc="-22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427" baseline="-17361" dirty="0">
                <a:solidFill>
                  <a:srgbClr val="E1E7EF"/>
                </a:solidFill>
                <a:latin typeface="Courier New"/>
                <a:cs typeface="Courier New"/>
              </a:rPr>
              <a:t>P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150" baseline="-17361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434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104" baseline="-17361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434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89" baseline="-17361" dirty="0">
                <a:solidFill>
                  <a:srgbClr val="E1E7EF"/>
                </a:solidFill>
                <a:latin typeface="Courier New"/>
                <a:cs typeface="Courier New"/>
              </a:rPr>
              <a:t>v</a:t>
            </a:r>
            <a:r>
              <a:rPr sz="950" spc="-45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67" baseline="-17361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434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7" baseline="-17361" dirty="0">
                <a:solidFill>
                  <a:srgbClr val="E1E7EF"/>
                </a:solidFill>
                <a:latin typeface="Courier New"/>
                <a:cs typeface="Courier New"/>
              </a:rPr>
              <a:t>d</a:t>
            </a:r>
            <a:r>
              <a:rPr sz="1200" spc="-502" baseline="-17361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170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1200" spc="-502" baseline="-17361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170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480" baseline="-17361" dirty="0">
                <a:solidFill>
                  <a:srgbClr val="E1E7EF"/>
                </a:solidFill>
                <a:latin typeface="Courier New"/>
                <a:cs typeface="Courier New"/>
              </a:rPr>
              <a:t>&gt;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rst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 React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19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Server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Components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specify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'use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client' or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'use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server'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in your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prompt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when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needed.</a:t>
            </a:r>
            <a:endParaRPr sz="950">
              <a:latin typeface="Calibri"/>
              <a:cs typeface="Calibri"/>
            </a:endParaRPr>
          </a:p>
          <a:p>
            <a:pPr marL="152400">
              <a:lnSpc>
                <a:spcPct val="100000"/>
              </a:lnSpc>
              <a:spcBef>
                <a:spcPts val="204"/>
              </a:spcBef>
            </a:pP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48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9356" y="502198"/>
            <a:ext cx="1280795" cy="329565"/>
          </a:xfrm>
          <a:custGeom>
            <a:avLst/>
            <a:gdLst/>
            <a:ahLst/>
            <a:cxnLst/>
            <a:rect l="l" t="t" r="r" b="b"/>
            <a:pathLst>
              <a:path w="1280795" h="329565">
                <a:moveTo>
                  <a:pt x="91808" y="0"/>
                </a:moveTo>
                <a:lnTo>
                  <a:pt x="46088" y="12242"/>
                </a:lnTo>
                <a:lnTo>
                  <a:pt x="12598" y="45720"/>
                </a:lnTo>
                <a:lnTo>
                  <a:pt x="368" y="91439"/>
                </a:lnTo>
                <a:lnTo>
                  <a:pt x="0" y="237959"/>
                </a:lnTo>
                <a:lnTo>
                  <a:pt x="798" y="249966"/>
                </a:lnTo>
                <a:lnTo>
                  <a:pt x="18843" y="293724"/>
                </a:lnTo>
                <a:lnTo>
                  <a:pt x="56512" y="322418"/>
                </a:lnTo>
                <a:lnTo>
                  <a:pt x="91439" y="329399"/>
                </a:lnTo>
                <a:lnTo>
                  <a:pt x="1189088" y="329399"/>
                </a:lnTo>
                <a:lnTo>
                  <a:pt x="1234808" y="317169"/>
                </a:lnTo>
                <a:lnTo>
                  <a:pt x="1268285" y="283679"/>
                </a:lnTo>
                <a:lnTo>
                  <a:pt x="1280528" y="237959"/>
                </a:lnTo>
                <a:lnTo>
                  <a:pt x="1280503" y="91439"/>
                </a:lnTo>
                <a:lnTo>
                  <a:pt x="1268285" y="46088"/>
                </a:lnTo>
                <a:lnTo>
                  <a:pt x="1234808" y="12598"/>
                </a:lnTo>
                <a:lnTo>
                  <a:pt x="1189088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2901" y="578067"/>
            <a:ext cx="6343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0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07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27024" y="1020142"/>
            <a:ext cx="527812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/>
              <a:t>Security</a:t>
            </a:r>
            <a:r>
              <a:rPr sz="4200" spc="-65" dirty="0"/>
              <a:t> </a:t>
            </a:r>
            <a:r>
              <a:rPr sz="4200" dirty="0"/>
              <a:t>&amp;</a:t>
            </a:r>
            <a:r>
              <a:rPr sz="4200" spc="-60" dirty="0"/>
              <a:t> </a:t>
            </a:r>
            <a:r>
              <a:rPr sz="4200" dirty="0"/>
              <a:t>Code</a:t>
            </a:r>
            <a:r>
              <a:rPr sz="4200" spc="-60" dirty="0"/>
              <a:t> </a:t>
            </a:r>
            <a:r>
              <a:rPr sz="4200" spc="-10" dirty="0"/>
              <a:t>Review</a:t>
            </a:r>
            <a:endParaRPr sz="4200" dirty="0"/>
          </a:p>
        </p:txBody>
      </p:sp>
      <p:sp>
        <p:nvSpPr>
          <p:cNvPr id="6" name="object 6"/>
          <p:cNvSpPr txBox="1"/>
          <p:nvPr/>
        </p:nvSpPr>
        <p:spPr>
          <a:xfrm>
            <a:off x="627024" y="1838428"/>
            <a:ext cx="376936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215" dirty="0">
                <a:solidFill>
                  <a:srgbClr val="F49D0A"/>
                </a:solidFill>
                <a:latin typeface="+mn-lt"/>
                <a:cs typeface="Arial"/>
              </a:rPr>
              <a:t>OWASP</a:t>
            </a:r>
            <a:r>
              <a:rPr sz="1500" i="1" spc="-75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155" dirty="0">
                <a:solidFill>
                  <a:srgbClr val="F49D0A"/>
                </a:solidFill>
                <a:latin typeface="+mn-lt"/>
                <a:cs typeface="Arial"/>
              </a:rPr>
              <a:t>Top</a:t>
            </a:r>
            <a:r>
              <a:rPr sz="1500" i="1" spc="-8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90" dirty="0">
                <a:solidFill>
                  <a:srgbClr val="F49D0A"/>
                </a:solidFill>
                <a:latin typeface="+mn-lt"/>
                <a:cs typeface="Arial"/>
              </a:rPr>
              <a:t>10</a:t>
            </a:r>
            <a:r>
              <a:rPr sz="1500" i="1" spc="-8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60" dirty="0">
                <a:solidFill>
                  <a:srgbClr val="F49D0A"/>
                </a:solidFill>
                <a:latin typeface="+mn-lt"/>
                <a:cs typeface="Arial"/>
              </a:rPr>
              <a:t>applied</a:t>
            </a:r>
            <a:r>
              <a:rPr sz="1500" i="1" spc="-7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dirty="0">
                <a:solidFill>
                  <a:srgbClr val="F49D0A"/>
                </a:solidFill>
                <a:latin typeface="+mn-lt"/>
                <a:cs typeface="Arial"/>
              </a:rPr>
              <a:t>to</a:t>
            </a:r>
            <a:r>
              <a:rPr sz="1500" i="1" spc="-75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35" dirty="0">
                <a:solidFill>
                  <a:srgbClr val="F49D0A"/>
                </a:solidFill>
                <a:latin typeface="+mn-lt"/>
                <a:cs typeface="Arial"/>
              </a:rPr>
              <a:t>the</a:t>
            </a:r>
            <a:r>
              <a:rPr sz="1500" i="1" spc="-7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140" dirty="0">
                <a:solidFill>
                  <a:srgbClr val="F49D0A"/>
                </a:solidFill>
                <a:latin typeface="+mn-lt"/>
                <a:cs typeface="Arial"/>
              </a:rPr>
              <a:t>WAMY</a:t>
            </a:r>
            <a:r>
              <a:rPr sz="1500" i="1" spc="-65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105" dirty="0">
                <a:solidFill>
                  <a:srgbClr val="F49D0A"/>
                </a:solidFill>
                <a:latin typeface="+mn-lt"/>
                <a:cs typeface="Arial"/>
              </a:rPr>
              <a:t>Finance</a:t>
            </a:r>
            <a:r>
              <a:rPr sz="1500" i="1" spc="-7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45" dirty="0">
                <a:solidFill>
                  <a:srgbClr val="F49D0A"/>
                </a:solidFill>
                <a:latin typeface="+mn-lt"/>
                <a:cs typeface="Arial"/>
              </a:rPr>
              <a:t>API</a:t>
            </a:r>
            <a:endParaRPr sz="1500" dirty="0">
              <a:latin typeface="+mn-lt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4800" y="2325422"/>
            <a:ext cx="2024380" cy="515620"/>
            <a:chOff x="633424" y="2325422"/>
            <a:chExt cx="2024380" cy="515620"/>
          </a:xfrm>
        </p:grpSpPr>
        <p:sp>
          <p:nvSpPr>
            <p:cNvPr id="8" name="object 8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191987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5" y="434789"/>
                  </a:lnTo>
                  <a:lnTo>
                    <a:pt x="3148" y="435149"/>
                  </a:lnTo>
                  <a:lnTo>
                    <a:pt x="6859" y="446051"/>
                  </a:lnTo>
                  <a:lnTo>
                    <a:pt x="35675" y="484083"/>
                  </a:lnTo>
                  <a:lnTo>
                    <a:pt x="79433" y="502121"/>
                  </a:lnTo>
                  <a:lnTo>
                    <a:pt x="91440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08402" y="435149"/>
                  </a:lnTo>
                  <a:lnTo>
                    <a:pt x="2008525" y="434789"/>
                  </a:lnTo>
                  <a:lnTo>
                    <a:pt x="2010806" y="423485"/>
                  </a:lnTo>
                  <a:lnTo>
                    <a:pt x="2010879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11" y="91439"/>
                  </a:lnTo>
                  <a:lnTo>
                    <a:pt x="1999081" y="45719"/>
                  </a:lnTo>
                  <a:lnTo>
                    <a:pt x="1965591" y="12242"/>
                  </a:lnTo>
                  <a:lnTo>
                    <a:pt x="1931878" y="798"/>
                  </a:lnTo>
                  <a:lnTo>
                    <a:pt x="1919871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0" y="91439"/>
                  </a:moveTo>
                  <a:lnTo>
                    <a:pt x="798" y="79434"/>
                  </a:lnTo>
                  <a:lnTo>
                    <a:pt x="3148" y="67770"/>
                  </a:lnTo>
                  <a:lnTo>
                    <a:pt x="26679" y="26681"/>
                  </a:lnTo>
                  <a:lnTo>
                    <a:pt x="67765" y="3149"/>
                  </a:lnTo>
                  <a:lnTo>
                    <a:pt x="91440" y="0"/>
                  </a:lnTo>
                  <a:lnTo>
                    <a:pt x="1919871" y="0"/>
                  </a:lnTo>
                  <a:lnTo>
                    <a:pt x="1965591" y="12242"/>
                  </a:lnTo>
                  <a:lnTo>
                    <a:pt x="1999081" y="45719"/>
                  </a:lnTo>
                  <a:lnTo>
                    <a:pt x="2011311" y="91439"/>
                  </a:lnTo>
                  <a:lnTo>
                    <a:pt x="2011679" y="411124"/>
                  </a:lnTo>
                  <a:lnTo>
                    <a:pt x="2010879" y="423124"/>
                  </a:lnTo>
                  <a:lnTo>
                    <a:pt x="2008525" y="434789"/>
                  </a:lnTo>
                  <a:lnTo>
                    <a:pt x="1984989" y="475873"/>
                  </a:lnTo>
                  <a:lnTo>
                    <a:pt x="1943904" y="499410"/>
                  </a:lnTo>
                  <a:lnTo>
                    <a:pt x="91440" y="502919"/>
                  </a:lnTo>
                  <a:lnTo>
                    <a:pt x="45720" y="490677"/>
                  </a:lnTo>
                  <a:lnTo>
                    <a:pt x="12230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44957" y="2497939"/>
            <a:ext cx="7429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9FC7FF"/>
                </a:solidFill>
                <a:latin typeface="Calibri"/>
                <a:cs typeface="Calibri"/>
              </a:rPr>
              <a:t>OWASP</a:t>
            </a:r>
            <a:r>
              <a:rPr sz="950" spc="-25" dirty="0">
                <a:solidFill>
                  <a:srgbClr val="9FC7FF"/>
                </a:solidFill>
                <a:latin typeface="Calibri"/>
                <a:cs typeface="Calibri"/>
              </a:rPr>
              <a:t> Top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9FC7FF"/>
                </a:solidFill>
                <a:latin typeface="Calibri"/>
                <a:cs typeface="Calibri"/>
              </a:rPr>
              <a:t>10</a:t>
            </a:r>
            <a:endParaRPr sz="95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80996" y="2325422"/>
            <a:ext cx="2024380" cy="515620"/>
            <a:chOff x="2809620" y="2325422"/>
            <a:chExt cx="2024380" cy="515620"/>
          </a:xfrm>
        </p:grpSpPr>
        <p:sp>
          <p:nvSpPr>
            <p:cNvPr id="12" name="object 12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76" y="484083"/>
                  </a:lnTo>
                  <a:lnTo>
                    <a:pt x="79433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79" y="411124"/>
                  </a:lnTo>
                  <a:lnTo>
                    <a:pt x="2010881" y="423124"/>
                  </a:lnTo>
                  <a:lnTo>
                    <a:pt x="2008530" y="434789"/>
                  </a:lnTo>
                  <a:lnTo>
                    <a:pt x="1984994" y="475873"/>
                  </a:lnTo>
                  <a:lnTo>
                    <a:pt x="1943909" y="499410"/>
                  </a:lnTo>
                  <a:lnTo>
                    <a:pt x="91439" y="502919"/>
                  </a:lnTo>
                  <a:lnTo>
                    <a:pt x="45719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60040" y="2497939"/>
            <a:ext cx="66611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SQL</a:t>
            </a:r>
            <a:r>
              <a:rPr sz="950" spc="-3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Injection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57192" y="2325422"/>
            <a:ext cx="2024380" cy="515620"/>
            <a:chOff x="4985816" y="2325422"/>
            <a:chExt cx="2024380" cy="515620"/>
          </a:xfrm>
        </p:grpSpPr>
        <p:sp>
          <p:nvSpPr>
            <p:cNvPr id="16" name="object 16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83" y="484083"/>
                  </a:lnTo>
                  <a:lnTo>
                    <a:pt x="79440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49" y="456844"/>
                  </a:lnTo>
                  <a:lnTo>
                    <a:pt x="2008409" y="435149"/>
                  </a:lnTo>
                  <a:lnTo>
                    <a:pt x="2008531" y="434789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80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9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90" y="26681"/>
                  </a:lnTo>
                  <a:lnTo>
                    <a:pt x="6777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80" y="411124"/>
                  </a:lnTo>
                  <a:lnTo>
                    <a:pt x="2010881" y="423124"/>
                  </a:lnTo>
                  <a:lnTo>
                    <a:pt x="2008531" y="434789"/>
                  </a:lnTo>
                  <a:lnTo>
                    <a:pt x="1985000" y="475873"/>
                  </a:lnTo>
                  <a:lnTo>
                    <a:pt x="1943914" y="499410"/>
                  </a:lnTo>
                  <a:lnTo>
                    <a:pt x="91439" y="502919"/>
                  </a:lnTo>
                  <a:lnTo>
                    <a:pt x="45720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532070" y="2497939"/>
            <a:ext cx="27368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9FC7FF"/>
                </a:solidFill>
                <a:latin typeface="Calibri"/>
                <a:cs typeface="Calibri"/>
              </a:rPr>
              <a:t>IDOR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33755" y="2325422"/>
            <a:ext cx="1987550" cy="515620"/>
            <a:chOff x="7162379" y="2325422"/>
            <a:chExt cx="1987550" cy="515620"/>
          </a:xfrm>
        </p:grpSpPr>
        <p:sp>
          <p:nvSpPr>
            <p:cNvPr id="20" name="object 20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1988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12242" y="457200"/>
                  </a:lnTo>
                  <a:lnTo>
                    <a:pt x="45720" y="490677"/>
                  </a:lnTo>
                  <a:lnTo>
                    <a:pt x="91440" y="502919"/>
                  </a:lnTo>
                  <a:lnTo>
                    <a:pt x="1920240" y="502564"/>
                  </a:lnTo>
                  <a:lnTo>
                    <a:pt x="1965960" y="490321"/>
                  </a:lnTo>
                  <a:lnTo>
                    <a:pt x="1974951" y="484412"/>
                  </a:lnTo>
                  <a:lnTo>
                    <a:pt x="1974951" y="18383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74951" y="484412"/>
                  </a:moveTo>
                  <a:lnTo>
                    <a:pt x="1932245" y="501764"/>
                  </a:lnTo>
                  <a:lnTo>
                    <a:pt x="91440" y="502919"/>
                  </a:lnTo>
                  <a:lnTo>
                    <a:pt x="79434" y="502121"/>
                  </a:lnTo>
                  <a:lnTo>
                    <a:pt x="35676" y="484083"/>
                  </a:lnTo>
                  <a:lnTo>
                    <a:pt x="6986" y="446409"/>
                  </a:lnTo>
                  <a:lnTo>
                    <a:pt x="0" y="411479"/>
                  </a:lnTo>
                  <a:lnTo>
                    <a:pt x="0" y="91439"/>
                  </a:lnTo>
                  <a:lnTo>
                    <a:pt x="12242" y="45719"/>
                  </a:lnTo>
                  <a:lnTo>
                    <a:pt x="45720" y="12242"/>
                  </a:lnTo>
                  <a:lnTo>
                    <a:pt x="91440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74951" y="18383"/>
                  </a:lnTo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13320" y="2497939"/>
            <a:ext cx="2654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9FC7FF"/>
                </a:solidFill>
                <a:latin typeface="Calibri"/>
                <a:cs typeface="Calibri"/>
              </a:rPr>
              <a:t>CSRF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49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907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Security</a:t>
            </a:r>
            <a:r>
              <a:rPr spc="-40" dirty="0"/>
              <a:t> </a:t>
            </a:r>
            <a:r>
              <a:rPr dirty="0"/>
              <a:t>Audit</a:t>
            </a:r>
            <a:r>
              <a:rPr spc="-45" dirty="0"/>
              <a:t> </a:t>
            </a:r>
            <a:r>
              <a:rPr dirty="0"/>
              <a:t>—</a:t>
            </a:r>
            <a:r>
              <a:rPr spc="-35" dirty="0"/>
              <a:t> </a:t>
            </a:r>
            <a:r>
              <a:rPr dirty="0"/>
              <a:t>Quick</a:t>
            </a:r>
            <a:r>
              <a:rPr spc="-55" dirty="0"/>
              <a:t> </a:t>
            </a:r>
            <a:r>
              <a:rPr spc="-10" dirty="0"/>
              <a:t>Start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32867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105" dirty="0">
                <a:solidFill>
                  <a:srgbClr val="9FBFFF"/>
                </a:solidFill>
                <a:latin typeface="Arial"/>
                <a:cs typeface="Arial"/>
              </a:rPr>
              <a:t>Run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a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security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5" dirty="0">
                <a:solidFill>
                  <a:srgbClr val="9FBFFF"/>
                </a:solidFill>
                <a:latin typeface="Arial"/>
                <a:cs typeface="Arial"/>
              </a:rPr>
              <a:t>scan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on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the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WAMY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0" dirty="0">
                <a:solidFill>
                  <a:srgbClr val="9FBFFF"/>
                </a:solidFill>
                <a:latin typeface="Arial"/>
                <a:cs typeface="Arial"/>
              </a:rPr>
              <a:t>Finance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module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in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60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seconds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8474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582"/>
            <a:ext cx="4945380" cy="1333500"/>
            <a:chOff x="242646" y="1038582"/>
            <a:chExt cx="4945380" cy="13335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582"/>
              <a:ext cx="4945316" cy="1333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646"/>
              <a:ext cx="4754880" cy="1143000"/>
            </a:xfrm>
            <a:custGeom>
              <a:avLst/>
              <a:gdLst/>
              <a:ahLst/>
              <a:cxnLst/>
              <a:rect l="l" t="t" r="r" b="b"/>
              <a:pathLst>
                <a:path w="4754880" h="1143000">
                  <a:moveTo>
                    <a:pt x="4663440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30" y="1097280"/>
                  </a:lnTo>
                  <a:lnTo>
                    <a:pt x="45719" y="1130757"/>
                  </a:lnTo>
                  <a:lnTo>
                    <a:pt x="91439" y="1143000"/>
                  </a:lnTo>
                  <a:lnTo>
                    <a:pt x="4663440" y="1143000"/>
                  </a:lnTo>
                  <a:lnTo>
                    <a:pt x="4709159" y="1130757"/>
                  </a:lnTo>
                  <a:lnTo>
                    <a:pt x="4742637" y="1097280"/>
                  </a:lnTo>
                  <a:lnTo>
                    <a:pt x="4754880" y="1051560"/>
                  </a:lnTo>
                  <a:lnTo>
                    <a:pt x="4754880" y="91439"/>
                  </a:lnTo>
                  <a:lnTo>
                    <a:pt x="4742637" y="45720"/>
                  </a:lnTo>
                  <a:lnTo>
                    <a:pt x="4709159" y="12230"/>
                  </a:lnTo>
                  <a:lnTo>
                    <a:pt x="4663440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646"/>
              <a:ext cx="4754880" cy="1143000"/>
            </a:xfrm>
            <a:custGeom>
              <a:avLst/>
              <a:gdLst/>
              <a:ahLst/>
              <a:cxnLst/>
              <a:rect l="l" t="t" r="r" b="b"/>
              <a:pathLst>
                <a:path w="4754880" h="1143000">
                  <a:moveTo>
                    <a:pt x="0" y="91439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39" y="0"/>
                  </a:lnTo>
                  <a:lnTo>
                    <a:pt x="4663440" y="0"/>
                  </a:lnTo>
                  <a:lnTo>
                    <a:pt x="4709159" y="12230"/>
                  </a:lnTo>
                  <a:lnTo>
                    <a:pt x="4742637" y="45720"/>
                  </a:lnTo>
                  <a:lnTo>
                    <a:pt x="4754880" y="91439"/>
                  </a:lnTo>
                  <a:lnTo>
                    <a:pt x="4754880" y="1051560"/>
                  </a:lnTo>
                  <a:lnTo>
                    <a:pt x="4754079" y="1063559"/>
                  </a:lnTo>
                  <a:lnTo>
                    <a:pt x="4751725" y="1075224"/>
                  </a:lnTo>
                  <a:lnTo>
                    <a:pt x="4728189" y="1116309"/>
                  </a:lnTo>
                  <a:lnTo>
                    <a:pt x="4687104" y="1139850"/>
                  </a:lnTo>
                  <a:lnTo>
                    <a:pt x="4663440" y="1143000"/>
                  </a:lnTo>
                  <a:lnTo>
                    <a:pt x="91439" y="1143000"/>
                  </a:lnTo>
                  <a:lnTo>
                    <a:pt x="45719" y="1130757"/>
                  </a:lnTo>
                  <a:lnTo>
                    <a:pt x="12230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495" y="1093565"/>
            <a:ext cx="4505325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Security</a:t>
            </a:r>
            <a:r>
              <a:rPr sz="85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—</a:t>
            </a:r>
            <a:r>
              <a:rPr sz="850" b="1" spc="-1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WAMY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Finance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"Perform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security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review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of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Spring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Boot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API.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Check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for: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40" dirty="0">
                <a:solidFill>
                  <a:srgbClr val="FCE589"/>
                </a:solidFill>
                <a:latin typeface="Arial"/>
                <a:cs typeface="Arial"/>
              </a:rPr>
              <a:t>SQL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injection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in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JPA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queries,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0" dirty="0">
                <a:solidFill>
                  <a:srgbClr val="FCE589"/>
                </a:solidFill>
                <a:latin typeface="Arial"/>
                <a:cs typeface="Arial"/>
              </a:rPr>
              <a:t>IDOR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vulnerabilities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(project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data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leakage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between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orgs),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missing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@PreAuthorize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annotations,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insecure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10" dirty="0">
                <a:solidFill>
                  <a:srgbClr val="FCE589"/>
                </a:solidFill>
                <a:latin typeface="Arial"/>
                <a:cs typeface="Arial"/>
              </a:rPr>
              <a:t>JWT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configuration,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sensitive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data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in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logs,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60" dirty="0">
                <a:solidFill>
                  <a:srgbClr val="FCE589"/>
                </a:solidFill>
                <a:latin typeface="Arial"/>
                <a:cs typeface="Arial"/>
              </a:rPr>
              <a:t>CORS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misconfiguration,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insecure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Actuator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endpoints.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List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findings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severity,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file:line,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fix."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277" y="2254315"/>
            <a:ext cx="4945380" cy="2895535"/>
            <a:chOff x="242277" y="2254315"/>
            <a:chExt cx="4945380" cy="25495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2254315"/>
              <a:ext cx="4945316" cy="25495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316" y="2331366"/>
              <a:ext cx="4755515" cy="2359660"/>
            </a:xfrm>
            <a:custGeom>
              <a:avLst/>
              <a:gdLst/>
              <a:ahLst/>
              <a:cxnLst/>
              <a:rect l="l" t="t" r="r" b="b"/>
              <a:pathLst>
                <a:path w="4755515" h="2359660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267991"/>
                  </a:lnTo>
                  <a:lnTo>
                    <a:pt x="798" y="2279998"/>
                  </a:lnTo>
                  <a:lnTo>
                    <a:pt x="18843" y="2323755"/>
                  </a:lnTo>
                  <a:lnTo>
                    <a:pt x="56512" y="2352450"/>
                  </a:lnTo>
                  <a:lnTo>
                    <a:pt x="91440" y="2359431"/>
                  </a:lnTo>
                  <a:lnTo>
                    <a:pt x="4663808" y="2359431"/>
                  </a:lnTo>
                  <a:lnTo>
                    <a:pt x="4709528" y="2347201"/>
                  </a:lnTo>
                  <a:lnTo>
                    <a:pt x="4743005" y="2313711"/>
                  </a:lnTo>
                  <a:lnTo>
                    <a:pt x="4755248" y="2267991"/>
                  </a:lnTo>
                  <a:lnTo>
                    <a:pt x="4755224" y="91440"/>
                  </a:lnTo>
                  <a:lnTo>
                    <a:pt x="4743005" y="46075"/>
                  </a:lnTo>
                  <a:lnTo>
                    <a:pt x="4709528" y="12598"/>
                  </a:lnTo>
                  <a:lnTo>
                    <a:pt x="466380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316" y="2331366"/>
              <a:ext cx="4755515" cy="2359660"/>
            </a:xfrm>
            <a:custGeom>
              <a:avLst/>
              <a:gdLst/>
              <a:ahLst/>
              <a:cxnLst/>
              <a:rect l="l" t="t" r="r" b="b"/>
              <a:pathLst>
                <a:path w="4755515" h="2359660">
                  <a:moveTo>
                    <a:pt x="368" y="91440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4663808" y="355"/>
                  </a:lnTo>
                  <a:lnTo>
                    <a:pt x="4709528" y="12598"/>
                  </a:lnTo>
                  <a:lnTo>
                    <a:pt x="4743005" y="46075"/>
                  </a:lnTo>
                  <a:lnTo>
                    <a:pt x="4755248" y="91795"/>
                  </a:lnTo>
                  <a:lnTo>
                    <a:pt x="4755248" y="2267991"/>
                  </a:lnTo>
                  <a:lnTo>
                    <a:pt x="4754448" y="2279998"/>
                  </a:lnTo>
                  <a:lnTo>
                    <a:pt x="4752093" y="2291665"/>
                  </a:lnTo>
                  <a:lnTo>
                    <a:pt x="4728557" y="2332751"/>
                  </a:lnTo>
                  <a:lnTo>
                    <a:pt x="4687473" y="2356283"/>
                  </a:lnTo>
                  <a:lnTo>
                    <a:pt x="4663808" y="2359431"/>
                  </a:lnTo>
                  <a:lnTo>
                    <a:pt x="91440" y="2359431"/>
                  </a:lnTo>
                  <a:lnTo>
                    <a:pt x="45719" y="2347201"/>
                  </a:lnTo>
                  <a:lnTo>
                    <a:pt x="12242" y="2313711"/>
                  </a:lnTo>
                  <a:lnTo>
                    <a:pt x="0" y="2267991"/>
                  </a:lnTo>
                  <a:lnTo>
                    <a:pt x="368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495" y="2320035"/>
            <a:ext cx="3499485" cy="108458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Security</a:t>
            </a:r>
            <a:r>
              <a:rPr sz="900" b="1" spc="-4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Output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SECURITY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SCAN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WAMY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Finance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API</a:t>
            </a:r>
            <a:endParaRPr sz="800">
              <a:latin typeface="Courier New"/>
              <a:cs typeface="Courier New"/>
            </a:endParaRPr>
          </a:p>
          <a:p>
            <a:pPr marL="12700" marR="1306830">
              <a:lnSpc>
                <a:spcPct val="102499"/>
              </a:lnSpc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════════════════════════════════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CRITICAL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[ReportController.java:45]</a:t>
            </a:r>
            <a:endParaRPr sz="800">
              <a:latin typeface="Courier New"/>
              <a:cs typeface="Courier New"/>
            </a:endParaRPr>
          </a:p>
          <a:p>
            <a:pPr marL="13589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Native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query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with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String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concatenation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→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SQL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Injection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@Query("SELECT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*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WHERE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project_id="+id)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FIX: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@Query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with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:id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parameter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binding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495" y="3504148"/>
            <a:ext cx="3437254" cy="5251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HIGH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[ProjectService.java:88]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findById(id)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without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org_id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check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→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IDOR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Any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authenticated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user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can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access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any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project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FIX:</a:t>
            </a:r>
            <a:r>
              <a:rPr sz="800" spc="1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findByIdAndOrganisationId(id,</a:t>
            </a:r>
            <a:r>
              <a:rPr sz="800" spc="1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currentUser.orgId)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5495" y="4128746"/>
            <a:ext cx="2816860" cy="400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890" marR="5080" indent="-123825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HIGH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[application.properties] management.endpoints.web.exposure.include=*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FIX: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expose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only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health,info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production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495" y="4628427"/>
            <a:ext cx="169989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MEDIUM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[JwtService.java:12]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8977" y="4753345"/>
            <a:ext cx="263207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JWT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secret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is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hardcoded: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"wamy-secret-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key"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80038" y="1038227"/>
            <a:ext cx="3757295" cy="3878579"/>
            <a:chOff x="5180038" y="1038227"/>
            <a:chExt cx="3757295" cy="3878579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0038" y="1038227"/>
              <a:ext cx="3756964" cy="376561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50776" y="1108978"/>
              <a:ext cx="3579128" cy="380735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382259" y="1167538"/>
            <a:ext cx="1565974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50" dirty="0">
                <a:solidFill>
                  <a:srgbClr val="EE4343"/>
                </a:solidFill>
                <a:latin typeface="MingLiU_HKSCS-ExtB"/>
                <a:cs typeface="MingLiU_HKSCS-ExtB"/>
              </a:rPr>
              <a:t>🛡️</a:t>
            </a:r>
            <a:r>
              <a:rPr sz="1300" spc="-290" dirty="0">
                <a:solidFill>
                  <a:srgbClr val="EE4343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EE4343"/>
                </a:solidFill>
                <a:latin typeface="Calibri"/>
                <a:cs typeface="Calibri"/>
              </a:rPr>
              <a:t>Why</a:t>
            </a:r>
            <a:r>
              <a:rPr sz="1100" b="1" spc="-4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E4343"/>
                </a:solidFill>
                <a:latin typeface="Calibri"/>
                <a:cs typeface="Calibri"/>
              </a:rPr>
              <a:t>This</a:t>
            </a:r>
            <a:r>
              <a:rPr sz="1100" b="1" spc="-20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EE4343"/>
                </a:solidFill>
                <a:latin typeface="Calibri"/>
                <a:cs typeface="Calibri"/>
              </a:rPr>
              <a:t>Matters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8977" y="4895686"/>
            <a:ext cx="2818130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40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FIX: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RSA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key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pair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loaded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environment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50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433291" y="1460421"/>
            <a:ext cx="28854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Financial</a:t>
            </a:r>
            <a:r>
              <a:rPr sz="90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data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breaches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 carry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legal,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financial,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and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reputational</a:t>
            </a:r>
            <a:r>
              <a:rPr sz="900" spc="50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consequences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for</a:t>
            </a:r>
            <a:r>
              <a:rPr sz="90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1D283A"/>
                </a:solidFill>
                <a:latin typeface="Calibri"/>
                <a:cs typeface="Calibri"/>
              </a:rPr>
              <a:t>NGOs.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25440" y="1867822"/>
            <a:ext cx="16656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1D283A"/>
                </a:solidFill>
                <a:latin typeface="Calibri"/>
                <a:cs typeface="Calibri"/>
              </a:rPr>
              <a:t>WAMY</a:t>
            </a:r>
            <a:r>
              <a:rPr sz="1000" b="1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D283A"/>
                </a:solidFill>
                <a:latin typeface="Calibri"/>
                <a:cs typeface="Calibri"/>
              </a:rPr>
              <a:t>Finance</a:t>
            </a:r>
            <a:r>
              <a:rPr sz="100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1000" b="1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D283A"/>
                </a:solidFill>
                <a:latin typeface="Calibri"/>
                <a:cs typeface="Calibri"/>
              </a:rPr>
              <a:t>Layers: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73700" y="2436012"/>
            <a:ext cx="18415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JWT</a:t>
            </a:r>
            <a:r>
              <a:rPr sz="8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RS256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15min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expiry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73699" y="2756052"/>
            <a:ext cx="1773617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Org-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scoped</a:t>
            </a:r>
            <a:r>
              <a:rPr sz="850" spc="-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queries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73700" y="3076092"/>
            <a:ext cx="242655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@PreAuthorize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method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security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73700" y="3396132"/>
            <a:ext cx="2499118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Input</a:t>
            </a:r>
            <a:r>
              <a:rPr sz="850" spc="-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validation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(Bean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Validation)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73700" y="3716172"/>
            <a:ext cx="20701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Audit</a:t>
            </a:r>
            <a:r>
              <a:rPr sz="8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log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on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writes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73700" y="4036212"/>
            <a:ext cx="2298344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5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SQL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injection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prevention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(JPA)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73700" y="4356252"/>
            <a:ext cx="2499118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XSS: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Spring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headers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73700" y="4676292"/>
            <a:ext cx="20701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Rate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limiting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on auth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endpoints</a:t>
            </a:r>
            <a:endParaRPr sz="8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907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OWASP</a:t>
            </a:r>
            <a:r>
              <a:rPr spc="-60" dirty="0"/>
              <a:t> Top</a:t>
            </a:r>
            <a:r>
              <a:rPr spc="-45" dirty="0"/>
              <a:t> </a:t>
            </a:r>
            <a:r>
              <a:rPr dirty="0"/>
              <a:t>10</a:t>
            </a:r>
            <a:r>
              <a:rPr spc="-45" dirty="0"/>
              <a:t> </a:t>
            </a:r>
            <a:r>
              <a:rPr dirty="0"/>
              <a:t>—</a:t>
            </a:r>
            <a:r>
              <a:rPr spc="-50" dirty="0"/>
              <a:t> </a:t>
            </a:r>
            <a:r>
              <a:rPr dirty="0"/>
              <a:t>Spring</a:t>
            </a:r>
            <a:r>
              <a:rPr spc="-50" dirty="0"/>
              <a:t> </a:t>
            </a:r>
            <a:r>
              <a:rPr dirty="0"/>
              <a:t>Boot</a:t>
            </a:r>
            <a:r>
              <a:rPr spc="-50" dirty="0"/>
              <a:t>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302069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85" dirty="0">
                <a:solidFill>
                  <a:srgbClr val="9FBFFF"/>
                </a:solidFill>
                <a:latin typeface="+mn-lt"/>
                <a:cs typeface="Arial"/>
              </a:rPr>
              <a:t>Every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50" dirty="0">
                <a:solidFill>
                  <a:srgbClr val="9FBFFF"/>
                </a:solidFill>
                <a:latin typeface="+mn-lt"/>
                <a:cs typeface="Arial"/>
              </a:rPr>
              <a:t>OWASP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vulnerability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+mn-lt"/>
                <a:cs typeface="Arial"/>
              </a:rPr>
              <a:t>mapped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dirty="0">
                <a:solidFill>
                  <a:srgbClr val="9FBFFF"/>
                </a:solidFill>
                <a:latin typeface="+mn-lt"/>
                <a:cs typeface="Arial"/>
              </a:rPr>
              <a:t>to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+mn-lt"/>
                <a:cs typeface="Arial"/>
              </a:rPr>
              <a:t>WAMY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70" dirty="0">
                <a:solidFill>
                  <a:srgbClr val="9FBFFF"/>
                </a:solidFill>
                <a:latin typeface="+mn-lt"/>
                <a:cs typeface="Arial"/>
              </a:rPr>
              <a:t>Finance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 fixes</a:t>
            </a:r>
            <a:endParaRPr sz="1000" dirty="0">
              <a:latin typeface="+mn-lt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857086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582"/>
            <a:ext cx="4945380" cy="1333500"/>
            <a:chOff x="242646" y="1038582"/>
            <a:chExt cx="4945380" cy="13335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582"/>
              <a:ext cx="4945316" cy="1333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646"/>
              <a:ext cx="4754880" cy="1143000"/>
            </a:xfrm>
            <a:custGeom>
              <a:avLst/>
              <a:gdLst/>
              <a:ahLst/>
              <a:cxnLst/>
              <a:rect l="l" t="t" r="r" b="b"/>
              <a:pathLst>
                <a:path w="4754880" h="1143000">
                  <a:moveTo>
                    <a:pt x="4663440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30" y="1097280"/>
                  </a:lnTo>
                  <a:lnTo>
                    <a:pt x="45719" y="1130757"/>
                  </a:lnTo>
                  <a:lnTo>
                    <a:pt x="91439" y="1143000"/>
                  </a:lnTo>
                  <a:lnTo>
                    <a:pt x="4663440" y="1143000"/>
                  </a:lnTo>
                  <a:lnTo>
                    <a:pt x="4709159" y="1130757"/>
                  </a:lnTo>
                  <a:lnTo>
                    <a:pt x="4742637" y="1097280"/>
                  </a:lnTo>
                  <a:lnTo>
                    <a:pt x="4754880" y="1051560"/>
                  </a:lnTo>
                  <a:lnTo>
                    <a:pt x="4754880" y="91439"/>
                  </a:lnTo>
                  <a:lnTo>
                    <a:pt x="4742637" y="45720"/>
                  </a:lnTo>
                  <a:lnTo>
                    <a:pt x="4709159" y="12230"/>
                  </a:lnTo>
                  <a:lnTo>
                    <a:pt x="4663440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646"/>
              <a:ext cx="4754880" cy="1143000"/>
            </a:xfrm>
            <a:custGeom>
              <a:avLst/>
              <a:gdLst/>
              <a:ahLst/>
              <a:cxnLst/>
              <a:rect l="l" t="t" r="r" b="b"/>
              <a:pathLst>
                <a:path w="4754880" h="1143000">
                  <a:moveTo>
                    <a:pt x="0" y="91439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39" y="0"/>
                  </a:lnTo>
                  <a:lnTo>
                    <a:pt x="4663440" y="0"/>
                  </a:lnTo>
                  <a:lnTo>
                    <a:pt x="4709159" y="12230"/>
                  </a:lnTo>
                  <a:lnTo>
                    <a:pt x="4742637" y="45720"/>
                  </a:lnTo>
                  <a:lnTo>
                    <a:pt x="4754880" y="91439"/>
                  </a:lnTo>
                  <a:lnTo>
                    <a:pt x="4754880" y="1051560"/>
                  </a:lnTo>
                  <a:lnTo>
                    <a:pt x="4754079" y="1063559"/>
                  </a:lnTo>
                  <a:lnTo>
                    <a:pt x="4751725" y="1075224"/>
                  </a:lnTo>
                  <a:lnTo>
                    <a:pt x="4728189" y="1116309"/>
                  </a:lnTo>
                  <a:lnTo>
                    <a:pt x="4687104" y="1139850"/>
                  </a:lnTo>
                  <a:lnTo>
                    <a:pt x="4663440" y="1143000"/>
                  </a:lnTo>
                  <a:lnTo>
                    <a:pt x="91439" y="1143000"/>
                  </a:lnTo>
                  <a:lnTo>
                    <a:pt x="45719" y="1130757"/>
                  </a:lnTo>
                  <a:lnTo>
                    <a:pt x="12230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495" y="1093565"/>
            <a:ext cx="4374515" cy="58674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Security</a:t>
            </a:r>
            <a:r>
              <a:rPr sz="85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—</a:t>
            </a:r>
            <a:r>
              <a:rPr sz="850" b="1" spc="-1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WAMY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Finance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"Map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 </a:t>
            </a:r>
            <a:r>
              <a:rPr sz="850" i="1" spc="-120" dirty="0">
                <a:solidFill>
                  <a:srgbClr val="FCE589"/>
                </a:solidFill>
                <a:latin typeface="Arial"/>
                <a:cs typeface="Arial"/>
              </a:rPr>
              <a:t>OWASP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5" dirty="0">
                <a:solidFill>
                  <a:srgbClr val="FCE589"/>
                </a:solidFill>
                <a:latin typeface="Arial"/>
                <a:cs typeface="Arial"/>
              </a:rPr>
              <a:t>Top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10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2023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to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Spring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Boot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application.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each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vulnerability,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identify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specific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risk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in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our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project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generate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the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Spring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Boot/Java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fix."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277" y="2254315"/>
            <a:ext cx="4945380" cy="2549525"/>
            <a:chOff x="242277" y="2254315"/>
            <a:chExt cx="4945380" cy="25495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2254315"/>
              <a:ext cx="4945316" cy="25495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316" y="2331366"/>
              <a:ext cx="4755515" cy="2359660"/>
            </a:xfrm>
            <a:custGeom>
              <a:avLst/>
              <a:gdLst/>
              <a:ahLst/>
              <a:cxnLst/>
              <a:rect l="l" t="t" r="r" b="b"/>
              <a:pathLst>
                <a:path w="4755515" h="2359660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267991"/>
                  </a:lnTo>
                  <a:lnTo>
                    <a:pt x="798" y="2279998"/>
                  </a:lnTo>
                  <a:lnTo>
                    <a:pt x="18843" y="2323755"/>
                  </a:lnTo>
                  <a:lnTo>
                    <a:pt x="56512" y="2352450"/>
                  </a:lnTo>
                  <a:lnTo>
                    <a:pt x="91440" y="2359431"/>
                  </a:lnTo>
                  <a:lnTo>
                    <a:pt x="4663808" y="2359431"/>
                  </a:lnTo>
                  <a:lnTo>
                    <a:pt x="4709528" y="2347201"/>
                  </a:lnTo>
                  <a:lnTo>
                    <a:pt x="4743005" y="2313711"/>
                  </a:lnTo>
                  <a:lnTo>
                    <a:pt x="4755248" y="2267991"/>
                  </a:lnTo>
                  <a:lnTo>
                    <a:pt x="4755224" y="91440"/>
                  </a:lnTo>
                  <a:lnTo>
                    <a:pt x="4743005" y="46075"/>
                  </a:lnTo>
                  <a:lnTo>
                    <a:pt x="4709528" y="12598"/>
                  </a:lnTo>
                  <a:lnTo>
                    <a:pt x="466380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316" y="2331366"/>
              <a:ext cx="4755515" cy="2359660"/>
            </a:xfrm>
            <a:custGeom>
              <a:avLst/>
              <a:gdLst/>
              <a:ahLst/>
              <a:cxnLst/>
              <a:rect l="l" t="t" r="r" b="b"/>
              <a:pathLst>
                <a:path w="4755515" h="2359660">
                  <a:moveTo>
                    <a:pt x="368" y="91440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4663808" y="355"/>
                  </a:lnTo>
                  <a:lnTo>
                    <a:pt x="4709528" y="12598"/>
                  </a:lnTo>
                  <a:lnTo>
                    <a:pt x="4743005" y="46075"/>
                  </a:lnTo>
                  <a:lnTo>
                    <a:pt x="4755248" y="91795"/>
                  </a:lnTo>
                  <a:lnTo>
                    <a:pt x="4755248" y="2267991"/>
                  </a:lnTo>
                  <a:lnTo>
                    <a:pt x="4754448" y="2279998"/>
                  </a:lnTo>
                  <a:lnTo>
                    <a:pt x="4752093" y="2291665"/>
                  </a:lnTo>
                  <a:lnTo>
                    <a:pt x="4728557" y="2332751"/>
                  </a:lnTo>
                  <a:lnTo>
                    <a:pt x="4687473" y="2356283"/>
                  </a:lnTo>
                  <a:lnTo>
                    <a:pt x="4663808" y="2359431"/>
                  </a:lnTo>
                  <a:lnTo>
                    <a:pt x="91440" y="2359431"/>
                  </a:lnTo>
                  <a:lnTo>
                    <a:pt x="45719" y="2347201"/>
                  </a:lnTo>
                  <a:lnTo>
                    <a:pt x="12242" y="2313711"/>
                  </a:lnTo>
                  <a:lnTo>
                    <a:pt x="0" y="2267991"/>
                  </a:lnTo>
                  <a:lnTo>
                    <a:pt x="368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495" y="2320035"/>
            <a:ext cx="2941320" cy="70993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Security</a:t>
            </a:r>
            <a:r>
              <a:rPr sz="900" b="1" spc="-4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Output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A01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Broken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Access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Control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Risk: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No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org_id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scope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on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project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queries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Fix: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Add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@PostFilter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or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org_id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every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query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495" y="3129383"/>
            <a:ext cx="2320925" cy="4006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A02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Cryptographic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Failures</a:t>
            </a:r>
            <a:endParaRPr sz="800">
              <a:latin typeface="Courier New"/>
              <a:cs typeface="Courier New"/>
            </a:endParaRPr>
          </a:p>
          <a:p>
            <a:pPr marL="13589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Risk: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JWT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using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HS256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shared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secret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Fix: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Switch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RS256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RSA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key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pair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5495" y="3629065"/>
            <a:ext cx="2631440" cy="4006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A03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Injection</a:t>
            </a:r>
            <a:endParaRPr sz="800">
              <a:latin typeface="Courier New"/>
              <a:cs typeface="Courier New"/>
            </a:endParaRPr>
          </a:p>
          <a:p>
            <a:pPr marL="13589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Risk: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Raw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string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@Query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annotations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Fix: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named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parameter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bindings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:param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495" y="4128746"/>
            <a:ext cx="2383155" cy="4006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A05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Security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Misconfiguration</a:t>
            </a:r>
            <a:endParaRPr sz="800">
              <a:latin typeface="Courier New"/>
              <a:cs typeface="Courier New"/>
            </a:endParaRPr>
          </a:p>
          <a:p>
            <a:pPr marL="13589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Risk: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Actuator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all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endpoints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exposed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Fix: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Only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expose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health,info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prod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5495" y="4628427"/>
            <a:ext cx="169989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A07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Auth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&amp;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Session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Failures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80038" y="1038227"/>
            <a:ext cx="3757295" cy="3878579"/>
            <a:chOff x="5180038" y="1038227"/>
            <a:chExt cx="3757295" cy="3878579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0038" y="1038227"/>
              <a:ext cx="3756964" cy="376561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50776" y="1108978"/>
              <a:ext cx="3579128" cy="380735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382259" y="1167538"/>
            <a:ext cx="128143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50" dirty="0">
                <a:solidFill>
                  <a:srgbClr val="EE4343"/>
                </a:solidFill>
                <a:latin typeface="MingLiU_HKSCS-ExtB"/>
                <a:cs typeface="MingLiU_HKSCS-ExtB"/>
              </a:rPr>
              <a:t>🛡️</a:t>
            </a:r>
            <a:r>
              <a:rPr sz="1300" spc="-290" dirty="0">
                <a:solidFill>
                  <a:srgbClr val="EE4343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EE4343"/>
                </a:solidFill>
                <a:latin typeface="Calibri"/>
                <a:cs typeface="Calibri"/>
              </a:rPr>
              <a:t>Why</a:t>
            </a:r>
            <a:r>
              <a:rPr sz="1100" b="1" spc="-4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E4343"/>
                </a:solidFill>
                <a:latin typeface="Calibri"/>
                <a:cs typeface="Calibri"/>
              </a:rPr>
              <a:t>This</a:t>
            </a:r>
            <a:r>
              <a:rPr sz="1100" b="1" spc="-20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EE4343"/>
                </a:solidFill>
                <a:latin typeface="Calibri"/>
                <a:cs typeface="Calibri"/>
              </a:rPr>
              <a:t>Matters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8977" y="4770769"/>
            <a:ext cx="2632075" cy="268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40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Risk: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No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account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lockout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after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5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failures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Fix: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Add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Redis-based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login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attempt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counter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51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382259" y="1605142"/>
            <a:ext cx="28854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Financial</a:t>
            </a:r>
            <a:r>
              <a:rPr sz="90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data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breaches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 carry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legal,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financial,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and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reputational</a:t>
            </a:r>
            <a:r>
              <a:rPr sz="900" spc="50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consequences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for</a:t>
            </a:r>
            <a:r>
              <a:rPr sz="90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1D283A"/>
                </a:solidFill>
                <a:latin typeface="Calibri"/>
                <a:cs typeface="Calibri"/>
              </a:rPr>
              <a:t>NGOs.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82259" y="2114183"/>
            <a:ext cx="16656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1D283A"/>
                </a:solidFill>
                <a:latin typeface="Calibri"/>
                <a:cs typeface="Calibri"/>
              </a:rPr>
              <a:t>WAMY</a:t>
            </a:r>
            <a:r>
              <a:rPr sz="1000" b="1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D283A"/>
                </a:solidFill>
                <a:latin typeface="Calibri"/>
                <a:cs typeface="Calibri"/>
              </a:rPr>
              <a:t>Finance</a:t>
            </a:r>
            <a:r>
              <a:rPr sz="100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1000" b="1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D283A"/>
                </a:solidFill>
                <a:latin typeface="Calibri"/>
                <a:cs typeface="Calibri"/>
              </a:rPr>
              <a:t>Layers: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73700" y="2436012"/>
            <a:ext cx="13595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JWT</a:t>
            </a:r>
            <a:r>
              <a:rPr sz="8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RS256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15min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expiry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73700" y="2756052"/>
            <a:ext cx="11874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Org-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scoped</a:t>
            </a:r>
            <a:r>
              <a:rPr sz="850" spc="-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queries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73700" y="3076092"/>
            <a:ext cx="16173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@PreAuthorize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method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security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73700" y="3396132"/>
            <a:ext cx="16700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Input</a:t>
            </a:r>
            <a:r>
              <a:rPr sz="850" spc="-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validation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(Bean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Validation)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73700" y="3716172"/>
            <a:ext cx="11614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Audit</a:t>
            </a:r>
            <a:r>
              <a:rPr sz="8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log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on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writes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73700" y="4036212"/>
            <a:ext cx="15195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5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SQL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injection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prevention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(JPA)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73700" y="4356252"/>
            <a:ext cx="144653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XSS: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Spring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headers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73700" y="4676292"/>
            <a:ext cx="15887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Rate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limiting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on auth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endpoints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907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IDOR</a:t>
            </a:r>
            <a:r>
              <a:rPr spc="-30" dirty="0"/>
              <a:t> </a:t>
            </a:r>
            <a:r>
              <a:rPr dirty="0"/>
              <a:t>Fix</a:t>
            </a:r>
            <a:r>
              <a:rPr spc="-30" dirty="0"/>
              <a:t> </a:t>
            </a:r>
            <a:r>
              <a:rPr dirty="0"/>
              <a:t>—</a:t>
            </a:r>
            <a:r>
              <a:rPr spc="-35" dirty="0"/>
              <a:t> </a:t>
            </a:r>
            <a:r>
              <a:rPr spc="-20" dirty="0"/>
              <a:t>Organisation</a:t>
            </a:r>
            <a:r>
              <a:rPr spc="-30" dirty="0"/>
              <a:t> </a:t>
            </a:r>
            <a:r>
              <a:rPr spc="-10" dirty="0"/>
              <a:t>Scoping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31623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55" dirty="0">
                <a:solidFill>
                  <a:srgbClr val="9FBFFF"/>
                </a:solidFill>
                <a:latin typeface="+mn-lt"/>
                <a:cs typeface="Arial"/>
              </a:rPr>
              <a:t>Preventing</a:t>
            </a:r>
            <a:r>
              <a:rPr sz="1000" i="1" spc="-1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75" dirty="0">
                <a:solidFill>
                  <a:srgbClr val="9FBFFF"/>
                </a:solidFill>
                <a:latin typeface="+mn-lt"/>
                <a:cs typeface="Arial"/>
              </a:rPr>
              <a:t>cross-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organisation</a:t>
            </a:r>
            <a:r>
              <a:rPr sz="1000" i="1" spc="-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data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+mn-lt"/>
                <a:cs typeface="Arial"/>
              </a:rPr>
              <a:t>leakage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in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+mn-lt"/>
                <a:cs typeface="Arial"/>
              </a:rPr>
              <a:t>WAMY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Finance</a:t>
            </a:r>
            <a:endParaRPr sz="1000" dirty="0">
              <a:latin typeface="+mn-lt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582"/>
            <a:ext cx="4945380" cy="1230566"/>
            <a:chOff x="242646" y="1038582"/>
            <a:chExt cx="4945380" cy="13335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582"/>
              <a:ext cx="4945316" cy="1333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646"/>
              <a:ext cx="4754880" cy="1143000"/>
            </a:xfrm>
            <a:custGeom>
              <a:avLst/>
              <a:gdLst/>
              <a:ahLst/>
              <a:cxnLst/>
              <a:rect l="l" t="t" r="r" b="b"/>
              <a:pathLst>
                <a:path w="4754880" h="1143000">
                  <a:moveTo>
                    <a:pt x="4663440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30" y="1097280"/>
                  </a:lnTo>
                  <a:lnTo>
                    <a:pt x="45719" y="1130757"/>
                  </a:lnTo>
                  <a:lnTo>
                    <a:pt x="91439" y="1143000"/>
                  </a:lnTo>
                  <a:lnTo>
                    <a:pt x="4663440" y="1143000"/>
                  </a:lnTo>
                  <a:lnTo>
                    <a:pt x="4709159" y="1130757"/>
                  </a:lnTo>
                  <a:lnTo>
                    <a:pt x="4742637" y="1097280"/>
                  </a:lnTo>
                  <a:lnTo>
                    <a:pt x="4754880" y="1051560"/>
                  </a:lnTo>
                  <a:lnTo>
                    <a:pt x="4754880" y="91439"/>
                  </a:lnTo>
                  <a:lnTo>
                    <a:pt x="4742637" y="45720"/>
                  </a:lnTo>
                  <a:lnTo>
                    <a:pt x="4709159" y="12230"/>
                  </a:lnTo>
                  <a:lnTo>
                    <a:pt x="4663440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646"/>
              <a:ext cx="4754880" cy="1143000"/>
            </a:xfrm>
            <a:custGeom>
              <a:avLst/>
              <a:gdLst/>
              <a:ahLst/>
              <a:cxnLst/>
              <a:rect l="l" t="t" r="r" b="b"/>
              <a:pathLst>
                <a:path w="4754880" h="1143000">
                  <a:moveTo>
                    <a:pt x="0" y="91439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39" y="0"/>
                  </a:lnTo>
                  <a:lnTo>
                    <a:pt x="4663440" y="0"/>
                  </a:lnTo>
                  <a:lnTo>
                    <a:pt x="4709159" y="12230"/>
                  </a:lnTo>
                  <a:lnTo>
                    <a:pt x="4742637" y="45720"/>
                  </a:lnTo>
                  <a:lnTo>
                    <a:pt x="4754880" y="91439"/>
                  </a:lnTo>
                  <a:lnTo>
                    <a:pt x="4754880" y="1051560"/>
                  </a:lnTo>
                  <a:lnTo>
                    <a:pt x="4754079" y="1063559"/>
                  </a:lnTo>
                  <a:lnTo>
                    <a:pt x="4751725" y="1075224"/>
                  </a:lnTo>
                  <a:lnTo>
                    <a:pt x="4728189" y="1116309"/>
                  </a:lnTo>
                  <a:lnTo>
                    <a:pt x="4687104" y="1139850"/>
                  </a:lnTo>
                  <a:lnTo>
                    <a:pt x="4663440" y="1143000"/>
                  </a:lnTo>
                  <a:lnTo>
                    <a:pt x="91439" y="1143000"/>
                  </a:lnTo>
                  <a:lnTo>
                    <a:pt x="45719" y="1130757"/>
                  </a:lnTo>
                  <a:lnTo>
                    <a:pt x="12230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495" y="1093565"/>
            <a:ext cx="4504690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Security</a:t>
            </a:r>
            <a:r>
              <a:rPr sz="85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—</a:t>
            </a:r>
            <a:r>
              <a:rPr sz="850" b="1" spc="-1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WAMY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Finance</a:t>
            </a:r>
            <a:endParaRPr sz="85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"The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API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has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0" dirty="0">
                <a:solidFill>
                  <a:srgbClr val="FCE589"/>
                </a:solidFill>
                <a:latin typeface="Arial"/>
                <a:cs typeface="Arial"/>
              </a:rPr>
              <a:t>IDOR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vulnerabilities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—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an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accountant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at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Org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can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access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financial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data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from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Org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B.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Generate: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(1)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TenantContext.java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that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stores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current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user's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orgId;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(2)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TenantFilter.java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that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sets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org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from </a:t>
            </a:r>
            <a:r>
              <a:rPr sz="850" i="1" spc="-110" dirty="0">
                <a:solidFill>
                  <a:srgbClr val="FCE589"/>
                </a:solidFill>
                <a:latin typeface="Arial"/>
                <a:cs typeface="Arial"/>
              </a:rPr>
              <a:t>JWT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claim;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(3)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Updated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ProjectRepository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all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query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methods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requiring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orgId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parameter;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(4)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@PreAuthorize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expressions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for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all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endpoints."</a:t>
            </a:r>
            <a:endParaRPr sz="85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277" y="2117725"/>
            <a:ext cx="4945380" cy="3063810"/>
            <a:chOff x="242277" y="2254315"/>
            <a:chExt cx="4945380" cy="25495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2254315"/>
              <a:ext cx="4945316" cy="25495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316" y="2331366"/>
              <a:ext cx="4755515" cy="2359660"/>
            </a:xfrm>
            <a:custGeom>
              <a:avLst/>
              <a:gdLst/>
              <a:ahLst/>
              <a:cxnLst/>
              <a:rect l="l" t="t" r="r" b="b"/>
              <a:pathLst>
                <a:path w="4755515" h="2359660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267991"/>
                  </a:lnTo>
                  <a:lnTo>
                    <a:pt x="798" y="2279998"/>
                  </a:lnTo>
                  <a:lnTo>
                    <a:pt x="18843" y="2323755"/>
                  </a:lnTo>
                  <a:lnTo>
                    <a:pt x="56512" y="2352450"/>
                  </a:lnTo>
                  <a:lnTo>
                    <a:pt x="91440" y="2359431"/>
                  </a:lnTo>
                  <a:lnTo>
                    <a:pt x="4663808" y="2359431"/>
                  </a:lnTo>
                  <a:lnTo>
                    <a:pt x="4709528" y="2347201"/>
                  </a:lnTo>
                  <a:lnTo>
                    <a:pt x="4743005" y="2313711"/>
                  </a:lnTo>
                  <a:lnTo>
                    <a:pt x="4755248" y="2267991"/>
                  </a:lnTo>
                  <a:lnTo>
                    <a:pt x="4755224" y="91440"/>
                  </a:lnTo>
                  <a:lnTo>
                    <a:pt x="4743005" y="46075"/>
                  </a:lnTo>
                  <a:lnTo>
                    <a:pt x="4709528" y="12598"/>
                  </a:lnTo>
                  <a:lnTo>
                    <a:pt x="466380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316" y="2331366"/>
              <a:ext cx="4755515" cy="2359660"/>
            </a:xfrm>
            <a:custGeom>
              <a:avLst/>
              <a:gdLst/>
              <a:ahLst/>
              <a:cxnLst/>
              <a:rect l="l" t="t" r="r" b="b"/>
              <a:pathLst>
                <a:path w="4755515" h="2359660">
                  <a:moveTo>
                    <a:pt x="368" y="91440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4663808" y="355"/>
                  </a:lnTo>
                  <a:lnTo>
                    <a:pt x="4709528" y="12598"/>
                  </a:lnTo>
                  <a:lnTo>
                    <a:pt x="4743005" y="46075"/>
                  </a:lnTo>
                  <a:lnTo>
                    <a:pt x="4755248" y="91795"/>
                  </a:lnTo>
                  <a:lnTo>
                    <a:pt x="4755248" y="2267991"/>
                  </a:lnTo>
                  <a:lnTo>
                    <a:pt x="4754448" y="2279998"/>
                  </a:lnTo>
                  <a:lnTo>
                    <a:pt x="4752093" y="2291665"/>
                  </a:lnTo>
                  <a:lnTo>
                    <a:pt x="4728557" y="2332751"/>
                  </a:lnTo>
                  <a:lnTo>
                    <a:pt x="4687473" y="2356283"/>
                  </a:lnTo>
                  <a:lnTo>
                    <a:pt x="4663808" y="2359431"/>
                  </a:lnTo>
                  <a:lnTo>
                    <a:pt x="91440" y="2359431"/>
                  </a:lnTo>
                  <a:lnTo>
                    <a:pt x="45719" y="2347201"/>
                  </a:lnTo>
                  <a:lnTo>
                    <a:pt x="12242" y="2313711"/>
                  </a:lnTo>
                  <a:lnTo>
                    <a:pt x="0" y="2267991"/>
                  </a:lnTo>
                  <a:lnTo>
                    <a:pt x="368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495" y="2179508"/>
            <a:ext cx="3128645" cy="158432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Security</a:t>
            </a:r>
            <a:r>
              <a:rPr sz="900" b="1" spc="-4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Output</a:t>
            </a:r>
            <a:endParaRPr sz="900" dirty="0">
              <a:latin typeface="Calibri"/>
              <a:cs typeface="Calibri"/>
            </a:endParaRPr>
          </a:p>
          <a:p>
            <a:pPr marL="12700" marR="377825">
              <a:lnSpc>
                <a:spcPct val="102499"/>
              </a:lnSpc>
              <a:spcBef>
                <a:spcPts val="50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TenantFilter.java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auto-set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org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JWT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@Component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class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TenantFilter</a:t>
            </a:r>
            <a:endParaRPr sz="800" dirty="0">
              <a:latin typeface="Courier New"/>
              <a:cs typeface="Courier New"/>
            </a:endParaRPr>
          </a:p>
          <a:p>
            <a:pPr marL="135890" marR="626745" indent="12446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extends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OncePerRequestFilter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protected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void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doFilterInternal(...)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 dirty="0">
              <a:latin typeface="Courier New"/>
              <a:cs typeface="Courier New"/>
            </a:endParaRPr>
          </a:p>
          <a:p>
            <a:pPr marL="260985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String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orgId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jwtService.extractOrgId(token); TenantContext.setCurrentOrg(orgId);</a:t>
            </a:r>
            <a:endParaRPr sz="800" dirty="0">
              <a:latin typeface="Courier New"/>
              <a:cs typeface="Courier New"/>
            </a:endParaRPr>
          </a:p>
          <a:p>
            <a:pPr marL="260985" marR="43942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try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filterChain.doFilter(req,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res);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finally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TenantContext.clear();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 dirty="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495" y="3863302"/>
            <a:ext cx="2631440" cy="400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6040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ProjectRepository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org-scoped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queries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interface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ProjectRepository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extends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JpaRepository&lt;Project,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Long&gt;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8977" y="4362971"/>
            <a:ext cx="2445385" cy="275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BEFORE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(IDOR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vulnerable):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Optional&lt;Project&gt;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findById(Long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id);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8977" y="4737735"/>
            <a:ext cx="2755900" cy="275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AFTER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(org-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scoped):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Optional&lt;Project&gt;</a:t>
            </a:r>
            <a:r>
              <a:rPr sz="800" spc="1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findByIdAndOrganisationId(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80038" y="1038227"/>
            <a:ext cx="3757295" cy="3878579"/>
            <a:chOff x="5180038" y="1038227"/>
            <a:chExt cx="3757295" cy="3878579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0038" y="1038227"/>
              <a:ext cx="3756964" cy="376561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50776" y="1108978"/>
              <a:ext cx="3579128" cy="380735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382259" y="1167538"/>
            <a:ext cx="128143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50" dirty="0">
                <a:solidFill>
                  <a:srgbClr val="EE4343"/>
                </a:solidFill>
                <a:latin typeface="MingLiU_HKSCS-ExtB"/>
                <a:cs typeface="MingLiU_HKSCS-ExtB"/>
              </a:rPr>
              <a:t>🛡️</a:t>
            </a:r>
            <a:r>
              <a:rPr sz="1300" spc="-290" dirty="0">
                <a:solidFill>
                  <a:srgbClr val="EE4343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EE4343"/>
                </a:solidFill>
                <a:latin typeface="Calibri"/>
                <a:cs typeface="Calibri"/>
              </a:rPr>
              <a:t>Why</a:t>
            </a:r>
            <a:r>
              <a:rPr sz="1100" b="1" spc="-4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E4343"/>
                </a:solidFill>
                <a:latin typeface="Calibri"/>
                <a:cs typeface="Calibri"/>
              </a:rPr>
              <a:t>This</a:t>
            </a:r>
            <a:r>
              <a:rPr sz="1100" b="1" spc="-20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EE4343"/>
                </a:solidFill>
                <a:latin typeface="Calibri"/>
                <a:cs typeface="Calibri"/>
              </a:rPr>
              <a:t>Matters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82259" y="1605142"/>
            <a:ext cx="28854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Financial</a:t>
            </a:r>
            <a:r>
              <a:rPr sz="90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data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breaches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 carry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legal,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financial,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and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reputational</a:t>
            </a:r>
            <a:r>
              <a:rPr sz="900" spc="50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consequences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for</a:t>
            </a:r>
            <a:r>
              <a:rPr sz="90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1D283A"/>
                </a:solidFill>
                <a:latin typeface="Calibri"/>
                <a:cs typeface="Calibri"/>
              </a:rPr>
              <a:t>NGOs.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82259" y="2114183"/>
            <a:ext cx="16656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1D283A"/>
                </a:solidFill>
                <a:latin typeface="Calibri"/>
                <a:cs typeface="Calibri"/>
              </a:rPr>
              <a:t>WAMY</a:t>
            </a:r>
            <a:r>
              <a:rPr sz="1000" b="1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D283A"/>
                </a:solidFill>
                <a:latin typeface="Calibri"/>
                <a:cs typeface="Calibri"/>
              </a:rPr>
              <a:t>Finance</a:t>
            </a:r>
            <a:r>
              <a:rPr sz="100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1000" b="1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D283A"/>
                </a:solidFill>
                <a:latin typeface="Calibri"/>
                <a:cs typeface="Calibri"/>
              </a:rPr>
              <a:t>Layers: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73700" y="2436012"/>
            <a:ext cx="2298344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JWT</a:t>
            </a:r>
            <a:r>
              <a:rPr sz="8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RS256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15min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expiry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73700" y="2756052"/>
            <a:ext cx="2499118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Org-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scoped</a:t>
            </a:r>
            <a:r>
              <a:rPr sz="850" spc="-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queries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73700" y="3076092"/>
            <a:ext cx="26797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@PreAuthorize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method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security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73700" y="3396132"/>
            <a:ext cx="2499118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Input</a:t>
            </a:r>
            <a:r>
              <a:rPr sz="850" spc="-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validation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(Bean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Validation)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73700" y="3716172"/>
            <a:ext cx="2298344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Audit</a:t>
            </a:r>
            <a:r>
              <a:rPr sz="8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log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on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writes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73700" y="4036212"/>
            <a:ext cx="2499118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5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SQL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injection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prevention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(JPA)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73700" y="4356252"/>
            <a:ext cx="26797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XSS: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Spring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headers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73700" y="4676292"/>
            <a:ext cx="26797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Rate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limiting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on auth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endpoints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52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907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SQL</a:t>
            </a:r>
            <a:r>
              <a:rPr spc="-95" dirty="0"/>
              <a:t> </a:t>
            </a:r>
            <a:r>
              <a:rPr dirty="0"/>
              <a:t>Injection</a:t>
            </a:r>
            <a:r>
              <a:rPr spc="-85" dirty="0"/>
              <a:t> </a:t>
            </a:r>
            <a:r>
              <a:rPr spc="-10" dirty="0"/>
              <a:t>Prevention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33108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175" dirty="0">
                <a:solidFill>
                  <a:srgbClr val="9FBFFF"/>
                </a:solidFill>
                <a:latin typeface="+mn-lt"/>
                <a:cs typeface="Arial"/>
              </a:rPr>
              <a:t>JPA</a:t>
            </a:r>
            <a:r>
              <a:rPr sz="1000" i="1" spc="-4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+mn-lt"/>
                <a:cs typeface="Arial"/>
              </a:rPr>
              <a:t>query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+mn-lt"/>
                <a:cs typeface="Arial"/>
              </a:rPr>
              <a:t>safety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for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all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+mn-lt"/>
                <a:cs typeface="Arial"/>
              </a:rPr>
              <a:t>finance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report</a:t>
            </a: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queries</a:t>
            </a:r>
            <a:endParaRPr sz="1000" dirty="0">
              <a:latin typeface="+mn-lt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1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582"/>
            <a:ext cx="4945380" cy="1141311"/>
            <a:chOff x="242646" y="1038582"/>
            <a:chExt cx="4945380" cy="13335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582"/>
              <a:ext cx="4945316" cy="1333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646"/>
              <a:ext cx="4754880" cy="1143000"/>
            </a:xfrm>
            <a:custGeom>
              <a:avLst/>
              <a:gdLst/>
              <a:ahLst/>
              <a:cxnLst/>
              <a:rect l="l" t="t" r="r" b="b"/>
              <a:pathLst>
                <a:path w="4754880" h="1143000">
                  <a:moveTo>
                    <a:pt x="4663440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30" y="1097280"/>
                  </a:lnTo>
                  <a:lnTo>
                    <a:pt x="45719" y="1130757"/>
                  </a:lnTo>
                  <a:lnTo>
                    <a:pt x="91439" y="1143000"/>
                  </a:lnTo>
                  <a:lnTo>
                    <a:pt x="4663440" y="1143000"/>
                  </a:lnTo>
                  <a:lnTo>
                    <a:pt x="4709159" y="1130757"/>
                  </a:lnTo>
                  <a:lnTo>
                    <a:pt x="4742637" y="1097280"/>
                  </a:lnTo>
                  <a:lnTo>
                    <a:pt x="4754880" y="1051560"/>
                  </a:lnTo>
                  <a:lnTo>
                    <a:pt x="4754880" y="91439"/>
                  </a:lnTo>
                  <a:lnTo>
                    <a:pt x="4742637" y="45720"/>
                  </a:lnTo>
                  <a:lnTo>
                    <a:pt x="4709159" y="12230"/>
                  </a:lnTo>
                  <a:lnTo>
                    <a:pt x="4663440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646"/>
              <a:ext cx="4754880" cy="1143000"/>
            </a:xfrm>
            <a:custGeom>
              <a:avLst/>
              <a:gdLst/>
              <a:ahLst/>
              <a:cxnLst/>
              <a:rect l="l" t="t" r="r" b="b"/>
              <a:pathLst>
                <a:path w="4754880" h="1143000">
                  <a:moveTo>
                    <a:pt x="0" y="91439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39" y="0"/>
                  </a:lnTo>
                  <a:lnTo>
                    <a:pt x="4663440" y="0"/>
                  </a:lnTo>
                  <a:lnTo>
                    <a:pt x="4709159" y="12230"/>
                  </a:lnTo>
                  <a:lnTo>
                    <a:pt x="4742637" y="45720"/>
                  </a:lnTo>
                  <a:lnTo>
                    <a:pt x="4754880" y="91439"/>
                  </a:lnTo>
                  <a:lnTo>
                    <a:pt x="4754880" y="1051560"/>
                  </a:lnTo>
                  <a:lnTo>
                    <a:pt x="4754079" y="1063559"/>
                  </a:lnTo>
                  <a:lnTo>
                    <a:pt x="4751725" y="1075224"/>
                  </a:lnTo>
                  <a:lnTo>
                    <a:pt x="4728189" y="1116309"/>
                  </a:lnTo>
                  <a:lnTo>
                    <a:pt x="4687104" y="1139850"/>
                  </a:lnTo>
                  <a:lnTo>
                    <a:pt x="4663440" y="1143000"/>
                  </a:lnTo>
                  <a:lnTo>
                    <a:pt x="91439" y="1143000"/>
                  </a:lnTo>
                  <a:lnTo>
                    <a:pt x="45719" y="1130757"/>
                  </a:lnTo>
                  <a:lnTo>
                    <a:pt x="12230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495" y="1093565"/>
            <a:ext cx="4496435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Security</a:t>
            </a:r>
            <a:r>
              <a:rPr sz="85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—</a:t>
            </a:r>
            <a:r>
              <a:rPr sz="850" b="1" spc="-1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WAMY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Finance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"Review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all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@Query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annotations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in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repositories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identify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any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40" dirty="0">
                <a:solidFill>
                  <a:srgbClr val="FCE589"/>
                </a:solidFill>
                <a:latin typeface="Arial"/>
                <a:cs typeface="Arial"/>
              </a:rPr>
              <a:t>SQL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injection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risks.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For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each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unsafe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query,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show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vulnerable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version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safe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35" dirty="0">
                <a:solidFill>
                  <a:srgbClr val="FCE589"/>
                </a:solidFill>
                <a:latin typeface="Arial"/>
                <a:cs typeface="Arial"/>
              </a:rPr>
              <a:t>JPA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named-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parameter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version.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Also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generate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45" dirty="0">
                <a:solidFill>
                  <a:srgbClr val="FCE589"/>
                </a:solidFill>
                <a:latin typeface="Arial"/>
                <a:cs typeface="Arial"/>
              </a:rPr>
              <a:t>SAST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(Static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Analysis)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GitHub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Actions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workflow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that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scans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35" dirty="0">
                <a:solidFill>
                  <a:srgbClr val="FCE589"/>
                </a:solidFill>
                <a:latin typeface="Arial"/>
                <a:cs typeface="Arial"/>
              </a:rPr>
              <a:t>SQL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injection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patterns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on</a:t>
            </a:r>
            <a:r>
              <a:rPr sz="850" i="1" spc="50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every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PR."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277" y="2041525"/>
            <a:ext cx="4945380" cy="3216210"/>
            <a:chOff x="242277" y="2254315"/>
            <a:chExt cx="4945380" cy="25495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2254315"/>
              <a:ext cx="4945316" cy="25495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316" y="2331366"/>
              <a:ext cx="4755515" cy="2359660"/>
            </a:xfrm>
            <a:custGeom>
              <a:avLst/>
              <a:gdLst/>
              <a:ahLst/>
              <a:cxnLst/>
              <a:rect l="l" t="t" r="r" b="b"/>
              <a:pathLst>
                <a:path w="4755515" h="2359660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267991"/>
                  </a:lnTo>
                  <a:lnTo>
                    <a:pt x="798" y="2279998"/>
                  </a:lnTo>
                  <a:lnTo>
                    <a:pt x="18843" y="2323755"/>
                  </a:lnTo>
                  <a:lnTo>
                    <a:pt x="56512" y="2352450"/>
                  </a:lnTo>
                  <a:lnTo>
                    <a:pt x="91440" y="2359431"/>
                  </a:lnTo>
                  <a:lnTo>
                    <a:pt x="4663808" y="2359431"/>
                  </a:lnTo>
                  <a:lnTo>
                    <a:pt x="4709528" y="2347201"/>
                  </a:lnTo>
                  <a:lnTo>
                    <a:pt x="4743005" y="2313711"/>
                  </a:lnTo>
                  <a:lnTo>
                    <a:pt x="4755248" y="2267991"/>
                  </a:lnTo>
                  <a:lnTo>
                    <a:pt x="4755224" y="91440"/>
                  </a:lnTo>
                  <a:lnTo>
                    <a:pt x="4743005" y="46075"/>
                  </a:lnTo>
                  <a:lnTo>
                    <a:pt x="4709528" y="12598"/>
                  </a:lnTo>
                  <a:lnTo>
                    <a:pt x="466380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316" y="2331366"/>
              <a:ext cx="4755515" cy="2359660"/>
            </a:xfrm>
            <a:custGeom>
              <a:avLst/>
              <a:gdLst/>
              <a:ahLst/>
              <a:cxnLst/>
              <a:rect l="l" t="t" r="r" b="b"/>
              <a:pathLst>
                <a:path w="4755515" h="2359660">
                  <a:moveTo>
                    <a:pt x="368" y="91440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4663808" y="355"/>
                  </a:lnTo>
                  <a:lnTo>
                    <a:pt x="4709528" y="12598"/>
                  </a:lnTo>
                  <a:lnTo>
                    <a:pt x="4743005" y="46075"/>
                  </a:lnTo>
                  <a:lnTo>
                    <a:pt x="4755248" y="91795"/>
                  </a:lnTo>
                  <a:lnTo>
                    <a:pt x="4755248" y="2267991"/>
                  </a:lnTo>
                  <a:lnTo>
                    <a:pt x="4754448" y="2279998"/>
                  </a:lnTo>
                  <a:lnTo>
                    <a:pt x="4752093" y="2291665"/>
                  </a:lnTo>
                  <a:lnTo>
                    <a:pt x="4728557" y="2332751"/>
                  </a:lnTo>
                  <a:lnTo>
                    <a:pt x="4687473" y="2356283"/>
                  </a:lnTo>
                  <a:lnTo>
                    <a:pt x="4663808" y="2359431"/>
                  </a:lnTo>
                  <a:lnTo>
                    <a:pt x="91440" y="2359431"/>
                  </a:lnTo>
                  <a:lnTo>
                    <a:pt x="45719" y="2347201"/>
                  </a:lnTo>
                  <a:lnTo>
                    <a:pt x="12242" y="2313711"/>
                  </a:lnTo>
                  <a:lnTo>
                    <a:pt x="0" y="2267991"/>
                  </a:lnTo>
                  <a:lnTo>
                    <a:pt x="368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495" y="2320035"/>
            <a:ext cx="3499485" cy="83502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lang="en-US"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Security</a:t>
            </a:r>
            <a:r>
              <a:rPr sz="900" b="1" spc="-4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Output</a:t>
            </a:r>
            <a:endParaRPr sz="900" dirty="0">
              <a:latin typeface="Calibri"/>
              <a:cs typeface="Calibri"/>
            </a:endParaRPr>
          </a:p>
          <a:p>
            <a:pPr marL="12700" marR="685800">
              <a:lnSpc>
                <a:spcPct val="102499"/>
              </a:lnSpc>
              <a:spcBef>
                <a:spcPts val="50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VULNERABLE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String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concatenation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@Query(value="SELECT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*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journal_lines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endParaRPr sz="800" dirty="0">
              <a:latin typeface="Courier New"/>
              <a:cs typeface="Courier New"/>
            </a:endParaRPr>
          </a:p>
          <a:p>
            <a:pPr marL="13589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"WHERE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account_id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accountId,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INJECTION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RISK!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nativeQuery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true)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495" y="3254300"/>
            <a:ext cx="2569845" cy="1149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SAFE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Named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parameter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binding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@Query("SELECT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jl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JournalLine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jl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endParaRPr sz="800" dirty="0">
              <a:latin typeface="Courier New"/>
              <a:cs typeface="Courier New"/>
            </a:endParaRPr>
          </a:p>
          <a:p>
            <a:pPr marL="135890" marR="12890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"WHERE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jl.account.id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:accountId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+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"AND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jl.journalEntry.date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r>
              <a:rPr sz="800" spc="5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"BETWEEN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:from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AND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:to")</a:t>
            </a:r>
            <a:endParaRPr sz="800" dirty="0">
              <a:latin typeface="Courier New"/>
              <a:cs typeface="Courier New"/>
            </a:endParaRPr>
          </a:p>
          <a:p>
            <a:pPr marL="135890" marR="5080" indent="-12382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List&lt;JournalLine&gt;</a:t>
            </a:r>
            <a:r>
              <a:rPr sz="800" spc="1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findByAccountAndPeriod(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@Param("accountId")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Long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accountId,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@Param("from")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LocalDate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from,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@Param("to")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LocalDate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to);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5495" y="4503498"/>
            <a:ext cx="2197735" cy="275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SAST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GitHub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Actions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(generated):</a:t>
            </a:r>
            <a:endParaRPr sz="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name: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OWASP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Dependency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Check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8977" y="4753345"/>
            <a:ext cx="319087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uses:</a:t>
            </a:r>
            <a:r>
              <a:rPr sz="800" spc="2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dependency-check/Dependency-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Check_Action@main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5495" y="4878262"/>
            <a:ext cx="188722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name: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SpotBugs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Security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Scan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8977" y="5003179"/>
            <a:ext cx="337566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run: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mvn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spotbugs:spotbugs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Dspotbugs.failOnError=true</a:t>
            </a:r>
            <a:endParaRPr sz="800" dirty="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180038" y="1038227"/>
            <a:ext cx="3757295" cy="3878579"/>
            <a:chOff x="5180038" y="1038227"/>
            <a:chExt cx="3757295" cy="3878579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0038" y="1038227"/>
              <a:ext cx="3756964" cy="376561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50776" y="1108978"/>
              <a:ext cx="3579128" cy="380735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382259" y="1167538"/>
            <a:ext cx="128143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50" dirty="0">
                <a:solidFill>
                  <a:srgbClr val="EE4343"/>
                </a:solidFill>
                <a:latin typeface="MingLiU_HKSCS-ExtB"/>
                <a:cs typeface="MingLiU_HKSCS-ExtB"/>
              </a:rPr>
              <a:t>🛡️</a:t>
            </a:r>
            <a:r>
              <a:rPr sz="1300" spc="-290" dirty="0">
                <a:solidFill>
                  <a:srgbClr val="EE4343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EE4343"/>
                </a:solidFill>
                <a:latin typeface="Calibri"/>
                <a:cs typeface="Calibri"/>
              </a:rPr>
              <a:t>Why</a:t>
            </a:r>
            <a:r>
              <a:rPr sz="1100" b="1" spc="-4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E4343"/>
                </a:solidFill>
                <a:latin typeface="Calibri"/>
                <a:cs typeface="Calibri"/>
              </a:rPr>
              <a:t>This</a:t>
            </a:r>
            <a:r>
              <a:rPr sz="1100" b="1" spc="-20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EE4343"/>
                </a:solidFill>
                <a:latin typeface="Calibri"/>
                <a:cs typeface="Calibri"/>
              </a:rPr>
              <a:t>Matters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82259" y="1605142"/>
            <a:ext cx="28854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Financial</a:t>
            </a:r>
            <a:r>
              <a:rPr sz="90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data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breaches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 carry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legal,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financial,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and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reputational</a:t>
            </a:r>
            <a:r>
              <a:rPr sz="900" spc="50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consequences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for</a:t>
            </a:r>
            <a:r>
              <a:rPr sz="90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1D283A"/>
                </a:solidFill>
                <a:latin typeface="Calibri"/>
                <a:cs typeface="Calibri"/>
              </a:rPr>
              <a:t>NGOs.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82259" y="2114183"/>
            <a:ext cx="16656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1D283A"/>
                </a:solidFill>
                <a:latin typeface="Calibri"/>
                <a:cs typeface="Calibri"/>
              </a:rPr>
              <a:t>WAMY</a:t>
            </a:r>
            <a:r>
              <a:rPr sz="1000" b="1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D283A"/>
                </a:solidFill>
                <a:latin typeface="Calibri"/>
                <a:cs typeface="Calibri"/>
              </a:rPr>
              <a:t>Finance</a:t>
            </a:r>
            <a:r>
              <a:rPr sz="100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1000" b="1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D283A"/>
                </a:solidFill>
                <a:latin typeface="Calibri"/>
                <a:cs typeface="Calibri"/>
              </a:rPr>
              <a:t>Layers: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73700" y="2436012"/>
            <a:ext cx="288544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JWT</a:t>
            </a:r>
            <a:r>
              <a:rPr sz="8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RS256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15min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expiry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73699" y="2756052"/>
            <a:ext cx="2260701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Org-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scoped</a:t>
            </a:r>
            <a:r>
              <a:rPr sz="850" spc="-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queries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73700" y="3076092"/>
            <a:ext cx="2641954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@PreAuthorize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method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security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73700" y="3396132"/>
            <a:ext cx="2499118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Input</a:t>
            </a:r>
            <a:r>
              <a:rPr sz="850" spc="-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validation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(Bean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Validation)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73700" y="3716172"/>
            <a:ext cx="2298344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Audit</a:t>
            </a:r>
            <a:r>
              <a:rPr sz="8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log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on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writes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73700" y="4036212"/>
            <a:ext cx="2641954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5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SQL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injection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prevention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(JPA)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73699" y="4356252"/>
            <a:ext cx="214793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XSS: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Spring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headers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473700" y="4676292"/>
            <a:ext cx="23749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Rate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limiting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on auth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endpoints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53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907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JWT</a:t>
            </a:r>
            <a:r>
              <a:rPr spc="-65" dirty="0"/>
              <a:t> </a:t>
            </a:r>
            <a:r>
              <a:rPr dirty="0"/>
              <a:t>Security</a:t>
            </a:r>
            <a:r>
              <a:rPr spc="-65" dirty="0"/>
              <a:t> </a:t>
            </a:r>
            <a:r>
              <a:rPr spc="-10" dirty="0"/>
              <a:t>Hardening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70256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105" dirty="0">
                <a:solidFill>
                  <a:srgbClr val="9FBFFF"/>
                </a:solidFill>
                <a:latin typeface="+mn-lt"/>
                <a:cs typeface="Arial"/>
              </a:rPr>
              <a:t>RS256,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+mn-lt"/>
                <a:cs typeface="Arial"/>
              </a:rPr>
              <a:t>token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rotation,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+mn-lt"/>
                <a:cs typeface="Arial"/>
              </a:rPr>
              <a:t>and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75" dirty="0">
                <a:solidFill>
                  <a:srgbClr val="9FBFFF"/>
                </a:solidFill>
                <a:latin typeface="+mn-lt"/>
                <a:cs typeface="Arial"/>
              </a:rPr>
              <a:t>secure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30" dirty="0">
                <a:solidFill>
                  <a:srgbClr val="9FBFFF"/>
                </a:solidFill>
                <a:latin typeface="+mn-lt"/>
                <a:cs typeface="Arial"/>
              </a:rPr>
              <a:t>JWT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configuration</a:t>
            </a:r>
            <a:endParaRPr sz="1000" dirty="0">
              <a:latin typeface="+mn-lt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r>
              <a:rPr lang="en-US" sz="750" b="1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582"/>
            <a:ext cx="4945380" cy="1109993"/>
            <a:chOff x="242646" y="1038582"/>
            <a:chExt cx="4945380" cy="13335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582"/>
              <a:ext cx="4945316" cy="1333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646"/>
              <a:ext cx="4754880" cy="1143000"/>
            </a:xfrm>
            <a:custGeom>
              <a:avLst/>
              <a:gdLst/>
              <a:ahLst/>
              <a:cxnLst/>
              <a:rect l="l" t="t" r="r" b="b"/>
              <a:pathLst>
                <a:path w="4754880" h="1143000">
                  <a:moveTo>
                    <a:pt x="4663440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30" y="1097280"/>
                  </a:lnTo>
                  <a:lnTo>
                    <a:pt x="45719" y="1130757"/>
                  </a:lnTo>
                  <a:lnTo>
                    <a:pt x="91439" y="1143000"/>
                  </a:lnTo>
                  <a:lnTo>
                    <a:pt x="4663440" y="1143000"/>
                  </a:lnTo>
                  <a:lnTo>
                    <a:pt x="4709159" y="1130757"/>
                  </a:lnTo>
                  <a:lnTo>
                    <a:pt x="4742637" y="1097280"/>
                  </a:lnTo>
                  <a:lnTo>
                    <a:pt x="4754880" y="1051560"/>
                  </a:lnTo>
                  <a:lnTo>
                    <a:pt x="4754880" y="91439"/>
                  </a:lnTo>
                  <a:lnTo>
                    <a:pt x="4742637" y="45720"/>
                  </a:lnTo>
                  <a:lnTo>
                    <a:pt x="4709159" y="12230"/>
                  </a:lnTo>
                  <a:lnTo>
                    <a:pt x="4663440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646"/>
              <a:ext cx="4754880" cy="1143000"/>
            </a:xfrm>
            <a:custGeom>
              <a:avLst/>
              <a:gdLst/>
              <a:ahLst/>
              <a:cxnLst/>
              <a:rect l="l" t="t" r="r" b="b"/>
              <a:pathLst>
                <a:path w="4754880" h="1143000">
                  <a:moveTo>
                    <a:pt x="0" y="91439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39" y="0"/>
                  </a:lnTo>
                  <a:lnTo>
                    <a:pt x="4663440" y="0"/>
                  </a:lnTo>
                  <a:lnTo>
                    <a:pt x="4709159" y="12230"/>
                  </a:lnTo>
                  <a:lnTo>
                    <a:pt x="4742637" y="45720"/>
                  </a:lnTo>
                  <a:lnTo>
                    <a:pt x="4754880" y="91439"/>
                  </a:lnTo>
                  <a:lnTo>
                    <a:pt x="4754880" y="1051560"/>
                  </a:lnTo>
                  <a:lnTo>
                    <a:pt x="4754079" y="1063559"/>
                  </a:lnTo>
                  <a:lnTo>
                    <a:pt x="4751725" y="1075224"/>
                  </a:lnTo>
                  <a:lnTo>
                    <a:pt x="4728189" y="1116309"/>
                  </a:lnTo>
                  <a:lnTo>
                    <a:pt x="4687104" y="1139850"/>
                  </a:lnTo>
                  <a:lnTo>
                    <a:pt x="4663440" y="1143000"/>
                  </a:lnTo>
                  <a:lnTo>
                    <a:pt x="91439" y="1143000"/>
                  </a:lnTo>
                  <a:lnTo>
                    <a:pt x="45719" y="1130757"/>
                  </a:lnTo>
                  <a:lnTo>
                    <a:pt x="12230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495" y="1093565"/>
            <a:ext cx="4509770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Security</a:t>
            </a:r>
            <a:r>
              <a:rPr sz="85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—</a:t>
            </a:r>
            <a:r>
              <a:rPr sz="850" b="1" spc="-1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WAMY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Finance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"Harden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10" dirty="0">
                <a:solidFill>
                  <a:srgbClr val="FCE589"/>
                </a:solidFill>
                <a:latin typeface="Arial"/>
                <a:cs typeface="Arial"/>
              </a:rPr>
              <a:t>JWT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implementation: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(1)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Switch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from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0" dirty="0">
                <a:solidFill>
                  <a:srgbClr val="FCE589"/>
                </a:solidFill>
                <a:latin typeface="Arial"/>
                <a:cs typeface="Arial"/>
              </a:rPr>
              <a:t>HS256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to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5" dirty="0">
                <a:solidFill>
                  <a:srgbClr val="FCE589"/>
                </a:solidFill>
                <a:latin typeface="Arial"/>
                <a:cs typeface="Arial"/>
              </a:rPr>
              <a:t>RS256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using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50" dirty="0">
                <a:solidFill>
                  <a:srgbClr val="FCE589"/>
                </a:solidFill>
                <a:latin typeface="Arial"/>
                <a:cs typeface="Arial"/>
              </a:rPr>
              <a:t>RSA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key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pair;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(2)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Add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token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rotation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(refresh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token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7-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day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expiry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stored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in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Redis);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(3)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Add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10" dirty="0">
                <a:solidFill>
                  <a:srgbClr val="FCE589"/>
                </a:solidFill>
                <a:latin typeface="Arial"/>
                <a:cs typeface="Arial"/>
              </a:rPr>
              <a:t>JWT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blacklist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logout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using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Redis;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(4)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Set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access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token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expiry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to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15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minutes;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(5)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Add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jti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claim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token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uniqueness.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Generate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JwtService.java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SecurityConfig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updates."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277" y="2041525"/>
            <a:ext cx="4945380" cy="3140010"/>
            <a:chOff x="242277" y="2254315"/>
            <a:chExt cx="4945380" cy="25495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2254315"/>
              <a:ext cx="4945316" cy="25495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316" y="2331366"/>
              <a:ext cx="4755515" cy="2359660"/>
            </a:xfrm>
            <a:custGeom>
              <a:avLst/>
              <a:gdLst/>
              <a:ahLst/>
              <a:cxnLst/>
              <a:rect l="l" t="t" r="r" b="b"/>
              <a:pathLst>
                <a:path w="4755515" h="2359660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267991"/>
                  </a:lnTo>
                  <a:lnTo>
                    <a:pt x="798" y="2279998"/>
                  </a:lnTo>
                  <a:lnTo>
                    <a:pt x="18843" y="2323755"/>
                  </a:lnTo>
                  <a:lnTo>
                    <a:pt x="56512" y="2352450"/>
                  </a:lnTo>
                  <a:lnTo>
                    <a:pt x="91440" y="2359431"/>
                  </a:lnTo>
                  <a:lnTo>
                    <a:pt x="4663808" y="2359431"/>
                  </a:lnTo>
                  <a:lnTo>
                    <a:pt x="4709528" y="2347201"/>
                  </a:lnTo>
                  <a:lnTo>
                    <a:pt x="4743005" y="2313711"/>
                  </a:lnTo>
                  <a:lnTo>
                    <a:pt x="4755248" y="2267991"/>
                  </a:lnTo>
                  <a:lnTo>
                    <a:pt x="4755224" y="91440"/>
                  </a:lnTo>
                  <a:lnTo>
                    <a:pt x="4743005" y="46075"/>
                  </a:lnTo>
                  <a:lnTo>
                    <a:pt x="4709528" y="12598"/>
                  </a:lnTo>
                  <a:lnTo>
                    <a:pt x="466380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316" y="2331366"/>
              <a:ext cx="4755515" cy="2359660"/>
            </a:xfrm>
            <a:custGeom>
              <a:avLst/>
              <a:gdLst/>
              <a:ahLst/>
              <a:cxnLst/>
              <a:rect l="l" t="t" r="r" b="b"/>
              <a:pathLst>
                <a:path w="4755515" h="2359660">
                  <a:moveTo>
                    <a:pt x="368" y="91440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4663808" y="355"/>
                  </a:lnTo>
                  <a:lnTo>
                    <a:pt x="4709528" y="12598"/>
                  </a:lnTo>
                  <a:lnTo>
                    <a:pt x="4743005" y="46075"/>
                  </a:lnTo>
                  <a:lnTo>
                    <a:pt x="4755248" y="91795"/>
                  </a:lnTo>
                  <a:lnTo>
                    <a:pt x="4755248" y="2267991"/>
                  </a:lnTo>
                  <a:lnTo>
                    <a:pt x="4754448" y="2279998"/>
                  </a:lnTo>
                  <a:lnTo>
                    <a:pt x="4752093" y="2291665"/>
                  </a:lnTo>
                  <a:lnTo>
                    <a:pt x="4728557" y="2332751"/>
                  </a:lnTo>
                  <a:lnTo>
                    <a:pt x="4687473" y="2356283"/>
                  </a:lnTo>
                  <a:lnTo>
                    <a:pt x="4663808" y="2359431"/>
                  </a:lnTo>
                  <a:lnTo>
                    <a:pt x="91440" y="2359431"/>
                  </a:lnTo>
                  <a:lnTo>
                    <a:pt x="45719" y="2347201"/>
                  </a:lnTo>
                  <a:lnTo>
                    <a:pt x="12242" y="2313711"/>
                  </a:lnTo>
                  <a:lnTo>
                    <a:pt x="0" y="2267991"/>
                  </a:lnTo>
                  <a:lnTo>
                    <a:pt x="368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495" y="2107245"/>
            <a:ext cx="2196465" cy="70993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Security</a:t>
            </a:r>
            <a:r>
              <a:rPr sz="900" b="1" spc="-4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Output</a:t>
            </a:r>
            <a:endParaRPr sz="900" dirty="0">
              <a:latin typeface="Calibri"/>
              <a:cs typeface="Calibri"/>
            </a:endParaRPr>
          </a:p>
          <a:p>
            <a:pPr marL="135890" marR="66040" indent="-123825">
              <a:lnSpc>
                <a:spcPct val="102499"/>
              </a:lnSpc>
              <a:spcBef>
                <a:spcPts val="50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@Service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class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JwtService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@Value("jwt.private.key")</a:t>
            </a:r>
            <a:endParaRPr sz="800" dirty="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private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RSAPrivateKey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privateKey;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30675" y="2879549"/>
            <a:ext cx="52197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1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RS256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8977" y="2916593"/>
            <a:ext cx="1949450" cy="275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@Value("jwt.public.key")</a:t>
            </a:r>
            <a:r>
              <a:rPr sz="800" spc="5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private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RSAPublicKey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publicKey;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8977" y="3291358"/>
            <a:ext cx="3501390" cy="1275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160" marR="563245" indent="-125095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String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generateToken(UserDetails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user)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return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Jwts.builder()</a:t>
            </a:r>
            <a:endParaRPr sz="800" dirty="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.id(UUID.randomUUID().toString())</a:t>
            </a:r>
            <a:r>
              <a:rPr sz="800" spc="1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1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jti</a:t>
            </a:r>
            <a:endParaRPr sz="800" dirty="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.subject(user.getUsername())</a:t>
            </a:r>
            <a:endParaRPr sz="800" dirty="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.claim("roles",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user.getAuthorities())</a:t>
            </a:r>
            <a:endParaRPr sz="800" dirty="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.claim("orgId",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((WamyUser)user).getOrgId())</a:t>
            </a:r>
            <a:endParaRPr sz="800" dirty="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.issuedAt(new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Date())</a:t>
            </a:r>
            <a:endParaRPr sz="800" dirty="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.expiration(new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Date(</a:t>
            </a:r>
            <a:endParaRPr sz="800" dirty="0">
              <a:latin typeface="Courier New"/>
              <a:cs typeface="Courier New"/>
            </a:endParaRPr>
          </a:p>
          <a:p>
            <a:pPr marL="38544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System.currentTimeMillis()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15*60*1000))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15min</a:t>
            </a:r>
            <a:endParaRPr sz="800" dirty="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.signWith(privateKey,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7377" y="4540555"/>
            <a:ext cx="2385060" cy="275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Jwts.SIG.RS256)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RS256,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not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HS256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.compact();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8977" y="4790389"/>
            <a:ext cx="8826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180038" y="1038227"/>
            <a:ext cx="3757295" cy="3878579"/>
            <a:chOff x="5180038" y="1038227"/>
            <a:chExt cx="3757295" cy="3878579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0038" y="1038227"/>
              <a:ext cx="3756964" cy="376561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50776" y="1108978"/>
              <a:ext cx="3579128" cy="380735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382259" y="1167538"/>
            <a:ext cx="128143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50" dirty="0">
                <a:solidFill>
                  <a:srgbClr val="EE4343"/>
                </a:solidFill>
                <a:latin typeface="MingLiU_HKSCS-ExtB"/>
                <a:cs typeface="MingLiU_HKSCS-ExtB"/>
              </a:rPr>
              <a:t>🛡️</a:t>
            </a:r>
            <a:r>
              <a:rPr sz="1300" spc="-290" dirty="0">
                <a:solidFill>
                  <a:srgbClr val="EE4343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EE4343"/>
                </a:solidFill>
                <a:latin typeface="Calibri"/>
                <a:cs typeface="Calibri"/>
              </a:rPr>
              <a:t>Why</a:t>
            </a:r>
            <a:r>
              <a:rPr sz="1100" b="1" spc="-4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E4343"/>
                </a:solidFill>
                <a:latin typeface="Calibri"/>
                <a:cs typeface="Calibri"/>
              </a:rPr>
              <a:t>This</a:t>
            </a:r>
            <a:r>
              <a:rPr sz="1100" b="1" spc="-20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EE4343"/>
                </a:solidFill>
                <a:latin typeface="Calibri"/>
                <a:cs typeface="Calibri"/>
              </a:rPr>
              <a:t>Matters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82259" y="1605142"/>
            <a:ext cx="28854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Financial</a:t>
            </a:r>
            <a:r>
              <a:rPr sz="90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data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breaches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 carry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legal,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financial,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and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reputational</a:t>
            </a:r>
            <a:r>
              <a:rPr sz="900" spc="50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consequences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for</a:t>
            </a:r>
            <a:r>
              <a:rPr sz="90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1D283A"/>
                </a:solidFill>
                <a:latin typeface="Calibri"/>
                <a:cs typeface="Calibri"/>
              </a:rPr>
              <a:t>NGOs.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82259" y="2114183"/>
            <a:ext cx="16656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1D283A"/>
                </a:solidFill>
                <a:latin typeface="Calibri"/>
                <a:cs typeface="Calibri"/>
              </a:rPr>
              <a:t>WAMY</a:t>
            </a:r>
            <a:r>
              <a:rPr sz="1000" b="1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D283A"/>
                </a:solidFill>
                <a:latin typeface="Calibri"/>
                <a:cs typeface="Calibri"/>
              </a:rPr>
              <a:t>Finance</a:t>
            </a:r>
            <a:r>
              <a:rPr sz="100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1000" b="1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D283A"/>
                </a:solidFill>
                <a:latin typeface="Calibri"/>
                <a:cs typeface="Calibri"/>
              </a:rPr>
              <a:t>Layers: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73700" y="2436012"/>
            <a:ext cx="19177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JWT</a:t>
            </a:r>
            <a:r>
              <a:rPr sz="8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RS256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15min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expiry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73700" y="2756052"/>
            <a:ext cx="18415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Org-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scoped</a:t>
            </a:r>
            <a:r>
              <a:rPr sz="850" spc="-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queries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73700" y="3076092"/>
            <a:ext cx="214920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@PreAuthorize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method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security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73700" y="3396132"/>
            <a:ext cx="2149208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Input</a:t>
            </a:r>
            <a:r>
              <a:rPr sz="850" spc="-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validation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(Bean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Validation)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73700" y="3716172"/>
            <a:ext cx="18415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Audit</a:t>
            </a:r>
            <a:r>
              <a:rPr sz="8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log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on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writes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73700" y="4036212"/>
            <a:ext cx="2149208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5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SQL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injection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prevention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(JPA)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73700" y="4356252"/>
            <a:ext cx="19939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XSS: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Spring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headers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473700" y="4676292"/>
            <a:ext cx="22225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Rate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limiting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on auth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endpoints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54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907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Input</a:t>
            </a:r>
            <a:r>
              <a:rPr spc="-50" dirty="0"/>
              <a:t> </a:t>
            </a:r>
            <a:r>
              <a:rPr spc="-20" dirty="0"/>
              <a:t>Validation</a:t>
            </a:r>
            <a:r>
              <a:rPr spc="-45" dirty="0"/>
              <a:t> </a:t>
            </a:r>
            <a:r>
              <a:rPr spc="-10" dirty="0"/>
              <a:t>Hardening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76352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80" dirty="0">
                <a:solidFill>
                  <a:srgbClr val="9FBFFF"/>
                </a:solidFill>
                <a:latin typeface="Arial"/>
                <a:cs typeface="Arial"/>
              </a:rPr>
              <a:t>Bean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Validation</a:t>
            </a:r>
            <a:r>
              <a:rPr sz="1000" i="1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95" dirty="0">
                <a:solidFill>
                  <a:srgbClr val="9FBFFF"/>
                </a:solidFill>
                <a:latin typeface="Arial"/>
                <a:cs typeface="Arial"/>
              </a:rPr>
              <a:t>+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Arial"/>
                <a:cs typeface="Arial"/>
              </a:rPr>
              <a:t>custom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validators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 for</a:t>
            </a:r>
            <a:r>
              <a:rPr sz="1000" i="1" spc="-1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financial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data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582"/>
            <a:ext cx="4945380" cy="1153414"/>
            <a:chOff x="242646" y="1038582"/>
            <a:chExt cx="4945380" cy="13335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582"/>
              <a:ext cx="4945316" cy="1333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646"/>
              <a:ext cx="4754880" cy="1143000"/>
            </a:xfrm>
            <a:custGeom>
              <a:avLst/>
              <a:gdLst/>
              <a:ahLst/>
              <a:cxnLst/>
              <a:rect l="l" t="t" r="r" b="b"/>
              <a:pathLst>
                <a:path w="4754880" h="1143000">
                  <a:moveTo>
                    <a:pt x="4663440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30" y="1097280"/>
                  </a:lnTo>
                  <a:lnTo>
                    <a:pt x="45719" y="1130757"/>
                  </a:lnTo>
                  <a:lnTo>
                    <a:pt x="91439" y="1143000"/>
                  </a:lnTo>
                  <a:lnTo>
                    <a:pt x="4663440" y="1143000"/>
                  </a:lnTo>
                  <a:lnTo>
                    <a:pt x="4709159" y="1130757"/>
                  </a:lnTo>
                  <a:lnTo>
                    <a:pt x="4742637" y="1097280"/>
                  </a:lnTo>
                  <a:lnTo>
                    <a:pt x="4754880" y="1051560"/>
                  </a:lnTo>
                  <a:lnTo>
                    <a:pt x="4754880" y="91439"/>
                  </a:lnTo>
                  <a:lnTo>
                    <a:pt x="4742637" y="45720"/>
                  </a:lnTo>
                  <a:lnTo>
                    <a:pt x="4709159" y="12230"/>
                  </a:lnTo>
                  <a:lnTo>
                    <a:pt x="4663440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646"/>
              <a:ext cx="4754880" cy="1143000"/>
            </a:xfrm>
            <a:custGeom>
              <a:avLst/>
              <a:gdLst/>
              <a:ahLst/>
              <a:cxnLst/>
              <a:rect l="l" t="t" r="r" b="b"/>
              <a:pathLst>
                <a:path w="4754880" h="1143000">
                  <a:moveTo>
                    <a:pt x="0" y="91439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39" y="0"/>
                  </a:lnTo>
                  <a:lnTo>
                    <a:pt x="4663440" y="0"/>
                  </a:lnTo>
                  <a:lnTo>
                    <a:pt x="4709159" y="12230"/>
                  </a:lnTo>
                  <a:lnTo>
                    <a:pt x="4742637" y="45720"/>
                  </a:lnTo>
                  <a:lnTo>
                    <a:pt x="4754880" y="91439"/>
                  </a:lnTo>
                  <a:lnTo>
                    <a:pt x="4754880" y="1051560"/>
                  </a:lnTo>
                  <a:lnTo>
                    <a:pt x="4754079" y="1063559"/>
                  </a:lnTo>
                  <a:lnTo>
                    <a:pt x="4751725" y="1075224"/>
                  </a:lnTo>
                  <a:lnTo>
                    <a:pt x="4728189" y="1116309"/>
                  </a:lnTo>
                  <a:lnTo>
                    <a:pt x="4687104" y="1139850"/>
                  </a:lnTo>
                  <a:lnTo>
                    <a:pt x="4663440" y="1143000"/>
                  </a:lnTo>
                  <a:lnTo>
                    <a:pt x="91439" y="1143000"/>
                  </a:lnTo>
                  <a:lnTo>
                    <a:pt x="45719" y="1130757"/>
                  </a:lnTo>
                  <a:lnTo>
                    <a:pt x="12230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495" y="1093565"/>
            <a:ext cx="4283075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Security</a:t>
            </a:r>
            <a:r>
              <a:rPr sz="85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—</a:t>
            </a:r>
            <a:r>
              <a:rPr sz="850" b="1" spc="-1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WAMY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Finance</a:t>
            </a:r>
            <a:endParaRPr sz="85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custom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Bean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Validation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annotations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Finance: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@ValidAccountCode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(matches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pattern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1000-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9999),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@PositiveMonetaryAmount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(BigDecimal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&gt;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0,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max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2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decimal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places),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@ValidDateRange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(from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date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before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to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date),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@BalancedJournalEntry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(sum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of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debits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0" dirty="0">
                <a:solidFill>
                  <a:srgbClr val="FCE589"/>
                </a:solidFill>
                <a:latin typeface="Arial"/>
                <a:cs typeface="Arial"/>
              </a:rPr>
              <a:t>==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sum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of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credits).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Include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validator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implementations."</a:t>
            </a:r>
            <a:endParaRPr sz="85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277" y="2041525"/>
            <a:ext cx="4945380" cy="3108325"/>
            <a:chOff x="242277" y="2254315"/>
            <a:chExt cx="4945380" cy="25495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2254315"/>
              <a:ext cx="4945316" cy="25495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316" y="2331366"/>
              <a:ext cx="4755515" cy="2359660"/>
            </a:xfrm>
            <a:custGeom>
              <a:avLst/>
              <a:gdLst/>
              <a:ahLst/>
              <a:cxnLst/>
              <a:rect l="l" t="t" r="r" b="b"/>
              <a:pathLst>
                <a:path w="4755515" h="2359660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267991"/>
                  </a:lnTo>
                  <a:lnTo>
                    <a:pt x="798" y="2279998"/>
                  </a:lnTo>
                  <a:lnTo>
                    <a:pt x="18843" y="2323755"/>
                  </a:lnTo>
                  <a:lnTo>
                    <a:pt x="56512" y="2352450"/>
                  </a:lnTo>
                  <a:lnTo>
                    <a:pt x="91440" y="2359431"/>
                  </a:lnTo>
                  <a:lnTo>
                    <a:pt x="4663808" y="2359431"/>
                  </a:lnTo>
                  <a:lnTo>
                    <a:pt x="4709528" y="2347201"/>
                  </a:lnTo>
                  <a:lnTo>
                    <a:pt x="4743005" y="2313711"/>
                  </a:lnTo>
                  <a:lnTo>
                    <a:pt x="4755248" y="2267991"/>
                  </a:lnTo>
                  <a:lnTo>
                    <a:pt x="4755224" y="91440"/>
                  </a:lnTo>
                  <a:lnTo>
                    <a:pt x="4743005" y="46075"/>
                  </a:lnTo>
                  <a:lnTo>
                    <a:pt x="4709528" y="12598"/>
                  </a:lnTo>
                  <a:lnTo>
                    <a:pt x="466380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316" y="2331366"/>
              <a:ext cx="4755515" cy="2359660"/>
            </a:xfrm>
            <a:custGeom>
              <a:avLst/>
              <a:gdLst/>
              <a:ahLst/>
              <a:cxnLst/>
              <a:rect l="l" t="t" r="r" b="b"/>
              <a:pathLst>
                <a:path w="4755515" h="2359660">
                  <a:moveTo>
                    <a:pt x="368" y="91440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4663808" y="355"/>
                  </a:lnTo>
                  <a:lnTo>
                    <a:pt x="4709528" y="12598"/>
                  </a:lnTo>
                  <a:lnTo>
                    <a:pt x="4743005" y="46075"/>
                  </a:lnTo>
                  <a:lnTo>
                    <a:pt x="4755248" y="91795"/>
                  </a:lnTo>
                  <a:lnTo>
                    <a:pt x="4755248" y="2267991"/>
                  </a:lnTo>
                  <a:lnTo>
                    <a:pt x="4754448" y="2279998"/>
                  </a:lnTo>
                  <a:lnTo>
                    <a:pt x="4752093" y="2291665"/>
                  </a:lnTo>
                  <a:lnTo>
                    <a:pt x="4728557" y="2332751"/>
                  </a:lnTo>
                  <a:lnTo>
                    <a:pt x="4687473" y="2356283"/>
                  </a:lnTo>
                  <a:lnTo>
                    <a:pt x="4663808" y="2359431"/>
                  </a:lnTo>
                  <a:lnTo>
                    <a:pt x="91440" y="2359431"/>
                  </a:lnTo>
                  <a:lnTo>
                    <a:pt x="45719" y="2347201"/>
                  </a:lnTo>
                  <a:lnTo>
                    <a:pt x="12242" y="2313711"/>
                  </a:lnTo>
                  <a:lnTo>
                    <a:pt x="0" y="2267991"/>
                  </a:lnTo>
                  <a:lnTo>
                    <a:pt x="368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495" y="2107245"/>
            <a:ext cx="3314065" cy="145986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Security</a:t>
            </a:r>
            <a:r>
              <a:rPr sz="900" b="1" spc="-4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Output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@Target({FIELD,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PARAMETER})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@Retention(RUNTIME)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@Constraint(validatedBy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AccountCodeValidator.class)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@interface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ValidAccountCode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String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message()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default</a:t>
            </a:r>
            <a:endParaRPr sz="800">
              <a:latin typeface="Courier New"/>
              <a:cs typeface="Courier New"/>
            </a:endParaRPr>
          </a:p>
          <a:p>
            <a:pPr marL="135890" marR="499745" indent="12446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"Account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code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must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between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1000-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9999";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Class&lt;?&gt;[]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groups()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default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{};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Class&lt;?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extends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Payload&gt;[]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payload()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default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{};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495" y="3666109"/>
            <a:ext cx="3190875" cy="525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985" marR="5080" indent="-248920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class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AccountCodeValidator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implements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ConstraintValidator&lt;ValidAccountCode,</a:t>
            </a:r>
            <a:r>
              <a:rPr sz="800" spc="1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String&gt;</a:t>
            </a:r>
            <a:r>
              <a:rPr sz="800" spc="1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260985" marR="379095" indent="-12509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private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static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final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Pattern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CODE_PATTERN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=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Pattern.compile("^[1-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9]\d{3}$");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8977" y="4290708"/>
            <a:ext cx="2321560" cy="275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985" marR="5080" indent="-248920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boolean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isValid(String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code,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ConstraintValidatorContext</a:t>
            </a:r>
            <a:r>
              <a:rPr sz="800" spc="11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ctx)</a:t>
            </a:r>
            <a:r>
              <a:rPr sz="800" spc="1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3894" y="4540555"/>
            <a:ext cx="2631440" cy="275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return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code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!=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null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&amp;&amp;</a:t>
            </a:r>
            <a:r>
              <a:rPr sz="800" spc="1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CODE_PATTERN.matcher(code).matches();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8977" y="4790389"/>
            <a:ext cx="8826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80038" y="1038227"/>
            <a:ext cx="3757295" cy="3878579"/>
            <a:chOff x="5180038" y="1038227"/>
            <a:chExt cx="3757295" cy="3878579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0038" y="1038227"/>
              <a:ext cx="3756964" cy="376561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50776" y="1108978"/>
              <a:ext cx="3579128" cy="380735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382259" y="1167538"/>
            <a:ext cx="128143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50" dirty="0">
                <a:solidFill>
                  <a:srgbClr val="EE4343"/>
                </a:solidFill>
                <a:latin typeface="MingLiU_HKSCS-ExtB"/>
                <a:cs typeface="MingLiU_HKSCS-ExtB"/>
              </a:rPr>
              <a:t>🛡️</a:t>
            </a:r>
            <a:r>
              <a:rPr sz="1300" spc="-290" dirty="0">
                <a:solidFill>
                  <a:srgbClr val="EE4343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EE4343"/>
                </a:solidFill>
                <a:latin typeface="Calibri"/>
                <a:cs typeface="Calibri"/>
              </a:rPr>
              <a:t>Why</a:t>
            </a:r>
            <a:r>
              <a:rPr sz="1100" b="1" spc="-4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E4343"/>
                </a:solidFill>
                <a:latin typeface="Calibri"/>
                <a:cs typeface="Calibri"/>
              </a:rPr>
              <a:t>This</a:t>
            </a:r>
            <a:r>
              <a:rPr sz="1100" b="1" spc="-20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EE4343"/>
                </a:solidFill>
                <a:latin typeface="Calibri"/>
                <a:cs typeface="Calibri"/>
              </a:rPr>
              <a:t>Matters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82259" y="1605142"/>
            <a:ext cx="28854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Financial</a:t>
            </a:r>
            <a:r>
              <a:rPr sz="90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data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breaches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 carry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legal,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financial,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and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reputational</a:t>
            </a:r>
            <a:r>
              <a:rPr sz="900" spc="50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consequences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for</a:t>
            </a:r>
            <a:r>
              <a:rPr sz="90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1D283A"/>
                </a:solidFill>
                <a:latin typeface="Calibri"/>
                <a:cs typeface="Calibri"/>
              </a:rPr>
              <a:t>NGOs.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82259" y="2114183"/>
            <a:ext cx="16656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1D283A"/>
                </a:solidFill>
                <a:latin typeface="Calibri"/>
                <a:cs typeface="Calibri"/>
              </a:rPr>
              <a:t>WAMY</a:t>
            </a:r>
            <a:r>
              <a:rPr sz="1000" b="1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D283A"/>
                </a:solidFill>
                <a:latin typeface="Calibri"/>
                <a:cs typeface="Calibri"/>
              </a:rPr>
              <a:t>Finance</a:t>
            </a:r>
            <a:r>
              <a:rPr sz="100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1000" b="1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D283A"/>
                </a:solidFill>
                <a:latin typeface="Calibri"/>
                <a:cs typeface="Calibri"/>
              </a:rPr>
              <a:t>Layers: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73700" y="2436012"/>
            <a:ext cx="19939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JWT</a:t>
            </a:r>
            <a:r>
              <a:rPr sz="8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RS256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15min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expiry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73700" y="2756052"/>
            <a:ext cx="2298344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Org-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scoped</a:t>
            </a:r>
            <a:r>
              <a:rPr sz="850" spc="-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queries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73700" y="3076092"/>
            <a:ext cx="26797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@PreAuthorize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method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security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73700" y="3396132"/>
            <a:ext cx="2298344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Input</a:t>
            </a:r>
            <a:r>
              <a:rPr sz="850" spc="-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validation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(Bean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Validation)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73700" y="3716172"/>
            <a:ext cx="19177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Audit</a:t>
            </a:r>
            <a:r>
              <a:rPr sz="8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log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on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writes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73700" y="4036212"/>
            <a:ext cx="2298344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5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SQL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injection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prevention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(JPA)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73699" y="4356252"/>
            <a:ext cx="234422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XSS: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Spring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headers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73700" y="4676292"/>
            <a:ext cx="2298344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Rate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limiting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on auth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endpoints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55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907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Security</a:t>
            </a:r>
            <a:r>
              <a:rPr spc="-50" dirty="0"/>
              <a:t> </a:t>
            </a:r>
            <a:r>
              <a:rPr dirty="0"/>
              <a:t>Checklist</a:t>
            </a:r>
            <a:r>
              <a:rPr spc="-55" dirty="0"/>
              <a:t> </a:t>
            </a:r>
            <a:r>
              <a:rPr dirty="0"/>
              <a:t>—</a:t>
            </a:r>
            <a:r>
              <a:rPr spc="-55" dirty="0"/>
              <a:t> </a:t>
            </a:r>
            <a:r>
              <a:rPr spc="-25" dirty="0"/>
              <a:t>Pre-</a:t>
            </a:r>
            <a:r>
              <a:rPr spc="-10" dirty="0"/>
              <a:t>Deployment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8606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Final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security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hardening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before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going</a:t>
            </a:r>
            <a:r>
              <a:rPr sz="1000" i="1" spc="-1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live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on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5" dirty="0">
                <a:solidFill>
                  <a:srgbClr val="9FBFFF"/>
                </a:solidFill>
                <a:latin typeface="Arial"/>
                <a:cs typeface="Arial"/>
              </a:rPr>
              <a:t>Robi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Cloud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582"/>
            <a:ext cx="4945380" cy="1333500"/>
            <a:chOff x="242646" y="1038582"/>
            <a:chExt cx="4945380" cy="13335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582"/>
              <a:ext cx="4945316" cy="1333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5646"/>
              <a:ext cx="4754880" cy="1143000"/>
            </a:xfrm>
            <a:custGeom>
              <a:avLst/>
              <a:gdLst/>
              <a:ahLst/>
              <a:cxnLst/>
              <a:rect l="l" t="t" r="r" b="b"/>
              <a:pathLst>
                <a:path w="4754880" h="1143000">
                  <a:moveTo>
                    <a:pt x="4663440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30" y="1097280"/>
                  </a:lnTo>
                  <a:lnTo>
                    <a:pt x="45719" y="1130757"/>
                  </a:lnTo>
                  <a:lnTo>
                    <a:pt x="91439" y="1143000"/>
                  </a:lnTo>
                  <a:lnTo>
                    <a:pt x="4663440" y="1143000"/>
                  </a:lnTo>
                  <a:lnTo>
                    <a:pt x="4709159" y="1130757"/>
                  </a:lnTo>
                  <a:lnTo>
                    <a:pt x="4742637" y="1097280"/>
                  </a:lnTo>
                  <a:lnTo>
                    <a:pt x="4754880" y="1051560"/>
                  </a:lnTo>
                  <a:lnTo>
                    <a:pt x="4754880" y="91439"/>
                  </a:lnTo>
                  <a:lnTo>
                    <a:pt x="4742637" y="45720"/>
                  </a:lnTo>
                  <a:lnTo>
                    <a:pt x="4709159" y="12230"/>
                  </a:lnTo>
                  <a:lnTo>
                    <a:pt x="4663440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5646"/>
              <a:ext cx="4754880" cy="1143000"/>
            </a:xfrm>
            <a:custGeom>
              <a:avLst/>
              <a:gdLst/>
              <a:ahLst/>
              <a:cxnLst/>
              <a:rect l="l" t="t" r="r" b="b"/>
              <a:pathLst>
                <a:path w="4754880" h="1143000">
                  <a:moveTo>
                    <a:pt x="0" y="91439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39" y="0"/>
                  </a:lnTo>
                  <a:lnTo>
                    <a:pt x="4663440" y="0"/>
                  </a:lnTo>
                  <a:lnTo>
                    <a:pt x="4709159" y="12230"/>
                  </a:lnTo>
                  <a:lnTo>
                    <a:pt x="4742637" y="45720"/>
                  </a:lnTo>
                  <a:lnTo>
                    <a:pt x="4754880" y="91439"/>
                  </a:lnTo>
                  <a:lnTo>
                    <a:pt x="4754880" y="1051560"/>
                  </a:lnTo>
                  <a:lnTo>
                    <a:pt x="4754079" y="1063559"/>
                  </a:lnTo>
                  <a:lnTo>
                    <a:pt x="4751725" y="1075224"/>
                  </a:lnTo>
                  <a:lnTo>
                    <a:pt x="4728189" y="1116309"/>
                  </a:lnTo>
                  <a:lnTo>
                    <a:pt x="4687104" y="1139850"/>
                  </a:lnTo>
                  <a:lnTo>
                    <a:pt x="4663440" y="1143000"/>
                  </a:lnTo>
                  <a:lnTo>
                    <a:pt x="91439" y="1143000"/>
                  </a:lnTo>
                  <a:lnTo>
                    <a:pt x="45719" y="1130757"/>
                  </a:lnTo>
                  <a:lnTo>
                    <a:pt x="12230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495" y="1093565"/>
            <a:ext cx="4413250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Security</a:t>
            </a:r>
            <a:r>
              <a:rPr sz="85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—</a:t>
            </a:r>
            <a:r>
              <a:rPr sz="850" b="1" spc="-1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WAMY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 Finance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pre-deployment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security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checklist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module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on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Robi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Cloud.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Include: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Spring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Boot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hardening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(disable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defaults,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set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security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headers),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5" dirty="0">
                <a:solidFill>
                  <a:srgbClr val="FCE589"/>
                </a:solidFill>
                <a:latin typeface="Arial"/>
                <a:cs typeface="Arial"/>
              </a:rPr>
              <a:t>MySQL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hardening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(create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app-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specific </a:t>
            </a:r>
            <a:r>
              <a:rPr sz="850" i="1" spc="-110" dirty="0">
                <a:solidFill>
                  <a:srgbClr val="FCE589"/>
                </a:solidFill>
                <a:latin typeface="Arial"/>
                <a:cs typeface="Arial"/>
              </a:rPr>
              <a:t>DB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user,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restrict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permissions),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Docker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security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(non-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root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user,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read-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only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filesystem),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HTTPS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configuration,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secrets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management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(.env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vs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Vault),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GitHub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Actions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secrets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rotation."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277" y="2254315"/>
            <a:ext cx="4945380" cy="2549525"/>
            <a:chOff x="242277" y="2254315"/>
            <a:chExt cx="4945380" cy="25495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2254315"/>
              <a:ext cx="4945316" cy="25495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316" y="2331366"/>
              <a:ext cx="4755515" cy="2359660"/>
            </a:xfrm>
            <a:custGeom>
              <a:avLst/>
              <a:gdLst/>
              <a:ahLst/>
              <a:cxnLst/>
              <a:rect l="l" t="t" r="r" b="b"/>
              <a:pathLst>
                <a:path w="4755515" h="2359660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267991"/>
                  </a:lnTo>
                  <a:lnTo>
                    <a:pt x="798" y="2279998"/>
                  </a:lnTo>
                  <a:lnTo>
                    <a:pt x="18843" y="2323755"/>
                  </a:lnTo>
                  <a:lnTo>
                    <a:pt x="56512" y="2352450"/>
                  </a:lnTo>
                  <a:lnTo>
                    <a:pt x="91440" y="2359431"/>
                  </a:lnTo>
                  <a:lnTo>
                    <a:pt x="4663808" y="2359431"/>
                  </a:lnTo>
                  <a:lnTo>
                    <a:pt x="4709528" y="2347201"/>
                  </a:lnTo>
                  <a:lnTo>
                    <a:pt x="4743005" y="2313711"/>
                  </a:lnTo>
                  <a:lnTo>
                    <a:pt x="4755248" y="2267991"/>
                  </a:lnTo>
                  <a:lnTo>
                    <a:pt x="4755224" y="91440"/>
                  </a:lnTo>
                  <a:lnTo>
                    <a:pt x="4743005" y="46075"/>
                  </a:lnTo>
                  <a:lnTo>
                    <a:pt x="4709528" y="12598"/>
                  </a:lnTo>
                  <a:lnTo>
                    <a:pt x="466380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316" y="2331366"/>
              <a:ext cx="4755515" cy="2359660"/>
            </a:xfrm>
            <a:custGeom>
              <a:avLst/>
              <a:gdLst/>
              <a:ahLst/>
              <a:cxnLst/>
              <a:rect l="l" t="t" r="r" b="b"/>
              <a:pathLst>
                <a:path w="4755515" h="2359660">
                  <a:moveTo>
                    <a:pt x="368" y="91440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4663808" y="355"/>
                  </a:lnTo>
                  <a:lnTo>
                    <a:pt x="4709528" y="12598"/>
                  </a:lnTo>
                  <a:lnTo>
                    <a:pt x="4743005" y="46075"/>
                  </a:lnTo>
                  <a:lnTo>
                    <a:pt x="4755248" y="91795"/>
                  </a:lnTo>
                  <a:lnTo>
                    <a:pt x="4755248" y="2267991"/>
                  </a:lnTo>
                  <a:lnTo>
                    <a:pt x="4754448" y="2279998"/>
                  </a:lnTo>
                  <a:lnTo>
                    <a:pt x="4752093" y="2291665"/>
                  </a:lnTo>
                  <a:lnTo>
                    <a:pt x="4728557" y="2332751"/>
                  </a:lnTo>
                  <a:lnTo>
                    <a:pt x="4687473" y="2356283"/>
                  </a:lnTo>
                  <a:lnTo>
                    <a:pt x="4663808" y="2359431"/>
                  </a:lnTo>
                  <a:lnTo>
                    <a:pt x="91440" y="2359431"/>
                  </a:lnTo>
                  <a:lnTo>
                    <a:pt x="45719" y="2347201"/>
                  </a:lnTo>
                  <a:lnTo>
                    <a:pt x="12242" y="2313711"/>
                  </a:lnTo>
                  <a:lnTo>
                    <a:pt x="0" y="2267991"/>
                  </a:lnTo>
                  <a:lnTo>
                    <a:pt x="368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495" y="2320035"/>
            <a:ext cx="3128010" cy="58483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Security</a:t>
            </a:r>
            <a:r>
              <a:rPr sz="900" b="1" spc="-4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Output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2499"/>
              </a:lnSpc>
              <a:spcBef>
                <a:spcPts val="50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WAMY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Finance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Pre-Deployment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Security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Checklist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Generated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by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Claude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Code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495" y="3004466"/>
            <a:ext cx="2816860" cy="775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##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Spring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Boot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0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spring.actuator.endpoints:</a:t>
            </a:r>
            <a:r>
              <a:rPr sz="800" spc="1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health,info</a:t>
            </a:r>
            <a:r>
              <a:rPr sz="800" spc="1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only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5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APP_DEBUG=false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production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profile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5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CORS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origin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list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locked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wamy.org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domain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0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HTTPS-only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(HSTS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header: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max-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age=31536000)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5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Remove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default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Spring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error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messages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5495" y="3878899"/>
            <a:ext cx="3003550" cy="775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##</a:t>
            </a:r>
            <a:r>
              <a:rPr sz="800" spc="1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MySQL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0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App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uses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limited-privilege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user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(not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root)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5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GRANT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SELECT,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INSERT,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UPDATE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ON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wamy_finance.*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5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Disable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remote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root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login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0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Enable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MySQL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audit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log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plugin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5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SSL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connection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required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for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app→DB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495" y="4753345"/>
            <a:ext cx="2569210" cy="4006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##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Docker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Robi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Cloud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0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Run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as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non-root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user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(USER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1001)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5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Read-only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filesystem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(--read-only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flag)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80038" y="1038227"/>
            <a:ext cx="3757295" cy="3878579"/>
            <a:chOff x="5180038" y="1038227"/>
            <a:chExt cx="3757295" cy="3878579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0038" y="1038227"/>
              <a:ext cx="3756964" cy="376561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50776" y="1108978"/>
              <a:ext cx="3579128" cy="380735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382259" y="1167538"/>
            <a:ext cx="128143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50" dirty="0">
                <a:solidFill>
                  <a:srgbClr val="EE4343"/>
                </a:solidFill>
                <a:latin typeface="MingLiU_HKSCS-ExtB"/>
                <a:cs typeface="MingLiU_HKSCS-ExtB"/>
              </a:rPr>
              <a:t>🛡️</a:t>
            </a:r>
            <a:r>
              <a:rPr sz="1300" spc="-290" dirty="0">
                <a:solidFill>
                  <a:srgbClr val="EE4343"/>
                </a:solidFill>
                <a:latin typeface="MingLiU_HKSCS-ExtB"/>
                <a:cs typeface="MingLiU_HKSCS-ExtB"/>
              </a:rPr>
              <a:t> </a:t>
            </a:r>
            <a:r>
              <a:rPr sz="1100" b="1" dirty="0">
                <a:solidFill>
                  <a:srgbClr val="EE4343"/>
                </a:solidFill>
                <a:latin typeface="Calibri"/>
                <a:cs typeface="Calibri"/>
              </a:rPr>
              <a:t>Why</a:t>
            </a:r>
            <a:r>
              <a:rPr sz="1100" b="1" spc="-4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E4343"/>
                </a:solidFill>
                <a:latin typeface="Calibri"/>
                <a:cs typeface="Calibri"/>
              </a:rPr>
              <a:t>This</a:t>
            </a:r>
            <a:r>
              <a:rPr sz="1100" b="1" spc="-20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EE4343"/>
                </a:solidFill>
                <a:latin typeface="Calibri"/>
                <a:cs typeface="Calibri"/>
              </a:rPr>
              <a:t>Matters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82259" y="1605142"/>
            <a:ext cx="28854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Financial</a:t>
            </a:r>
            <a:r>
              <a:rPr sz="90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data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breaches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 carry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legal,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financial,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and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reputational</a:t>
            </a:r>
            <a:r>
              <a:rPr sz="900" spc="50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D283A"/>
                </a:solidFill>
                <a:latin typeface="Calibri"/>
                <a:cs typeface="Calibri"/>
              </a:rPr>
              <a:t>consequences</a:t>
            </a:r>
            <a:r>
              <a:rPr sz="90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D283A"/>
                </a:solidFill>
                <a:latin typeface="Calibri"/>
                <a:cs typeface="Calibri"/>
              </a:rPr>
              <a:t>for</a:t>
            </a:r>
            <a:r>
              <a:rPr sz="90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1D283A"/>
                </a:solidFill>
                <a:latin typeface="Calibri"/>
                <a:cs typeface="Calibri"/>
              </a:rPr>
              <a:t>NGOs.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82259" y="2114183"/>
            <a:ext cx="16656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1D283A"/>
                </a:solidFill>
                <a:latin typeface="Calibri"/>
                <a:cs typeface="Calibri"/>
              </a:rPr>
              <a:t>WAMY</a:t>
            </a:r>
            <a:r>
              <a:rPr sz="1000" b="1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D283A"/>
                </a:solidFill>
                <a:latin typeface="Calibri"/>
                <a:cs typeface="Calibri"/>
              </a:rPr>
              <a:t>Finance</a:t>
            </a:r>
            <a:r>
              <a:rPr sz="100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1000" b="1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D283A"/>
                </a:solidFill>
                <a:latin typeface="Calibri"/>
                <a:cs typeface="Calibri"/>
              </a:rPr>
              <a:t>Layers: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73700" y="2436012"/>
            <a:ext cx="13595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JWT</a:t>
            </a:r>
            <a:r>
              <a:rPr sz="8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RS256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15min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expiry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73700" y="2756052"/>
            <a:ext cx="11874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Org-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scoped</a:t>
            </a:r>
            <a:r>
              <a:rPr sz="850" spc="-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queries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73700" y="3076092"/>
            <a:ext cx="16173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@PreAuthorize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method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security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73700" y="3396132"/>
            <a:ext cx="16700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Input</a:t>
            </a:r>
            <a:r>
              <a:rPr sz="850" spc="-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validation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(Bean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Validation)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73700" y="3716172"/>
            <a:ext cx="11614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Audit</a:t>
            </a:r>
            <a:r>
              <a:rPr sz="8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log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on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writes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73700" y="4036212"/>
            <a:ext cx="15195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5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SQL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injection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prevention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(JPA)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73700" y="4356252"/>
            <a:ext cx="144653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XSS: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Spring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headers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73700" y="4676292"/>
            <a:ext cx="15887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1D283A"/>
                </a:solidFill>
                <a:latin typeface="MingLiU_HKSCS-ExtB"/>
                <a:cs typeface="MingLiU_HKSCS-ExtB"/>
              </a:rPr>
              <a:t>🔒</a:t>
            </a:r>
            <a:r>
              <a:rPr sz="1000" spc="-229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Rate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limiting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on auth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endpoints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56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9356" y="502198"/>
            <a:ext cx="1280795" cy="329565"/>
          </a:xfrm>
          <a:custGeom>
            <a:avLst/>
            <a:gdLst/>
            <a:ahLst/>
            <a:cxnLst/>
            <a:rect l="l" t="t" r="r" b="b"/>
            <a:pathLst>
              <a:path w="1280795" h="329565">
                <a:moveTo>
                  <a:pt x="91808" y="0"/>
                </a:moveTo>
                <a:lnTo>
                  <a:pt x="46088" y="12242"/>
                </a:lnTo>
                <a:lnTo>
                  <a:pt x="12598" y="45720"/>
                </a:lnTo>
                <a:lnTo>
                  <a:pt x="368" y="91439"/>
                </a:lnTo>
                <a:lnTo>
                  <a:pt x="0" y="237959"/>
                </a:lnTo>
                <a:lnTo>
                  <a:pt x="798" y="249966"/>
                </a:lnTo>
                <a:lnTo>
                  <a:pt x="18843" y="293724"/>
                </a:lnTo>
                <a:lnTo>
                  <a:pt x="56512" y="322418"/>
                </a:lnTo>
                <a:lnTo>
                  <a:pt x="91439" y="329399"/>
                </a:lnTo>
                <a:lnTo>
                  <a:pt x="1189088" y="329399"/>
                </a:lnTo>
                <a:lnTo>
                  <a:pt x="1234808" y="317169"/>
                </a:lnTo>
                <a:lnTo>
                  <a:pt x="1268285" y="283679"/>
                </a:lnTo>
                <a:lnTo>
                  <a:pt x="1280528" y="237959"/>
                </a:lnTo>
                <a:lnTo>
                  <a:pt x="1280503" y="91439"/>
                </a:lnTo>
                <a:lnTo>
                  <a:pt x="1268285" y="46088"/>
                </a:lnTo>
                <a:lnTo>
                  <a:pt x="1234808" y="12598"/>
                </a:lnTo>
                <a:lnTo>
                  <a:pt x="1189088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2901" y="578067"/>
            <a:ext cx="6343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0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08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27024" y="1020142"/>
            <a:ext cx="508825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/>
              <a:t>Database</a:t>
            </a:r>
            <a:r>
              <a:rPr sz="4200" spc="-195" dirty="0"/>
              <a:t> </a:t>
            </a:r>
            <a:r>
              <a:rPr sz="4200" spc="-10" dirty="0"/>
              <a:t>Optimisation</a:t>
            </a:r>
            <a:endParaRPr sz="4200"/>
          </a:p>
        </p:txBody>
      </p:sp>
      <p:sp>
        <p:nvSpPr>
          <p:cNvPr id="6" name="object 6"/>
          <p:cNvSpPr txBox="1"/>
          <p:nvPr/>
        </p:nvSpPr>
        <p:spPr>
          <a:xfrm>
            <a:off x="627024" y="1838428"/>
            <a:ext cx="502475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160" dirty="0">
                <a:solidFill>
                  <a:srgbClr val="F49D0A"/>
                </a:solidFill>
                <a:latin typeface="+mn-lt"/>
                <a:cs typeface="Arial"/>
              </a:rPr>
              <a:t>MySQL</a:t>
            </a:r>
            <a:r>
              <a:rPr sz="1500" i="1" spc="-6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90" dirty="0">
                <a:solidFill>
                  <a:srgbClr val="F49D0A"/>
                </a:solidFill>
                <a:latin typeface="+mn-lt"/>
                <a:cs typeface="Arial"/>
              </a:rPr>
              <a:t>8</a:t>
            </a:r>
            <a:r>
              <a:rPr sz="1500" i="1" spc="-65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70" dirty="0">
                <a:solidFill>
                  <a:srgbClr val="F49D0A"/>
                </a:solidFill>
                <a:latin typeface="+mn-lt"/>
                <a:cs typeface="Arial"/>
              </a:rPr>
              <a:t>performance</a:t>
            </a:r>
            <a:r>
              <a:rPr sz="1500" i="1" spc="-6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20" dirty="0">
                <a:solidFill>
                  <a:srgbClr val="F49D0A"/>
                </a:solidFill>
                <a:latin typeface="+mn-lt"/>
                <a:cs typeface="Arial"/>
              </a:rPr>
              <a:t>for</a:t>
            </a:r>
            <a:r>
              <a:rPr sz="1500" i="1" spc="-6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40" dirty="0">
                <a:solidFill>
                  <a:srgbClr val="F49D0A"/>
                </a:solidFill>
                <a:latin typeface="+mn-lt"/>
                <a:cs typeface="Arial"/>
              </a:rPr>
              <a:t>the</a:t>
            </a:r>
            <a:r>
              <a:rPr sz="1500" i="1" spc="-6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140" dirty="0">
                <a:solidFill>
                  <a:srgbClr val="F49D0A"/>
                </a:solidFill>
                <a:latin typeface="+mn-lt"/>
                <a:cs typeface="Arial"/>
              </a:rPr>
              <a:t>WAMY</a:t>
            </a:r>
            <a:r>
              <a:rPr sz="1500" i="1" spc="-65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105" dirty="0">
                <a:solidFill>
                  <a:srgbClr val="F49D0A"/>
                </a:solidFill>
                <a:latin typeface="+mn-lt"/>
                <a:cs typeface="Arial"/>
              </a:rPr>
              <a:t>Finance</a:t>
            </a:r>
            <a:r>
              <a:rPr sz="1500" i="1" spc="-55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40" dirty="0">
                <a:solidFill>
                  <a:srgbClr val="F49D0A"/>
                </a:solidFill>
                <a:latin typeface="+mn-lt"/>
                <a:cs typeface="Arial"/>
              </a:rPr>
              <a:t>reporting</a:t>
            </a:r>
            <a:r>
              <a:rPr sz="1500" i="1" spc="-55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10" dirty="0">
                <a:solidFill>
                  <a:srgbClr val="F49D0A"/>
                </a:solidFill>
                <a:latin typeface="+mn-lt"/>
                <a:cs typeface="Arial"/>
              </a:rPr>
              <a:t>workload</a:t>
            </a:r>
            <a:endParaRPr sz="1500" dirty="0">
              <a:latin typeface="+mn-lt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4800" y="2325422"/>
            <a:ext cx="2024380" cy="515620"/>
            <a:chOff x="633424" y="2325422"/>
            <a:chExt cx="2024380" cy="515620"/>
          </a:xfrm>
        </p:grpSpPr>
        <p:sp>
          <p:nvSpPr>
            <p:cNvPr id="8" name="object 8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191987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5" y="434789"/>
                  </a:lnTo>
                  <a:lnTo>
                    <a:pt x="3148" y="435149"/>
                  </a:lnTo>
                  <a:lnTo>
                    <a:pt x="6859" y="446051"/>
                  </a:lnTo>
                  <a:lnTo>
                    <a:pt x="35675" y="484083"/>
                  </a:lnTo>
                  <a:lnTo>
                    <a:pt x="79433" y="502121"/>
                  </a:lnTo>
                  <a:lnTo>
                    <a:pt x="91440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08402" y="435149"/>
                  </a:lnTo>
                  <a:lnTo>
                    <a:pt x="2008525" y="434789"/>
                  </a:lnTo>
                  <a:lnTo>
                    <a:pt x="2010806" y="423485"/>
                  </a:lnTo>
                  <a:lnTo>
                    <a:pt x="2010879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11" y="91439"/>
                  </a:lnTo>
                  <a:lnTo>
                    <a:pt x="1999081" y="45719"/>
                  </a:lnTo>
                  <a:lnTo>
                    <a:pt x="1965591" y="12242"/>
                  </a:lnTo>
                  <a:lnTo>
                    <a:pt x="1931878" y="798"/>
                  </a:lnTo>
                  <a:lnTo>
                    <a:pt x="1919871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0" y="91439"/>
                  </a:moveTo>
                  <a:lnTo>
                    <a:pt x="798" y="79434"/>
                  </a:lnTo>
                  <a:lnTo>
                    <a:pt x="3148" y="67770"/>
                  </a:lnTo>
                  <a:lnTo>
                    <a:pt x="26679" y="26681"/>
                  </a:lnTo>
                  <a:lnTo>
                    <a:pt x="67765" y="3149"/>
                  </a:lnTo>
                  <a:lnTo>
                    <a:pt x="91440" y="0"/>
                  </a:lnTo>
                  <a:lnTo>
                    <a:pt x="1919871" y="0"/>
                  </a:lnTo>
                  <a:lnTo>
                    <a:pt x="1965591" y="12242"/>
                  </a:lnTo>
                  <a:lnTo>
                    <a:pt x="1999081" y="45719"/>
                  </a:lnTo>
                  <a:lnTo>
                    <a:pt x="2011311" y="91439"/>
                  </a:lnTo>
                  <a:lnTo>
                    <a:pt x="2011679" y="411124"/>
                  </a:lnTo>
                  <a:lnTo>
                    <a:pt x="2010879" y="423124"/>
                  </a:lnTo>
                  <a:lnTo>
                    <a:pt x="2008525" y="434789"/>
                  </a:lnTo>
                  <a:lnTo>
                    <a:pt x="1984989" y="475873"/>
                  </a:lnTo>
                  <a:lnTo>
                    <a:pt x="1943904" y="499410"/>
                  </a:lnTo>
                  <a:lnTo>
                    <a:pt x="91440" y="502919"/>
                  </a:lnTo>
                  <a:lnTo>
                    <a:pt x="45720" y="490677"/>
                  </a:lnTo>
                  <a:lnTo>
                    <a:pt x="12230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88074" y="2497939"/>
            <a:ext cx="85661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EXPLAIN</a:t>
            </a:r>
            <a:r>
              <a:rPr sz="950" spc="-3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Analysis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80996" y="2325422"/>
            <a:ext cx="2024380" cy="515620"/>
            <a:chOff x="2809620" y="2325422"/>
            <a:chExt cx="2024380" cy="515620"/>
          </a:xfrm>
        </p:grpSpPr>
        <p:sp>
          <p:nvSpPr>
            <p:cNvPr id="12" name="object 12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76" y="484083"/>
                  </a:lnTo>
                  <a:lnTo>
                    <a:pt x="79433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79" y="411124"/>
                  </a:lnTo>
                  <a:lnTo>
                    <a:pt x="2010881" y="423124"/>
                  </a:lnTo>
                  <a:lnTo>
                    <a:pt x="2008530" y="434789"/>
                  </a:lnTo>
                  <a:lnTo>
                    <a:pt x="1984994" y="475873"/>
                  </a:lnTo>
                  <a:lnTo>
                    <a:pt x="1943909" y="499410"/>
                  </a:lnTo>
                  <a:lnTo>
                    <a:pt x="91439" y="502919"/>
                  </a:lnTo>
                  <a:lnTo>
                    <a:pt x="45719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32672" y="2497939"/>
            <a:ext cx="7194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Index Strategy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57192" y="2325422"/>
            <a:ext cx="2024380" cy="515620"/>
            <a:chOff x="4985816" y="2325422"/>
            <a:chExt cx="2024380" cy="515620"/>
          </a:xfrm>
        </p:grpSpPr>
        <p:sp>
          <p:nvSpPr>
            <p:cNvPr id="16" name="object 16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83" y="484083"/>
                  </a:lnTo>
                  <a:lnTo>
                    <a:pt x="79440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49" y="456844"/>
                  </a:lnTo>
                  <a:lnTo>
                    <a:pt x="2008409" y="435149"/>
                  </a:lnTo>
                  <a:lnTo>
                    <a:pt x="2008531" y="434789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80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9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90" y="26681"/>
                  </a:lnTo>
                  <a:lnTo>
                    <a:pt x="6777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80" y="411124"/>
                  </a:lnTo>
                  <a:lnTo>
                    <a:pt x="2010881" y="423124"/>
                  </a:lnTo>
                  <a:lnTo>
                    <a:pt x="2008531" y="434789"/>
                  </a:lnTo>
                  <a:lnTo>
                    <a:pt x="1985000" y="475873"/>
                  </a:lnTo>
                  <a:lnTo>
                    <a:pt x="1943914" y="499410"/>
                  </a:lnTo>
                  <a:lnTo>
                    <a:pt x="91439" y="502919"/>
                  </a:lnTo>
                  <a:lnTo>
                    <a:pt x="45720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260277" y="2497939"/>
            <a:ext cx="8178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Query</a:t>
            </a:r>
            <a:r>
              <a:rPr sz="950" spc="-25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Rewriting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33755" y="2325422"/>
            <a:ext cx="1987550" cy="515620"/>
            <a:chOff x="7162379" y="2325422"/>
            <a:chExt cx="1987550" cy="515620"/>
          </a:xfrm>
        </p:grpSpPr>
        <p:sp>
          <p:nvSpPr>
            <p:cNvPr id="20" name="object 20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1988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12242" y="457200"/>
                  </a:lnTo>
                  <a:lnTo>
                    <a:pt x="45720" y="490677"/>
                  </a:lnTo>
                  <a:lnTo>
                    <a:pt x="91440" y="502919"/>
                  </a:lnTo>
                  <a:lnTo>
                    <a:pt x="1920240" y="502564"/>
                  </a:lnTo>
                  <a:lnTo>
                    <a:pt x="1965960" y="490321"/>
                  </a:lnTo>
                  <a:lnTo>
                    <a:pt x="1974951" y="484412"/>
                  </a:lnTo>
                  <a:lnTo>
                    <a:pt x="1974951" y="18383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74951" y="484412"/>
                  </a:moveTo>
                  <a:lnTo>
                    <a:pt x="1932245" y="501764"/>
                  </a:lnTo>
                  <a:lnTo>
                    <a:pt x="91440" y="502919"/>
                  </a:lnTo>
                  <a:lnTo>
                    <a:pt x="79434" y="502121"/>
                  </a:lnTo>
                  <a:lnTo>
                    <a:pt x="35676" y="484083"/>
                  </a:lnTo>
                  <a:lnTo>
                    <a:pt x="6986" y="446409"/>
                  </a:lnTo>
                  <a:lnTo>
                    <a:pt x="0" y="411479"/>
                  </a:lnTo>
                  <a:lnTo>
                    <a:pt x="0" y="91439"/>
                  </a:lnTo>
                  <a:lnTo>
                    <a:pt x="12242" y="45719"/>
                  </a:lnTo>
                  <a:lnTo>
                    <a:pt x="45720" y="12242"/>
                  </a:lnTo>
                  <a:lnTo>
                    <a:pt x="91440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74951" y="18383"/>
                  </a:lnTo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549516" y="2497939"/>
            <a:ext cx="59182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Partitioning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57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091D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EXPLAIN</a:t>
            </a:r>
            <a:r>
              <a:rPr spc="-80" dirty="0"/>
              <a:t> </a:t>
            </a:r>
            <a:r>
              <a:rPr dirty="0"/>
              <a:t>Analysis</a:t>
            </a:r>
            <a:r>
              <a:rPr spc="-75" dirty="0"/>
              <a:t> </a:t>
            </a:r>
            <a:r>
              <a:rPr dirty="0"/>
              <a:t>—</a:t>
            </a:r>
            <a:r>
              <a:rPr spc="-75" dirty="0"/>
              <a:t> </a:t>
            </a:r>
            <a:r>
              <a:rPr dirty="0"/>
              <a:t>P&amp;L</a:t>
            </a:r>
            <a:r>
              <a:rPr spc="-75" dirty="0"/>
              <a:t> </a:t>
            </a:r>
            <a:r>
              <a:rPr dirty="0"/>
              <a:t>Report</a:t>
            </a:r>
            <a:r>
              <a:rPr spc="-75" dirty="0"/>
              <a:t> </a:t>
            </a:r>
            <a:r>
              <a:rPr spc="-10" dirty="0"/>
              <a:t>Query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89052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60" dirty="0">
                <a:solidFill>
                  <a:srgbClr val="9FBFFF"/>
                </a:solidFill>
                <a:latin typeface="Arial"/>
                <a:cs typeface="Arial"/>
              </a:rPr>
              <a:t>Before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 and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aker: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2.8s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→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Arial"/>
                <a:cs typeface="Arial"/>
              </a:rPr>
              <a:t>0.04s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on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the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Income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Statement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1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227"/>
            <a:ext cx="4534535" cy="1306195"/>
            <a:chOff x="242646" y="1038227"/>
            <a:chExt cx="4534535" cy="13061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34204" cy="1306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0040" y="1115646"/>
              <a:ext cx="4343400" cy="1115695"/>
            </a:xfrm>
            <a:custGeom>
              <a:avLst/>
              <a:gdLst/>
              <a:ahLst/>
              <a:cxnLst/>
              <a:rect l="l" t="t" r="r" b="b"/>
              <a:pathLst>
                <a:path w="4343400" h="1115695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24191"/>
                  </a:lnTo>
                  <a:lnTo>
                    <a:pt x="774" y="1035840"/>
                  </a:lnTo>
                  <a:lnTo>
                    <a:pt x="798" y="1036198"/>
                  </a:lnTo>
                  <a:lnTo>
                    <a:pt x="3076" y="1047505"/>
                  </a:lnTo>
                  <a:lnTo>
                    <a:pt x="3149" y="1047865"/>
                  </a:lnTo>
                  <a:lnTo>
                    <a:pt x="6863" y="1058765"/>
                  </a:lnTo>
                  <a:lnTo>
                    <a:pt x="35676" y="1096800"/>
                  </a:lnTo>
                  <a:lnTo>
                    <a:pt x="79434" y="1114833"/>
                  </a:lnTo>
                  <a:lnTo>
                    <a:pt x="91439" y="1115631"/>
                  </a:lnTo>
                  <a:lnTo>
                    <a:pt x="4251960" y="1115275"/>
                  </a:lnTo>
                  <a:lnTo>
                    <a:pt x="4297680" y="1103033"/>
                  </a:lnTo>
                  <a:lnTo>
                    <a:pt x="4331157" y="1069555"/>
                  </a:lnTo>
                  <a:lnTo>
                    <a:pt x="4340127" y="1047865"/>
                  </a:lnTo>
                  <a:lnTo>
                    <a:pt x="4340250" y="1047505"/>
                  </a:lnTo>
                  <a:lnTo>
                    <a:pt x="4342529" y="1036198"/>
                  </a:lnTo>
                  <a:lnTo>
                    <a:pt x="4342601" y="1035840"/>
                  </a:lnTo>
                  <a:lnTo>
                    <a:pt x="4343376" y="1024191"/>
                  </a:lnTo>
                  <a:lnTo>
                    <a:pt x="4343044" y="91439"/>
                  </a:lnTo>
                  <a:lnTo>
                    <a:pt x="4330801" y="45720"/>
                  </a:lnTo>
                  <a:lnTo>
                    <a:pt x="4297324" y="12230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1115646"/>
              <a:ext cx="4343400" cy="1115695"/>
            </a:xfrm>
            <a:custGeom>
              <a:avLst/>
              <a:gdLst/>
              <a:ahLst/>
              <a:cxnLst/>
              <a:rect l="l" t="t" r="r" b="b"/>
              <a:pathLst>
                <a:path w="4343400" h="1115695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30"/>
                  </a:lnTo>
                  <a:lnTo>
                    <a:pt x="4330801" y="45720"/>
                  </a:lnTo>
                  <a:lnTo>
                    <a:pt x="4343044" y="91439"/>
                  </a:lnTo>
                  <a:lnTo>
                    <a:pt x="4343400" y="1023835"/>
                  </a:lnTo>
                  <a:lnTo>
                    <a:pt x="4342601" y="1035840"/>
                  </a:lnTo>
                  <a:lnTo>
                    <a:pt x="4340250" y="1047505"/>
                  </a:lnTo>
                  <a:lnTo>
                    <a:pt x="4316718" y="1088594"/>
                  </a:lnTo>
                  <a:lnTo>
                    <a:pt x="4275629" y="1112126"/>
                  </a:lnTo>
                  <a:lnTo>
                    <a:pt x="91439" y="1115631"/>
                  </a:lnTo>
                  <a:lnTo>
                    <a:pt x="45720" y="1103401"/>
                  </a:lnTo>
                  <a:lnTo>
                    <a:pt x="12242" y="1069911"/>
                  </a:lnTo>
                  <a:lnTo>
                    <a:pt x="0" y="1024191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3971925" cy="71628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0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DB</a:t>
            </a:r>
            <a:r>
              <a:rPr sz="850" b="1" spc="1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Optimisation</a:t>
            </a:r>
            <a:r>
              <a:rPr sz="850" b="1" spc="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"Analyze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this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5" dirty="0">
                <a:solidFill>
                  <a:srgbClr val="FCE589"/>
                </a:solidFill>
                <a:latin typeface="Arial"/>
                <a:cs typeface="Arial"/>
              </a:rPr>
              <a:t>MySQL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5" dirty="0">
                <a:solidFill>
                  <a:srgbClr val="FCE589"/>
                </a:solidFill>
                <a:latin typeface="Arial"/>
                <a:cs typeface="Arial"/>
              </a:rPr>
              <a:t>EXPLAIN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output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P&amp;L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report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query.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Identify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bottlenecks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(full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table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scans,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missing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indexes,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filesort).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Suggest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specific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indexes,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rewrite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query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if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needed,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predict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performance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improvement."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226947"/>
            <a:ext cx="4534535" cy="2586355"/>
            <a:chOff x="242646" y="2226947"/>
            <a:chExt cx="4534535" cy="258635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226947"/>
              <a:ext cx="4534204" cy="258589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0040" y="2304366"/>
              <a:ext cx="4343400" cy="2395855"/>
            </a:xfrm>
            <a:custGeom>
              <a:avLst/>
              <a:gdLst/>
              <a:ahLst/>
              <a:cxnLst/>
              <a:rect l="l" t="t" r="r" b="b"/>
              <a:pathLst>
                <a:path w="4343400" h="2395854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40"/>
                  </a:lnTo>
                  <a:lnTo>
                    <a:pt x="0" y="2304351"/>
                  </a:lnTo>
                  <a:lnTo>
                    <a:pt x="6863" y="2338925"/>
                  </a:lnTo>
                  <a:lnTo>
                    <a:pt x="6986" y="2339286"/>
                  </a:lnTo>
                  <a:lnTo>
                    <a:pt x="35676" y="2376960"/>
                  </a:lnTo>
                  <a:lnTo>
                    <a:pt x="79434" y="2394993"/>
                  </a:lnTo>
                  <a:lnTo>
                    <a:pt x="91439" y="2395791"/>
                  </a:lnTo>
                  <a:lnTo>
                    <a:pt x="4251960" y="2395435"/>
                  </a:lnTo>
                  <a:lnTo>
                    <a:pt x="4297680" y="2383193"/>
                  </a:lnTo>
                  <a:lnTo>
                    <a:pt x="4331157" y="2349715"/>
                  </a:lnTo>
                  <a:lnTo>
                    <a:pt x="4340127" y="2328025"/>
                  </a:lnTo>
                  <a:lnTo>
                    <a:pt x="4340250" y="2327665"/>
                  </a:lnTo>
                  <a:lnTo>
                    <a:pt x="4342529" y="2316358"/>
                  </a:lnTo>
                  <a:lnTo>
                    <a:pt x="4342601" y="2316000"/>
                  </a:lnTo>
                  <a:lnTo>
                    <a:pt x="4343376" y="2304351"/>
                  </a:lnTo>
                  <a:lnTo>
                    <a:pt x="4343044" y="91440"/>
                  </a:lnTo>
                  <a:lnTo>
                    <a:pt x="4330801" y="45720"/>
                  </a:lnTo>
                  <a:lnTo>
                    <a:pt x="4297324" y="12230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40" y="2304366"/>
              <a:ext cx="4343400" cy="2395855"/>
            </a:xfrm>
            <a:custGeom>
              <a:avLst/>
              <a:gdLst/>
              <a:ahLst/>
              <a:cxnLst/>
              <a:rect l="l" t="t" r="r" b="b"/>
              <a:pathLst>
                <a:path w="4343400" h="2395854">
                  <a:moveTo>
                    <a:pt x="0" y="91440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30"/>
                  </a:lnTo>
                  <a:lnTo>
                    <a:pt x="4330801" y="45720"/>
                  </a:lnTo>
                  <a:lnTo>
                    <a:pt x="4343044" y="91440"/>
                  </a:lnTo>
                  <a:lnTo>
                    <a:pt x="4343400" y="2303995"/>
                  </a:lnTo>
                  <a:lnTo>
                    <a:pt x="4342601" y="2316000"/>
                  </a:lnTo>
                  <a:lnTo>
                    <a:pt x="4340250" y="2327665"/>
                  </a:lnTo>
                  <a:lnTo>
                    <a:pt x="4316718" y="2368754"/>
                  </a:lnTo>
                  <a:lnTo>
                    <a:pt x="4275629" y="2392286"/>
                  </a:lnTo>
                  <a:lnTo>
                    <a:pt x="91439" y="2395791"/>
                  </a:lnTo>
                  <a:lnTo>
                    <a:pt x="45720" y="2383561"/>
                  </a:lnTo>
                  <a:lnTo>
                    <a:pt x="12242" y="2350071"/>
                  </a:lnTo>
                  <a:lnTo>
                    <a:pt x="0" y="2304351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292680"/>
            <a:ext cx="3253104" cy="158432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SQL /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 Config</a:t>
            </a:r>
            <a:endParaRPr sz="900" dirty="0">
              <a:latin typeface="Calibri"/>
              <a:cs typeface="Calibri"/>
            </a:endParaRPr>
          </a:p>
          <a:p>
            <a:pPr marL="12700" marR="687705">
              <a:lnSpc>
                <a:spcPct val="102499"/>
              </a:lnSpc>
              <a:spcBef>
                <a:spcPts val="50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BEFORE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(2.8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seconds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full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table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scan)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EXPLAIN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SELECT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coa.name,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coa.type,</a:t>
            </a:r>
            <a:endParaRPr sz="800" dirty="0">
              <a:latin typeface="Courier New"/>
              <a:cs typeface="Courier New"/>
            </a:endParaRPr>
          </a:p>
          <a:p>
            <a:pPr marL="12700" marR="563880" indent="123189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SUM(jl.debit)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SUM(jl.credit)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AS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balance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journal_lines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jl</a:t>
            </a:r>
            <a:endParaRPr sz="800" dirty="0">
              <a:latin typeface="Courier New"/>
              <a:cs typeface="Courier New"/>
            </a:endParaRPr>
          </a:p>
          <a:p>
            <a:pPr marL="1270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JOIN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journal_entries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je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jl.journal_entry_id=je.id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JOIN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chart_of_accounts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coa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ON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jl.account_id=coa.id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WHERE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je.project_id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5</a:t>
            </a:r>
            <a:endParaRPr sz="800" dirty="0">
              <a:latin typeface="Courier New"/>
              <a:cs typeface="Courier New"/>
            </a:endParaRPr>
          </a:p>
          <a:p>
            <a:pPr marL="135890" marR="685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AND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je.date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BETWEEN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'2024-01-01'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AND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'2024-12-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31'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AND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coa.type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('REVENUE','EXPENSE')</a:t>
            </a:r>
            <a:endParaRPr sz="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GROUP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BY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coa.id;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140" y="4850906"/>
            <a:ext cx="2507615" cy="275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ADD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INDEX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idx_coa_type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(type);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AFTER: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0.04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seconds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(70×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improvement)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768926" y="1038227"/>
            <a:ext cx="4168775" cy="3775075"/>
            <a:chOff x="4768926" y="1038227"/>
            <a:chExt cx="4168775" cy="377507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8227"/>
              <a:ext cx="4168444" cy="377497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475088"/>
                  </a:lnTo>
                  <a:lnTo>
                    <a:pt x="939" y="3489511"/>
                  </a:lnTo>
                  <a:lnTo>
                    <a:pt x="14757" y="3530168"/>
                  </a:lnTo>
                  <a:lnTo>
                    <a:pt x="43003" y="3562109"/>
                  </a:lnTo>
                  <a:lnTo>
                    <a:pt x="81359" y="3581144"/>
                  </a:lnTo>
                  <a:lnTo>
                    <a:pt x="109791" y="3584879"/>
                  </a:lnTo>
                  <a:lnTo>
                    <a:pt x="3868191" y="3584879"/>
                  </a:lnTo>
                  <a:lnTo>
                    <a:pt x="3910262" y="3576526"/>
                  </a:lnTo>
                  <a:lnTo>
                    <a:pt x="3945764" y="3552712"/>
                  </a:lnTo>
                  <a:lnTo>
                    <a:pt x="3969565" y="3517152"/>
                  </a:lnTo>
                  <a:lnTo>
                    <a:pt x="3977995" y="3475088"/>
                  </a:lnTo>
                  <a:lnTo>
                    <a:pt x="3977972" y="109804"/>
                  </a:lnTo>
                  <a:lnTo>
                    <a:pt x="3969642" y="68095"/>
                  </a:lnTo>
                  <a:lnTo>
                    <a:pt x="3945772" y="32535"/>
                  </a:lnTo>
                  <a:lnTo>
                    <a:pt x="3910112" y="8721"/>
                  </a:lnTo>
                  <a:lnTo>
                    <a:pt x="38681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68"/>
                  </a:lnTo>
                  <a:lnTo>
                    <a:pt x="3910112" y="8721"/>
                  </a:lnTo>
                  <a:lnTo>
                    <a:pt x="3945772" y="32535"/>
                  </a:lnTo>
                  <a:lnTo>
                    <a:pt x="3969642" y="68095"/>
                  </a:lnTo>
                  <a:lnTo>
                    <a:pt x="3977995" y="110159"/>
                  </a:lnTo>
                  <a:lnTo>
                    <a:pt x="3977995" y="3475088"/>
                  </a:lnTo>
                  <a:lnTo>
                    <a:pt x="3977055" y="3489505"/>
                  </a:lnTo>
                  <a:lnTo>
                    <a:pt x="3974260" y="3503520"/>
                  </a:lnTo>
                  <a:lnTo>
                    <a:pt x="3955218" y="3541876"/>
                  </a:lnTo>
                  <a:lnTo>
                    <a:pt x="3923271" y="3570122"/>
                  </a:lnTo>
                  <a:lnTo>
                    <a:pt x="3882621" y="3583940"/>
                  </a:lnTo>
                  <a:lnTo>
                    <a:pt x="3868191" y="3584879"/>
                  </a:lnTo>
                  <a:lnTo>
                    <a:pt x="109791" y="3584879"/>
                  </a:lnTo>
                  <a:lnTo>
                    <a:pt x="67882" y="3576526"/>
                  </a:lnTo>
                  <a:lnTo>
                    <a:pt x="32213" y="3552712"/>
                  </a:lnTo>
                  <a:lnTo>
                    <a:pt x="8352" y="3517152"/>
                  </a:lnTo>
                  <a:lnTo>
                    <a:pt x="0" y="3475088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70424" y="1167538"/>
            <a:ext cx="21923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055E45"/>
                </a:solidFill>
                <a:latin typeface="MingLiU_HKSCS-ExtB"/>
                <a:cs typeface="MingLiU_HKSCS-ExtB"/>
              </a:rPr>
              <a:t>📈</a:t>
            </a:r>
            <a:r>
              <a:rPr sz="1300" spc="-265" dirty="0">
                <a:solidFill>
                  <a:srgbClr val="055E45"/>
                </a:solidFill>
                <a:latin typeface="MingLiU_HKSCS-ExtB"/>
                <a:cs typeface="MingLiU_HKSCS-ExtB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Performance</a:t>
            </a:r>
            <a:r>
              <a:rPr sz="1100" b="1" spc="1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Impact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70424" y="1568782"/>
            <a:ext cx="357377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One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well-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placed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index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can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turn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3-second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dashboard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into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sub-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100ms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real-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time</a:t>
            </a:r>
            <a:r>
              <a:rPr sz="900" spc="-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view.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976405" y="2050328"/>
            <a:ext cx="3670935" cy="342265"/>
            <a:chOff x="4976405" y="2050328"/>
            <a:chExt cx="3670935" cy="342265"/>
          </a:xfrm>
        </p:grpSpPr>
        <p:sp>
          <p:nvSpPr>
            <p:cNvPr id="25" name="object 25"/>
            <p:cNvSpPr/>
            <p:nvPr/>
          </p:nvSpPr>
          <p:spPr>
            <a:xfrm>
              <a:off x="4982755" y="2056678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64"/>
                  </a:lnTo>
                  <a:lnTo>
                    <a:pt x="2524" y="47520"/>
                  </a:lnTo>
                  <a:lnTo>
                    <a:pt x="0" y="265328"/>
                  </a:lnTo>
                  <a:lnTo>
                    <a:pt x="540" y="273670"/>
                  </a:lnTo>
                  <a:lnTo>
                    <a:pt x="18739" y="310546"/>
                  </a:lnTo>
                  <a:lnTo>
                    <a:pt x="18859" y="310684"/>
                  </a:lnTo>
                  <a:lnTo>
                    <a:pt x="55734" y="328861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2"/>
                  </a:lnTo>
                  <a:lnTo>
                    <a:pt x="3655806" y="281881"/>
                  </a:lnTo>
                  <a:lnTo>
                    <a:pt x="3657968" y="265328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24"/>
                  </a:lnTo>
                  <a:lnTo>
                    <a:pt x="3593884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82755" y="2056678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64"/>
                  </a:lnTo>
                  <a:lnTo>
                    <a:pt x="64439" y="0"/>
                  </a:lnTo>
                  <a:lnTo>
                    <a:pt x="3593884" y="368"/>
                  </a:lnTo>
                  <a:lnTo>
                    <a:pt x="3632871" y="13570"/>
                  </a:lnTo>
                  <a:lnTo>
                    <a:pt x="3655806" y="47885"/>
                  </a:lnTo>
                  <a:lnTo>
                    <a:pt x="3657968" y="64439"/>
                  </a:lnTo>
                  <a:lnTo>
                    <a:pt x="3657968" y="265328"/>
                  </a:lnTo>
                  <a:lnTo>
                    <a:pt x="3657427" y="273670"/>
                  </a:lnTo>
                  <a:lnTo>
                    <a:pt x="3655806" y="281881"/>
                  </a:lnTo>
                  <a:lnTo>
                    <a:pt x="3632921" y="316042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7"/>
                  </a:lnTo>
                  <a:lnTo>
                    <a:pt x="2162" y="281881"/>
                  </a:lnTo>
                  <a:lnTo>
                    <a:pt x="0" y="265328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089220" y="2144066"/>
            <a:ext cx="5238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P&amp;L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Report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71855" y="2144066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2.8s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0.04s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23860" y="2148016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70×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976405" y="2434452"/>
            <a:ext cx="3670935" cy="342265"/>
            <a:chOff x="4976405" y="2434452"/>
            <a:chExt cx="3670935" cy="342265"/>
          </a:xfrm>
        </p:grpSpPr>
        <p:sp>
          <p:nvSpPr>
            <p:cNvPr id="31" name="object 31"/>
            <p:cNvSpPr/>
            <p:nvPr/>
          </p:nvSpPr>
          <p:spPr>
            <a:xfrm>
              <a:off x="4982755" y="244080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265315"/>
                  </a:lnTo>
                  <a:lnTo>
                    <a:pt x="540" y="273665"/>
                  </a:lnTo>
                  <a:lnTo>
                    <a:pt x="18743" y="310546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2"/>
                  </a:lnTo>
                  <a:lnTo>
                    <a:pt x="3655806" y="281879"/>
                  </a:lnTo>
                  <a:lnTo>
                    <a:pt x="3657968" y="265315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82755" y="244080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70"/>
                  </a:lnTo>
                  <a:lnTo>
                    <a:pt x="3655806" y="47880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5"/>
                  </a:lnTo>
                  <a:lnTo>
                    <a:pt x="3655806" y="281879"/>
                  </a:lnTo>
                  <a:lnTo>
                    <a:pt x="3632921" y="316042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2"/>
                  </a:lnTo>
                  <a:lnTo>
                    <a:pt x="2162" y="281879"/>
                  </a:lnTo>
                  <a:lnTo>
                    <a:pt x="0" y="265315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089220" y="2528178"/>
            <a:ext cx="7543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Budget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vs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Actual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771855" y="2528178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1.8s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0.04s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923860" y="2532140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45×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976405" y="2818576"/>
            <a:ext cx="3670935" cy="342265"/>
            <a:chOff x="4976405" y="2818576"/>
            <a:chExt cx="3670935" cy="342265"/>
          </a:xfrm>
        </p:grpSpPr>
        <p:sp>
          <p:nvSpPr>
            <p:cNvPr id="37" name="object 37"/>
            <p:cNvSpPr/>
            <p:nvPr/>
          </p:nvSpPr>
          <p:spPr>
            <a:xfrm>
              <a:off x="4982755" y="282492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265315"/>
                  </a:lnTo>
                  <a:lnTo>
                    <a:pt x="540" y="273663"/>
                  </a:lnTo>
                  <a:lnTo>
                    <a:pt x="18743" y="310540"/>
                  </a:lnTo>
                  <a:lnTo>
                    <a:pt x="18859" y="310673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35"/>
                  </a:lnTo>
                  <a:lnTo>
                    <a:pt x="3655806" y="281874"/>
                  </a:lnTo>
                  <a:lnTo>
                    <a:pt x="3657968" y="265315"/>
                  </a:lnTo>
                  <a:lnTo>
                    <a:pt x="3657944" y="64071"/>
                  </a:lnTo>
                  <a:lnTo>
                    <a:pt x="3644603" y="25397"/>
                  </a:lnTo>
                  <a:lnTo>
                    <a:pt x="3610443" y="2516"/>
                  </a:lnTo>
                  <a:lnTo>
                    <a:pt x="3593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82755" y="282492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63"/>
                  </a:lnTo>
                  <a:lnTo>
                    <a:pt x="3655806" y="47875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3"/>
                  </a:lnTo>
                  <a:lnTo>
                    <a:pt x="3655806" y="281874"/>
                  </a:lnTo>
                  <a:lnTo>
                    <a:pt x="3632921" y="316035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85"/>
                  </a:lnTo>
                  <a:lnTo>
                    <a:pt x="2162" y="281874"/>
                  </a:lnTo>
                  <a:lnTo>
                    <a:pt x="0" y="265315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089220" y="2912302"/>
            <a:ext cx="64262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Balance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Sheet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771855" y="2912302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3.2s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0.08s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923860" y="2916252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40×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976405" y="3202332"/>
            <a:ext cx="3670935" cy="342265"/>
            <a:chOff x="4976405" y="3202332"/>
            <a:chExt cx="3670935" cy="342265"/>
          </a:xfrm>
        </p:grpSpPr>
        <p:sp>
          <p:nvSpPr>
            <p:cNvPr id="43" name="object 43"/>
            <p:cNvSpPr/>
            <p:nvPr/>
          </p:nvSpPr>
          <p:spPr>
            <a:xfrm>
              <a:off x="4982755" y="320868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265315"/>
                  </a:lnTo>
                  <a:lnTo>
                    <a:pt x="540" y="273665"/>
                  </a:lnTo>
                  <a:lnTo>
                    <a:pt x="18743" y="310541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0"/>
                  </a:lnTo>
                  <a:lnTo>
                    <a:pt x="3655806" y="281879"/>
                  </a:lnTo>
                  <a:lnTo>
                    <a:pt x="3657968" y="265315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82755" y="320868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70"/>
                  </a:lnTo>
                  <a:lnTo>
                    <a:pt x="3655806" y="47880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5"/>
                  </a:lnTo>
                  <a:lnTo>
                    <a:pt x="3655806" y="281879"/>
                  </a:lnTo>
                  <a:lnTo>
                    <a:pt x="3632921" y="316040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0"/>
                  </a:lnTo>
                  <a:lnTo>
                    <a:pt x="2162" y="281879"/>
                  </a:lnTo>
                  <a:lnTo>
                    <a:pt x="0" y="265315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089220" y="3296058"/>
            <a:ext cx="57721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Trial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Balance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771855" y="3296058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1.4s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0.06s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923860" y="3300021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23×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976405" y="3586456"/>
            <a:ext cx="3670935" cy="342265"/>
            <a:chOff x="4976405" y="3586456"/>
            <a:chExt cx="3670935" cy="342265"/>
          </a:xfrm>
        </p:grpSpPr>
        <p:sp>
          <p:nvSpPr>
            <p:cNvPr id="49" name="object 49"/>
            <p:cNvSpPr/>
            <p:nvPr/>
          </p:nvSpPr>
          <p:spPr>
            <a:xfrm>
              <a:off x="4982755" y="359280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2"/>
                  </a:lnTo>
                  <a:lnTo>
                    <a:pt x="2524" y="47517"/>
                  </a:lnTo>
                  <a:lnTo>
                    <a:pt x="0" y="265315"/>
                  </a:lnTo>
                  <a:lnTo>
                    <a:pt x="540" y="273663"/>
                  </a:lnTo>
                  <a:lnTo>
                    <a:pt x="18743" y="310540"/>
                  </a:lnTo>
                  <a:lnTo>
                    <a:pt x="18859" y="310673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35"/>
                  </a:lnTo>
                  <a:lnTo>
                    <a:pt x="3655806" y="281874"/>
                  </a:lnTo>
                  <a:lnTo>
                    <a:pt x="3657968" y="265315"/>
                  </a:lnTo>
                  <a:lnTo>
                    <a:pt x="3657944" y="64071"/>
                  </a:lnTo>
                  <a:lnTo>
                    <a:pt x="3644603" y="25395"/>
                  </a:lnTo>
                  <a:lnTo>
                    <a:pt x="3610443" y="2516"/>
                  </a:lnTo>
                  <a:lnTo>
                    <a:pt x="3593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982755" y="359280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2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57"/>
                  </a:lnTo>
                  <a:lnTo>
                    <a:pt x="3655806" y="47875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3"/>
                  </a:lnTo>
                  <a:lnTo>
                    <a:pt x="3655806" y="281874"/>
                  </a:lnTo>
                  <a:lnTo>
                    <a:pt x="3632921" y="316035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85"/>
                  </a:lnTo>
                  <a:lnTo>
                    <a:pt x="2162" y="281874"/>
                  </a:lnTo>
                  <a:lnTo>
                    <a:pt x="0" y="265315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089220" y="3680182"/>
            <a:ext cx="5346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Bank</a:t>
            </a:r>
            <a:r>
              <a:rPr sz="850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Recon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771855" y="3680182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0.9s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0.02s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923860" y="3684132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45×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55" name="object 55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97040" y="3976461"/>
            <a:ext cx="6050915" cy="9499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CLAUDE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IDENTIFIED: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type=ALL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on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journal_entries</a:t>
            </a:r>
            <a:endParaRPr sz="800" dirty="0">
              <a:latin typeface="Courier New"/>
              <a:cs typeface="Courier New"/>
            </a:endParaRPr>
          </a:p>
          <a:p>
            <a:pPr marL="50800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MISSING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INDEXES:</a:t>
            </a:r>
            <a:endParaRPr sz="800" dirty="0">
              <a:latin typeface="Courier New"/>
              <a:cs typeface="Courier New"/>
            </a:endParaRPr>
          </a:p>
          <a:p>
            <a:pPr marL="508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ALTER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TABLE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journal_entries</a:t>
            </a:r>
            <a:endParaRPr sz="800" dirty="0">
              <a:latin typeface="Courier New"/>
              <a:cs typeface="Courier New"/>
            </a:endParaRPr>
          </a:p>
          <a:p>
            <a:pPr marL="50800" marR="2828290" indent="123189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ADD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INDEX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idx_je_project_date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(project_id,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date);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ALTER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TABLE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journal_lines</a:t>
            </a:r>
            <a:endParaRPr sz="800" dirty="0">
              <a:latin typeface="Courier New"/>
              <a:cs typeface="Courier New"/>
            </a:endParaRPr>
          </a:p>
          <a:p>
            <a:pPr marL="17399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ADD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INDEX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idx_jl_entry_account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(journal_entry_id,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account_id);</a:t>
            </a:r>
            <a:endParaRPr sz="800" dirty="0">
              <a:latin typeface="Courier New"/>
              <a:cs typeface="Courier New"/>
            </a:endParaRPr>
          </a:p>
          <a:p>
            <a:pPr marL="50800">
              <a:lnSpc>
                <a:spcPct val="100000"/>
              </a:lnSpc>
              <a:spcBef>
                <a:spcPts val="55"/>
              </a:spcBef>
            </a:pPr>
            <a:r>
              <a:rPr sz="1200" spc="-615" baseline="24305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lang="en-US" sz="1100" spc="-760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lang="en-US" sz="1200" baseline="24305" dirty="0">
                <a:solidFill>
                  <a:srgbClr val="E1E7EF"/>
                </a:solidFill>
                <a:latin typeface="Courier New"/>
                <a:cs typeface="Courier New"/>
              </a:rPr>
              <a:t>LT</a:t>
            </a:r>
            <a:r>
              <a:rPr lang="en-US" sz="1200" spc="-412" baseline="24305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lang="en-US" sz="950" spc="-30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lang="en-US" sz="1200" spc="-292" baseline="24305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lang="en-US" sz="950" spc="5" dirty="0">
                <a:solidFill>
                  <a:srgbClr val="774409"/>
                </a:solidFill>
                <a:latin typeface="Calibri"/>
                <a:cs typeface="Calibri"/>
              </a:rPr>
              <a:t>B</a:t>
            </a:r>
            <a:r>
              <a:rPr lang="en-US"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lang="en-US" sz="1200" spc="-652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lang="en-US" sz="950" spc="-10" dirty="0" err="1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lang="en-US" sz="1200" spc="-750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lang="en-US" sz="950" spc="25" dirty="0" err="1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lang="en-US" sz="950" spc="-260" dirty="0" err="1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lang="en-US" sz="1200" spc="-367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B</a:t>
            </a:r>
            <a:r>
              <a:rPr lang="en-US" sz="950" spc="-10" dirty="0" err="1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lang="en-US" sz="1200" spc="-405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lang="en-US" sz="950" spc="-190" dirty="0" err="1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lang="en-US" sz="1200" spc="-457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lang="en-US" sz="950" spc="-15" dirty="0" err="1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lang="en-US" sz="950" spc="-210" dirty="0" err="1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lang="en-US" sz="1200" spc="-104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lang="en-US" sz="950" spc="-390" dirty="0" err="1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lang="en-US" sz="1200" spc="-157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h</a:t>
            </a:r>
            <a:r>
              <a:rPr lang="en-US" sz="950" spc="-114" dirty="0" err="1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lang="en-US" sz="1200" spc="-555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lang="en-US" sz="950" dirty="0" err="1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lang="en-US"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lang="en-US" sz="1200" spc="-660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lang="en-US" sz="950" spc="-10" dirty="0" err="1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lang="en-US" sz="950" spc="-300" dirty="0" err="1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lang="en-US" sz="1200" spc="-322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lang="en-US" sz="950" spc="-300" dirty="0" err="1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lang="en-US" sz="1200" spc="-300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_</a:t>
            </a:r>
            <a:r>
              <a:rPr lang="en-US" sz="950" spc="-285" dirty="0" err="1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lang="en-US" sz="1200" spc="-352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lang="en-US" sz="950" spc="-190" dirty="0" err="1">
                <a:solidFill>
                  <a:srgbClr val="774409"/>
                </a:solidFill>
                <a:latin typeface="Calibri"/>
                <a:cs typeface="Calibri"/>
              </a:rPr>
              <a:t>x</a:t>
            </a:r>
            <a:r>
              <a:rPr lang="en-US" sz="1200" spc="-509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f</a:t>
            </a:r>
            <a:r>
              <a:rPr lang="en-US" sz="950" spc="-145" dirty="0" err="1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lang="en-US" sz="1200" spc="-547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_</a:t>
            </a:r>
            <a:r>
              <a:rPr lang="en-US" sz="950" spc="-30" dirty="0" err="1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lang="en-US" sz="1200" spc="-390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lang="en-US" sz="950" spc="-10" dirty="0" err="1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lang="en-US" sz="950" spc="-470" dirty="0" err="1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lang="en-US" sz="1200" spc="-15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lang="en-US" sz="1200" spc="-465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lang="en-US" sz="950" spc="-15" dirty="0" err="1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lang="en-US" sz="950" spc="-25" dirty="0" err="1">
                <a:solidFill>
                  <a:srgbClr val="774409"/>
                </a:solidFill>
                <a:latin typeface="Calibri"/>
                <a:cs typeface="Calibri"/>
              </a:rPr>
              <a:t>h</a:t>
            </a:r>
            <a:r>
              <a:rPr lang="en-US" sz="1200" spc="-1447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lang="en-US" sz="1200" spc="15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lang="en-US" sz="950" spc="-25" dirty="0" err="1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lang="en-US" sz="1200" spc="-412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lang="en-US" sz="950" spc="-10" dirty="0" err="1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lang="en-US" sz="950" spc="-455" dirty="0" err="1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lang="en-US" sz="1200" spc="-15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lang="en-US" sz="1200" spc="-802" baseline="24305" dirty="0" err="1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lang="en-US" sz="950" dirty="0" err="1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lang="en-US" sz="950" spc="-5" dirty="0" err="1">
                <a:solidFill>
                  <a:srgbClr val="774409"/>
                </a:solidFill>
                <a:latin typeface="Calibri"/>
                <a:cs typeface="Calibri"/>
              </a:rPr>
              <a:t>ti</a:t>
            </a:r>
            <a:r>
              <a:rPr lang="en-US" sz="950" spc="-20" dirty="0" err="1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lang="en-US" sz="950" spc="-5" dirty="0" err="1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lang="en-US" sz="950" spc="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lang="en-US" sz="950" spc="-10" dirty="0">
                <a:solidFill>
                  <a:srgbClr val="774409"/>
                </a:solidFill>
                <a:latin typeface="Calibri"/>
                <a:cs typeface="Calibri"/>
              </a:rPr>
              <a:t>migration</a:t>
            </a:r>
            <a:r>
              <a:rPr lang="en-US"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lang="en-US" sz="950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lang="en-US"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lang="en-US" sz="950" spc="-10" dirty="0">
                <a:solidFill>
                  <a:srgbClr val="774409"/>
                </a:solidFill>
                <a:latin typeface="Calibri"/>
                <a:cs typeface="Calibri"/>
              </a:rPr>
              <a:t>retrofitting</a:t>
            </a:r>
            <a:r>
              <a:rPr lang="en-US" sz="950" spc="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lang="en-US" sz="950" spc="-10" dirty="0">
                <a:solidFill>
                  <a:srgbClr val="774409"/>
                </a:solidFill>
                <a:latin typeface="Calibri"/>
                <a:cs typeface="Calibri"/>
              </a:rPr>
              <a:t>indexes</a:t>
            </a:r>
            <a:r>
              <a:rPr lang="en-US" sz="950" spc="4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lang="en-US" sz="950" dirty="0">
                <a:solidFill>
                  <a:srgbClr val="774409"/>
                </a:solidFill>
                <a:latin typeface="Calibri"/>
                <a:cs typeface="Calibri"/>
              </a:rPr>
              <a:t>on</a:t>
            </a:r>
            <a:r>
              <a:rPr lang="en-US" sz="950" spc="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lang="en-US"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lang="en-US"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lang="en-US" sz="950" dirty="0">
                <a:solidFill>
                  <a:srgbClr val="774409"/>
                </a:solidFill>
                <a:latin typeface="Calibri"/>
                <a:cs typeface="Calibri"/>
              </a:rPr>
              <a:t>live</a:t>
            </a:r>
            <a:r>
              <a:rPr lang="en-US" sz="950" spc="4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lang="en-US" sz="950" spc="-20" dirty="0">
                <a:solidFill>
                  <a:srgbClr val="774409"/>
                </a:solidFill>
                <a:latin typeface="Calibri"/>
                <a:cs typeface="Calibri"/>
              </a:rPr>
              <a:t>10M-</a:t>
            </a:r>
            <a:r>
              <a:rPr lang="en-US" sz="950" dirty="0">
                <a:solidFill>
                  <a:srgbClr val="774409"/>
                </a:solidFill>
                <a:latin typeface="Calibri"/>
                <a:cs typeface="Calibri"/>
              </a:rPr>
              <a:t>row</a:t>
            </a:r>
            <a:r>
              <a:rPr lang="en-US"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lang="en-US" sz="950" dirty="0">
                <a:solidFill>
                  <a:srgbClr val="774409"/>
                </a:solidFill>
                <a:latin typeface="Calibri"/>
                <a:cs typeface="Calibri"/>
              </a:rPr>
              <a:t>table</a:t>
            </a:r>
            <a:r>
              <a:rPr lang="en-US"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lang="en-US" sz="950" spc="-10" dirty="0">
                <a:solidFill>
                  <a:srgbClr val="774409"/>
                </a:solidFill>
                <a:latin typeface="Calibri"/>
                <a:cs typeface="Calibri"/>
              </a:rPr>
              <a:t>requires</a:t>
            </a:r>
            <a:r>
              <a:rPr lang="en-US" sz="950" spc="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lang="en-US" sz="950" spc="-10" dirty="0">
                <a:solidFill>
                  <a:srgbClr val="774409"/>
                </a:solidFill>
                <a:latin typeface="Calibri"/>
                <a:cs typeface="Calibri"/>
              </a:rPr>
              <a:t>careful</a:t>
            </a:r>
            <a:r>
              <a:rPr lang="en-US" sz="950" spc="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lang="en-US" sz="950" spc="-10" dirty="0">
                <a:solidFill>
                  <a:srgbClr val="774409"/>
                </a:solidFill>
                <a:latin typeface="Calibri"/>
                <a:cs typeface="Calibri"/>
              </a:rPr>
              <a:t>planning.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58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091D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Composite</a:t>
            </a:r>
            <a:r>
              <a:rPr spc="-90" dirty="0"/>
              <a:t> </a:t>
            </a:r>
            <a:r>
              <a:rPr dirty="0"/>
              <a:t>Index</a:t>
            </a:r>
            <a:r>
              <a:rPr spc="-80" dirty="0"/>
              <a:t> </a:t>
            </a:r>
            <a:r>
              <a:rPr spc="-10" dirty="0"/>
              <a:t>Strategy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9813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50" dirty="0">
                <a:solidFill>
                  <a:srgbClr val="9FBFFF"/>
                </a:solidFill>
                <a:latin typeface="+mn-lt"/>
                <a:cs typeface="Arial"/>
              </a:rPr>
              <a:t>7</a:t>
            </a: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+mn-lt"/>
                <a:cs typeface="Arial"/>
              </a:rPr>
              <a:t>essential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75" dirty="0">
                <a:solidFill>
                  <a:srgbClr val="9FBFFF"/>
                </a:solidFill>
                <a:latin typeface="+mn-lt"/>
                <a:cs typeface="Arial"/>
              </a:rPr>
              <a:t>indexes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for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+mn-lt"/>
                <a:cs typeface="Arial"/>
              </a:rPr>
              <a:t>WAMY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70" dirty="0">
                <a:solidFill>
                  <a:srgbClr val="9FBFFF"/>
                </a:solidFill>
                <a:latin typeface="+mn-lt"/>
                <a:cs typeface="Arial"/>
              </a:rPr>
              <a:t>Finance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report 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performance</a:t>
            </a:r>
            <a:endParaRPr sz="1000" dirty="0">
              <a:latin typeface="+mn-lt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1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227"/>
            <a:ext cx="4534535" cy="1306195"/>
            <a:chOff x="242646" y="1038227"/>
            <a:chExt cx="4534535" cy="13061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34204" cy="1306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0040" y="1115646"/>
              <a:ext cx="4343400" cy="1115695"/>
            </a:xfrm>
            <a:custGeom>
              <a:avLst/>
              <a:gdLst/>
              <a:ahLst/>
              <a:cxnLst/>
              <a:rect l="l" t="t" r="r" b="b"/>
              <a:pathLst>
                <a:path w="4343400" h="1115695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24191"/>
                  </a:lnTo>
                  <a:lnTo>
                    <a:pt x="774" y="1035840"/>
                  </a:lnTo>
                  <a:lnTo>
                    <a:pt x="798" y="1036198"/>
                  </a:lnTo>
                  <a:lnTo>
                    <a:pt x="3076" y="1047505"/>
                  </a:lnTo>
                  <a:lnTo>
                    <a:pt x="3149" y="1047865"/>
                  </a:lnTo>
                  <a:lnTo>
                    <a:pt x="6863" y="1058765"/>
                  </a:lnTo>
                  <a:lnTo>
                    <a:pt x="35676" y="1096800"/>
                  </a:lnTo>
                  <a:lnTo>
                    <a:pt x="79434" y="1114833"/>
                  </a:lnTo>
                  <a:lnTo>
                    <a:pt x="91439" y="1115631"/>
                  </a:lnTo>
                  <a:lnTo>
                    <a:pt x="4251960" y="1115275"/>
                  </a:lnTo>
                  <a:lnTo>
                    <a:pt x="4297680" y="1103033"/>
                  </a:lnTo>
                  <a:lnTo>
                    <a:pt x="4331157" y="1069555"/>
                  </a:lnTo>
                  <a:lnTo>
                    <a:pt x="4340127" y="1047865"/>
                  </a:lnTo>
                  <a:lnTo>
                    <a:pt x="4340250" y="1047505"/>
                  </a:lnTo>
                  <a:lnTo>
                    <a:pt x="4342529" y="1036198"/>
                  </a:lnTo>
                  <a:lnTo>
                    <a:pt x="4342601" y="1035840"/>
                  </a:lnTo>
                  <a:lnTo>
                    <a:pt x="4343376" y="1024191"/>
                  </a:lnTo>
                  <a:lnTo>
                    <a:pt x="4343044" y="91439"/>
                  </a:lnTo>
                  <a:lnTo>
                    <a:pt x="4330801" y="45720"/>
                  </a:lnTo>
                  <a:lnTo>
                    <a:pt x="4297324" y="12230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1115646"/>
              <a:ext cx="4343400" cy="1115695"/>
            </a:xfrm>
            <a:custGeom>
              <a:avLst/>
              <a:gdLst/>
              <a:ahLst/>
              <a:cxnLst/>
              <a:rect l="l" t="t" r="r" b="b"/>
              <a:pathLst>
                <a:path w="4343400" h="1115695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30"/>
                  </a:lnTo>
                  <a:lnTo>
                    <a:pt x="4330801" y="45720"/>
                  </a:lnTo>
                  <a:lnTo>
                    <a:pt x="4343044" y="91439"/>
                  </a:lnTo>
                  <a:lnTo>
                    <a:pt x="4343400" y="1023835"/>
                  </a:lnTo>
                  <a:lnTo>
                    <a:pt x="4342601" y="1035840"/>
                  </a:lnTo>
                  <a:lnTo>
                    <a:pt x="4340250" y="1047505"/>
                  </a:lnTo>
                  <a:lnTo>
                    <a:pt x="4316718" y="1088594"/>
                  </a:lnTo>
                  <a:lnTo>
                    <a:pt x="4275629" y="1112126"/>
                  </a:lnTo>
                  <a:lnTo>
                    <a:pt x="91439" y="1115631"/>
                  </a:lnTo>
                  <a:lnTo>
                    <a:pt x="45720" y="1103401"/>
                  </a:lnTo>
                  <a:lnTo>
                    <a:pt x="12242" y="1069911"/>
                  </a:lnTo>
                  <a:lnTo>
                    <a:pt x="0" y="1024191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3993515" cy="71628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0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DB</a:t>
            </a:r>
            <a:r>
              <a:rPr sz="850" b="1" spc="1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Optimisation</a:t>
            </a:r>
            <a:r>
              <a:rPr sz="850" b="1" spc="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complete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index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strategy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0" dirty="0">
                <a:solidFill>
                  <a:srgbClr val="FCE589"/>
                </a:solidFill>
                <a:latin typeface="Arial"/>
                <a:cs typeface="Arial"/>
              </a:rPr>
              <a:t>MySQL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database. Optimise 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10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financial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reports.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Include composite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indexes,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covering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indexes,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 explain why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each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index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helps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specific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report."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226947"/>
            <a:ext cx="4534535" cy="2586355"/>
            <a:chOff x="242646" y="2226947"/>
            <a:chExt cx="4534535" cy="258635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226947"/>
              <a:ext cx="4534204" cy="258589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0040" y="2304366"/>
              <a:ext cx="4343400" cy="2395855"/>
            </a:xfrm>
            <a:custGeom>
              <a:avLst/>
              <a:gdLst/>
              <a:ahLst/>
              <a:cxnLst/>
              <a:rect l="l" t="t" r="r" b="b"/>
              <a:pathLst>
                <a:path w="4343400" h="2395854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40"/>
                  </a:lnTo>
                  <a:lnTo>
                    <a:pt x="0" y="2304351"/>
                  </a:lnTo>
                  <a:lnTo>
                    <a:pt x="6863" y="2338925"/>
                  </a:lnTo>
                  <a:lnTo>
                    <a:pt x="6986" y="2339286"/>
                  </a:lnTo>
                  <a:lnTo>
                    <a:pt x="35676" y="2376960"/>
                  </a:lnTo>
                  <a:lnTo>
                    <a:pt x="79434" y="2394993"/>
                  </a:lnTo>
                  <a:lnTo>
                    <a:pt x="91439" y="2395791"/>
                  </a:lnTo>
                  <a:lnTo>
                    <a:pt x="4251960" y="2395435"/>
                  </a:lnTo>
                  <a:lnTo>
                    <a:pt x="4297680" y="2383193"/>
                  </a:lnTo>
                  <a:lnTo>
                    <a:pt x="4331157" y="2349715"/>
                  </a:lnTo>
                  <a:lnTo>
                    <a:pt x="4340127" y="2328025"/>
                  </a:lnTo>
                  <a:lnTo>
                    <a:pt x="4340250" y="2327665"/>
                  </a:lnTo>
                  <a:lnTo>
                    <a:pt x="4342529" y="2316358"/>
                  </a:lnTo>
                  <a:lnTo>
                    <a:pt x="4342601" y="2316000"/>
                  </a:lnTo>
                  <a:lnTo>
                    <a:pt x="4343376" y="2304351"/>
                  </a:lnTo>
                  <a:lnTo>
                    <a:pt x="4343044" y="91440"/>
                  </a:lnTo>
                  <a:lnTo>
                    <a:pt x="4330801" y="45720"/>
                  </a:lnTo>
                  <a:lnTo>
                    <a:pt x="4297324" y="12230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40" y="2304366"/>
              <a:ext cx="4343400" cy="2395855"/>
            </a:xfrm>
            <a:custGeom>
              <a:avLst/>
              <a:gdLst/>
              <a:ahLst/>
              <a:cxnLst/>
              <a:rect l="l" t="t" r="r" b="b"/>
              <a:pathLst>
                <a:path w="4343400" h="2395854">
                  <a:moveTo>
                    <a:pt x="0" y="91440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30"/>
                  </a:lnTo>
                  <a:lnTo>
                    <a:pt x="4330801" y="45720"/>
                  </a:lnTo>
                  <a:lnTo>
                    <a:pt x="4343044" y="91440"/>
                  </a:lnTo>
                  <a:lnTo>
                    <a:pt x="4343400" y="2303995"/>
                  </a:lnTo>
                  <a:lnTo>
                    <a:pt x="4342601" y="2316000"/>
                  </a:lnTo>
                  <a:lnTo>
                    <a:pt x="4340250" y="2327665"/>
                  </a:lnTo>
                  <a:lnTo>
                    <a:pt x="4316718" y="2368754"/>
                  </a:lnTo>
                  <a:lnTo>
                    <a:pt x="4275629" y="2392286"/>
                  </a:lnTo>
                  <a:lnTo>
                    <a:pt x="91439" y="2395791"/>
                  </a:lnTo>
                  <a:lnTo>
                    <a:pt x="45720" y="2383561"/>
                  </a:lnTo>
                  <a:lnTo>
                    <a:pt x="12242" y="2350071"/>
                  </a:lnTo>
                  <a:lnTo>
                    <a:pt x="0" y="2304351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292680"/>
            <a:ext cx="3375660" cy="46037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SQL /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 Config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7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Indexes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generated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by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Claude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Code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for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WAMY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Finance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140" y="2852180"/>
            <a:ext cx="2073275" cy="525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0500">
              <a:lnSpc>
                <a:spcPct val="102499"/>
              </a:lnSpc>
              <a:spcBef>
                <a:spcPts val="9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1.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P&amp;L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and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Income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Statement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ALTER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TABLE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journal_entries</a:t>
            </a:r>
            <a:endParaRPr sz="800">
              <a:latin typeface="Courier New"/>
              <a:cs typeface="Courier New"/>
            </a:endParaRPr>
          </a:p>
          <a:p>
            <a:pPr marL="135890" marR="5080" indent="-12382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ADD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INDEX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idx_je_proj_date_status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(project_id,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date,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status);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5140" y="3476779"/>
            <a:ext cx="3003550" cy="650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59180">
              <a:lnSpc>
                <a:spcPct val="102499"/>
              </a:lnSpc>
              <a:spcBef>
                <a:spcPts val="9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2.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General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Ledger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by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account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ALTER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TABLE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journal_lines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ADD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INDEX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idx_jl_covering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(journal_entry_id,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account_id,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debit,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credit);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Covering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index: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no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table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access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needed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140" y="4850906"/>
            <a:ext cx="1949450" cy="275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4.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A/R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Aging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by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customer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ALTER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TABLE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accounts_receivable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68926" y="1038227"/>
            <a:ext cx="4168775" cy="3775075"/>
            <a:chOff x="4768926" y="1038227"/>
            <a:chExt cx="4168775" cy="377507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8227"/>
              <a:ext cx="4168444" cy="377497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475088"/>
                  </a:lnTo>
                  <a:lnTo>
                    <a:pt x="939" y="3489511"/>
                  </a:lnTo>
                  <a:lnTo>
                    <a:pt x="14757" y="3530168"/>
                  </a:lnTo>
                  <a:lnTo>
                    <a:pt x="43003" y="3562109"/>
                  </a:lnTo>
                  <a:lnTo>
                    <a:pt x="81359" y="3581144"/>
                  </a:lnTo>
                  <a:lnTo>
                    <a:pt x="109791" y="3584879"/>
                  </a:lnTo>
                  <a:lnTo>
                    <a:pt x="3868191" y="3584879"/>
                  </a:lnTo>
                  <a:lnTo>
                    <a:pt x="3910262" y="3576526"/>
                  </a:lnTo>
                  <a:lnTo>
                    <a:pt x="3945764" y="3552712"/>
                  </a:lnTo>
                  <a:lnTo>
                    <a:pt x="3969565" y="3517152"/>
                  </a:lnTo>
                  <a:lnTo>
                    <a:pt x="3977995" y="3475088"/>
                  </a:lnTo>
                  <a:lnTo>
                    <a:pt x="3977972" y="109804"/>
                  </a:lnTo>
                  <a:lnTo>
                    <a:pt x="3969642" y="68095"/>
                  </a:lnTo>
                  <a:lnTo>
                    <a:pt x="3945772" y="32535"/>
                  </a:lnTo>
                  <a:lnTo>
                    <a:pt x="3910112" y="8721"/>
                  </a:lnTo>
                  <a:lnTo>
                    <a:pt x="38681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68"/>
                  </a:lnTo>
                  <a:lnTo>
                    <a:pt x="3910112" y="8721"/>
                  </a:lnTo>
                  <a:lnTo>
                    <a:pt x="3945772" y="32535"/>
                  </a:lnTo>
                  <a:lnTo>
                    <a:pt x="3969642" y="68095"/>
                  </a:lnTo>
                  <a:lnTo>
                    <a:pt x="3977995" y="110159"/>
                  </a:lnTo>
                  <a:lnTo>
                    <a:pt x="3977995" y="3475088"/>
                  </a:lnTo>
                  <a:lnTo>
                    <a:pt x="3977055" y="3489505"/>
                  </a:lnTo>
                  <a:lnTo>
                    <a:pt x="3974260" y="3503520"/>
                  </a:lnTo>
                  <a:lnTo>
                    <a:pt x="3955218" y="3541876"/>
                  </a:lnTo>
                  <a:lnTo>
                    <a:pt x="3923271" y="3570122"/>
                  </a:lnTo>
                  <a:lnTo>
                    <a:pt x="3882621" y="3583940"/>
                  </a:lnTo>
                  <a:lnTo>
                    <a:pt x="3868191" y="3584879"/>
                  </a:lnTo>
                  <a:lnTo>
                    <a:pt x="109791" y="3584879"/>
                  </a:lnTo>
                  <a:lnTo>
                    <a:pt x="67882" y="3576526"/>
                  </a:lnTo>
                  <a:lnTo>
                    <a:pt x="32213" y="3552712"/>
                  </a:lnTo>
                  <a:lnTo>
                    <a:pt x="8352" y="3517152"/>
                  </a:lnTo>
                  <a:lnTo>
                    <a:pt x="0" y="3475088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970424" y="1167538"/>
            <a:ext cx="144462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055E45"/>
                </a:solidFill>
                <a:latin typeface="MingLiU_HKSCS-ExtB"/>
                <a:cs typeface="MingLiU_HKSCS-ExtB"/>
              </a:rPr>
              <a:t>📈</a:t>
            </a:r>
            <a:r>
              <a:rPr sz="1300" spc="-265" dirty="0">
                <a:solidFill>
                  <a:srgbClr val="055E45"/>
                </a:solidFill>
                <a:latin typeface="MingLiU_HKSCS-ExtB"/>
                <a:cs typeface="MingLiU_HKSCS-ExtB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Performance</a:t>
            </a:r>
            <a:r>
              <a:rPr sz="1100" b="1" spc="1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Impact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70424" y="1568782"/>
            <a:ext cx="357377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One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well-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placed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index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can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turn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3-second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dashboard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into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sub-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100ms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real-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time</a:t>
            </a:r>
            <a:r>
              <a:rPr sz="900" spc="-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view.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976405" y="2050328"/>
            <a:ext cx="3670935" cy="342265"/>
            <a:chOff x="4976405" y="2050328"/>
            <a:chExt cx="3670935" cy="342265"/>
          </a:xfrm>
        </p:grpSpPr>
        <p:sp>
          <p:nvSpPr>
            <p:cNvPr id="27" name="object 27"/>
            <p:cNvSpPr/>
            <p:nvPr/>
          </p:nvSpPr>
          <p:spPr>
            <a:xfrm>
              <a:off x="4982755" y="2056678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64"/>
                  </a:lnTo>
                  <a:lnTo>
                    <a:pt x="2524" y="47520"/>
                  </a:lnTo>
                  <a:lnTo>
                    <a:pt x="0" y="265328"/>
                  </a:lnTo>
                  <a:lnTo>
                    <a:pt x="540" y="273670"/>
                  </a:lnTo>
                  <a:lnTo>
                    <a:pt x="18739" y="310546"/>
                  </a:lnTo>
                  <a:lnTo>
                    <a:pt x="18859" y="310684"/>
                  </a:lnTo>
                  <a:lnTo>
                    <a:pt x="55734" y="328861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2"/>
                  </a:lnTo>
                  <a:lnTo>
                    <a:pt x="3655806" y="281881"/>
                  </a:lnTo>
                  <a:lnTo>
                    <a:pt x="3657968" y="265328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24"/>
                  </a:lnTo>
                  <a:lnTo>
                    <a:pt x="3593884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82755" y="2056678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64"/>
                  </a:lnTo>
                  <a:lnTo>
                    <a:pt x="64439" y="0"/>
                  </a:lnTo>
                  <a:lnTo>
                    <a:pt x="3593884" y="368"/>
                  </a:lnTo>
                  <a:lnTo>
                    <a:pt x="3632871" y="13570"/>
                  </a:lnTo>
                  <a:lnTo>
                    <a:pt x="3655806" y="47885"/>
                  </a:lnTo>
                  <a:lnTo>
                    <a:pt x="3657968" y="64439"/>
                  </a:lnTo>
                  <a:lnTo>
                    <a:pt x="3657968" y="265328"/>
                  </a:lnTo>
                  <a:lnTo>
                    <a:pt x="3657427" y="273670"/>
                  </a:lnTo>
                  <a:lnTo>
                    <a:pt x="3655806" y="281881"/>
                  </a:lnTo>
                  <a:lnTo>
                    <a:pt x="3632921" y="316042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7"/>
                  </a:lnTo>
                  <a:lnTo>
                    <a:pt x="2162" y="281881"/>
                  </a:lnTo>
                  <a:lnTo>
                    <a:pt x="0" y="265328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089220" y="2144066"/>
            <a:ext cx="5238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P&amp;L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Report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71855" y="2144066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2.8s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0.04s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923860" y="2148016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70×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976405" y="2434452"/>
            <a:ext cx="3670935" cy="342265"/>
            <a:chOff x="4976405" y="2434452"/>
            <a:chExt cx="3670935" cy="342265"/>
          </a:xfrm>
        </p:grpSpPr>
        <p:sp>
          <p:nvSpPr>
            <p:cNvPr id="33" name="object 33"/>
            <p:cNvSpPr/>
            <p:nvPr/>
          </p:nvSpPr>
          <p:spPr>
            <a:xfrm>
              <a:off x="4982755" y="244080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265315"/>
                  </a:lnTo>
                  <a:lnTo>
                    <a:pt x="540" y="273665"/>
                  </a:lnTo>
                  <a:lnTo>
                    <a:pt x="18743" y="310546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2"/>
                  </a:lnTo>
                  <a:lnTo>
                    <a:pt x="3655806" y="281879"/>
                  </a:lnTo>
                  <a:lnTo>
                    <a:pt x="3657968" y="265315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982755" y="244080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70"/>
                  </a:lnTo>
                  <a:lnTo>
                    <a:pt x="3655806" y="47880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5"/>
                  </a:lnTo>
                  <a:lnTo>
                    <a:pt x="3655806" y="281879"/>
                  </a:lnTo>
                  <a:lnTo>
                    <a:pt x="3632921" y="316042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2"/>
                  </a:lnTo>
                  <a:lnTo>
                    <a:pt x="2162" y="281879"/>
                  </a:lnTo>
                  <a:lnTo>
                    <a:pt x="0" y="265315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089220" y="2528178"/>
            <a:ext cx="7543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Budget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vs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Actual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771855" y="2528178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1.8s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0.04s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923860" y="2532140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45×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976405" y="2818576"/>
            <a:ext cx="3670935" cy="342265"/>
            <a:chOff x="4976405" y="2818576"/>
            <a:chExt cx="3670935" cy="342265"/>
          </a:xfrm>
        </p:grpSpPr>
        <p:sp>
          <p:nvSpPr>
            <p:cNvPr id="39" name="object 39"/>
            <p:cNvSpPr/>
            <p:nvPr/>
          </p:nvSpPr>
          <p:spPr>
            <a:xfrm>
              <a:off x="4982755" y="282492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265315"/>
                  </a:lnTo>
                  <a:lnTo>
                    <a:pt x="540" y="273663"/>
                  </a:lnTo>
                  <a:lnTo>
                    <a:pt x="18743" y="310540"/>
                  </a:lnTo>
                  <a:lnTo>
                    <a:pt x="18859" y="310673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35"/>
                  </a:lnTo>
                  <a:lnTo>
                    <a:pt x="3655806" y="281874"/>
                  </a:lnTo>
                  <a:lnTo>
                    <a:pt x="3657968" y="265315"/>
                  </a:lnTo>
                  <a:lnTo>
                    <a:pt x="3657944" y="64071"/>
                  </a:lnTo>
                  <a:lnTo>
                    <a:pt x="3644603" y="25397"/>
                  </a:lnTo>
                  <a:lnTo>
                    <a:pt x="3610443" y="2516"/>
                  </a:lnTo>
                  <a:lnTo>
                    <a:pt x="3593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982755" y="282492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63"/>
                  </a:lnTo>
                  <a:lnTo>
                    <a:pt x="3655806" y="47875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3"/>
                  </a:lnTo>
                  <a:lnTo>
                    <a:pt x="3655806" y="281874"/>
                  </a:lnTo>
                  <a:lnTo>
                    <a:pt x="3632921" y="316035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85"/>
                  </a:lnTo>
                  <a:lnTo>
                    <a:pt x="2162" y="281874"/>
                  </a:lnTo>
                  <a:lnTo>
                    <a:pt x="0" y="265315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089220" y="2912302"/>
            <a:ext cx="64262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Balance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Sheet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771855" y="2912302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3.2s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0.08s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923860" y="2916252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40×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976405" y="3202332"/>
            <a:ext cx="3670935" cy="342265"/>
            <a:chOff x="4976405" y="3202332"/>
            <a:chExt cx="3670935" cy="342265"/>
          </a:xfrm>
        </p:grpSpPr>
        <p:sp>
          <p:nvSpPr>
            <p:cNvPr id="45" name="object 45"/>
            <p:cNvSpPr/>
            <p:nvPr/>
          </p:nvSpPr>
          <p:spPr>
            <a:xfrm>
              <a:off x="4982755" y="320868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265315"/>
                  </a:lnTo>
                  <a:lnTo>
                    <a:pt x="540" y="273665"/>
                  </a:lnTo>
                  <a:lnTo>
                    <a:pt x="18743" y="310541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0"/>
                  </a:lnTo>
                  <a:lnTo>
                    <a:pt x="3655806" y="281879"/>
                  </a:lnTo>
                  <a:lnTo>
                    <a:pt x="3657968" y="265315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982755" y="320868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70"/>
                  </a:lnTo>
                  <a:lnTo>
                    <a:pt x="3655806" y="47880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5"/>
                  </a:lnTo>
                  <a:lnTo>
                    <a:pt x="3655806" y="281879"/>
                  </a:lnTo>
                  <a:lnTo>
                    <a:pt x="3632921" y="316040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0"/>
                  </a:lnTo>
                  <a:lnTo>
                    <a:pt x="2162" y="281879"/>
                  </a:lnTo>
                  <a:lnTo>
                    <a:pt x="0" y="265315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089220" y="3296058"/>
            <a:ext cx="57721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Trial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Balance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771855" y="3296058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1.4s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0.06s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923860" y="3300021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23×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976405" y="3586456"/>
            <a:ext cx="3670935" cy="342265"/>
            <a:chOff x="4976405" y="3586456"/>
            <a:chExt cx="3670935" cy="342265"/>
          </a:xfrm>
        </p:grpSpPr>
        <p:sp>
          <p:nvSpPr>
            <p:cNvPr id="51" name="object 51"/>
            <p:cNvSpPr/>
            <p:nvPr/>
          </p:nvSpPr>
          <p:spPr>
            <a:xfrm>
              <a:off x="4982755" y="359280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2"/>
                  </a:lnTo>
                  <a:lnTo>
                    <a:pt x="2524" y="47517"/>
                  </a:lnTo>
                  <a:lnTo>
                    <a:pt x="0" y="265315"/>
                  </a:lnTo>
                  <a:lnTo>
                    <a:pt x="540" y="273663"/>
                  </a:lnTo>
                  <a:lnTo>
                    <a:pt x="18743" y="310540"/>
                  </a:lnTo>
                  <a:lnTo>
                    <a:pt x="18859" y="310673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35"/>
                  </a:lnTo>
                  <a:lnTo>
                    <a:pt x="3655806" y="281874"/>
                  </a:lnTo>
                  <a:lnTo>
                    <a:pt x="3657968" y="265315"/>
                  </a:lnTo>
                  <a:lnTo>
                    <a:pt x="3657944" y="64071"/>
                  </a:lnTo>
                  <a:lnTo>
                    <a:pt x="3644603" y="25395"/>
                  </a:lnTo>
                  <a:lnTo>
                    <a:pt x="3610443" y="2516"/>
                  </a:lnTo>
                  <a:lnTo>
                    <a:pt x="3593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82755" y="359280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2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57"/>
                  </a:lnTo>
                  <a:lnTo>
                    <a:pt x="3655806" y="47875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3"/>
                  </a:lnTo>
                  <a:lnTo>
                    <a:pt x="3655806" y="281874"/>
                  </a:lnTo>
                  <a:lnTo>
                    <a:pt x="3632921" y="316035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85"/>
                  </a:lnTo>
                  <a:lnTo>
                    <a:pt x="2162" y="281874"/>
                  </a:lnTo>
                  <a:lnTo>
                    <a:pt x="0" y="265315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089220" y="3680182"/>
            <a:ext cx="5346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Bank</a:t>
            </a:r>
            <a:r>
              <a:rPr sz="850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Recon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771855" y="3680182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0.9s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0.02s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923860" y="3684132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45×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57" name="object 57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35140" y="4226307"/>
            <a:ext cx="5974715" cy="700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037205">
              <a:lnSpc>
                <a:spcPct val="102499"/>
              </a:lnSpc>
              <a:spcBef>
                <a:spcPts val="9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3.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Balance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Sheet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(cumulative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inception)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ALTER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TABLE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journal_lines</a:t>
            </a:r>
            <a:endParaRPr sz="800">
              <a:latin typeface="Courier New"/>
              <a:cs typeface="Courier New"/>
            </a:endParaRPr>
          </a:p>
          <a:p>
            <a:pPr marL="135890" marR="3906520" indent="-12382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ADD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INDEX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idx_jl_account_date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(account_id,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journal_entry_id);</a:t>
            </a:r>
            <a:endParaRPr sz="800">
              <a:latin typeface="Courier New"/>
              <a:cs typeface="Courier New"/>
            </a:endParaRPr>
          </a:p>
          <a:p>
            <a:pPr marL="21590">
              <a:lnSpc>
                <a:spcPct val="100000"/>
              </a:lnSpc>
              <a:spcBef>
                <a:spcPts val="55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DB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Tip: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add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all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indexes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 in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initial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migration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retrofitting indexes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on a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live 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10M-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row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table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requires careful planning.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59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091D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Table</a:t>
            </a:r>
            <a:r>
              <a:rPr spc="-55" dirty="0"/>
              <a:t> </a:t>
            </a:r>
            <a:r>
              <a:rPr spc="-10" dirty="0"/>
              <a:t>Partitioning</a:t>
            </a:r>
            <a:r>
              <a:rPr spc="-65" dirty="0"/>
              <a:t> </a:t>
            </a:r>
            <a:r>
              <a:rPr dirty="0"/>
              <a:t>—</a:t>
            </a:r>
            <a:r>
              <a:rPr spc="-55" dirty="0"/>
              <a:t> </a:t>
            </a:r>
            <a:r>
              <a:rPr spc="-10" dirty="0"/>
              <a:t>journal_lines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9089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Partition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5" dirty="0">
                <a:solidFill>
                  <a:srgbClr val="9FBFFF"/>
                </a:solidFill>
                <a:latin typeface="Arial"/>
                <a:cs typeface="Arial"/>
              </a:rPr>
              <a:t>5+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years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of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journal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data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Arial"/>
                <a:cs typeface="Arial"/>
              </a:rPr>
              <a:t>by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year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for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fast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reports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1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227"/>
            <a:ext cx="4534535" cy="1306195"/>
            <a:chOff x="242646" y="1038227"/>
            <a:chExt cx="4534535" cy="13061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34204" cy="1306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0040" y="1115646"/>
              <a:ext cx="4343400" cy="1115695"/>
            </a:xfrm>
            <a:custGeom>
              <a:avLst/>
              <a:gdLst/>
              <a:ahLst/>
              <a:cxnLst/>
              <a:rect l="l" t="t" r="r" b="b"/>
              <a:pathLst>
                <a:path w="4343400" h="1115695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24191"/>
                  </a:lnTo>
                  <a:lnTo>
                    <a:pt x="774" y="1035840"/>
                  </a:lnTo>
                  <a:lnTo>
                    <a:pt x="798" y="1036198"/>
                  </a:lnTo>
                  <a:lnTo>
                    <a:pt x="3076" y="1047505"/>
                  </a:lnTo>
                  <a:lnTo>
                    <a:pt x="3149" y="1047865"/>
                  </a:lnTo>
                  <a:lnTo>
                    <a:pt x="6863" y="1058765"/>
                  </a:lnTo>
                  <a:lnTo>
                    <a:pt x="35676" y="1096800"/>
                  </a:lnTo>
                  <a:lnTo>
                    <a:pt x="79434" y="1114833"/>
                  </a:lnTo>
                  <a:lnTo>
                    <a:pt x="91439" y="1115631"/>
                  </a:lnTo>
                  <a:lnTo>
                    <a:pt x="4251960" y="1115275"/>
                  </a:lnTo>
                  <a:lnTo>
                    <a:pt x="4297680" y="1103033"/>
                  </a:lnTo>
                  <a:lnTo>
                    <a:pt x="4331157" y="1069555"/>
                  </a:lnTo>
                  <a:lnTo>
                    <a:pt x="4340127" y="1047865"/>
                  </a:lnTo>
                  <a:lnTo>
                    <a:pt x="4340250" y="1047505"/>
                  </a:lnTo>
                  <a:lnTo>
                    <a:pt x="4342529" y="1036198"/>
                  </a:lnTo>
                  <a:lnTo>
                    <a:pt x="4342601" y="1035840"/>
                  </a:lnTo>
                  <a:lnTo>
                    <a:pt x="4343376" y="1024191"/>
                  </a:lnTo>
                  <a:lnTo>
                    <a:pt x="4343044" y="91439"/>
                  </a:lnTo>
                  <a:lnTo>
                    <a:pt x="4330801" y="45720"/>
                  </a:lnTo>
                  <a:lnTo>
                    <a:pt x="4297324" y="12230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1115646"/>
              <a:ext cx="4343400" cy="1115695"/>
            </a:xfrm>
            <a:custGeom>
              <a:avLst/>
              <a:gdLst/>
              <a:ahLst/>
              <a:cxnLst/>
              <a:rect l="l" t="t" r="r" b="b"/>
              <a:pathLst>
                <a:path w="4343400" h="1115695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30"/>
                  </a:lnTo>
                  <a:lnTo>
                    <a:pt x="4330801" y="45720"/>
                  </a:lnTo>
                  <a:lnTo>
                    <a:pt x="4343044" y="91439"/>
                  </a:lnTo>
                  <a:lnTo>
                    <a:pt x="4343400" y="1023835"/>
                  </a:lnTo>
                  <a:lnTo>
                    <a:pt x="4342601" y="1035840"/>
                  </a:lnTo>
                  <a:lnTo>
                    <a:pt x="4340250" y="1047505"/>
                  </a:lnTo>
                  <a:lnTo>
                    <a:pt x="4316718" y="1088594"/>
                  </a:lnTo>
                  <a:lnTo>
                    <a:pt x="4275629" y="1112126"/>
                  </a:lnTo>
                  <a:lnTo>
                    <a:pt x="91439" y="1115631"/>
                  </a:lnTo>
                  <a:lnTo>
                    <a:pt x="45720" y="1103401"/>
                  </a:lnTo>
                  <a:lnTo>
                    <a:pt x="12242" y="1069911"/>
                  </a:lnTo>
                  <a:lnTo>
                    <a:pt x="0" y="1024191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3806825" cy="71628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0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DB</a:t>
            </a:r>
            <a:r>
              <a:rPr sz="850" b="1" spc="1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Optimisation</a:t>
            </a:r>
            <a:r>
              <a:rPr sz="850" b="1" spc="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5" dirty="0">
                <a:solidFill>
                  <a:srgbClr val="FCE589"/>
                </a:solidFill>
                <a:latin typeface="Arial"/>
                <a:cs typeface="Arial"/>
              </a:rPr>
              <a:t>MySQL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table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partitioning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5" dirty="0">
                <a:solidFill>
                  <a:srgbClr val="FCE589"/>
                </a:solidFill>
                <a:latin typeface="Arial"/>
                <a:cs typeface="Arial"/>
              </a:rPr>
              <a:t>DDL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journal_lines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table.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Partition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by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20" dirty="0">
                <a:solidFill>
                  <a:srgbClr val="FCE589"/>
                </a:solidFill>
                <a:latin typeface="Arial"/>
                <a:cs typeface="Arial"/>
              </a:rPr>
              <a:t>RANGE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on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YEAR(created_at)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years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2023-2028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plus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catch-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all.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Show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how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monthly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P&amp;L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query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automatically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uses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partition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pruning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to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scan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only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1/5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of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data."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226947"/>
            <a:ext cx="4534535" cy="2586355"/>
            <a:chOff x="242646" y="2226947"/>
            <a:chExt cx="4534535" cy="258635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226947"/>
              <a:ext cx="4534204" cy="258589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0040" y="2304366"/>
              <a:ext cx="4343400" cy="2395855"/>
            </a:xfrm>
            <a:custGeom>
              <a:avLst/>
              <a:gdLst/>
              <a:ahLst/>
              <a:cxnLst/>
              <a:rect l="l" t="t" r="r" b="b"/>
              <a:pathLst>
                <a:path w="4343400" h="2395854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40"/>
                  </a:lnTo>
                  <a:lnTo>
                    <a:pt x="0" y="2304351"/>
                  </a:lnTo>
                  <a:lnTo>
                    <a:pt x="6863" y="2338925"/>
                  </a:lnTo>
                  <a:lnTo>
                    <a:pt x="6986" y="2339286"/>
                  </a:lnTo>
                  <a:lnTo>
                    <a:pt x="35676" y="2376960"/>
                  </a:lnTo>
                  <a:lnTo>
                    <a:pt x="79434" y="2394993"/>
                  </a:lnTo>
                  <a:lnTo>
                    <a:pt x="91439" y="2395791"/>
                  </a:lnTo>
                  <a:lnTo>
                    <a:pt x="4251960" y="2395435"/>
                  </a:lnTo>
                  <a:lnTo>
                    <a:pt x="4297680" y="2383193"/>
                  </a:lnTo>
                  <a:lnTo>
                    <a:pt x="4331157" y="2349715"/>
                  </a:lnTo>
                  <a:lnTo>
                    <a:pt x="4340127" y="2328025"/>
                  </a:lnTo>
                  <a:lnTo>
                    <a:pt x="4340250" y="2327665"/>
                  </a:lnTo>
                  <a:lnTo>
                    <a:pt x="4342529" y="2316358"/>
                  </a:lnTo>
                  <a:lnTo>
                    <a:pt x="4342601" y="2316000"/>
                  </a:lnTo>
                  <a:lnTo>
                    <a:pt x="4343376" y="2304351"/>
                  </a:lnTo>
                  <a:lnTo>
                    <a:pt x="4343044" y="91440"/>
                  </a:lnTo>
                  <a:lnTo>
                    <a:pt x="4330801" y="45720"/>
                  </a:lnTo>
                  <a:lnTo>
                    <a:pt x="4297324" y="12230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40" y="2304366"/>
              <a:ext cx="4343400" cy="2395855"/>
            </a:xfrm>
            <a:custGeom>
              <a:avLst/>
              <a:gdLst/>
              <a:ahLst/>
              <a:cxnLst/>
              <a:rect l="l" t="t" r="r" b="b"/>
              <a:pathLst>
                <a:path w="4343400" h="2395854">
                  <a:moveTo>
                    <a:pt x="0" y="91440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30"/>
                  </a:lnTo>
                  <a:lnTo>
                    <a:pt x="4330801" y="45720"/>
                  </a:lnTo>
                  <a:lnTo>
                    <a:pt x="4343044" y="91440"/>
                  </a:lnTo>
                  <a:lnTo>
                    <a:pt x="4343400" y="2303995"/>
                  </a:lnTo>
                  <a:lnTo>
                    <a:pt x="4342601" y="2316000"/>
                  </a:lnTo>
                  <a:lnTo>
                    <a:pt x="4340250" y="2327665"/>
                  </a:lnTo>
                  <a:lnTo>
                    <a:pt x="4316718" y="2368754"/>
                  </a:lnTo>
                  <a:lnTo>
                    <a:pt x="4275629" y="2392286"/>
                  </a:lnTo>
                  <a:lnTo>
                    <a:pt x="91439" y="2395791"/>
                  </a:lnTo>
                  <a:lnTo>
                    <a:pt x="45720" y="2383561"/>
                  </a:lnTo>
                  <a:lnTo>
                    <a:pt x="12242" y="2350071"/>
                  </a:lnTo>
                  <a:lnTo>
                    <a:pt x="0" y="2304351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292680"/>
            <a:ext cx="2879090" cy="145986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SQL /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 Config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ALTER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TABLE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journal_lines</a:t>
            </a:r>
            <a:endParaRPr sz="800">
              <a:latin typeface="Courier New"/>
              <a:cs typeface="Courier New"/>
            </a:endParaRPr>
          </a:p>
          <a:p>
            <a:pPr marL="135890" marR="5080" indent="-12382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PARTITION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BY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RANGE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(YEAR(created_at))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(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PARTITION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p2023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VALUES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LESS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THAN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(2024),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PARTITION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p2024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VALUES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LESS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THAN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(2025),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PARTITION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p2025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VALUES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LESS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THAN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(2026),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PARTITION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p2026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VALUES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LESS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THAN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(2027),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PARTITION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p2027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VALUES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LESS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THAN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(2028),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PARTITION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p_future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VALUES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LESS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THAN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MAXVALUE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140" y="4850906"/>
            <a:ext cx="2135505" cy="275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SELECT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PARTITION_NAME,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TABLE_ROWS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information_schema.PARTITIONS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768926" y="1038227"/>
            <a:ext cx="4168775" cy="3775075"/>
            <a:chOff x="4768926" y="1038227"/>
            <a:chExt cx="4168775" cy="377507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8227"/>
              <a:ext cx="4168444" cy="377497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475088"/>
                  </a:lnTo>
                  <a:lnTo>
                    <a:pt x="939" y="3489511"/>
                  </a:lnTo>
                  <a:lnTo>
                    <a:pt x="14757" y="3530168"/>
                  </a:lnTo>
                  <a:lnTo>
                    <a:pt x="43003" y="3562109"/>
                  </a:lnTo>
                  <a:lnTo>
                    <a:pt x="81359" y="3581144"/>
                  </a:lnTo>
                  <a:lnTo>
                    <a:pt x="109791" y="3584879"/>
                  </a:lnTo>
                  <a:lnTo>
                    <a:pt x="3868191" y="3584879"/>
                  </a:lnTo>
                  <a:lnTo>
                    <a:pt x="3910262" y="3576526"/>
                  </a:lnTo>
                  <a:lnTo>
                    <a:pt x="3945764" y="3552712"/>
                  </a:lnTo>
                  <a:lnTo>
                    <a:pt x="3969565" y="3517152"/>
                  </a:lnTo>
                  <a:lnTo>
                    <a:pt x="3977995" y="3475088"/>
                  </a:lnTo>
                  <a:lnTo>
                    <a:pt x="3977972" y="109804"/>
                  </a:lnTo>
                  <a:lnTo>
                    <a:pt x="3969642" y="68095"/>
                  </a:lnTo>
                  <a:lnTo>
                    <a:pt x="3945772" y="32535"/>
                  </a:lnTo>
                  <a:lnTo>
                    <a:pt x="3910112" y="8721"/>
                  </a:lnTo>
                  <a:lnTo>
                    <a:pt x="38681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68"/>
                  </a:lnTo>
                  <a:lnTo>
                    <a:pt x="3910112" y="8721"/>
                  </a:lnTo>
                  <a:lnTo>
                    <a:pt x="3945772" y="32535"/>
                  </a:lnTo>
                  <a:lnTo>
                    <a:pt x="3969642" y="68095"/>
                  </a:lnTo>
                  <a:lnTo>
                    <a:pt x="3977995" y="110159"/>
                  </a:lnTo>
                  <a:lnTo>
                    <a:pt x="3977995" y="3475088"/>
                  </a:lnTo>
                  <a:lnTo>
                    <a:pt x="3977055" y="3489505"/>
                  </a:lnTo>
                  <a:lnTo>
                    <a:pt x="3974260" y="3503520"/>
                  </a:lnTo>
                  <a:lnTo>
                    <a:pt x="3955218" y="3541876"/>
                  </a:lnTo>
                  <a:lnTo>
                    <a:pt x="3923271" y="3570122"/>
                  </a:lnTo>
                  <a:lnTo>
                    <a:pt x="3882621" y="3583940"/>
                  </a:lnTo>
                  <a:lnTo>
                    <a:pt x="3868191" y="3584879"/>
                  </a:lnTo>
                  <a:lnTo>
                    <a:pt x="109791" y="3584879"/>
                  </a:lnTo>
                  <a:lnTo>
                    <a:pt x="67882" y="3576526"/>
                  </a:lnTo>
                  <a:lnTo>
                    <a:pt x="32213" y="3552712"/>
                  </a:lnTo>
                  <a:lnTo>
                    <a:pt x="8352" y="3517152"/>
                  </a:lnTo>
                  <a:lnTo>
                    <a:pt x="0" y="3475088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70424" y="1167538"/>
            <a:ext cx="144462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055E45"/>
                </a:solidFill>
                <a:latin typeface="MingLiU_HKSCS-ExtB"/>
                <a:cs typeface="MingLiU_HKSCS-ExtB"/>
              </a:rPr>
              <a:t>📈</a:t>
            </a:r>
            <a:r>
              <a:rPr sz="1300" spc="-265" dirty="0">
                <a:solidFill>
                  <a:srgbClr val="055E45"/>
                </a:solidFill>
                <a:latin typeface="MingLiU_HKSCS-ExtB"/>
                <a:cs typeface="MingLiU_HKSCS-ExtB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Performance</a:t>
            </a:r>
            <a:r>
              <a:rPr sz="1100" b="1" spc="1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Impact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70424" y="1568782"/>
            <a:ext cx="357377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One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well-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placed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index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can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turn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3-second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dashboard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into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sub-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100ms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real-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time</a:t>
            </a:r>
            <a:r>
              <a:rPr sz="900" spc="-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view.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976405" y="2050328"/>
            <a:ext cx="3670935" cy="342265"/>
            <a:chOff x="4976405" y="2050328"/>
            <a:chExt cx="3670935" cy="342265"/>
          </a:xfrm>
        </p:grpSpPr>
        <p:sp>
          <p:nvSpPr>
            <p:cNvPr id="25" name="object 25"/>
            <p:cNvSpPr/>
            <p:nvPr/>
          </p:nvSpPr>
          <p:spPr>
            <a:xfrm>
              <a:off x="4982755" y="2056678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64"/>
                  </a:lnTo>
                  <a:lnTo>
                    <a:pt x="2524" y="47520"/>
                  </a:lnTo>
                  <a:lnTo>
                    <a:pt x="0" y="265328"/>
                  </a:lnTo>
                  <a:lnTo>
                    <a:pt x="540" y="273670"/>
                  </a:lnTo>
                  <a:lnTo>
                    <a:pt x="18739" y="310546"/>
                  </a:lnTo>
                  <a:lnTo>
                    <a:pt x="18859" y="310684"/>
                  </a:lnTo>
                  <a:lnTo>
                    <a:pt x="55734" y="328861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2"/>
                  </a:lnTo>
                  <a:lnTo>
                    <a:pt x="3655806" y="281881"/>
                  </a:lnTo>
                  <a:lnTo>
                    <a:pt x="3657968" y="265328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24"/>
                  </a:lnTo>
                  <a:lnTo>
                    <a:pt x="3593884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82755" y="2056678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64"/>
                  </a:lnTo>
                  <a:lnTo>
                    <a:pt x="64439" y="0"/>
                  </a:lnTo>
                  <a:lnTo>
                    <a:pt x="3593884" y="368"/>
                  </a:lnTo>
                  <a:lnTo>
                    <a:pt x="3632871" y="13570"/>
                  </a:lnTo>
                  <a:lnTo>
                    <a:pt x="3655806" y="47885"/>
                  </a:lnTo>
                  <a:lnTo>
                    <a:pt x="3657968" y="64439"/>
                  </a:lnTo>
                  <a:lnTo>
                    <a:pt x="3657968" y="265328"/>
                  </a:lnTo>
                  <a:lnTo>
                    <a:pt x="3657427" y="273670"/>
                  </a:lnTo>
                  <a:lnTo>
                    <a:pt x="3655806" y="281881"/>
                  </a:lnTo>
                  <a:lnTo>
                    <a:pt x="3632921" y="316042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7"/>
                  </a:lnTo>
                  <a:lnTo>
                    <a:pt x="2162" y="281881"/>
                  </a:lnTo>
                  <a:lnTo>
                    <a:pt x="0" y="265328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089220" y="2144066"/>
            <a:ext cx="5238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P&amp;L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Report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71855" y="2144066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2.8s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0.04s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23860" y="2148016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70×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976405" y="2434452"/>
            <a:ext cx="3670935" cy="342265"/>
            <a:chOff x="4976405" y="2434452"/>
            <a:chExt cx="3670935" cy="342265"/>
          </a:xfrm>
        </p:grpSpPr>
        <p:sp>
          <p:nvSpPr>
            <p:cNvPr id="31" name="object 31"/>
            <p:cNvSpPr/>
            <p:nvPr/>
          </p:nvSpPr>
          <p:spPr>
            <a:xfrm>
              <a:off x="4982755" y="244080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265315"/>
                  </a:lnTo>
                  <a:lnTo>
                    <a:pt x="540" y="273665"/>
                  </a:lnTo>
                  <a:lnTo>
                    <a:pt x="18743" y="310546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2"/>
                  </a:lnTo>
                  <a:lnTo>
                    <a:pt x="3655806" y="281879"/>
                  </a:lnTo>
                  <a:lnTo>
                    <a:pt x="3657968" y="265315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82755" y="244080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70"/>
                  </a:lnTo>
                  <a:lnTo>
                    <a:pt x="3655806" y="47880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5"/>
                  </a:lnTo>
                  <a:lnTo>
                    <a:pt x="3655806" y="281879"/>
                  </a:lnTo>
                  <a:lnTo>
                    <a:pt x="3632921" y="316042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2"/>
                  </a:lnTo>
                  <a:lnTo>
                    <a:pt x="2162" y="281879"/>
                  </a:lnTo>
                  <a:lnTo>
                    <a:pt x="0" y="265315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089220" y="2528178"/>
            <a:ext cx="7543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Budget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vs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Actual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771855" y="2528178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1.8s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0.04s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923860" y="2532140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45×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976405" y="2818576"/>
            <a:ext cx="3670935" cy="342265"/>
            <a:chOff x="4976405" y="2818576"/>
            <a:chExt cx="3670935" cy="342265"/>
          </a:xfrm>
        </p:grpSpPr>
        <p:sp>
          <p:nvSpPr>
            <p:cNvPr id="37" name="object 37"/>
            <p:cNvSpPr/>
            <p:nvPr/>
          </p:nvSpPr>
          <p:spPr>
            <a:xfrm>
              <a:off x="4982755" y="282492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265315"/>
                  </a:lnTo>
                  <a:lnTo>
                    <a:pt x="540" y="273663"/>
                  </a:lnTo>
                  <a:lnTo>
                    <a:pt x="18743" y="310540"/>
                  </a:lnTo>
                  <a:lnTo>
                    <a:pt x="18859" y="310673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35"/>
                  </a:lnTo>
                  <a:lnTo>
                    <a:pt x="3655806" y="281874"/>
                  </a:lnTo>
                  <a:lnTo>
                    <a:pt x="3657968" y="265315"/>
                  </a:lnTo>
                  <a:lnTo>
                    <a:pt x="3657944" y="64071"/>
                  </a:lnTo>
                  <a:lnTo>
                    <a:pt x="3644603" y="25397"/>
                  </a:lnTo>
                  <a:lnTo>
                    <a:pt x="3610443" y="2516"/>
                  </a:lnTo>
                  <a:lnTo>
                    <a:pt x="3593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82755" y="282492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63"/>
                  </a:lnTo>
                  <a:lnTo>
                    <a:pt x="3655806" y="47875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3"/>
                  </a:lnTo>
                  <a:lnTo>
                    <a:pt x="3655806" y="281874"/>
                  </a:lnTo>
                  <a:lnTo>
                    <a:pt x="3632921" y="316035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85"/>
                  </a:lnTo>
                  <a:lnTo>
                    <a:pt x="2162" y="281874"/>
                  </a:lnTo>
                  <a:lnTo>
                    <a:pt x="0" y="265315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089220" y="2912302"/>
            <a:ext cx="64262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Balance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Sheet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771855" y="2912302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3.2s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0.08s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923860" y="2916252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40×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976405" y="3202332"/>
            <a:ext cx="3670935" cy="342265"/>
            <a:chOff x="4976405" y="3202332"/>
            <a:chExt cx="3670935" cy="342265"/>
          </a:xfrm>
        </p:grpSpPr>
        <p:sp>
          <p:nvSpPr>
            <p:cNvPr id="43" name="object 43"/>
            <p:cNvSpPr/>
            <p:nvPr/>
          </p:nvSpPr>
          <p:spPr>
            <a:xfrm>
              <a:off x="4982755" y="320868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265315"/>
                  </a:lnTo>
                  <a:lnTo>
                    <a:pt x="540" y="273665"/>
                  </a:lnTo>
                  <a:lnTo>
                    <a:pt x="18743" y="310541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0"/>
                  </a:lnTo>
                  <a:lnTo>
                    <a:pt x="3655806" y="281879"/>
                  </a:lnTo>
                  <a:lnTo>
                    <a:pt x="3657968" y="265315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82755" y="320868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70"/>
                  </a:lnTo>
                  <a:lnTo>
                    <a:pt x="3655806" y="47880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5"/>
                  </a:lnTo>
                  <a:lnTo>
                    <a:pt x="3655806" y="281879"/>
                  </a:lnTo>
                  <a:lnTo>
                    <a:pt x="3632921" y="316040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0"/>
                  </a:lnTo>
                  <a:lnTo>
                    <a:pt x="2162" y="281879"/>
                  </a:lnTo>
                  <a:lnTo>
                    <a:pt x="0" y="265315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089220" y="3296058"/>
            <a:ext cx="57721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Trial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Balance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771855" y="3296058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1.4s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0.06s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923860" y="3300021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23×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976405" y="3586456"/>
            <a:ext cx="3670935" cy="342265"/>
            <a:chOff x="4976405" y="3586456"/>
            <a:chExt cx="3670935" cy="342265"/>
          </a:xfrm>
        </p:grpSpPr>
        <p:sp>
          <p:nvSpPr>
            <p:cNvPr id="49" name="object 49"/>
            <p:cNvSpPr/>
            <p:nvPr/>
          </p:nvSpPr>
          <p:spPr>
            <a:xfrm>
              <a:off x="4982755" y="359280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2"/>
                  </a:lnTo>
                  <a:lnTo>
                    <a:pt x="2524" y="47517"/>
                  </a:lnTo>
                  <a:lnTo>
                    <a:pt x="0" y="265315"/>
                  </a:lnTo>
                  <a:lnTo>
                    <a:pt x="540" y="273663"/>
                  </a:lnTo>
                  <a:lnTo>
                    <a:pt x="18743" y="310540"/>
                  </a:lnTo>
                  <a:lnTo>
                    <a:pt x="18859" y="310673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35"/>
                  </a:lnTo>
                  <a:lnTo>
                    <a:pt x="3655806" y="281874"/>
                  </a:lnTo>
                  <a:lnTo>
                    <a:pt x="3657968" y="265315"/>
                  </a:lnTo>
                  <a:lnTo>
                    <a:pt x="3657944" y="64071"/>
                  </a:lnTo>
                  <a:lnTo>
                    <a:pt x="3644603" y="25395"/>
                  </a:lnTo>
                  <a:lnTo>
                    <a:pt x="3610443" y="2516"/>
                  </a:lnTo>
                  <a:lnTo>
                    <a:pt x="3593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982755" y="359280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2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57"/>
                  </a:lnTo>
                  <a:lnTo>
                    <a:pt x="3655806" y="47875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3"/>
                  </a:lnTo>
                  <a:lnTo>
                    <a:pt x="3655806" y="281874"/>
                  </a:lnTo>
                  <a:lnTo>
                    <a:pt x="3632921" y="316035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85"/>
                  </a:lnTo>
                  <a:lnTo>
                    <a:pt x="2162" y="281874"/>
                  </a:lnTo>
                  <a:lnTo>
                    <a:pt x="0" y="265315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089220" y="3680182"/>
            <a:ext cx="5346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Bank</a:t>
            </a:r>
            <a:r>
              <a:rPr sz="850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Recon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771855" y="3680182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0.9s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0.02s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923860" y="3684132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45×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55" name="object 55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97040" y="3851543"/>
            <a:ext cx="6050915" cy="1075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EXPLAIN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with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partition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pruning:</a:t>
            </a:r>
            <a:endParaRPr sz="800">
              <a:latin typeface="Courier New"/>
              <a:cs typeface="Courier New"/>
            </a:endParaRPr>
          </a:p>
          <a:p>
            <a:pPr marL="50800" marR="363474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EXPLAIN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SELECT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...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WHERE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je.date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BETWEEN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'2024-01-01'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AND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'2024-12-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31';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800">
              <a:latin typeface="Courier New"/>
              <a:cs typeface="Courier New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partitions: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p2024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←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only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1/5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of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data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scanned!</a:t>
            </a:r>
            <a:endParaRPr sz="800">
              <a:latin typeface="Courier New"/>
              <a:cs typeface="Courier New"/>
            </a:endParaRPr>
          </a:p>
          <a:p>
            <a:pPr marL="50800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rows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examined: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420,000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→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84,000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(80%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reduction)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800">
              <a:latin typeface="Courier New"/>
              <a:cs typeface="Courier New"/>
            </a:endParaRPr>
          </a:p>
          <a:p>
            <a:pPr marL="50800">
              <a:lnSpc>
                <a:spcPct val="100000"/>
              </a:lnSpc>
            </a:pPr>
            <a:r>
              <a:rPr sz="1200" spc="-622" baseline="24305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1100" spc="-73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200" spc="44" baseline="24305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1200" spc="60" baseline="243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1200" spc="-419" baseline="24305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950" spc="-305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300" baseline="24305" dirty="0">
                <a:solidFill>
                  <a:srgbClr val="E1E7EF"/>
                </a:solidFill>
                <a:latin typeface="Courier New"/>
                <a:cs typeface="Courier New"/>
              </a:rPr>
              <a:t>h</a:t>
            </a:r>
            <a:r>
              <a:rPr sz="950" spc="-320" dirty="0">
                <a:solidFill>
                  <a:srgbClr val="774409"/>
                </a:solidFill>
                <a:latin typeface="Calibri"/>
                <a:cs typeface="Calibri"/>
              </a:rPr>
              <a:t>B</a:t>
            </a:r>
            <a:r>
              <a:rPr sz="1200" spc="-22" baseline="24305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1200" spc="-652" baseline="24305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750" baseline="24305" dirty="0">
                <a:solidFill>
                  <a:srgbClr val="E1E7EF"/>
                </a:solidFill>
                <a:latin typeface="Courier New"/>
                <a:cs typeface="Courier New"/>
              </a:rPr>
              <a:t>k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1200" spc="-405" baseline="24305" dirty="0">
                <a:solidFill>
                  <a:srgbClr val="E1E7EF"/>
                </a:solidFill>
                <a:latin typeface="Courier New"/>
                <a:cs typeface="Courier New"/>
              </a:rPr>
              <a:t>p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457" baseline="24305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442" baseline="24305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104" baseline="24305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157" baseline="24305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114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1200" spc="-555" baseline="24305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950" spc="-4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652" baseline="24305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29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315" baseline="24305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295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292" baseline="24305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950" spc="-185" dirty="0">
                <a:solidFill>
                  <a:srgbClr val="774409"/>
                </a:solidFill>
                <a:latin typeface="Calibri"/>
                <a:cs typeface="Calibri"/>
              </a:rPr>
              <a:t>x</a:t>
            </a:r>
            <a:r>
              <a:rPr sz="1200" spc="-502" baseline="24305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4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540" baseline="24305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382" baseline="24305" dirty="0">
                <a:solidFill>
                  <a:srgbClr val="E1E7EF"/>
                </a:solidFill>
                <a:latin typeface="Courier New"/>
                <a:cs typeface="Courier New"/>
              </a:rPr>
              <a:t>z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46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7" baseline="24305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1200" spc="-457" baseline="24305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520" dirty="0">
                <a:solidFill>
                  <a:srgbClr val="774409"/>
                </a:solidFill>
                <a:latin typeface="Calibri"/>
                <a:cs typeface="Calibri"/>
              </a:rPr>
              <a:t>h</a:t>
            </a:r>
            <a:r>
              <a:rPr sz="1200" spc="22" baseline="24305" dirty="0">
                <a:solidFill>
                  <a:srgbClr val="E1E7EF"/>
                </a:solidFill>
                <a:latin typeface="Courier New"/>
                <a:cs typeface="Courier New"/>
              </a:rPr>
              <a:t>: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initial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migration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retrofitting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indexes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on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 live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10M-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row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table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requires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careful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planning.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60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091D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Redis</a:t>
            </a:r>
            <a:r>
              <a:rPr spc="-90" dirty="0"/>
              <a:t> </a:t>
            </a:r>
            <a:r>
              <a:rPr dirty="0"/>
              <a:t>Caching</a:t>
            </a:r>
            <a:r>
              <a:rPr spc="-85" dirty="0"/>
              <a:t> </a:t>
            </a:r>
            <a:r>
              <a:rPr spc="-10" dirty="0"/>
              <a:t>Strategy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5336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Cache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financial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reports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with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Spring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95" dirty="0">
                <a:solidFill>
                  <a:srgbClr val="9FBFFF"/>
                </a:solidFill>
                <a:latin typeface="Arial"/>
                <a:cs typeface="Arial"/>
              </a:rPr>
              <a:t>Cache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95" dirty="0">
                <a:solidFill>
                  <a:srgbClr val="9FBFFF"/>
                </a:solidFill>
                <a:latin typeface="Arial"/>
                <a:cs typeface="Arial"/>
              </a:rPr>
              <a:t>+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Redis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1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227"/>
            <a:ext cx="4534535" cy="1306195"/>
            <a:chOff x="242646" y="1038227"/>
            <a:chExt cx="4534535" cy="13061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34204" cy="1306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0040" y="1115646"/>
              <a:ext cx="4343400" cy="1115695"/>
            </a:xfrm>
            <a:custGeom>
              <a:avLst/>
              <a:gdLst/>
              <a:ahLst/>
              <a:cxnLst/>
              <a:rect l="l" t="t" r="r" b="b"/>
              <a:pathLst>
                <a:path w="4343400" h="1115695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24191"/>
                  </a:lnTo>
                  <a:lnTo>
                    <a:pt x="774" y="1035840"/>
                  </a:lnTo>
                  <a:lnTo>
                    <a:pt x="798" y="1036198"/>
                  </a:lnTo>
                  <a:lnTo>
                    <a:pt x="3076" y="1047505"/>
                  </a:lnTo>
                  <a:lnTo>
                    <a:pt x="3149" y="1047865"/>
                  </a:lnTo>
                  <a:lnTo>
                    <a:pt x="6863" y="1058765"/>
                  </a:lnTo>
                  <a:lnTo>
                    <a:pt x="35676" y="1096800"/>
                  </a:lnTo>
                  <a:lnTo>
                    <a:pt x="79434" y="1114833"/>
                  </a:lnTo>
                  <a:lnTo>
                    <a:pt x="91439" y="1115631"/>
                  </a:lnTo>
                  <a:lnTo>
                    <a:pt x="4251960" y="1115275"/>
                  </a:lnTo>
                  <a:lnTo>
                    <a:pt x="4297680" y="1103033"/>
                  </a:lnTo>
                  <a:lnTo>
                    <a:pt x="4331157" y="1069555"/>
                  </a:lnTo>
                  <a:lnTo>
                    <a:pt x="4340127" y="1047865"/>
                  </a:lnTo>
                  <a:lnTo>
                    <a:pt x="4340250" y="1047505"/>
                  </a:lnTo>
                  <a:lnTo>
                    <a:pt x="4342529" y="1036198"/>
                  </a:lnTo>
                  <a:lnTo>
                    <a:pt x="4342601" y="1035840"/>
                  </a:lnTo>
                  <a:lnTo>
                    <a:pt x="4343376" y="1024191"/>
                  </a:lnTo>
                  <a:lnTo>
                    <a:pt x="4343044" y="91439"/>
                  </a:lnTo>
                  <a:lnTo>
                    <a:pt x="4330801" y="45720"/>
                  </a:lnTo>
                  <a:lnTo>
                    <a:pt x="4297324" y="12230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1115646"/>
              <a:ext cx="4343400" cy="1115695"/>
            </a:xfrm>
            <a:custGeom>
              <a:avLst/>
              <a:gdLst/>
              <a:ahLst/>
              <a:cxnLst/>
              <a:rect l="l" t="t" r="r" b="b"/>
              <a:pathLst>
                <a:path w="4343400" h="1115695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30"/>
                  </a:lnTo>
                  <a:lnTo>
                    <a:pt x="4330801" y="45720"/>
                  </a:lnTo>
                  <a:lnTo>
                    <a:pt x="4343044" y="91439"/>
                  </a:lnTo>
                  <a:lnTo>
                    <a:pt x="4343400" y="1023835"/>
                  </a:lnTo>
                  <a:lnTo>
                    <a:pt x="4342601" y="1035840"/>
                  </a:lnTo>
                  <a:lnTo>
                    <a:pt x="4340250" y="1047505"/>
                  </a:lnTo>
                  <a:lnTo>
                    <a:pt x="4316718" y="1088594"/>
                  </a:lnTo>
                  <a:lnTo>
                    <a:pt x="4275629" y="1112126"/>
                  </a:lnTo>
                  <a:lnTo>
                    <a:pt x="91439" y="1115631"/>
                  </a:lnTo>
                  <a:lnTo>
                    <a:pt x="45720" y="1103401"/>
                  </a:lnTo>
                  <a:lnTo>
                    <a:pt x="12242" y="1069911"/>
                  </a:lnTo>
                  <a:lnTo>
                    <a:pt x="0" y="1024191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4048125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0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DB</a:t>
            </a:r>
            <a:r>
              <a:rPr sz="850" b="1" spc="1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Optimisation</a:t>
            </a:r>
            <a:r>
              <a:rPr sz="850" b="1" spc="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"Design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implement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Redis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caching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strategy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reports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using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Spring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Cache.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Cache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5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most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expensive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reports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appropriate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0" dirty="0">
                <a:solidFill>
                  <a:srgbClr val="FCE589"/>
                </a:solidFill>
                <a:latin typeface="Arial"/>
                <a:cs typeface="Arial"/>
              </a:rPr>
              <a:t>TTLs.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Include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cache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invalidation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when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new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journal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entries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are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posted.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Generate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CacheConfig.java,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@Cacheable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annotations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on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service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methods,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cache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key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strategy."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226947"/>
            <a:ext cx="4534535" cy="2586355"/>
            <a:chOff x="242646" y="2226947"/>
            <a:chExt cx="4534535" cy="258635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226947"/>
              <a:ext cx="4534204" cy="258589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0040" y="2304366"/>
              <a:ext cx="4343400" cy="2395855"/>
            </a:xfrm>
            <a:custGeom>
              <a:avLst/>
              <a:gdLst/>
              <a:ahLst/>
              <a:cxnLst/>
              <a:rect l="l" t="t" r="r" b="b"/>
              <a:pathLst>
                <a:path w="4343400" h="2395854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40"/>
                  </a:lnTo>
                  <a:lnTo>
                    <a:pt x="0" y="2304351"/>
                  </a:lnTo>
                  <a:lnTo>
                    <a:pt x="6863" y="2338925"/>
                  </a:lnTo>
                  <a:lnTo>
                    <a:pt x="6986" y="2339286"/>
                  </a:lnTo>
                  <a:lnTo>
                    <a:pt x="35676" y="2376960"/>
                  </a:lnTo>
                  <a:lnTo>
                    <a:pt x="79434" y="2394993"/>
                  </a:lnTo>
                  <a:lnTo>
                    <a:pt x="91439" y="2395791"/>
                  </a:lnTo>
                  <a:lnTo>
                    <a:pt x="4251960" y="2395435"/>
                  </a:lnTo>
                  <a:lnTo>
                    <a:pt x="4297680" y="2383193"/>
                  </a:lnTo>
                  <a:lnTo>
                    <a:pt x="4331157" y="2349715"/>
                  </a:lnTo>
                  <a:lnTo>
                    <a:pt x="4340127" y="2328025"/>
                  </a:lnTo>
                  <a:lnTo>
                    <a:pt x="4340250" y="2327665"/>
                  </a:lnTo>
                  <a:lnTo>
                    <a:pt x="4342529" y="2316358"/>
                  </a:lnTo>
                  <a:lnTo>
                    <a:pt x="4342601" y="2316000"/>
                  </a:lnTo>
                  <a:lnTo>
                    <a:pt x="4343376" y="2304351"/>
                  </a:lnTo>
                  <a:lnTo>
                    <a:pt x="4343044" y="91440"/>
                  </a:lnTo>
                  <a:lnTo>
                    <a:pt x="4330801" y="45720"/>
                  </a:lnTo>
                  <a:lnTo>
                    <a:pt x="4297324" y="12230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40" y="2304366"/>
              <a:ext cx="4343400" cy="2395855"/>
            </a:xfrm>
            <a:custGeom>
              <a:avLst/>
              <a:gdLst/>
              <a:ahLst/>
              <a:cxnLst/>
              <a:rect l="l" t="t" r="r" b="b"/>
              <a:pathLst>
                <a:path w="4343400" h="2395854">
                  <a:moveTo>
                    <a:pt x="0" y="91440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30"/>
                  </a:lnTo>
                  <a:lnTo>
                    <a:pt x="4330801" y="45720"/>
                  </a:lnTo>
                  <a:lnTo>
                    <a:pt x="4343044" y="91440"/>
                  </a:lnTo>
                  <a:lnTo>
                    <a:pt x="4343400" y="2303995"/>
                  </a:lnTo>
                  <a:lnTo>
                    <a:pt x="4342601" y="2316000"/>
                  </a:lnTo>
                  <a:lnTo>
                    <a:pt x="4340250" y="2327665"/>
                  </a:lnTo>
                  <a:lnTo>
                    <a:pt x="4316718" y="2368754"/>
                  </a:lnTo>
                  <a:lnTo>
                    <a:pt x="4275629" y="2392286"/>
                  </a:lnTo>
                  <a:lnTo>
                    <a:pt x="91439" y="2395791"/>
                  </a:lnTo>
                  <a:lnTo>
                    <a:pt x="45720" y="2383561"/>
                  </a:lnTo>
                  <a:lnTo>
                    <a:pt x="12242" y="2350071"/>
                  </a:lnTo>
                  <a:lnTo>
                    <a:pt x="0" y="2304351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292680"/>
            <a:ext cx="3128645" cy="120967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SQL /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 Config</a:t>
            </a:r>
            <a:endParaRPr sz="900">
              <a:latin typeface="Calibri"/>
              <a:cs typeface="Calibri"/>
            </a:endParaRPr>
          </a:p>
          <a:p>
            <a:pPr marL="12700" marR="1308735">
              <a:lnSpc>
                <a:spcPct val="102499"/>
              </a:lnSpc>
              <a:spcBef>
                <a:spcPts val="50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@Configuration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@EnableCaching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class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CacheConfig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@Bean</a:t>
            </a:r>
            <a:endParaRPr sz="800">
              <a:latin typeface="Courier New"/>
              <a:cs typeface="Courier New"/>
            </a:endParaRPr>
          </a:p>
          <a:p>
            <a:pPr marL="384175" marR="626745" indent="-24892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RedisCacheManager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cacheManager(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RedisConnectionFactory</a:t>
            </a:r>
            <a:r>
              <a:rPr sz="800" spc="1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factory)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384175" marR="5080" indent="-12382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Map&lt;String,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RedisCacheConfiguration&gt;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configs</a:t>
            </a:r>
            <a:r>
              <a:rPr sz="800" spc="1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=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Map.of(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1938" y="3476779"/>
            <a:ext cx="1019175" cy="650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"profit-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loss",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"balance-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sheet",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"trial-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balance",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"budget-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actual",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"bank-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recon",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48062" y="3476779"/>
            <a:ext cx="1764030" cy="650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ttl(Duration.ofHours(1)), ttl(Duration.ofMinutes(30)), ttl(Duration.ofMinutes(15)), ttl(Duration.ofMinutes(15)), ttl(Duration.ofMinutes(5))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140" y="4850906"/>
            <a:ext cx="3065780" cy="275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On</a:t>
            </a:r>
            <a:r>
              <a:rPr sz="800" spc="1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AccountingService.postJournalEntry():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@CacheEvict(value={"profit-loss","balance-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sheet",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68926" y="1038227"/>
            <a:ext cx="4168775" cy="3775075"/>
            <a:chOff x="4768926" y="1038227"/>
            <a:chExt cx="4168775" cy="377507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8227"/>
              <a:ext cx="4168444" cy="377497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475088"/>
                  </a:lnTo>
                  <a:lnTo>
                    <a:pt x="939" y="3489511"/>
                  </a:lnTo>
                  <a:lnTo>
                    <a:pt x="14757" y="3530168"/>
                  </a:lnTo>
                  <a:lnTo>
                    <a:pt x="43003" y="3562109"/>
                  </a:lnTo>
                  <a:lnTo>
                    <a:pt x="81359" y="3581144"/>
                  </a:lnTo>
                  <a:lnTo>
                    <a:pt x="109791" y="3584879"/>
                  </a:lnTo>
                  <a:lnTo>
                    <a:pt x="3868191" y="3584879"/>
                  </a:lnTo>
                  <a:lnTo>
                    <a:pt x="3910262" y="3576526"/>
                  </a:lnTo>
                  <a:lnTo>
                    <a:pt x="3945764" y="3552712"/>
                  </a:lnTo>
                  <a:lnTo>
                    <a:pt x="3969565" y="3517152"/>
                  </a:lnTo>
                  <a:lnTo>
                    <a:pt x="3977995" y="3475088"/>
                  </a:lnTo>
                  <a:lnTo>
                    <a:pt x="3977972" y="109804"/>
                  </a:lnTo>
                  <a:lnTo>
                    <a:pt x="3969642" y="68095"/>
                  </a:lnTo>
                  <a:lnTo>
                    <a:pt x="3945772" y="32535"/>
                  </a:lnTo>
                  <a:lnTo>
                    <a:pt x="3910112" y="8721"/>
                  </a:lnTo>
                  <a:lnTo>
                    <a:pt x="38681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68"/>
                  </a:lnTo>
                  <a:lnTo>
                    <a:pt x="3910112" y="8721"/>
                  </a:lnTo>
                  <a:lnTo>
                    <a:pt x="3945772" y="32535"/>
                  </a:lnTo>
                  <a:lnTo>
                    <a:pt x="3969642" y="68095"/>
                  </a:lnTo>
                  <a:lnTo>
                    <a:pt x="3977995" y="110159"/>
                  </a:lnTo>
                  <a:lnTo>
                    <a:pt x="3977995" y="3475088"/>
                  </a:lnTo>
                  <a:lnTo>
                    <a:pt x="3977055" y="3489505"/>
                  </a:lnTo>
                  <a:lnTo>
                    <a:pt x="3974260" y="3503520"/>
                  </a:lnTo>
                  <a:lnTo>
                    <a:pt x="3955218" y="3541876"/>
                  </a:lnTo>
                  <a:lnTo>
                    <a:pt x="3923271" y="3570122"/>
                  </a:lnTo>
                  <a:lnTo>
                    <a:pt x="3882621" y="3583940"/>
                  </a:lnTo>
                  <a:lnTo>
                    <a:pt x="3868191" y="3584879"/>
                  </a:lnTo>
                  <a:lnTo>
                    <a:pt x="109791" y="3584879"/>
                  </a:lnTo>
                  <a:lnTo>
                    <a:pt x="67882" y="3576526"/>
                  </a:lnTo>
                  <a:lnTo>
                    <a:pt x="32213" y="3552712"/>
                  </a:lnTo>
                  <a:lnTo>
                    <a:pt x="8352" y="3517152"/>
                  </a:lnTo>
                  <a:lnTo>
                    <a:pt x="0" y="3475088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970424" y="1167538"/>
            <a:ext cx="144462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055E45"/>
                </a:solidFill>
                <a:latin typeface="MingLiU_HKSCS-ExtB"/>
                <a:cs typeface="MingLiU_HKSCS-ExtB"/>
              </a:rPr>
              <a:t>📈</a:t>
            </a:r>
            <a:r>
              <a:rPr sz="1300" spc="-265" dirty="0">
                <a:solidFill>
                  <a:srgbClr val="055E45"/>
                </a:solidFill>
                <a:latin typeface="MingLiU_HKSCS-ExtB"/>
                <a:cs typeface="MingLiU_HKSCS-ExtB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Performance</a:t>
            </a:r>
            <a:r>
              <a:rPr sz="1100" b="1" spc="1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Impact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70424" y="1568782"/>
            <a:ext cx="357377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One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well-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placed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index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can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turn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3-second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dashboard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into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sub-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100ms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real-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time</a:t>
            </a:r>
            <a:r>
              <a:rPr sz="900" spc="-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view.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976405" y="2050328"/>
            <a:ext cx="3670935" cy="342265"/>
            <a:chOff x="4976405" y="2050328"/>
            <a:chExt cx="3670935" cy="342265"/>
          </a:xfrm>
        </p:grpSpPr>
        <p:sp>
          <p:nvSpPr>
            <p:cNvPr id="27" name="object 27"/>
            <p:cNvSpPr/>
            <p:nvPr/>
          </p:nvSpPr>
          <p:spPr>
            <a:xfrm>
              <a:off x="4982755" y="2056678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64"/>
                  </a:lnTo>
                  <a:lnTo>
                    <a:pt x="2524" y="47520"/>
                  </a:lnTo>
                  <a:lnTo>
                    <a:pt x="0" y="265328"/>
                  </a:lnTo>
                  <a:lnTo>
                    <a:pt x="540" y="273670"/>
                  </a:lnTo>
                  <a:lnTo>
                    <a:pt x="18739" y="310546"/>
                  </a:lnTo>
                  <a:lnTo>
                    <a:pt x="18859" y="310684"/>
                  </a:lnTo>
                  <a:lnTo>
                    <a:pt x="55734" y="328861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2"/>
                  </a:lnTo>
                  <a:lnTo>
                    <a:pt x="3655806" y="281881"/>
                  </a:lnTo>
                  <a:lnTo>
                    <a:pt x="3657968" y="265328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24"/>
                  </a:lnTo>
                  <a:lnTo>
                    <a:pt x="3593884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82755" y="2056678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64"/>
                  </a:lnTo>
                  <a:lnTo>
                    <a:pt x="64439" y="0"/>
                  </a:lnTo>
                  <a:lnTo>
                    <a:pt x="3593884" y="368"/>
                  </a:lnTo>
                  <a:lnTo>
                    <a:pt x="3632871" y="13570"/>
                  </a:lnTo>
                  <a:lnTo>
                    <a:pt x="3655806" y="47885"/>
                  </a:lnTo>
                  <a:lnTo>
                    <a:pt x="3657968" y="64439"/>
                  </a:lnTo>
                  <a:lnTo>
                    <a:pt x="3657968" y="265328"/>
                  </a:lnTo>
                  <a:lnTo>
                    <a:pt x="3657427" y="273670"/>
                  </a:lnTo>
                  <a:lnTo>
                    <a:pt x="3655806" y="281881"/>
                  </a:lnTo>
                  <a:lnTo>
                    <a:pt x="3632921" y="316042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7"/>
                  </a:lnTo>
                  <a:lnTo>
                    <a:pt x="2162" y="281881"/>
                  </a:lnTo>
                  <a:lnTo>
                    <a:pt x="0" y="265328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089220" y="2144066"/>
            <a:ext cx="5238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P&amp;L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Report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71855" y="2144066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2.8s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0.04s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923860" y="2148016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70×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976405" y="2434452"/>
            <a:ext cx="3670935" cy="342265"/>
            <a:chOff x="4976405" y="2434452"/>
            <a:chExt cx="3670935" cy="342265"/>
          </a:xfrm>
        </p:grpSpPr>
        <p:sp>
          <p:nvSpPr>
            <p:cNvPr id="33" name="object 33"/>
            <p:cNvSpPr/>
            <p:nvPr/>
          </p:nvSpPr>
          <p:spPr>
            <a:xfrm>
              <a:off x="4982755" y="244080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265315"/>
                  </a:lnTo>
                  <a:lnTo>
                    <a:pt x="540" y="273665"/>
                  </a:lnTo>
                  <a:lnTo>
                    <a:pt x="18743" y="310546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2"/>
                  </a:lnTo>
                  <a:lnTo>
                    <a:pt x="3655806" y="281879"/>
                  </a:lnTo>
                  <a:lnTo>
                    <a:pt x="3657968" y="265315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982755" y="244080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70"/>
                  </a:lnTo>
                  <a:lnTo>
                    <a:pt x="3655806" y="47880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5"/>
                  </a:lnTo>
                  <a:lnTo>
                    <a:pt x="3655806" y="281879"/>
                  </a:lnTo>
                  <a:lnTo>
                    <a:pt x="3632921" y="316042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2"/>
                  </a:lnTo>
                  <a:lnTo>
                    <a:pt x="2162" y="281879"/>
                  </a:lnTo>
                  <a:lnTo>
                    <a:pt x="0" y="265315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089220" y="2528178"/>
            <a:ext cx="7543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Budget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vs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Actual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771855" y="2528178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1.8s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0.04s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923860" y="2532140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45×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976405" y="2818576"/>
            <a:ext cx="3670935" cy="342265"/>
            <a:chOff x="4976405" y="2818576"/>
            <a:chExt cx="3670935" cy="342265"/>
          </a:xfrm>
        </p:grpSpPr>
        <p:sp>
          <p:nvSpPr>
            <p:cNvPr id="39" name="object 39"/>
            <p:cNvSpPr/>
            <p:nvPr/>
          </p:nvSpPr>
          <p:spPr>
            <a:xfrm>
              <a:off x="4982755" y="282492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265315"/>
                  </a:lnTo>
                  <a:lnTo>
                    <a:pt x="540" y="273663"/>
                  </a:lnTo>
                  <a:lnTo>
                    <a:pt x="18743" y="310540"/>
                  </a:lnTo>
                  <a:lnTo>
                    <a:pt x="18859" y="310673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35"/>
                  </a:lnTo>
                  <a:lnTo>
                    <a:pt x="3655806" y="281874"/>
                  </a:lnTo>
                  <a:lnTo>
                    <a:pt x="3657968" y="265315"/>
                  </a:lnTo>
                  <a:lnTo>
                    <a:pt x="3657944" y="64071"/>
                  </a:lnTo>
                  <a:lnTo>
                    <a:pt x="3644603" y="25397"/>
                  </a:lnTo>
                  <a:lnTo>
                    <a:pt x="3610443" y="2516"/>
                  </a:lnTo>
                  <a:lnTo>
                    <a:pt x="3593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982755" y="282492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63"/>
                  </a:lnTo>
                  <a:lnTo>
                    <a:pt x="3655806" y="47875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3"/>
                  </a:lnTo>
                  <a:lnTo>
                    <a:pt x="3655806" y="281874"/>
                  </a:lnTo>
                  <a:lnTo>
                    <a:pt x="3632921" y="316035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85"/>
                  </a:lnTo>
                  <a:lnTo>
                    <a:pt x="2162" y="281874"/>
                  </a:lnTo>
                  <a:lnTo>
                    <a:pt x="0" y="265315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089220" y="2912302"/>
            <a:ext cx="64262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Balance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Sheet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771855" y="2912302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3.2s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0.08s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923860" y="2916252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40×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976405" y="3202332"/>
            <a:ext cx="3670935" cy="342265"/>
            <a:chOff x="4976405" y="3202332"/>
            <a:chExt cx="3670935" cy="342265"/>
          </a:xfrm>
        </p:grpSpPr>
        <p:sp>
          <p:nvSpPr>
            <p:cNvPr id="45" name="object 45"/>
            <p:cNvSpPr/>
            <p:nvPr/>
          </p:nvSpPr>
          <p:spPr>
            <a:xfrm>
              <a:off x="4982755" y="320868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265315"/>
                  </a:lnTo>
                  <a:lnTo>
                    <a:pt x="540" y="273665"/>
                  </a:lnTo>
                  <a:lnTo>
                    <a:pt x="18743" y="310541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0"/>
                  </a:lnTo>
                  <a:lnTo>
                    <a:pt x="3655806" y="281879"/>
                  </a:lnTo>
                  <a:lnTo>
                    <a:pt x="3657968" y="265315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982755" y="320868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70"/>
                  </a:lnTo>
                  <a:lnTo>
                    <a:pt x="3655806" y="47880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5"/>
                  </a:lnTo>
                  <a:lnTo>
                    <a:pt x="3655806" y="281879"/>
                  </a:lnTo>
                  <a:lnTo>
                    <a:pt x="3632921" y="316040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0"/>
                  </a:lnTo>
                  <a:lnTo>
                    <a:pt x="2162" y="281879"/>
                  </a:lnTo>
                  <a:lnTo>
                    <a:pt x="0" y="265315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089220" y="3296058"/>
            <a:ext cx="57721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Trial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Balance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771855" y="3296058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1.4s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0.06s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923860" y="3300021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23×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976405" y="3586456"/>
            <a:ext cx="3670935" cy="342265"/>
            <a:chOff x="4976405" y="3586456"/>
            <a:chExt cx="3670935" cy="342265"/>
          </a:xfrm>
        </p:grpSpPr>
        <p:sp>
          <p:nvSpPr>
            <p:cNvPr id="51" name="object 51"/>
            <p:cNvSpPr/>
            <p:nvPr/>
          </p:nvSpPr>
          <p:spPr>
            <a:xfrm>
              <a:off x="4982755" y="359280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2"/>
                  </a:lnTo>
                  <a:lnTo>
                    <a:pt x="2524" y="47517"/>
                  </a:lnTo>
                  <a:lnTo>
                    <a:pt x="0" y="265315"/>
                  </a:lnTo>
                  <a:lnTo>
                    <a:pt x="540" y="273663"/>
                  </a:lnTo>
                  <a:lnTo>
                    <a:pt x="18743" y="310540"/>
                  </a:lnTo>
                  <a:lnTo>
                    <a:pt x="18859" y="310673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35"/>
                  </a:lnTo>
                  <a:lnTo>
                    <a:pt x="3655806" y="281874"/>
                  </a:lnTo>
                  <a:lnTo>
                    <a:pt x="3657968" y="265315"/>
                  </a:lnTo>
                  <a:lnTo>
                    <a:pt x="3657944" y="64071"/>
                  </a:lnTo>
                  <a:lnTo>
                    <a:pt x="3644603" y="25395"/>
                  </a:lnTo>
                  <a:lnTo>
                    <a:pt x="3610443" y="2516"/>
                  </a:lnTo>
                  <a:lnTo>
                    <a:pt x="3593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82755" y="359280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2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57"/>
                  </a:lnTo>
                  <a:lnTo>
                    <a:pt x="3655806" y="47875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3"/>
                  </a:lnTo>
                  <a:lnTo>
                    <a:pt x="3655806" y="281874"/>
                  </a:lnTo>
                  <a:lnTo>
                    <a:pt x="3632921" y="316035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85"/>
                  </a:lnTo>
                  <a:lnTo>
                    <a:pt x="2162" y="281874"/>
                  </a:lnTo>
                  <a:lnTo>
                    <a:pt x="0" y="265315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089220" y="3680182"/>
            <a:ext cx="5346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Bank</a:t>
            </a:r>
            <a:r>
              <a:rPr sz="850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Recon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771855" y="3680182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0.9s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0.02s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923860" y="3684132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45×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57" name="object 57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35140" y="4101378"/>
            <a:ext cx="5974715" cy="8255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4175">
              <a:lnSpc>
                <a:spcPct val="100000"/>
              </a:lnSpc>
              <a:spcBef>
                <a:spcPts val="120"/>
              </a:spcBef>
            </a:pP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);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return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RedisCacheManager.builder(factory)</a:t>
            </a:r>
            <a:endParaRPr sz="800">
              <a:latin typeface="Courier New"/>
              <a:cs typeface="Courier New"/>
            </a:endParaRPr>
          </a:p>
          <a:p>
            <a:pPr marL="384175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.withInitialCacheConfigurations(configs).build();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  <a:p>
            <a:pPr marL="21590">
              <a:lnSpc>
                <a:spcPct val="100000"/>
              </a:lnSpc>
              <a:spcBef>
                <a:spcPts val="60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DB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Tip: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add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all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indexes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 in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initial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migration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retrofitting indexes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on a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live 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10M-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row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table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requires careful planning.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61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091D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Query</a:t>
            </a:r>
            <a:r>
              <a:rPr spc="-65" dirty="0"/>
              <a:t> </a:t>
            </a:r>
            <a:r>
              <a:rPr dirty="0"/>
              <a:t>Rewriting</a:t>
            </a:r>
            <a:r>
              <a:rPr spc="-65" dirty="0"/>
              <a:t> </a:t>
            </a:r>
            <a:r>
              <a:rPr dirty="0"/>
              <a:t>—</a:t>
            </a:r>
            <a:r>
              <a:rPr spc="-70" dirty="0"/>
              <a:t> </a:t>
            </a:r>
            <a:r>
              <a:rPr dirty="0"/>
              <a:t>Budget</a:t>
            </a:r>
            <a:r>
              <a:rPr spc="-65" dirty="0"/>
              <a:t> </a:t>
            </a:r>
            <a:r>
              <a:rPr dirty="0"/>
              <a:t>vs</a:t>
            </a:r>
            <a:r>
              <a:rPr spc="-65" dirty="0"/>
              <a:t> </a:t>
            </a:r>
            <a:r>
              <a:rPr spc="-10" dirty="0"/>
              <a:t>Actual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6384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85" dirty="0">
                <a:solidFill>
                  <a:srgbClr val="9FBFFF"/>
                </a:solidFill>
                <a:latin typeface="Arial"/>
                <a:cs typeface="Arial"/>
              </a:rPr>
              <a:t>N+1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correlated</a:t>
            </a:r>
            <a:r>
              <a:rPr sz="1000" i="1" spc="-1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Arial"/>
                <a:cs typeface="Arial"/>
              </a:rPr>
              <a:t>subquery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→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single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14" dirty="0">
                <a:solidFill>
                  <a:srgbClr val="9FBFFF"/>
                </a:solidFill>
                <a:latin typeface="Arial"/>
                <a:cs typeface="Arial"/>
              </a:rPr>
              <a:t>JOIN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(50×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faster)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227"/>
            <a:ext cx="4534535" cy="1306195"/>
            <a:chOff x="242646" y="1038227"/>
            <a:chExt cx="4534535" cy="13061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34204" cy="1306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0040" y="1115646"/>
              <a:ext cx="4343400" cy="1115695"/>
            </a:xfrm>
            <a:custGeom>
              <a:avLst/>
              <a:gdLst/>
              <a:ahLst/>
              <a:cxnLst/>
              <a:rect l="l" t="t" r="r" b="b"/>
              <a:pathLst>
                <a:path w="4343400" h="1115695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24191"/>
                  </a:lnTo>
                  <a:lnTo>
                    <a:pt x="774" y="1035840"/>
                  </a:lnTo>
                  <a:lnTo>
                    <a:pt x="798" y="1036198"/>
                  </a:lnTo>
                  <a:lnTo>
                    <a:pt x="3076" y="1047505"/>
                  </a:lnTo>
                  <a:lnTo>
                    <a:pt x="3149" y="1047865"/>
                  </a:lnTo>
                  <a:lnTo>
                    <a:pt x="6863" y="1058765"/>
                  </a:lnTo>
                  <a:lnTo>
                    <a:pt x="35676" y="1096800"/>
                  </a:lnTo>
                  <a:lnTo>
                    <a:pt x="79434" y="1114833"/>
                  </a:lnTo>
                  <a:lnTo>
                    <a:pt x="91439" y="1115631"/>
                  </a:lnTo>
                  <a:lnTo>
                    <a:pt x="4251960" y="1115275"/>
                  </a:lnTo>
                  <a:lnTo>
                    <a:pt x="4297680" y="1103033"/>
                  </a:lnTo>
                  <a:lnTo>
                    <a:pt x="4331157" y="1069555"/>
                  </a:lnTo>
                  <a:lnTo>
                    <a:pt x="4340127" y="1047865"/>
                  </a:lnTo>
                  <a:lnTo>
                    <a:pt x="4340250" y="1047505"/>
                  </a:lnTo>
                  <a:lnTo>
                    <a:pt x="4342529" y="1036198"/>
                  </a:lnTo>
                  <a:lnTo>
                    <a:pt x="4342601" y="1035840"/>
                  </a:lnTo>
                  <a:lnTo>
                    <a:pt x="4343376" y="1024191"/>
                  </a:lnTo>
                  <a:lnTo>
                    <a:pt x="4343044" y="91439"/>
                  </a:lnTo>
                  <a:lnTo>
                    <a:pt x="4330801" y="45720"/>
                  </a:lnTo>
                  <a:lnTo>
                    <a:pt x="4297324" y="12230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1115646"/>
              <a:ext cx="4343400" cy="1115695"/>
            </a:xfrm>
            <a:custGeom>
              <a:avLst/>
              <a:gdLst/>
              <a:ahLst/>
              <a:cxnLst/>
              <a:rect l="l" t="t" r="r" b="b"/>
              <a:pathLst>
                <a:path w="4343400" h="1115695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30"/>
                  </a:lnTo>
                  <a:lnTo>
                    <a:pt x="4330801" y="45720"/>
                  </a:lnTo>
                  <a:lnTo>
                    <a:pt x="4343044" y="91439"/>
                  </a:lnTo>
                  <a:lnTo>
                    <a:pt x="4343400" y="1023835"/>
                  </a:lnTo>
                  <a:lnTo>
                    <a:pt x="4342601" y="1035840"/>
                  </a:lnTo>
                  <a:lnTo>
                    <a:pt x="4340250" y="1047505"/>
                  </a:lnTo>
                  <a:lnTo>
                    <a:pt x="4316718" y="1088594"/>
                  </a:lnTo>
                  <a:lnTo>
                    <a:pt x="4275629" y="1112126"/>
                  </a:lnTo>
                  <a:lnTo>
                    <a:pt x="91439" y="1115631"/>
                  </a:lnTo>
                  <a:lnTo>
                    <a:pt x="45720" y="1103401"/>
                  </a:lnTo>
                  <a:lnTo>
                    <a:pt x="12242" y="1069911"/>
                  </a:lnTo>
                  <a:lnTo>
                    <a:pt x="0" y="1024191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4020185" cy="71628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0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DB</a:t>
            </a:r>
            <a:r>
              <a:rPr sz="850" b="1" spc="1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Optimisation</a:t>
            </a:r>
            <a:r>
              <a:rPr sz="850" b="1" spc="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"The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Budget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vs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Actual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report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uses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correlated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subquery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that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fires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1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35" dirty="0">
                <a:solidFill>
                  <a:srgbClr val="FCE589"/>
                </a:solidFill>
                <a:latin typeface="Arial"/>
                <a:cs typeface="Arial"/>
              </a:rPr>
              <a:t>SQL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per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budget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line.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Rewrite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it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as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single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5" dirty="0">
                <a:solidFill>
                  <a:srgbClr val="FCE589"/>
                </a:solidFill>
                <a:latin typeface="Arial"/>
                <a:cs typeface="Arial"/>
              </a:rPr>
              <a:t>JOIN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query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generate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30" dirty="0">
                <a:solidFill>
                  <a:srgbClr val="FCE589"/>
                </a:solidFill>
                <a:latin typeface="Arial"/>
                <a:cs typeface="Arial"/>
              </a:rPr>
              <a:t>JPQL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@Query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annotation.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Show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before/aker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5" dirty="0">
                <a:solidFill>
                  <a:srgbClr val="FCE589"/>
                </a:solidFill>
                <a:latin typeface="Arial"/>
                <a:cs typeface="Arial"/>
              </a:rPr>
              <a:t>EXPLAIN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plans."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226947"/>
            <a:ext cx="4534535" cy="2586355"/>
            <a:chOff x="242646" y="2226947"/>
            <a:chExt cx="4534535" cy="258635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226947"/>
              <a:ext cx="4534204" cy="258589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0040" y="2304366"/>
              <a:ext cx="4343400" cy="2395855"/>
            </a:xfrm>
            <a:custGeom>
              <a:avLst/>
              <a:gdLst/>
              <a:ahLst/>
              <a:cxnLst/>
              <a:rect l="l" t="t" r="r" b="b"/>
              <a:pathLst>
                <a:path w="4343400" h="2395854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40"/>
                  </a:lnTo>
                  <a:lnTo>
                    <a:pt x="0" y="2304351"/>
                  </a:lnTo>
                  <a:lnTo>
                    <a:pt x="6863" y="2338925"/>
                  </a:lnTo>
                  <a:lnTo>
                    <a:pt x="6986" y="2339286"/>
                  </a:lnTo>
                  <a:lnTo>
                    <a:pt x="35676" y="2376960"/>
                  </a:lnTo>
                  <a:lnTo>
                    <a:pt x="79434" y="2394993"/>
                  </a:lnTo>
                  <a:lnTo>
                    <a:pt x="91439" y="2395791"/>
                  </a:lnTo>
                  <a:lnTo>
                    <a:pt x="4251960" y="2395435"/>
                  </a:lnTo>
                  <a:lnTo>
                    <a:pt x="4297680" y="2383193"/>
                  </a:lnTo>
                  <a:lnTo>
                    <a:pt x="4331157" y="2349715"/>
                  </a:lnTo>
                  <a:lnTo>
                    <a:pt x="4340127" y="2328025"/>
                  </a:lnTo>
                  <a:lnTo>
                    <a:pt x="4340250" y="2327665"/>
                  </a:lnTo>
                  <a:lnTo>
                    <a:pt x="4342529" y="2316358"/>
                  </a:lnTo>
                  <a:lnTo>
                    <a:pt x="4342601" y="2316000"/>
                  </a:lnTo>
                  <a:lnTo>
                    <a:pt x="4343376" y="2304351"/>
                  </a:lnTo>
                  <a:lnTo>
                    <a:pt x="4343044" y="91440"/>
                  </a:lnTo>
                  <a:lnTo>
                    <a:pt x="4330801" y="45720"/>
                  </a:lnTo>
                  <a:lnTo>
                    <a:pt x="4297324" y="12230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40" y="2304366"/>
              <a:ext cx="4343400" cy="2395855"/>
            </a:xfrm>
            <a:custGeom>
              <a:avLst/>
              <a:gdLst/>
              <a:ahLst/>
              <a:cxnLst/>
              <a:rect l="l" t="t" r="r" b="b"/>
              <a:pathLst>
                <a:path w="4343400" h="2395854">
                  <a:moveTo>
                    <a:pt x="0" y="91440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30"/>
                  </a:lnTo>
                  <a:lnTo>
                    <a:pt x="4330801" y="45720"/>
                  </a:lnTo>
                  <a:lnTo>
                    <a:pt x="4343044" y="91440"/>
                  </a:lnTo>
                  <a:lnTo>
                    <a:pt x="4343400" y="2303995"/>
                  </a:lnTo>
                  <a:lnTo>
                    <a:pt x="4342601" y="2316000"/>
                  </a:lnTo>
                  <a:lnTo>
                    <a:pt x="4340250" y="2327665"/>
                  </a:lnTo>
                  <a:lnTo>
                    <a:pt x="4316718" y="2368754"/>
                  </a:lnTo>
                  <a:lnTo>
                    <a:pt x="4275629" y="2392286"/>
                  </a:lnTo>
                  <a:lnTo>
                    <a:pt x="91439" y="2395791"/>
                  </a:lnTo>
                  <a:lnTo>
                    <a:pt x="45720" y="2383561"/>
                  </a:lnTo>
                  <a:lnTo>
                    <a:pt x="12242" y="2350071"/>
                  </a:lnTo>
                  <a:lnTo>
                    <a:pt x="0" y="2304351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292680"/>
            <a:ext cx="3251835" cy="158432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SQL /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 Config</a:t>
            </a:r>
            <a:endParaRPr sz="900">
              <a:latin typeface="Calibri"/>
              <a:cs typeface="Calibri"/>
            </a:endParaRPr>
          </a:p>
          <a:p>
            <a:pPr marL="12700" marR="686435">
              <a:lnSpc>
                <a:spcPct val="102499"/>
              </a:lnSpc>
              <a:spcBef>
                <a:spcPts val="50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BEFORE: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N+1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correlated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subquery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(SLOW)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SELECT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bl.*,</a:t>
            </a:r>
            <a:endParaRPr sz="800">
              <a:latin typeface="Courier New"/>
              <a:cs typeface="Courier New"/>
            </a:endParaRPr>
          </a:p>
          <a:p>
            <a:pPr marL="198120" marR="1245870" indent="-6286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(SELECT</a:t>
            </a:r>
            <a:r>
              <a:rPr sz="800" spc="1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SUM(debit)-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SUM(credit)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journal_lines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jl</a:t>
            </a:r>
            <a:endParaRPr sz="800">
              <a:latin typeface="Courier New"/>
              <a:cs typeface="Courier New"/>
            </a:endParaRPr>
          </a:p>
          <a:p>
            <a:pPr marL="198120" marR="5003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JOIN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journal_entries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je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jl.je_id=je.id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WHERE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je.project_id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bl.project_id</a:t>
            </a:r>
            <a:endParaRPr sz="800">
              <a:latin typeface="Courier New"/>
              <a:cs typeface="Courier New"/>
            </a:endParaRPr>
          </a:p>
          <a:p>
            <a:pPr marL="323215" marR="81026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jl.account_id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bl.account_id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YEAR(je.date)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bl.fiscal_year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)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actual_amount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--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fires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once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PER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budget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line!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budget_lines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bl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WHERE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project_id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?;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622" y="4850906"/>
            <a:ext cx="2693670" cy="275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journal_lines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jl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JOIN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journal_entries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jl.je_id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je.id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768926" y="1038227"/>
            <a:ext cx="4168775" cy="3775075"/>
            <a:chOff x="4768926" y="1038227"/>
            <a:chExt cx="4168775" cy="377507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8227"/>
              <a:ext cx="4168444" cy="377497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475088"/>
                  </a:lnTo>
                  <a:lnTo>
                    <a:pt x="939" y="3489511"/>
                  </a:lnTo>
                  <a:lnTo>
                    <a:pt x="14757" y="3530168"/>
                  </a:lnTo>
                  <a:lnTo>
                    <a:pt x="43003" y="3562109"/>
                  </a:lnTo>
                  <a:lnTo>
                    <a:pt x="81359" y="3581144"/>
                  </a:lnTo>
                  <a:lnTo>
                    <a:pt x="109791" y="3584879"/>
                  </a:lnTo>
                  <a:lnTo>
                    <a:pt x="3868191" y="3584879"/>
                  </a:lnTo>
                  <a:lnTo>
                    <a:pt x="3910262" y="3576526"/>
                  </a:lnTo>
                  <a:lnTo>
                    <a:pt x="3945764" y="3552712"/>
                  </a:lnTo>
                  <a:lnTo>
                    <a:pt x="3969565" y="3517152"/>
                  </a:lnTo>
                  <a:lnTo>
                    <a:pt x="3977995" y="3475088"/>
                  </a:lnTo>
                  <a:lnTo>
                    <a:pt x="3977972" y="109804"/>
                  </a:lnTo>
                  <a:lnTo>
                    <a:pt x="3969642" y="68095"/>
                  </a:lnTo>
                  <a:lnTo>
                    <a:pt x="3945772" y="32535"/>
                  </a:lnTo>
                  <a:lnTo>
                    <a:pt x="3910112" y="8721"/>
                  </a:lnTo>
                  <a:lnTo>
                    <a:pt x="38681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68"/>
                  </a:lnTo>
                  <a:lnTo>
                    <a:pt x="3910112" y="8721"/>
                  </a:lnTo>
                  <a:lnTo>
                    <a:pt x="3945772" y="32535"/>
                  </a:lnTo>
                  <a:lnTo>
                    <a:pt x="3969642" y="68095"/>
                  </a:lnTo>
                  <a:lnTo>
                    <a:pt x="3977995" y="110159"/>
                  </a:lnTo>
                  <a:lnTo>
                    <a:pt x="3977995" y="3475088"/>
                  </a:lnTo>
                  <a:lnTo>
                    <a:pt x="3977055" y="3489505"/>
                  </a:lnTo>
                  <a:lnTo>
                    <a:pt x="3974260" y="3503520"/>
                  </a:lnTo>
                  <a:lnTo>
                    <a:pt x="3955218" y="3541876"/>
                  </a:lnTo>
                  <a:lnTo>
                    <a:pt x="3923271" y="3570122"/>
                  </a:lnTo>
                  <a:lnTo>
                    <a:pt x="3882621" y="3583940"/>
                  </a:lnTo>
                  <a:lnTo>
                    <a:pt x="3868191" y="3584879"/>
                  </a:lnTo>
                  <a:lnTo>
                    <a:pt x="109791" y="3584879"/>
                  </a:lnTo>
                  <a:lnTo>
                    <a:pt x="67882" y="3576526"/>
                  </a:lnTo>
                  <a:lnTo>
                    <a:pt x="32213" y="3552712"/>
                  </a:lnTo>
                  <a:lnTo>
                    <a:pt x="8352" y="3517152"/>
                  </a:lnTo>
                  <a:lnTo>
                    <a:pt x="0" y="3475088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70424" y="1167538"/>
            <a:ext cx="144462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055E45"/>
                </a:solidFill>
                <a:latin typeface="MingLiU_HKSCS-ExtB"/>
                <a:cs typeface="MingLiU_HKSCS-ExtB"/>
              </a:rPr>
              <a:t>📈</a:t>
            </a:r>
            <a:r>
              <a:rPr sz="1300" spc="-265" dirty="0">
                <a:solidFill>
                  <a:srgbClr val="055E45"/>
                </a:solidFill>
                <a:latin typeface="MingLiU_HKSCS-ExtB"/>
                <a:cs typeface="MingLiU_HKSCS-ExtB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Performance</a:t>
            </a:r>
            <a:r>
              <a:rPr sz="1100" b="1" spc="1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Impact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70424" y="1568782"/>
            <a:ext cx="357377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One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well-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placed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index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can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turn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3-second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dashboard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into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sub-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100ms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real-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time</a:t>
            </a:r>
            <a:r>
              <a:rPr sz="900" spc="-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view.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976405" y="2050328"/>
            <a:ext cx="3670935" cy="342265"/>
            <a:chOff x="4976405" y="2050328"/>
            <a:chExt cx="3670935" cy="342265"/>
          </a:xfrm>
        </p:grpSpPr>
        <p:sp>
          <p:nvSpPr>
            <p:cNvPr id="25" name="object 25"/>
            <p:cNvSpPr/>
            <p:nvPr/>
          </p:nvSpPr>
          <p:spPr>
            <a:xfrm>
              <a:off x="4982755" y="2056678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64"/>
                  </a:lnTo>
                  <a:lnTo>
                    <a:pt x="2524" y="47520"/>
                  </a:lnTo>
                  <a:lnTo>
                    <a:pt x="0" y="265328"/>
                  </a:lnTo>
                  <a:lnTo>
                    <a:pt x="540" y="273670"/>
                  </a:lnTo>
                  <a:lnTo>
                    <a:pt x="18739" y="310546"/>
                  </a:lnTo>
                  <a:lnTo>
                    <a:pt x="18859" y="310684"/>
                  </a:lnTo>
                  <a:lnTo>
                    <a:pt x="55734" y="328861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2"/>
                  </a:lnTo>
                  <a:lnTo>
                    <a:pt x="3655806" y="281881"/>
                  </a:lnTo>
                  <a:lnTo>
                    <a:pt x="3657968" y="265328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24"/>
                  </a:lnTo>
                  <a:lnTo>
                    <a:pt x="3593884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82755" y="2056678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64"/>
                  </a:lnTo>
                  <a:lnTo>
                    <a:pt x="64439" y="0"/>
                  </a:lnTo>
                  <a:lnTo>
                    <a:pt x="3593884" y="368"/>
                  </a:lnTo>
                  <a:lnTo>
                    <a:pt x="3632871" y="13570"/>
                  </a:lnTo>
                  <a:lnTo>
                    <a:pt x="3655806" y="47885"/>
                  </a:lnTo>
                  <a:lnTo>
                    <a:pt x="3657968" y="64439"/>
                  </a:lnTo>
                  <a:lnTo>
                    <a:pt x="3657968" y="265328"/>
                  </a:lnTo>
                  <a:lnTo>
                    <a:pt x="3657427" y="273670"/>
                  </a:lnTo>
                  <a:lnTo>
                    <a:pt x="3655806" y="281881"/>
                  </a:lnTo>
                  <a:lnTo>
                    <a:pt x="3632921" y="316042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7"/>
                  </a:lnTo>
                  <a:lnTo>
                    <a:pt x="2162" y="281881"/>
                  </a:lnTo>
                  <a:lnTo>
                    <a:pt x="0" y="265328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089220" y="2144066"/>
            <a:ext cx="5238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P&amp;L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Report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71855" y="2144066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2.8s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0.04s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23860" y="2148016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70×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976405" y="2434452"/>
            <a:ext cx="3670935" cy="342265"/>
            <a:chOff x="4976405" y="2434452"/>
            <a:chExt cx="3670935" cy="342265"/>
          </a:xfrm>
        </p:grpSpPr>
        <p:sp>
          <p:nvSpPr>
            <p:cNvPr id="31" name="object 31"/>
            <p:cNvSpPr/>
            <p:nvPr/>
          </p:nvSpPr>
          <p:spPr>
            <a:xfrm>
              <a:off x="4982755" y="244080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265315"/>
                  </a:lnTo>
                  <a:lnTo>
                    <a:pt x="540" y="273665"/>
                  </a:lnTo>
                  <a:lnTo>
                    <a:pt x="18743" y="310546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2"/>
                  </a:lnTo>
                  <a:lnTo>
                    <a:pt x="3655806" y="281879"/>
                  </a:lnTo>
                  <a:lnTo>
                    <a:pt x="3657968" y="265315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82755" y="244080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70"/>
                  </a:lnTo>
                  <a:lnTo>
                    <a:pt x="3655806" y="47880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5"/>
                  </a:lnTo>
                  <a:lnTo>
                    <a:pt x="3655806" y="281879"/>
                  </a:lnTo>
                  <a:lnTo>
                    <a:pt x="3632921" y="316042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2"/>
                  </a:lnTo>
                  <a:lnTo>
                    <a:pt x="2162" y="281879"/>
                  </a:lnTo>
                  <a:lnTo>
                    <a:pt x="0" y="265315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089220" y="2528178"/>
            <a:ext cx="7543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Budget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vs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Actual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771855" y="2528178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1.8s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0.04s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923860" y="2532140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45×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976405" y="2818576"/>
            <a:ext cx="3670935" cy="342265"/>
            <a:chOff x="4976405" y="2818576"/>
            <a:chExt cx="3670935" cy="342265"/>
          </a:xfrm>
        </p:grpSpPr>
        <p:sp>
          <p:nvSpPr>
            <p:cNvPr id="37" name="object 37"/>
            <p:cNvSpPr/>
            <p:nvPr/>
          </p:nvSpPr>
          <p:spPr>
            <a:xfrm>
              <a:off x="4982755" y="282492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265315"/>
                  </a:lnTo>
                  <a:lnTo>
                    <a:pt x="540" y="273663"/>
                  </a:lnTo>
                  <a:lnTo>
                    <a:pt x="18743" y="310540"/>
                  </a:lnTo>
                  <a:lnTo>
                    <a:pt x="18859" y="310673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35"/>
                  </a:lnTo>
                  <a:lnTo>
                    <a:pt x="3655806" y="281874"/>
                  </a:lnTo>
                  <a:lnTo>
                    <a:pt x="3657968" y="265315"/>
                  </a:lnTo>
                  <a:lnTo>
                    <a:pt x="3657944" y="64071"/>
                  </a:lnTo>
                  <a:lnTo>
                    <a:pt x="3644603" y="25397"/>
                  </a:lnTo>
                  <a:lnTo>
                    <a:pt x="3610443" y="2516"/>
                  </a:lnTo>
                  <a:lnTo>
                    <a:pt x="3593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82755" y="282492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63"/>
                  </a:lnTo>
                  <a:lnTo>
                    <a:pt x="3655806" y="47875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3"/>
                  </a:lnTo>
                  <a:lnTo>
                    <a:pt x="3655806" y="281874"/>
                  </a:lnTo>
                  <a:lnTo>
                    <a:pt x="3632921" y="316035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85"/>
                  </a:lnTo>
                  <a:lnTo>
                    <a:pt x="2162" y="281874"/>
                  </a:lnTo>
                  <a:lnTo>
                    <a:pt x="0" y="265315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089220" y="2912302"/>
            <a:ext cx="64262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Balance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Sheet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771855" y="2912302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3.2s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0.08s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923860" y="2916252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40×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976405" y="3202332"/>
            <a:ext cx="3670935" cy="342265"/>
            <a:chOff x="4976405" y="3202332"/>
            <a:chExt cx="3670935" cy="342265"/>
          </a:xfrm>
        </p:grpSpPr>
        <p:sp>
          <p:nvSpPr>
            <p:cNvPr id="43" name="object 43"/>
            <p:cNvSpPr/>
            <p:nvPr/>
          </p:nvSpPr>
          <p:spPr>
            <a:xfrm>
              <a:off x="4982755" y="320868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265315"/>
                  </a:lnTo>
                  <a:lnTo>
                    <a:pt x="540" y="273665"/>
                  </a:lnTo>
                  <a:lnTo>
                    <a:pt x="18743" y="310541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0"/>
                  </a:lnTo>
                  <a:lnTo>
                    <a:pt x="3655806" y="281879"/>
                  </a:lnTo>
                  <a:lnTo>
                    <a:pt x="3657968" y="265315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82755" y="320868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70"/>
                  </a:lnTo>
                  <a:lnTo>
                    <a:pt x="3655806" y="47880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5"/>
                  </a:lnTo>
                  <a:lnTo>
                    <a:pt x="3655806" y="281879"/>
                  </a:lnTo>
                  <a:lnTo>
                    <a:pt x="3632921" y="316040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0"/>
                  </a:lnTo>
                  <a:lnTo>
                    <a:pt x="2162" y="281879"/>
                  </a:lnTo>
                  <a:lnTo>
                    <a:pt x="0" y="265315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089220" y="3296058"/>
            <a:ext cx="57721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Trial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Balance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771855" y="3296058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1.4s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0.06s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923860" y="3300021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23×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976405" y="3586456"/>
            <a:ext cx="3670935" cy="342265"/>
            <a:chOff x="4976405" y="3586456"/>
            <a:chExt cx="3670935" cy="342265"/>
          </a:xfrm>
        </p:grpSpPr>
        <p:sp>
          <p:nvSpPr>
            <p:cNvPr id="49" name="object 49"/>
            <p:cNvSpPr/>
            <p:nvPr/>
          </p:nvSpPr>
          <p:spPr>
            <a:xfrm>
              <a:off x="4982755" y="359280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2"/>
                  </a:lnTo>
                  <a:lnTo>
                    <a:pt x="2524" y="47517"/>
                  </a:lnTo>
                  <a:lnTo>
                    <a:pt x="0" y="265315"/>
                  </a:lnTo>
                  <a:lnTo>
                    <a:pt x="540" y="273663"/>
                  </a:lnTo>
                  <a:lnTo>
                    <a:pt x="18743" y="310540"/>
                  </a:lnTo>
                  <a:lnTo>
                    <a:pt x="18859" y="310673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35"/>
                  </a:lnTo>
                  <a:lnTo>
                    <a:pt x="3655806" y="281874"/>
                  </a:lnTo>
                  <a:lnTo>
                    <a:pt x="3657968" y="265315"/>
                  </a:lnTo>
                  <a:lnTo>
                    <a:pt x="3657944" y="64071"/>
                  </a:lnTo>
                  <a:lnTo>
                    <a:pt x="3644603" y="25395"/>
                  </a:lnTo>
                  <a:lnTo>
                    <a:pt x="3610443" y="2516"/>
                  </a:lnTo>
                  <a:lnTo>
                    <a:pt x="3593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982755" y="359280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2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57"/>
                  </a:lnTo>
                  <a:lnTo>
                    <a:pt x="3655806" y="47875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3"/>
                  </a:lnTo>
                  <a:lnTo>
                    <a:pt x="3655806" y="281874"/>
                  </a:lnTo>
                  <a:lnTo>
                    <a:pt x="3632921" y="316035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85"/>
                  </a:lnTo>
                  <a:lnTo>
                    <a:pt x="2162" y="281874"/>
                  </a:lnTo>
                  <a:lnTo>
                    <a:pt x="0" y="265315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089220" y="3680182"/>
            <a:ext cx="5346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Bank</a:t>
            </a:r>
            <a:r>
              <a:rPr sz="850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Recon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771855" y="3680182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0.9s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0.02s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923860" y="3684132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45×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55" name="object 55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406044" y="3976461"/>
            <a:ext cx="6042025" cy="94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275" marR="2952115">
              <a:lnSpc>
                <a:spcPct val="102499"/>
              </a:lnSpc>
              <a:spcBef>
                <a:spcPts val="9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AFTER: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Single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JOIN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with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aggregation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(FAST)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SELECT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bl.id,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bl.account_id,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bl.amount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AS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budget,</a:t>
            </a:r>
            <a:endParaRPr sz="800">
              <a:latin typeface="Courier New"/>
              <a:cs typeface="Courier New"/>
            </a:endParaRPr>
          </a:p>
          <a:p>
            <a:pPr marL="41275" marR="3821429" indent="123189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COALESCE(agg.actual,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0)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AS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actual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budget_lines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bl</a:t>
            </a:r>
            <a:endParaRPr sz="800">
              <a:latin typeface="Courier New"/>
              <a:cs typeface="Courier New"/>
            </a:endParaRPr>
          </a:p>
          <a:p>
            <a:pPr marL="4127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LEFT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JOIN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(</a:t>
            </a:r>
            <a:endParaRPr sz="80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SELECT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jl.account_id,</a:t>
            </a:r>
            <a:endParaRPr sz="800">
              <a:latin typeface="Courier New"/>
              <a:cs typeface="Courier New"/>
            </a:endParaRPr>
          </a:p>
          <a:p>
            <a:pPr marL="50800">
              <a:lnSpc>
                <a:spcPct val="100000"/>
              </a:lnSpc>
              <a:spcBef>
                <a:spcPts val="60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spc="-305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307" baseline="24305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325" dirty="0">
                <a:solidFill>
                  <a:srgbClr val="774409"/>
                </a:solidFill>
                <a:latin typeface="Calibri"/>
                <a:cs typeface="Calibri"/>
              </a:rPr>
              <a:t>B</a:t>
            </a:r>
            <a:r>
              <a:rPr sz="1200" spc="-7" baseline="24305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1200" spc="-652" baseline="24305" dirty="0">
                <a:solidFill>
                  <a:srgbClr val="E1E7EF"/>
                </a:solidFill>
                <a:latin typeface="Courier New"/>
                <a:cs typeface="Courier New"/>
              </a:rPr>
              <a:t>M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742" baseline="24305" dirty="0">
                <a:solidFill>
                  <a:srgbClr val="E1E7EF"/>
                </a:solidFill>
                <a:latin typeface="Courier New"/>
                <a:cs typeface="Courier New"/>
              </a:rPr>
              <a:t>(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254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375" baseline="24305" dirty="0">
                <a:solidFill>
                  <a:srgbClr val="E1E7EF"/>
                </a:solidFill>
                <a:latin typeface="Courier New"/>
                <a:cs typeface="Courier New"/>
              </a:rPr>
              <a:t>j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1200" spc="-412" baseline="24305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442" baseline="24305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442" baseline="24305" dirty="0">
                <a:solidFill>
                  <a:srgbClr val="E1E7EF"/>
                </a:solidFill>
                <a:latin typeface="Courier New"/>
                <a:cs typeface="Courier New"/>
              </a:rPr>
              <a:t>d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112" baseline="24305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38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165" baseline="24305" dirty="0">
                <a:solidFill>
                  <a:srgbClr val="E1E7EF"/>
                </a:solidFill>
                <a:latin typeface="Courier New"/>
                <a:cs typeface="Courier New"/>
              </a:rPr>
              <a:t>b</a:t>
            </a:r>
            <a:r>
              <a:rPr sz="950" spc="-114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1200" spc="-562" baseline="24305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950" spc="-6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315" baseline="24305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1200" spc="-315" baseline="24305" dirty="0">
                <a:solidFill>
                  <a:srgbClr val="E1E7EF"/>
                </a:solidFill>
                <a:latin typeface="Courier New"/>
                <a:cs typeface="Courier New"/>
              </a:rPr>
              <a:t>)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de</a:t>
            </a:r>
            <a:r>
              <a:rPr sz="1200" spc="-315" baseline="24305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x</a:t>
            </a:r>
            <a:r>
              <a:rPr sz="950" spc="-14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517" baseline="24305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382" baseline="24305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45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baseline="24305" dirty="0">
                <a:solidFill>
                  <a:srgbClr val="E1E7EF"/>
                </a:solidFill>
                <a:latin typeface="Courier New"/>
                <a:cs typeface="Courier New"/>
              </a:rPr>
              <a:t>M</a:t>
            </a:r>
            <a:r>
              <a:rPr sz="1200" spc="-450" baseline="24305" dirty="0">
                <a:solidFill>
                  <a:srgbClr val="E1E7EF"/>
                </a:solidFill>
                <a:latin typeface="Courier New"/>
                <a:cs typeface="Courier New"/>
              </a:rPr>
              <a:t>(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h</a:t>
            </a:r>
            <a:r>
              <a:rPr sz="1200" spc="-1417" baseline="24305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1200" spc="30" baseline="24305" dirty="0">
                <a:solidFill>
                  <a:srgbClr val="E1E7EF"/>
                </a:solidFill>
                <a:latin typeface="Courier New"/>
                <a:cs typeface="Courier New"/>
              </a:rPr>
              <a:t>j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97" baseline="24305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440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baseline="24305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1200" spc="-794" baseline="24305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ti</a:t>
            </a:r>
            <a:r>
              <a:rPr sz="1200" spc="-412" baseline="24305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472" baseline="24305" dirty="0">
                <a:solidFill>
                  <a:srgbClr val="E1E7EF"/>
                </a:solidFill>
                <a:latin typeface="Courier New"/>
                <a:cs typeface="Courier New"/>
              </a:rPr>
              <a:t>d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950" spc="-114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337" baseline="24305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225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1200" spc="-337" baseline="24305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22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1200" spc="-337" baseline="24305" dirty="0">
                <a:solidFill>
                  <a:srgbClr val="E1E7EF"/>
                </a:solidFill>
                <a:latin typeface="Courier New"/>
                <a:cs typeface="Courier New"/>
              </a:rPr>
              <a:t>)</a:t>
            </a:r>
            <a:r>
              <a:rPr sz="950" spc="-225" dirty="0">
                <a:solidFill>
                  <a:srgbClr val="774409"/>
                </a:solidFill>
                <a:latin typeface="Calibri"/>
                <a:cs typeface="Calibri"/>
              </a:rPr>
              <a:t>gra</a:t>
            </a:r>
            <a:r>
              <a:rPr sz="1200" spc="-337" baseline="24305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225" dirty="0">
                <a:solidFill>
                  <a:srgbClr val="774409"/>
                </a:solidFill>
                <a:latin typeface="Calibri"/>
                <a:cs typeface="Calibri"/>
              </a:rPr>
              <a:t>ti</a:t>
            </a:r>
            <a:r>
              <a:rPr sz="1200" spc="-337" baseline="24305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225" dirty="0">
                <a:solidFill>
                  <a:srgbClr val="774409"/>
                </a:solidFill>
                <a:latin typeface="Calibri"/>
                <a:cs typeface="Calibri"/>
              </a:rPr>
              <a:t>on</a:t>
            </a:r>
            <a:r>
              <a:rPr sz="1200" spc="-337" baseline="24305" dirty="0">
                <a:solidFill>
                  <a:srgbClr val="E1E7EF"/>
                </a:solidFill>
                <a:latin typeface="Courier New"/>
                <a:cs typeface="Courier New"/>
              </a:rPr>
              <a:t>ac</a:t>
            </a:r>
            <a:r>
              <a:rPr sz="950" spc="-225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1200" spc="60" baseline="24305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1200" spc="-330" baseline="24305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950" spc="4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4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950" spc="4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3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-1090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1357" baseline="24305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1200" spc="82" baseline="24305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1200" spc="67" baseline="24305" dirty="0">
                <a:solidFill>
                  <a:srgbClr val="E1E7EF"/>
                </a:solidFill>
                <a:latin typeface="Courier New"/>
                <a:cs typeface="Courier New"/>
              </a:rPr>
              <a:t> 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fitting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indexes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on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live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10M-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row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table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requires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careful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45" dirty="0">
                <a:solidFill>
                  <a:srgbClr val="774409"/>
                </a:solidFill>
                <a:latin typeface="Calibri"/>
                <a:cs typeface="Calibri"/>
              </a:rPr>
              <a:t>planning.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62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091D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MySQL</a:t>
            </a:r>
            <a:r>
              <a:rPr spc="-80" dirty="0"/>
              <a:t> </a:t>
            </a:r>
            <a:r>
              <a:rPr dirty="0"/>
              <a:t>Slow</a:t>
            </a:r>
            <a:r>
              <a:rPr spc="-80" dirty="0"/>
              <a:t> </a:t>
            </a:r>
            <a:r>
              <a:rPr dirty="0"/>
              <a:t>Query</a:t>
            </a:r>
            <a:r>
              <a:rPr spc="-70" dirty="0"/>
              <a:t> </a:t>
            </a:r>
            <a:r>
              <a:rPr dirty="0"/>
              <a:t>Log</a:t>
            </a:r>
            <a:r>
              <a:rPr spc="-8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2637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Automated</a:t>
            </a:r>
            <a:r>
              <a:rPr sz="1000" i="1" spc="-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weekly</a:t>
            </a:r>
            <a:r>
              <a:rPr sz="1000" i="1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performance</a:t>
            </a:r>
            <a:r>
              <a:rPr sz="1000" i="1" spc="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monitoring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227"/>
            <a:ext cx="4534535" cy="1306195"/>
            <a:chOff x="242646" y="1038227"/>
            <a:chExt cx="4534535" cy="13061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34204" cy="1306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0040" y="1115646"/>
              <a:ext cx="4343400" cy="1115695"/>
            </a:xfrm>
            <a:custGeom>
              <a:avLst/>
              <a:gdLst/>
              <a:ahLst/>
              <a:cxnLst/>
              <a:rect l="l" t="t" r="r" b="b"/>
              <a:pathLst>
                <a:path w="4343400" h="1115695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24191"/>
                  </a:lnTo>
                  <a:lnTo>
                    <a:pt x="774" y="1035840"/>
                  </a:lnTo>
                  <a:lnTo>
                    <a:pt x="798" y="1036198"/>
                  </a:lnTo>
                  <a:lnTo>
                    <a:pt x="3076" y="1047505"/>
                  </a:lnTo>
                  <a:lnTo>
                    <a:pt x="3149" y="1047865"/>
                  </a:lnTo>
                  <a:lnTo>
                    <a:pt x="6863" y="1058765"/>
                  </a:lnTo>
                  <a:lnTo>
                    <a:pt x="35676" y="1096800"/>
                  </a:lnTo>
                  <a:lnTo>
                    <a:pt x="79434" y="1114833"/>
                  </a:lnTo>
                  <a:lnTo>
                    <a:pt x="91439" y="1115631"/>
                  </a:lnTo>
                  <a:lnTo>
                    <a:pt x="4251960" y="1115275"/>
                  </a:lnTo>
                  <a:lnTo>
                    <a:pt x="4297680" y="1103033"/>
                  </a:lnTo>
                  <a:lnTo>
                    <a:pt x="4331157" y="1069555"/>
                  </a:lnTo>
                  <a:lnTo>
                    <a:pt x="4340127" y="1047865"/>
                  </a:lnTo>
                  <a:lnTo>
                    <a:pt x="4340250" y="1047505"/>
                  </a:lnTo>
                  <a:lnTo>
                    <a:pt x="4342529" y="1036198"/>
                  </a:lnTo>
                  <a:lnTo>
                    <a:pt x="4342601" y="1035840"/>
                  </a:lnTo>
                  <a:lnTo>
                    <a:pt x="4343376" y="1024191"/>
                  </a:lnTo>
                  <a:lnTo>
                    <a:pt x="4343044" y="91439"/>
                  </a:lnTo>
                  <a:lnTo>
                    <a:pt x="4330801" y="45720"/>
                  </a:lnTo>
                  <a:lnTo>
                    <a:pt x="4297324" y="12230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1115646"/>
              <a:ext cx="4343400" cy="1115695"/>
            </a:xfrm>
            <a:custGeom>
              <a:avLst/>
              <a:gdLst/>
              <a:ahLst/>
              <a:cxnLst/>
              <a:rect l="l" t="t" r="r" b="b"/>
              <a:pathLst>
                <a:path w="4343400" h="1115695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30"/>
                  </a:lnTo>
                  <a:lnTo>
                    <a:pt x="4330801" y="45720"/>
                  </a:lnTo>
                  <a:lnTo>
                    <a:pt x="4343044" y="91439"/>
                  </a:lnTo>
                  <a:lnTo>
                    <a:pt x="4343400" y="1023835"/>
                  </a:lnTo>
                  <a:lnTo>
                    <a:pt x="4342601" y="1035840"/>
                  </a:lnTo>
                  <a:lnTo>
                    <a:pt x="4340250" y="1047505"/>
                  </a:lnTo>
                  <a:lnTo>
                    <a:pt x="4316718" y="1088594"/>
                  </a:lnTo>
                  <a:lnTo>
                    <a:pt x="4275629" y="1112126"/>
                  </a:lnTo>
                  <a:lnTo>
                    <a:pt x="91439" y="1115631"/>
                  </a:lnTo>
                  <a:lnTo>
                    <a:pt x="45720" y="1103401"/>
                  </a:lnTo>
                  <a:lnTo>
                    <a:pt x="12242" y="1069911"/>
                  </a:lnTo>
                  <a:lnTo>
                    <a:pt x="0" y="1024191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3926204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0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DB</a:t>
            </a:r>
            <a:r>
              <a:rPr sz="850" b="1" spc="1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Optimisation</a:t>
            </a:r>
            <a:r>
              <a:rPr sz="850" b="1" spc="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5" dirty="0">
                <a:solidFill>
                  <a:srgbClr val="FCE589"/>
                </a:solidFill>
                <a:latin typeface="Arial"/>
                <a:cs typeface="Arial"/>
              </a:rPr>
              <a:t>MySQL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slow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query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log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configuration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automated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weekly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analysis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workflow.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Configure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slow_query_log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threshold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1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second.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Create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Spring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Boot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@Scheduled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job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that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reads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the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slow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query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log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weekly,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sends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top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10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slowest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queries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to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Claude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Code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analysis,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emails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performance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report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to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the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DBA."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226947"/>
            <a:ext cx="4534535" cy="2586355"/>
            <a:chOff x="242646" y="2226947"/>
            <a:chExt cx="4534535" cy="258635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226947"/>
              <a:ext cx="4534204" cy="258589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0040" y="2304366"/>
              <a:ext cx="4343400" cy="2395855"/>
            </a:xfrm>
            <a:custGeom>
              <a:avLst/>
              <a:gdLst/>
              <a:ahLst/>
              <a:cxnLst/>
              <a:rect l="l" t="t" r="r" b="b"/>
              <a:pathLst>
                <a:path w="4343400" h="2395854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40"/>
                  </a:lnTo>
                  <a:lnTo>
                    <a:pt x="0" y="2304351"/>
                  </a:lnTo>
                  <a:lnTo>
                    <a:pt x="6863" y="2338925"/>
                  </a:lnTo>
                  <a:lnTo>
                    <a:pt x="6986" y="2339286"/>
                  </a:lnTo>
                  <a:lnTo>
                    <a:pt x="35676" y="2376960"/>
                  </a:lnTo>
                  <a:lnTo>
                    <a:pt x="79434" y="2394993"/>
                  </a:lnTo>
                  <a:lnTo>
                    <a:pt x="91439" y="2395791"/>
                  </a:lnTo>
                  <a:lnTo>
                    <a:pt x="4251960" y="2395435"/>
                  </a:lnTo>
                  <a:lnTo>
                    <a:pt x="4297680" y="2383193"/>
                  </a:lnTo>
                  <a:lnTo>
                    <a:pt x="4331157" y="2349715"/>
                  </a:lnTo>
                  <a:lnTo>
                    <a:pt x="4340127" y="2328025"/>
                  </a:lnTo>
                  <a:lnTo>
                    <a:pt x="4340250" y="2327665"/>
                  </a:lnTo>
                  <a:lnTo>
                    <a:pt x="4342529" y="2316358"/>
                  </a:lnTo>
                  <a:lnTo>
                    <a:pt x="4342601" y="2316000"/>
                  </a:lnTo>
                  <a:lnTo>
                    <a:pt x="4343376" y="2304351"/>
                  </a:lnTo>
                  <a:lnTo>
                    <a:pt x="4343044" y="91440"/>
                  </a:lnTo>
                  <a:lnTo>
                    <a:pt x="4330801" y="45720"/>
                  </a:lnTo>
                  <a:lnTo>
                    <a:pt x="4297324" y="12230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40" y="2304366"/>
              <a:ext cx="4343400" cy="2395855"/>
            </a:xfrm>
            <a:custGeom>
              <a:avLst/>
              <a:gdLst/>
              <a:ahLst/>
              <a:cxnLst/>
              <a:rect l="l" t="t" r="r" b="b"/>
              <a:pathLst>
                <a:path w="4343400" h="2395854">
                  <a:moveTo>
                    <a:pt x="0" y="91440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30"/>
                  </a:lnTo>
                  <a:lnTo>
                    <a:pt x="4330801" y="45720"/>
                  </a:lnTo>
                  <a:lnTo>
                    <a:pt x="4343044" y="91440"/>
                  </a:lnTo>
                  <a:lnTo>
                    <a:pt x="4343400" y="2303995"/>
                  </a:lnTo>
                  <a:lnTo>
                    <a:pt x="4342601" y="2316000"/>
                  </a:lnTo>
                  <a:lnTo>
                    <a:pt x="4340250" y="2327665"/>
                  </a:lnTo>
                  <a:lnTo>
                    <a:pt x="4316718" y="2368754"/>
                  </a:lnTo>
                  <a:lnTo>
                    <a:pt x="4275629" y="2392286"/>
                  </a:lnTo>
                  <a:lnTo>
                    <a:pt x="91439" y="2395791"/>
                  </a:lnTo>
                  <a:lnTo>
                    <a:pt x="45720" y="2383561"/>
                  </a:lnTo>
                  <a:lnTo>
                    <a:pt x="12242" y="2350071"/>
                  </a:lnTo>
                  <a:lnTo>
                    <a:pt x="0" y="2304351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292680"/>
            <a:ext cx="2818130" cy="120967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SQL /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 Config</a:t>
            </a:r>
            <a:endParaRPr sz="900">
              <a:latin typeface="Calibri"/>
              <a:cs typeface="Calibri"/>
            </a:endParaRPr>
          </a:p>
          <a:p>
            <a:pPr marL="12700" marR="935990">
              <a:lnSpc>
                <a:spcPct val="102499"/>
              </a:lnSpc>
              <a:spcBef>
                <a:spcPts val="50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MySQL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configuration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my.cnf [mysqld]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slow_query_log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ON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slow_query_log_file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/var/log/mysql/slow.log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long_query_time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1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log_queries_not_using_indexes</a:t>
            </a:r>
            <a:r>
              <a:rPr sz="800" spc="1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ON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log_slow_admin_statements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11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ON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140" y="3601709"/>
            <a:ext cx="3066415" cy="650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1135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Weekly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analysis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scheduled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job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(Spring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Boot):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@Scheduled(cron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"0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6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*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*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MON")</a:t>
            </a:r>
            <a:endParaRPr sz="800">
              <a:latin typeface="Courier New"/>
              <a:cs typeface="Courier New"/>
            </a:endParaRPr>
          </a:p>
          <a:p>
            <a:pPr marL="135890" marR="502284" indent="-12382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void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weeklySlowQueryAnalysis()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List&lt;SlowQuery&gt;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top10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slowQueryParser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.getTopByTime("/var/log/mysql/slow.log",</a:t>
            </a:r>
            <a:r>
              <a:rPr sz="800" spc="31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10);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3539" y="4850906"/>
            <a:ext cx="2322195" cy="275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top10.stream().map(SlowQuery::getSql)</a:t>
            </a:r>
            <a:endParaRPr sz="800">
              <a:latin typeface="Courier New"/>
              <a:cs typeface="Courier New"/>
            </a:endParaRPr>
          </a:p>
          <a:p>
            <a:pPr marL="323215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.collect(joining("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68926" y="1038227"/>
            <a:ext cx="4168775" cy="3775075"/>
            <a:chOff x="4768926" y="1038227"/>
            <a:chExt cx="4168775" cy="377507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8227"/>
              <a:ext cx="4168444" cy="377497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475088"/>
                  </a:lnTo>
                  <a:lnTo>
                    <a:pt x="939" y="3489511"/>
                  </a:lnTo>
                  <a:lnTo>
                    <a:pt x="14757" y="3530168"/>
                  </a:lnTo>
                  <a:lnTo>
                    <a:pt x="43003" y="3562109"/>
                  </a:lnTo>
                  <a:lnTo>
                    <a:pt x="81359" y="3581144"/>
                  </a:lnTo>
                  <a:lnTo>
                    <a:pt x="109791" y="3584879"/>
                  </a:lnTo>
                  <a:lnTo>
                    <a:pt x="3868191" y="3584879"/>
                  </a:lnTo>
                  <a:lnTo>
                    <a:pt x="3910262" y="3576526"/>
                  </a:lnTo>
                  <a:lnTo>
                    <a:pt x="3945764" y="3552712"/>
                  </a:lnTo>
                  <a:lnTo>
                    <a:pt x="3969565" y="3517152"/>
                  </a:lnTo>
                  <a:lnTo>
                    <a:pt x="3977995" y="3475088"/>
                  </a:lnTo>
                  <a:lnTo>
                    <a:pt x="3977972" y="109804"/>
                  </a:lnTo>
                  <a:lnTo>
                    <a:pt x="3969642" y="68095"/>
                  </a:lnTo>
                  <a:lnTo>
                    <a:pt x="3945772" y="32535"/>
                  </a:lnTo>
                  <a:lnTo>
                    <a:pt x="3910112" y="8721"/>
                  </a:lnTo>
                  <a:lnTo>
                    <a:pt x="38681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68"/>
                  </a:lnTo>
                  <a:lnTo>
                    <a:pt x="3910112" y="8721"/>
                  </a:lnTo>
                  <a:lnTo>
                    <a:pt x="3945772" y="32535"/>
                  </a:lnTo>
                  <a:lnTo>
                    <a:pt x="3969642" y="68095"/>
                  </a:lnTo>
                  <a:lnTo>
                    <a:pt x="3977995" y="110159"/>
                  </a:lnTo>
                  <a:lnTo>
                    <a:pt x="3977995" y="3475088"/>
                  </a:lnTo>
                  <a:lnTo>
                    <a:pt x="3977055" y="3489505"/>
                  </a:lnTo>
                  <a:lnTo>
                    <a:pt x="3974260" y="3503520"/>
                  </a:lnTo>
                  <a:lnTo>
                    <a:pt x="3955218" y="3541876"/>
                  </a:lnTo>
                  <a:lnTo>
                    <a:pt x="3923271" y="3570122"/>
                  </a:lnTo>
                  <a:lnTo>
                    <a:pt x="3882621" y="3583940"/>
                  </a:lnTo>
                  <a:lnTo>
                    <a:pt x="3868191" y="3584879"/>
                  </a:lnTo>
                  <a:lnTo>
                    <a:pt x="109791" y="3584879"/>
                  </a:lnTo>
                  <a:lnTo>
                    <a:pt x="67882" y="3576526"/>
                  </a:lnTo>
                  <a:lnTo>
                    <a:pt x="32213" y="3552712"/>
                  </a:lnTo>
                  <a:lnTo>
                    <a:pt x="8352" y="3517152"/>
                  </a:lnTo>
                  <a:lnTo>
                    <a:pt x="0" y="3475088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970424" y="1167538"/>
            <a:ext cx="144462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055E45"/>
                </a:solidFill>
                <a:latin typeface="MingLiU_HKSCS-ExtB"/>
                <a:cs typeface="MingLiU_HKSCS-ExtB"/>
              </a:rPr>
              <a:t>📈</a:t>
            </a:r>
            <a:r>
              <a:rPr sz="1300" spc="-265" dirty="0">
                <a:solidFill>
                  <a:srgbClr val="055E45"/>
                </a:solidFill>
                <a:latin typeface="MingLiU_HKSCS-ExtB"/>
                <a:cs typeface="MingLiU_HKSCS-ExtB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Performance</a:t>
            </a:r>
            <a:r>
              <a:rPr sz="1100" b="1" spc="1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Impact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70424" y="1568782"/>
            <a:ext cx="357377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One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well-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placed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index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can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turn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3-second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dashboard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into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sub-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100ms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real-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time</a:t>
            </a:r>
            <a:r>
              <a:rPr sz="900" spc="-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view.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976405" y="2050328"/>
            <a:ext cx="3670935" cy="342265"/>
            <a:chOff x="4976405" y="2050328"/>
            <a:chExt cx="3670935" cy="342265"/>
          </a:xfrm>
        </p:grpSpPr>
        <p:sp>
          <p:nvSpPr>
            <p:cNvPr id="26" name="object 26"/>
            <p:cNvSpPr/>
            <p:nvPr/>
          </p:nvSpPr>
          <p:spPr>
            <a:xfrm>
              <a:off x="4982755" y="2056678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64"/>
                  </a:lnTo>
                  <a:lnTo>
                    <a:pt x="2524" y="47520"/>
                  </a:lnTo>
                  <a:lnTo>
                    <a:pt x="0" y="265328"/>
                  </a:lnTo>
                  <a:lnTo>
                    <a:pt x="540" y="273670"/>
                  </a:lnTo>
                  <a:lnTo>
                    <a:pt x="18739" y="310546"/>
                  </a:lnTo>
                  <a:lnTo>
                    <a:pt x="18859" y="310684"/>
                  </a:lnTo>
                  <a:lnTo>
                    <a:pt x="55734" y="328861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2"/>
                  </a:lnTo>
                  <a:lnTo>
                    <a:pt x="3655806" y="281881"/>
                  </a:lnTo>
                  <a:lnTo>
                    <a:pt x="3657968" y="265328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24"/>
                  </a:lnTo>
                  <a:lnTo>
                    <a:pt x="3593884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82755" y="2056678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64"/>
                  </a:lnTo>
                  <a:lnTo>
                    <a:pt x="64439" y="0"/>
                  </a:lnTo>
                  <a:lnTo>
                    <a:pt x="3593884" y="368"/>
                  </a:lnTo>
                  <a:lnTo>
                    <a:pt x="3632871" y="13570"/>
                  </a:lnTo>
                  <a:lnTo>
                    <a:pt x="3655806" y="47885"/>
                  </a:lnTo>
                  <a:lnTo>
                    <a:pt x="3657968" y="64439"/>
                  </a:lnTo>
                  <a:lnTo>
                    <a:pt x="3657968" y="265328"/>
                  </a:lnTo>
                  <a:lnTo>
                    <a:pt x="3657427" y="273670"/>
                  </a:lnTo>
                  <a:lnTo>
                    <a:pt x="3655806" y="281881"/>
                  </a:lnTo>
                  <a:lnTo>
                    <a:pt x="3632921" y="316042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7"/>
                  </a:lnTo>
                  <a:lnTo>
                    <a:pt x="2162" y="281881"/>
                  </a:lnTo>
                  <a:lnTo>
                    <a:pt x="0" y="265328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089220" y="2144066"/>
            <a:ext cx="5238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P&amp;L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Report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71855" y="2144066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2.8s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0.04s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23860" y="2148016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70×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76405" y="2434452"/>
            <a:ext cx="3670935" cy="342265"/>
            <a:chOff x="4976405" y="2434452"/>
            <a:chExt cx="3670935" cy="342265"/>
          </a:xfrm>
        </p:grpSpPr>
        <p:sp>
          <p:nvSpPr>
            <p:cNvPr id="32" name="object 32"/>
            <p:cNvSpPr/>
            <p:nvPr/>
          </p:nvSpPr>
          <p:spPr>
            <a:xfrm>
              <a:off x="4982755" y="244080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265315"/>
                  </a:lnTo>
                  <a:lnTo>
                    <a:pt x="540" y="273665"/>
                  </a:lnTo>
                  <a:lnTo>
                    <a:pt x="18743" y="310546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2"/>
                  </a:lnTo>
                  <a:lnTo>
                    <a:pt x="3655806" y="281879"/>
                  </a:lnTo>
                  <a:lnTo>
                    <a:pt x="3657968" y="265315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82755" y="244080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70"/>
                  </a:lnTo>
                  <a:lnTo>
                    <a:pt x="3655806" y="47880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5"/>
                  </a:lnTo>
                  <a:lnTo>
                    <a:pt x="3655806" y="281879"/>
                  </a:lnTo>
                  <a:lnTo>
                    <a:pt x="3632921" y="316042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2"/>
                  </a:lnTo>
                  <a:lnTo>
                    <a:pt x="2162" y="281879"/>
                  </a:lnTo>
                  <a:lnTo>
                    <a:pt x="0" y="265315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089220" y="2528178"/>
            <a:ext cx="7543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Budget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vs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Actual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71855" y="2528178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1.8s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0.04s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923860" y="2532140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45×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976405" y="2818576"/>
            <a:ext cx="3670935" cy="342265"/>
            <a:chOff x="4976405" y="2818576"/>
            <a:chExt cx="3670935" cy="342265"/>
          </a:xfrm>
        </p:grpSpPr>
        <p:sp>
          <p:nvSpPr>
            <p:cNvPr id="38" name="object 38"/>
            <p:cNvSpPr/>
            <p:nvPr/>
          </p:nvSpPr>
          <p:spPr>
            <a:xfrm>
              <a:off x="4982755" y="282492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265315"/>
                  </a:lnTo>
                  <a:lnTo>
                    <a:pt x="540" y="273663"/>
                  </a:lnTo>
                  <a:lnTo>
                    <a:pt x="18743" y="310540"/>
                  </a:lnTo>
                  <a:lnTo>
                    <a:pt x="18859" y="310673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35"/>
                  </a:lnTo>
                  <a:lnTo>
                    <a:pt x="3655806" y="281874"/>
                  </a:lnTo>
                  <a:lnTo>
                    <a:pt x="3657968" y="265315"/>
                  </a:lnTo>
                  <a:lnTo>
                    <a:pt x="3657944" y="64071"/>
                  </a:lnTo>
                  <a:lnTo>
                    <a:pt x="3644603" y="25397"/>
                  </a:lnTo>
                  <a:lnTo>
                    <a:pt x="3610443" y="2516"/>
                  </a:lnTo>
                  <a:lnTo>
                    <a:pt x="3593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982755" y="282492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63"/>
                  </a:lnTo>
                  <a:lnTo>
                    <a:pt x="3655806" y="47875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3"/>
                  </a:lnTo>
                  <a:lnTo>
                    <a:pt x="3655806" y="281874"/>
                  </a:lnTo>
                  <a:lnTo>
                    <a:pt x="3632921" y="316035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85"/>
                  </a:lnTo>
                  <a:lnTo>
                    <a:pt x="2162" y="281874"/>
                  </a:lnTo>
                  <a:lnTo>
                    <a:pt x="0" y="265315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089220" y="2912302"/>
            <a:ext cx="64262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Balance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Sheet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771855" y="2912302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3.2s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0.08s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923860" y="2916252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40×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976405" y="3202332"/>
            <a:ext cx="3670935" cy="342265"/>
            <a:chOff x="4976405" y="3202332"/>
            <a:chExt cx="3670935" cy="342265"/>
          </a:xfrm>
        </p:grpSpPr>
        <p:sp>
          <p:nvSpPr>
            <p:cNvPr id="44" name="object 44"/>
            <p:cNvSpPr/>
            <p:nvPr/>
          </p:nvSpPr>
          <p:spPr>
            <a:xfrm>
              <a:off x="4982755" y="320868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265315"/>
                  </a:lnTo>
                  <a:lnTo>
                    <a:pt x="540" y="273665"/>
                  </a:lnTo>
                  <a:lnTo>
                    <a:pt x="18743" y="310541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0"/>
                  </a:lnTo>
                  <a:lnTo>
                    <a:pt x="3655806" y="281879"/>
                  </a:lnTo>
                  <a:lnTo>
                    <a:pt x="3657968" y="265315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982755" y="320868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70"/>
                  </a:lnTo>
                  <a:lnTo>
                    <a:pt x="3655806" y="47880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5"/>
                  </a:lnTo>
                  <a:lnTo>
                    <a:pt x="3655806" y="281879"/>
                  </a:lnTo>
                  <a:lnTo>
                    <a:pt x="3632921" y="316040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0"/>
                  </a:lnTo>
                  <a:lnTo>
                    <a:pt x="2162" y="281879"/>
                  </a:lnTo>
                  <a:lnTo>
                    <a:pt x="0" y="265315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089220" y="3296058"/>
            <a:ext cx="57721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Trial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Balance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771855" y="3296058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1.4s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0.06s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923860" y="3300021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23×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976405" y="3586456"/>
            <a:ext cx="3670935" cy="342265"/>
            <a:chOff x="4976405" y="3586456"/>
            <a:chExt cx="3670935" cy="342265"/>
          </a:xfrm>
        </p:grpSpPr>
        <p:sp>
          <p:nvSpPr>
            <p:cNvPr id="50" name="object 50"/>
            <p:cNvSpPr/>
            <p:nvPr/>
          </p:nvSpPr>
          <p:spPr>
            <a:xfrm>
              <a:off x="4982755" y="359280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2"/>
                  </a:lnTo>
                  <a:lnTo>
                    <a:pt x="2524" y="47517"/>
                  </a:lnTo>
                  <a:lnTo>
                    <a:pt x="0" y="265315"/>
                  </a:lnTo>
                  <a:lnTo>
                    <a:pt x="540" y="273663"/>
                  </a:lnTo>
                  <a:lnTo>
                    <a:pt x="18743" y="310540"/>
                  </a:lnTo>
                  <a:lnTo>
                    <a:pt x="18859" y="310673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35"/>
                  </a:lnTo>
                  <a:lnTo>
                    <a:pt x="3655806" y="281874"/>
                  </a:lnTo>
                  <a:lnTo>
                    <a:pt x="3657968" y="265315"/>
                  </a:lnTo>
                  <a:lnTo>
                    <a:pt x="3657944" y="64071"/>
                  </a:lnTo>
                  <a:lnTo>
                    <a:pt x="3644603" y="25395"/>
                  </a:lnTo>
                  <a:lnTo>
                    <a:pt x="3610443" y="2516"/>
                  </a:lnTo>
                  <a:lnTo>
                    <a:pt x="3593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982755" y="359280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2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57"/>
                  </a:lnTo>
                  <a:lnTo>
                    <a:pt x="3655806" y="47875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3"/>
                  </a:lnTo>
                  <a:lnTo>
                    <a:pt x="3655806" y="281874"/>
                  </a:lnTo>
                  <a:lnTo>
                    <a:pt x="3632921" y="316035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85"/>
                  </a:lnTo>
                  <a:lnTo>
                    <a:pt x="2162" y="281874"/>
                  </a:lnTo>
                  <a:lnTo>
                    <a:pt x="0" y="265315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089220" y="3680182"/>
            <a:ext cx="5346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Bank</a:t>
            </a:r>
            <a:r>
              <a:rPr sz="850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Recon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771855" y="3680182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0.9s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0.02s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923860" y="3684132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45×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56" name="object 56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406044" y="4351225"/>
            <a:ext cx="6042025" cy="5753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Send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Claude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Code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API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for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analysis:</a:t>
            </a:r>
            <a:endParaRPr sz="800">
              <a:latin typeface="Courier New"/>
              <a:cs typeface="Courier New"/>
            </a:endParaRPr>
          </a:p>
          <a:p>
            <a:pPr marL="290195" marR="3136900" indent="-12509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String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analysis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claudeService.analyze(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"Analyze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these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MySQL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slow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queries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endParaRPr sz="800">
              <a:latin typeface="Courier New"/>
              <a:cs typeface="Courier New"/>
            </a:endParaRPr>
          </a:p>
          <a:p>
            <a:pPr marL="50800">
              <a:lnSpc>
                <a:spcPct val="100000"/>
              </a:lnSpc>
              <a:spcBef>
                <a:spcPts val="55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spc="-305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307" baseline="24305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r>
              <a:rPr sz="950" spc="-325" dirty="0">
                <a:solidFill>
                  <a:srgbClr val="774409"/>
                </a:solidFill>
                <a:latin typeface="Calibri"/>
                <a:cs typeface="Calibri"/>
              </a:rPr>
              <a:t>B</a:t>
            </a:r>
            <a:r>
              <a:rPr sz="1200" spc="-7" baseline="24305" dirty="0">
                <a:solidFill>
                  <a:srgbClr val="E1E7EF"/>
                </a:solidFill>
                <a:latin typeface="Courier New"/>
                <a:cs typeface="Courier New"/>
              </a:rPr>
              <a:t>W</a:t>
            </a:r>
            <a:r>
              <a:rPr sz="1200" spc="-652" baseline="24305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742" baseline="24305" dirty="0">
                <a:solidFill>
                  <a:srgbClr val="E1E7EF"/>
                </a:solidFill>
                <a:latin typeface="Courier New"/>
                <a:cs typeface="Courier New"/>
              </a:rPr>
              <a:t>M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254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375" baseline="24305" dirty="0">
                <a:solidFill>
                  <a:srgbClr val="E1E7EF"/>
                </a:solidFill>
                <a:latin typeface="Courier New"/>
                <a:cs typeface="Courier New"/>
              </a:rPr>
              <a:t>Y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307" baseline="24305" dirty="0">
                <a:solidFill>
                  <a:srgbClr val="E1E7EF"/>
                </a:solidFill>
                <a:latin typeface="Courier New"/>
                <a:cs typeface="Courier New"/>
              </a:rPr>
              <a:t>F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307" baseline="24305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307" baseline="24305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307" baseline="24305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1200" spc="-307" baseline="24305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950" spc="-6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307" baseline="24305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1200" spc="-307" baseline="24305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de</a:t>
            </a:r>
            <a:r>
              <a:rPr sz="1200" spc="-307" baseline="24305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x</a:t>
            </a:r>
            <a:r>
              <a:rPr sz="1200" spc="-307" baseline="24305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07" baseline="24305" dirty="0">
                <a:solidFill>
                  <a:srgbClr val="E1E7EF"/>
                </a:solidFill>
                <a:latin typeface="Courier New"/>
                <a:cs typeface="Courier New"/>
              </a:rPr>
              <a:t>d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459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7" baseline="24305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1200" spc="-457" baseline="24305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h</a:t>
            </a:r>
            <a:r>
              <a:rPr sz="1200" spc="-1425" baseline="24305" dirty="0">
                <a:solidFill>
                  <a:srgbClr val="E1E7EF"/>
                </a:solidFill>
                <a:latin typeface="Courier New"/>
                <a:cs typeface="Courier New"/>
              </a:rPr>
              <a:t>g</a:t>
            </a:r>
            <a:r>
              <a:rPr sz="1200" spc="22" baseline="24305" dirty="0">
                <a:solidFill>
                  <a:srgbClr val="E1E7EF"/>
                </a:solidFill>
                <a:latin typeface="Courier New"/>
                <a:cs typeface="Courier New"/>
              </a:rPr>
              <a:t>g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405" baseline="24305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44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7" baseline="24305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1200" spc="-802" baseline="24305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ti</a:t>
            </a:r>
            <a:r>
              <a:rPr sz="950" spc="-18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480" baseline="24305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950" spc="-114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547" baseline="24305" dirty="0">
                <a:solidFill>
                  <a:srgbClr val="E1E7EF"/>
                </a:solidFill>
                <a:latin typeface="Courier New"/>
                <a:cs typeface="Courier New"/>
              </a:rPr>
              <a:t>p</a:t>
            </a:r>
            <a:r>
              <a:rPr sz="950" spc="-385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1200" spc="-150" baseline="24305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14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1200" spc="-547" baseline="24305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g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-819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baseline="24305" dirty="0">
                <a:solidFill>
                  <a:srgbClr val="E1E7EF"/>
                </a:solidFill>
                <a:latin typeface="Courier New"/>
                <a:cs typeface="Courier New"/>
              </a:rPr>
              <a:t>m</a:t>
            </a:r>
            <a:r>
              <a:rPr sz="1200" spc="-240" baseline="24305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375" dirty="0">
                <a:solidFill>
                  <a:srgbClr val="774409"/>
                </a:solidFill>
                <a:latin typeface="Calibri"/>
                <a:cs typeface="Calibri"/>
              </a:rPr>
              <a:t>ti</a:t>
            </a:r>
            <a:r>
              <a:rPr sz="1200" spc="-172" baseline="24305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385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150" baseline="24305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400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baseline="24305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1200" spc="-547" baseline="24305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484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1200" spc="52" baseline="24305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1200" spc="-337" baseline="24305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4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3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950" spc="4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3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-1095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1364" baseline="24305" dirty="0">
                <a:solidFill>
                  <a:srgbClr val="E1E7EF"/>
                </a:solidFill>
                <a:latin typeface="Courier New"/>
                <a:cs typeface="Courier New"/>
              </a:rPr>
              <a:t>:</a:t>
            </a:r>
            <a:r>
              <a:rPr sz="1200" spc="75" baseline="24305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1200" spc="705" baseline="243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1200" spc="-494" baseline="24305" dirty="0">
                <a:solidFill>
                  <a:srgbClr val="E1E7EF"/>
                </a:solidFill>
                <a:latin typeface="Courier New"/>
                <a:cs typeface="Courier New"/>
              </a:rPr>
              <a:t>"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fi</a:t>
            </a:r>
            <a:r>
              <a:rPr sz="950" spc="-535" dirty="0">
                <a:solidFill>
                  <a:srgbClr val="774409"/>
                </a:solidFill>
                <a:latin typeface="Calibri"/>
                <a:cs typeface="Calibri"/>
              </a:rPr>
              <a:t>tti</a:t>
            </a:r>
            <a:r>
              <a:rPr sz="1200" spc="22" baseline="24305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g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indexes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 on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live 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10M-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row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table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requires careful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75" dirty="0">
                <a:solidFill>
                  <a:srgbClr val="774409"/>
                </a:solidFill>
                <a:latin typeface="Calibri"/>
                <a:cs typeface="Calibri"/>
              </a:rPr>
              <a:t>planning.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63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091D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Database</a:t>
            </a:r>
            <a:r>
              <a:rPr spc="-85" dirty="0"/>
              <a:t> </a:t>
            </a:r>
            <a:r>
              <a:rPr dirty="0"/>
              <a:t>Scaling</a:t>
            </a:r>
            <a:r>
              <a:rPr spc="-85" dirty="0"/>
              <a:t> </a:t>
            </a:r>
            <a:r>
              <a:rPr spc="-10" dirty="0"/>
              <a:t>Roadmap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7584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70" dirty="0">
                <a:solidFill>
                  <a:srgbClr val="9FBFFF"/>
                </a:solidFill>
                <a:latin typeface="Arial"/>
                <a:cs typeface="Arial"/>
              </a:rPr>
              <a:t>From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80" dirty="0">
                <a:solidFill>
                  <a:srgbClr val="9FBFFF"/>
                </a:solidFill>
                <a:latin typeface="Arial"/>
                <a:cs typeface="Arial"/>
              </a:rPr>
              <a:t>Robi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0" dirty="0">
                <a:solidFill>
                  <a:srgbClr val="9FBFFF"/>
                </a:solidFill>
                <a:latin typeface="Arial"/>
                <a:cs typeface="Arial"/>
              </a:rPr>
              <a:t>Cloud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Arial"/>
                <a:cs typeface="Arial"/>
              </a:rPr>
              <a:t>shared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10" dirty="0">
                <a:solidFill>
                  <a:srgbClr val="9FBFFF"/>
                </a:solidFill>
                <a:latin typeface="Arial"/>
                <a:cs typeface="Arial"/>
              </a:rPr>
              <a:t>MySQL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9FBFFF"/>
                </a:solidFill>
                <a:latin typeface="Arial"/>
                <a:cs typeface="Arial"/>
              </a:rPr>
              <a:t>to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0" dirty="0">
                <a:solidFill>
                  <a:srgbClr val="9FBFFF"/>
                </a:solidFill>
                <a:latin typeface="Arial"/>
                <a:cs typeface="Arial"/>
              </a:rPr>
              <a:t>scaled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architecture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1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8227"/>
            <a:ext cx="4534535" cy="1306195"/>
            <a:chOff x="242646" y="1038227"/>
            <a:chExt cx="4534535" cy="13061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8227"/>
              <a:ext cx="4534204" cy="1306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0040" y="1115646"/>
              <a:ext cx="4343400" cy="1115695"/>
            </a:xfrm>
            <a:custGeom>
              <a:avLst/>
              <a:gdLst/>
              <a:ahLst/>
              <a:cxnLst/>
              <a:rect l="l" t="t" r="r" b="b"/>
              <a:pathLst>
                <a:path w="4343400" h="1115695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24191"/>
                  </a:lnTo>
                  <a:lnTo>
                    <a:pt x="774" y="1035840"/>
                  </a:lnTo>
                  <a:lnTo>
                    <a:pt x="798" y="1036198"/>
                  </a:lnTo>
                  <a:lnTo>
                    <a:pt x="3076" y="1047505"/>
                  </a:lnTo>
                  <a:lnTo>
                    <a:pt x="3149" y="1047865"/>
                  </a:lnTo>
                  <a:lnTo>
                    <a:pt x="6863" y="1058765"/>
                  </a:lnTo>
                  <a:lnTo>
                    <a:pt x="35676" y="1096800"/>
                  </a:lnTo>
                  <a:lnTo>
                    <a:pt x="79434" y="1114833"/>
                  </a:lnTo>
                  <a:lnTo>
                    <a:pt x="91439" y="1115631"/>
                  </a:lnTo>
                  <a:lnTo>
                    <a:pt x="4251960" y="1115275"/>
                  </a:lnTo>
                  <a:lnTo>
                    <a:pt x="4297680" y="1103033"/>
                  </a:lnTo>
                  <a:lnTo>
                    <a:pt x="4331157" y="1069555"/>
                  </a:lnTo>
                  <a:lnTo>
                    <a:pt x="4340127" y="1047865"/>
                  </a:lnTo>
                  <a:lnTo>
                    <a:pt x="4340250" y="1047505"/>
                  </a:lnTo>
                  <a:lnTo>
                    <a:pt x="4342529" y="1036198"/>
                  </a:lnTo>
                  <a:lnTo>
                    <a:pt x="4342601" y="1035840"/>
                  </a:lnTo>
                  <a:lnTo>
                    <a:pt x="4343376" y="1024191"/>
                  </a:lnTo>
                  <a:lnTo>
                    <a:pt x="4343044" y="91439"/>
                  </a:lnTo>
                  <a:lnTo>
                    <a:pt x="4330801" y="45720"/>
                  </a:lnTo>
                  <a:lnTo>
                    <a:pt x="4297324" y="12230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1115646"/>
              <a:ext cx="4343400" cy="1115695"/>
            </a:xfrm>
            <a:custGeom>
              <a:avLst/>
              <a:gdLst/>
              <a:ahLst/>
              <a:cxnLst/>
              <a:rect l="l" t="t" r="r" b="b"/>
              <a:pathLst>
                <a:path w="4343400" h="1115695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30"/>
                  </a:lnTo>
                  <a:lnTo>
                    <a:pt x="4330801" y="45720"/>
                  </a:lnTo>
                  <a:lnTo>
                    <a:pt x="4343044" y="91439"/>
                  </a:lnTo>
                  <a:lnTo>
                    <a:pt x="4343400" y="1023835"/>
                  </a:lnTo>
                  <a:lnTo>
                    <a:pt x="4342601" y="1035840"/>
                  </a:lnTo>
                  <a:lnTo>
                    <a:pt x="4340250" y="1047505"/>
                  </a:lnTo>
                  <a:lnTo>
                    <a:pt x="4316718" y="1088594"/>
                  </a:lnTo>
                  <a:lnTo>
                    <a:pt x="4275629" y="1112126"/>
                  </a:lnTo>
                  <a:lnTo>
                    <a:pt x="91439" y="1115631"/>
                  </a:lnTo>
                  <a:lnTo>
                    <a:pt x="45720" y="1103401"/>
                  </a:lnTo>
                  <a:lnTo>
                    <a:pt x="12242" y="1069911"/>
                  </a:lnTo>
                  <a:lnTo>
                    <a:pt x="0" y="1024191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4008120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0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DB</a:t>
            </a:r>
            <a:r>
              <a:rPr sz="850" b="1" spc="1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Optimisation</a:t>
            </a:r>
            <a:r>
              <a:rPr sz="850" b="1" spc="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"Design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3-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phase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database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scaling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roadmap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starting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from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Robi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Cloud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MySQL.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Phase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1: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current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(single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5" dirty="0">
                <a:solidFill>
                  <a:srgbClr val="FCE589"/>
                </a:solidFill>
                <a:latin typeface="Arial"/>
                <a:cs typeface="Arial"/>
              </a:rPr>
              <a:t>MySQL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+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connection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pooling);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Phase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2: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add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read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replica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for report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queries;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Phase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3: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if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needed,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add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Redis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session/cache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+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0" dirty="0">
                <a:solidFill>
                  <a:srgbClr val="FCE589"/>
                </a:solidFill>
                <a:latin typeface="Arial"/>
                <a:cs typeface="Arial"/>
              </a:rPr>
              <a:t>ProxySQL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 connection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routing.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Include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HikariCP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configuration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current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setup."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226947"/>
            <a:ext cx="4534535" cy="2586355"/>
            <a:chOff x="242646" y="2226947"/>
            <a:chExt cx="4534535" cy="258635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226947"/>
              <a:ext cx="4534204" cy="258589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0040" y="2304366"/>
              <a:ext cx="4343400" cy="2395855"/>
            </a:xfrm>
            <a:custGeom>
              <a:avLst/>
              <a:gdLst/>
              <a:ahLst/>
              <a:cxnLst/>
              <a:rect l="l" t="t" r="r" b="b"/>
              <a:pathLst>
                <a:path w="4343400" h="2395854">
                  <a:moveTo>
                    <a:pt x="42516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40"/>
                  </a:lnTo>
                  <a:lnTo>
                    <a:pt x="0" y="2304351"/>
                  </a:lnTo>
                  <a:lnTo>
                    <a:pt x="6863" y="2338925"/>
                  </a:lnTo>
                  <a:lnTo>
                    <a:pt x="6986" y="2339286"/>
                  </a:lnTo>
                  <a:lnTo>
                    <a:pt x="35676" y="2376960"/>
                  </a:lnTo>
                  <a:lnTo>
                    <a:pt x="79434" y="2394993"/>
                  </a:lnTo>
                  <a:lnTo>
                    <a:pt x="91439" y="2395791"/>
                  </a:lnTo>
                  <a:lnTo>
                    <a:pt x="4251960" y="2395435"/>
                  </a:lnTo>
                  <a:lnTo>
                    <a:pt x="4297680" y="2383193"/>
                  </a:lnTo>
                  <a:lnTo>
                    <a:pt x="4331157" y="2349715"/>
                  </a:lnTo>
                  <a:lnTo>
                    <a:pt x="4340127" y="2328025"/>
                  </a:lnTo>
                  <a:lnTo>
                    <a:pt x="4340250" y="2327665"/>
                  </a:lnTo>
                  <a:lnTo>
                    <a:pt x="4342529" y="2316358"/>
                  </a:lnTo>
                  <a:lnTo>
                    <a:pt x="4342601" y="2316000"/>
                  </a:lnTo>
                  <a:lnTo>
                    <a:pt x="4343376" y="2304351"/>
                  </a:lnTo>
                  <a:lnTo>
                    <a:pt x="4343044" y="91440"/>
                  </a:lnTo>
                  <a:lnTo>
                    <a:pt x="4330801" y="45720"/>
                  </a:lnTo>
                  <a:lnTo>
                    <a:pt x="4297324" y="12230"/>
                  </a:lnTo>
                  <a:lnTo>
                    <a:pt x="4263604" y="79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40" y="2304366"/>
              <a:ext cx="4343400" cy="2395855"/>
            </a:xfrm>
            <a:custGeom>
              <a:avLst/>
              <a:gdLst/>
              <a:ahLst/>
              <a:cxnLst/>
              <a:rect l="l" t="t" r="r" b="b"/>
              <a:pathLst>
                <a:path w="4343400" h="2395854">
                  <a:moveTo>
                    <a:pt x="0" y="91440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604" y="0"/>
                  </a:lnTo>
                  <a:lnTo>
                    <a:pt x="4297324" y="12230"/>
                  </a:lnTo>
                  <a:lnTo>
                    <a:pt x="4330801" y="45720"/>
                  </a:lnTo>
                  <a:lnTo>
                    <a:pt x="4343044" y="91440"/>
                  </a:lnTo>
                  <a:lnTo>
                    <a:pt x="4343400" y="2303995"/>
                  </a:lnTo>
                  <a:lnTo>
                    <a:pt x="4342601" y="2316000"/>
                  </a:lnTo>
                  <a:lnTo>
                    <a:pt x="4340250" y="2327665"/>
                  </a:lnTo>
                  <a:lnTo>
                    <a:pt x="4316718" y="2368754"/>
                  </a:lnTo>
                  <a:lnTo>
                    <a:pt x="4275629" y="2392286"/>
                  </a:lnTo>
                  <a:lnTo>
                    <a:pt x="91439" y="2395791"/>
                  </a:lnTo>
                  <a:lnTo>
                    <a:pt x="45720" y="2383561"/>
                  </a:lnTo>
                  <a:lnTo>
                    <a:pt x="12242" y="2350071"/>
                  </a:lnTo>
                  <a:lnTo>
                    <a:pt x="0" y="2304351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292680"/>
            <a:ext cx="3065780" cy="108458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1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SQL /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 Config</a:t>
            </a:r>
            <a:endParaRPr sz="900">
              <a:latin typeface="Calibri"/>
              <a:cs typeface="Calibri"/>
            </a:endParaRPr>
          </a:p>
          <a:p>
            <a:pPr marL="12700" marR="500380">
              <a:lnSpc>
                <a:spcPct val="102499"/>
              </a:lnSpc>
              <a:spcBef>
                <a:spcPts val="50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Phase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1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(NOW)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Single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MySQL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HikariCP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800" spc="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application.properties: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spring.datasource.hikari.maximum-pool-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size=20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spring.datasource.hikari.minimum-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idle=5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spring.datasource.hikari.connection-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timeout=30000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spring.datasource.hikari.idle-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timeout=600000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140" y="3476779"/>
            <a:ext cx="3314065" cy="400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75920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Phase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2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(when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reports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&gt;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5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sec)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Read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Replica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@Bean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@Primary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DataSource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writeDataSource()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/*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primary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*/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5140" y="4850906"/>
            <a:ext cx="8826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68926" y="1038227"/>
            <a:ext cx="4168775" cy="3775075"/>
            <a:chOff x="4768926" y="1038227"/>
            <a:chExt cx="4168775" cy="377507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8227"/>
              <a:ext cx="4168444" cy="377497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475088"/>
                  </a:lnTo>
                  <a:lnTo>
                    <a:pt x="939" y="3489511"/>
                  </a:lnTo>
                  <a:lnTo>
                    <a:pt x="14757" y="3530168"/>
                  </a:lnTo>
                  <a:lnTo>
                    <a:pt x="43003" y="3562109"/>
                  </a:lnTo>
                  <a:lnTo>
                    <a:pt x="81359" y="3581144"/>
                  </a:lnTo>
                  <a:lnTo>
                    <a:pt x="109791" y="3584879"/>
                  </a:lnTo>
                  <a:lnTo>
                    <a:pt x="3868191" y="3584879"/>
                  </a:lnTo>
                  <a:lnTo>
                    <a:pt x="3910262" y="3576526"/>
                  </a:lnTo>
                  <a:lnTo>
                    <a:pt x="3945764" y="3552712"/>
                  </a:lnTo>
                  <a:lnTo>
                    <a:pt x="3969565" y="3517152"/>
                  </a:lnTo>
                  <a:lnTo>
                    <a:pt x="3977995" y="3475088"/>
                  </a:lnTo>
                  <a:lnTo>
                    <a:pt x="3977972" y="109804"/>
                  </a:lnTo>
                  <a:lnTo>
                    <a:pt x="3969642" y="68095"/>
                  </a:lnTo>
                  <a:lnTo>
                    <a:pt x="3945772" y="32535"/>
                  </a:lnTo>
                  <a:lnTo>
                    <a:pt x="3910112" y="8721"/>
                  </a:lnTo>
                  <a:lnTo>
                    <a:pt x="38681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45964" y="1115277"/>
              <a:ext cx="3978275" cy="3585210"/>
            </a:xfrm>
            <a:custGeom>
              <a:avLst/>
              <a:gdLst/>
              <a:ahLst/>
              <a:cxnLst/>
              <a:rect l="l" t="t" r="r" b="b"/>
              <a:pathLst>
                <a:path w="3978275" h="3585210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68"/>
                  </a:lnTo>
                  <a:lnTo>
                    <a:pt x="3910112" y="8721"/>
                  </a:lnTo>
                  <a:lnTo>
                    <a:pt x="3945772" y="32535"/>
                  </a:lnTo>
                  <a:lnTo>
                    <a:pt x="3969642" y="68095"/>
                  </a:lnTo>
                  <a:lnTo>
                    <a:pt x="3977995" y="110159"/>
                  </a:lnTo>
                  <a:lnTo>
                    <a:pt x="3977995" y="3475088"/>
                  </a:lnTo>
                  <a:lnTo>
                    <a:pt x="3977055" y="3489505"/>
                  </a:lnTo>
                  <a:lnTo>
                    <a:pt x="3974260" y="3503520"/>
                  </a:lnTo>
                  <a:lnTo>
                    <a:pt x="3955218" y="3541876"/>
                  </a:lnTo>
                  <a:lnTo>
                    <a:pt x="3923271" y="3570122"/>
                  </a:lnTo>
                  <a:lnTo>
                    <a:pt x="3882621" y="3583940"/>
                  </a:lnTo>
                  <a:lnTo>
                    <a:pt x="3868191" y="3584879"/>
                  </a:lnTo>
                  <a:lnTo>
                    <a:pt x="109791" y="3584879"/>
                  </a:lnTo>
                  <a:lnTo>
                    <a:pt x="67882" y="3576526"/>
                  </a:lnTo>
                  <a:lnTo>
                    <a:pt x="32213" y="3552712"/>
                  </a:lnTo>
                  <a:lnTo>
                    <a:pt x="8352" y="3517152"/>
                  </a:lnTo>
                  <a:lnTo>
                    <a:pt x="0" y="3475088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970424" y="1167538"/>
            <a:ext cx="144462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055E45"/>
                </a:solidFill>
                <a:latin typeface="MingLiU_HKSCS-ExtB"/>
                <a:cs typeface="MingLiU_HKSCS-ExtB"/>
              </a:rPr>
              <a:t>📈</a:t>
            </a:r>
            <a:r>
              <a:rPr sz="1300" spc="-265" dirty="0">
                <a:solidFill>
                  <a:srgbClr val="055E45"/>
                </a:solidFill>
                <a:latin typeface="MingLiU_HKSCS-ExtB"/>
                <a:cs typeface="MingLiU_HKSCS-ExtB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Performance</a:t>
            </a:r>
            <a:r>
              <a:rPr sz="1100" b="1" spc="15" dirty="0">
                <a:solidFill>
                  <a:srgbClr val="055E4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55E45"/>
                </a:solidFill>
                <a:latin typeface="Calibri"/>
                <a:cs typeface="Calibri"/>
              </a:rPr>
              <a:t>Impact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70424" y="1568782"/>
            <a:ext cx="357377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One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well-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placed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index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can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turn</a:t>
            </a:r>
            <a:r>
              <a:rPr sz="9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3-second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dashboard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into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a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sub-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100ms</a:t>
            </a:r>
            <a:r>
              <a:rPr sz="9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real-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time</a:t>
            </a:r>
            <a:r>
              <a:rPr sz="900" spc="-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view.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976405" y="2050328"/>
            <a:ext cx="3670935" cy="342265"/>
            <a:chOff x="4976405" y="2050328"/>
            <a:chExt cx="3670935" cy="342265"/>
          </a:xfrm>
        </p:grpSpPr>
        <p:sp>
          <p:nvSpPr>
            <p:cNvPr id="26" name="object 26"/>
            <p:cNvSpPr/>
            <p:nvPr/>
          </p:nvSpPr>
          <p:spPr>
            <a:xfrm>
              <a:off x="4982755" y="2056678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64"/>
                  </a:lnTo>
                  <a:lnTo>
                    <a:pt x="2524" y="47520"/>
                  </a:lnTo>
                  <a:lnTo>
                    <a:pt x="0" y="265328"/>
                  </a:lnTo>
                  <a:lnTo>
                    <a:pt x="540" y="273670"/>
                  </a:lnTo>
                  <a:lnTo>
                    <a:pt x="18739" y="310546"/>
                  </a:lnTo>
                  <a:lnTo>
                    <a:pt x="18859" y="310684"/>
                  </a:lnTo>
                  <a:lnTo>
                    <a:pt x="55734" y="328861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2"/>
                  </a:lnTo>
                  <a:lnTo>
                    <a:pt x="3655806" y="281881"/>
                  </a:lnTo>
                  <a:lnTo>
                    <a:pt x="3657968" y="265328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24"/>
                  </a:lnTo>
                  <a:lnTo>
                    <a:pt x="3593884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82755" y="2056678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64"/>
                  </a:lnTo>
                  <a:lnTo>
                    <a:pt x="64439" y="0"/>
                  </a:lnTo>
                  <a:lnTo>
                    <a:pt x="3593884" y="368"/>
                  </a:lnTo>
                  <a:lnTo>
                    <a:pt x="3632871" y="13570"/>
                  </a:lnTo>
                  <a:lnTo>
                    <a:pt x="3655806" y="47885"/>
                  </a:lnTo>
                  <a:lnTo>
                    <a:pt x="3657968" y="64439"/>
                  </a:lnTo>
                  <a:lnTo>
                    <a:pt x="3657968" y="265328"/>
                  </a:lnTo>
                  <a:lnTo>
                    <a:pt x="3657427" y="273670"/>
                  </a:lnTo>
                  <a:lnTo>
                    <a:pt x="3655806" y="281881"/>
                  </a:lnTo>
                  <a:lnTo>
                    <a:pt x="3632921" y="316042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7"/>
                  </a:lnTo>
                  <a:lnTo>
                    <a:pt x="2162" y="281881"/>
                  </a:lnTo>
                  <a:lnTo>
                    <a:pt x="0" y="265328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089220" y="2144066"/>
            <a:ext cx="5238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P&amp;L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Report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71855" y="2144066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2.8s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0.04s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23860" y="2148016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70×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76405" y="2434452"/>
            <a:ext cx="3670935" cy="342265"/>
            <a:chOff x="4976405" y="2434452"/>
            <a:chExt cx="3670935" cy="342265"/>
          </a:xfrm>
        </p:grpSpPr>
        <p:sp>
          <p:nvSpPr>
            <p:cNvPr id="32" name="object 32"/>
            <p:cNvSpPr/>
            <p:nvPr/>
          </p:nvSpPr>
          <p:spPr>
            <a:xfrm>
              <a:off x="4982755" y="244080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265315"/>
                  </a:lnTo>
                  <a:lnTo>
                    <a:pt x="540" y="273665"/>
                  </a:lnTo>
                  <a:lnTo>
                    <a:pt x="18743" y="310546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2"/>
                  </a:lnTo>
                  <a:lnTo>
                    <a:pt x="3655806" y="281879"/>
                  </a:lnTo>
                  <a:lnTo>
                    <a:pt x="3657968" y="265315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82755" y="244080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70"/>
                  </a:lnTo>
                  <a:lnTo>
                    <a:pt x="3655806" y="47880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5"/>
                  </a:lnTo>
                  <a:lnTo>
                    <a:pt x="3655806" y="281879"/>
                  </a:lnTo>
                  <a:lnTo>
                    <a:pt x="3632921" y="316042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2"/>
                  </a:lnTo>
                  <a:lnTo>
                    <a:pt x="2162" y="281879"/>
                  </a:lnTo>
                  <a:lnTo>
                    <a:pt x="0" y="265315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089220" y="2528178"/>
            <a:ext cx="7543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Budget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vs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Actual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71855" y="2528178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1.8s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0.04s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923860" y="2532140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45×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976405" y="2818576"/>
            <a:ext cx="3670935" cy="342265"/>
            <a:chOff x="4976405" y="2818576"/>
            <a:chExt cx="3670935" cy="342265"/>
          </a:xfrm>
        </p:grpSpPr>
        <p:sp>
          <p:nvSpPr>
            <p:cNvPr id="38" name="object 38"/>
            <p:cNvSpPr/>
            <p:nvPr/>
          </p:nvSpPr>
          <p:spPr>
            <a:xfrm>
              <a:off x="4982755" y="282492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265315"/>
                  </a:lnTo>
                  <a:lnTo>
                    <a:pt x="540" y="273663"/>
                  </a:lnTo>
                  <a:lnTo>
                    <a:pt x="18743" y="310540"/>
                  </a:lnTo>
                  <a:lnTo>
                    <a:pt x="18859" y="310673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35"/>
                  </a:lnTo>
                  <a:lnTo>
                    <a:pt x="3655806" y="281874"/>
                  </a:lnTo>
                  <a:lnTo>
                    <a:pt x="3657968" y="265315"/>
                  </a:lnTo>
                  <a:lnTo>
                    <a:pt x="3657944" y="64071"/>
                  </a:lnTo>
                  <a:lnTo>
                    <a:pt x="3644603" y="25397"/>
                  </a:lnTo>
                  <a:lnTo>
                    <a:pt x="3610443" y="2516"/>
                  </a:lnTo>
                  <a:lnTo>
                    <a:pt x="3593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982755" y="282492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63"/>
                  </a:lnTo>
                  <a:lnTo>
                    <a:pt x="3655806" y="47875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3"/>
                  </a:lnTo>
                  <a:lnTo>
                    <a:pt x="3655806" y="281874"/>
                  </a:lnTo>
                  <a:lnTo>
                    <a:pt x="3632921" y="316035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85"/>
                  </a:lnTo>
                  <a:lnTo>
                    <a:pt x="2162" y="281874"/>
                  </a:lnTo>
                  <a:lnTo>
                    <a:pt x="0" y="265315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089220" y="2912302"/>
            <a:ext cx="64262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Balance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Sheet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771855" y="2912302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3.2s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0.08s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923860" y="2916252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40×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976405" y="3202332"/>
            <a:ext cx="3670935" cy="342265"/>
            <a:chOff x="4976405" y="3202332"/>
            <a:chExt cx="3670935" cy="342265"/>
          </a:xfrm>
        </p:grpSpPr>
        <p:sp>
          <p:nvSpPr>
            <p:cNvPr id="44" name="object 44"/>
            <p:cNvSpPr/>
            <p:nvPr/>
          </p:nvSpPr>
          <p:spPr>
            <a:xfrm>
              <a:off x="4982755" y="320868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265315"/>
                  </a:lnTo>
                  <a:lnTo>
                    <a:pt x="540" y="273665"/>
                  </a:lnTo>
                  <a:lnTo>
                    <a:pt x="18743" y="310541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40"/>
                  </a:lnTo>
                  <a:lnTo>
                    <a:pt x="3655806" y="281879"/>
                  </a:lnTo>
                  <a:lnTo>
                    <a:pt x="3657968" y="265315"/>
                  </a:lnTo>
                  <a:lnTo>
                    <a:pt x="3657945" y="64084"/>
                  </a:lnTo>
                  <a:lnTo>
                    <a:pt x="3644603" y="25402"/>
                  </a:lnTo>
                  <a:lnTo>
                    <a:pt x="3610443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982755" y="3208682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70"/>
                  </a:lnTo>
                  <a:lnTo>
                    <a:pt x="3655806" y="47880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5"/>
                  </a:lnTo>
                  <a:lnTo>
                    <a:pt x="3655806" y="281879"/>
                  </a:lnTo>
                  <a:lnTo>
                    <a:pt x="3632921" y="316040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90"/>
                  </a:lnTo>
                  <a:lnTo>
                    <a:pt x="2162" y="281879"/>
                  </a:lnTo>
                  <a:lnTo>
                    <a:pt x="0" y="265315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089220" y="3296058"/>
            <a:ext cx="57721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Trial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Balance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771855" y="3296058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1.4s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0.06s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923860" y="3300021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23×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976405" y="3586456"/>
            <a:ext cx="3670935" cy="342265"/>
            <a:chOff x="4976405" y="3586456"/>
            <a:chExt cx="3670935" cy="342265"/>
          </a:xfrm>
        </p:grpSpPr>
        <p:sp>
          <p:nvSpPr>
            <p:cNvPr id="50" name="object 50"/>
            <p:cNvSpPr/>
            <p:nvPr/>
          </p:nvSpPr>
          <p:spPr>
            <a:xfrm>
              <a:off x="4982755" y="359280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64439" y="0"/>
                  </a:moveTo>
                  <a:lnTo>
                    <a:pt x="25402" y="13352"/>
                  </a:lnTo>
                  <a:lnTo>
                    <a:pt x="2524" y="47517"/>
                  </a:lnTo>
                  <a:lnTo>
                    <a:pt x="0" y="265315"/>
                  </a:lnTo>
                  <a:lnTo>
                    <a:pt x="540" y="273663"/>
                  </a:lnTo>
                  <a:lnTo>
                    <a:pt x="18743" y="310540"/>
                  </a:lnTo>
                  <a:lnTo>
                    <a:pt x="18859" y="310673"/>
                  </a:lnTo>
                  <a:lnTo>
                    <a:pt x="55734" y="328859"/>
                  </a:lnTo>
                  <a:lnTo>
                    <a:pt x="64084" y="329399"/>
                  </a:lnTo>
                  <a:lnTo>
                    <a:pt x="3593884" y="329399"/>
                  </a:lnTo>
                  <a:lnTo>
                    <a:pt x="3632921" y="316035"/>
                  </a:lnTo>
                  <a:lnTo>
                    <a:pt x="3655806" y="281874"/>
                  </a:lnTo>
                  <a:lnTo>
                    <a:pt x="3657968" y="265315"/>
                  </a:lnTo>
                  <a:lnTo>
                    <a:pt x="3657944" y="64071"/>
                  </a:lnTo>
                  <a:lnTo>
                    <a:pt x="3644603" y="25395"/>
                  </a:lnTo>
                  <a:lnTo>
                    <a:pt x="3610443" y="2516"/>
                  </a:lnTo>
                  <a:lnTo>
                    <a:pt x="3593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0F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982755" y="3592806"/>
              <a:ext cx="3658235" cy="329565"/>
            </a:xfrm>
            <a:custGeom>
              <a:avLst/>
              <a:gdLst/>
              <a:ahLst/>
              <a:cxnLst/>
              <a:rect l="l" t="t" r="r" b="b"/>
              <a:pathLst>
                <a:path w="3658234" h="329564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2"/>
                  </a:lnTo>
                  <a:lnTo>
                    <a:pt x="64439" y="0"/>
                  </a:lnTo>
                  <a:lnTo>
                    <a:pt x="3593884" y="355"/>
                  </a:lnTo>
                  <a:lnTo>
                    <a:pt x="3632871" y="13557"/>
                  </a:lnTo>
                  <a:lnTo>
                    <a:pt x="3655806" y="47875"/>
                  </a:lnTo>
                  <a:lnTo>
                    <a:pt x="3657968" y="64439"/>
                  </a:lnTo>
                  <a:lnTo>
                    <a:pt x="3657968" y="265315"/>
                  </a:lnTo>
                  <a:lnTo>
                    <a:pt x="3657427" y="273663"/>
                  </a:lnTo>
                  <a:lnTo>
                    <a:pt x="3655806" y="281874"/>
                  </a:lnTo>
                  <a:lnTo>
                    <a:pt x="3632921" y="316035"/>
                  </a:lnTo>
                  <a:lnTo>
                    <a:pt x="3593884" y="329399"/>
                  </a:lnTo>
                  <a:lnTo>
                    <a:pt x="64084" y="329399"/>
                  </a:lnTo>
                  <a:lnTo>
                    <a:pt x="25097" y="316185"/>
                  </a:lnTo>
                  <a:lnTo>
                    <a:pt x="2162" y="281874"/>
                  </a:lnTo>
                  <a:lnTo>
                    <a:pt x="0" y="265315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089220" y="3680182"/>
            <a:ext cx="5346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Bank</a:t>
            </a:r>
            <a:r>
              <a:rPr sz="850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Recon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771855" y="3680182"/>
            <a:ext cx="5892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0.9s</a:t>
            </a:r>
            <a:r>
              <a:rPr sz="850" b="1" spc="-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37756"/>
                </a:solidFill>
                <a:latin typeface="Calibri"/>
                <a:cs typeface="Calibri"/>
              </a:rPr>
              <a:t>→</a:t>
            </a:r>
            <a:r>
              <a:rPr sz="850" b="1" spc="-15" dirty="0">
                <a:solidFill>
                  <a:srgbClr val="037756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37756"/>
                </a:solidFill>
                <a:latin typeface="Calibri"/>
                <a:cs typeface="Calibri"/>
              </a:rPr>
              <a:t>0.02s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923860" y="3684132"/>
            <a:ext cx="438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C9387"/>
                </a:solidFill>
                <a:latin typeface="Calibri"/>
                <a:cs typeface="Calibri"/>
              </a:rPr>
              <a:t>45×</a:t>
            </a:r>
            <a:r>
              <a:rPr sz="800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C9387"/>
                </a:solidFill>
                <a:latin typeface="Calibri"/>
                <a:cs typeface="Calibri"/>
              </a:rPr>
              <a:t>faster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56" name="object 56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406044" y="3976461"/>
            <a:ext cx="6042025" cy="9499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@Bean</a:t>
            </a:r>
            <a:endParaRPr sz="800">
              <a:latin typeface="Courier New"/>
              <a:cs typeface="Courier New"/>
            </a:endParaRPr>
          </a:p>
          <a:p>
            <a:pPr marL="4127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DataSource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readDataSource()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/*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replica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*/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800">
              <a:latin typeface="Courier New"/>
              <a:cs typeface="Courier New"/>
            </a:endParaRPr>
          </a:p>
          <a:p>
            <a:pPr marL="41275" marR="3324225">
              <a:lnSpc>
                <a:spcPct val="102499"/>
              </a:lnSpc>
              <a:spcBef>
                <a:spcPts val="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Route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all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SELECT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reports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read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replica: @Transactional(readOnly=true)</a:t>
            </a:r>
            <a:endParaRPr sz="800">
              <a:latin typeface="Courier New"/>
              <a:cs typeface="Courier New"/>
            </a:endParaRPr>
          </a:p>
          <a:p>
            <a:pPr marL="4127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ProfitLossReport</a:t>
            </a:r>
            <a:r>
              <a:rPr sz="800" spc="1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getProfitLoss(...)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50800">
              <a:lnSpc>
                <a:spcPct val="100000"/>
              </a:lnSpc>
              <a:spcBef>
                <a:spcPts val="60"/>
              </a:spcBef>
            </a:pPr>
            <a:r>
              <a:rPr sz="1100" spc="-340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200" spc="-15" baseline="24305" dirty="0">
                <a:solidFill>
                  <a:srgbClr val="E1E7EF"/>
                </a:solidFill>
                <a:latin typeface="Courier New"/>
                <a:cs typeface="Courier New"/>
              </a:rPr>
              <a:t>/</a:t>
            </a:r>
            <a:r>
              <a:rPr sz="1200" spc="-405" baseline="24305" dirty="0">
                <a:solidFill>
                  <a:srgbClr val="E1E7EF"/>
                </a:solidFill>
                <a:latin typeface="Courier New"/>
                <a:cs typeface="Courier New"/>
              </a:rPr>
              <a:t>/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950" spc="-325" dirty="0">
                <a:solidFill>
                  <a:srgbClr val="774409"/>
                </a:solidFill>
                <a:latin typeface="Calibri"/>
                <a:cs typeface="Calibri"/>
              </a:rPr>
              <a:t>B</a:t>
            </a:r>
            <a:r>
              <a:rPr sz="1200" baseline="24305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1200" spc="-644" baseline="24305" dirty="0">
                <a:solidFill>
                  <a:srgbClr val="E1E7EF"/>
                </a:solidFill>
                <a:latin typeface="Courier New"/>
                <a:cs typeface="Courier New"/>
              </a:rPr>
              <a:t>p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735" baseline="24305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265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345" baseline="24305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1200" spc="-382" baseline="24305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434" baseline="24305" dirty="0">
                <a:solidFill>
                  <a:srgbClr val="E1E7EF"/>
                </a:solidFill>
                <a:latin typeface="Courier New"/>
                <a:cs typeface="Courier New"/>
              </a:rPr>
              <a:t>g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7" baseline="24305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1200" baseline="24305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1200" spc="-855" baseline="24305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950" spc="-660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950" spc="-4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307" baseline="24305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1200" spc="-307" baseline="24305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307" baseline="24305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ex</a:t>
            </a:r>
            <a:r>
              <a:rPr sz="1200" spc="-307" baseline="24305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307" baseline="24305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204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46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15" baseline="24305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1200" spc="-442" baseline="24305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h</a:t>
            </a:r>
            <a:r>
              <a:rPr sz="1200" spc="-1439" baseline="24305" dirty="0">
                <a:solidFill>
                  <a:srgbClr val="E1E7EF"/>
                </a:solidFill>
                <a:latin typeface="Courier New"/>
                <a:cs typeface="Courier New"/>
              </a:rPr>
              <a:t>d</a:t>
            </a:r>
            <a:r>
              <a:rPr sz="1200" spc="37" baseline="24305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405" baseline="24305" dirty="0">
                <a:solidFill>
                  <a:srgbClr val="E1E7EF"/>
                </a:solidFill>
                <a:latin typeface="Courier New"/>
                <a:cs typeface="Courier New"/>
              </a:rPr>
              <a:t>D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450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22" baseline="24305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1200" spc="-780" baseline="24305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225" dirty="0">
                <a:solidFill>
                  <a:srgbClr val="774409"/>
                </a:solidFill>
                <a:latin typeface="Calibri"/>
                <a:cs typeface="Calibri"/>
              </a:rPr>
              <a:t>ti</a:t>
            </a:r>
            <a:r>
              <a:rPr sz="1200" spc="-405" baseline="24305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472" baseline="24305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950" spc="-10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555" baseline="24305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390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1200" spc="-157" baseline="24305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950" spc="-120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1200" spc="-555" baseline="24305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g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-84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7" baseline="24305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1200" spc="-232" baseline="24305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390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157" baseline="24305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40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22" baseline="24305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1200" spc="-532" baseline="24305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509" dirty="0">
                <a:solidFill>
                  <a:srgbClr val="774409"/>
                </a:solidFill>
                <a:latin typeface="Calibri"/>
                <a:cs typeface="Calibri"/>
              </a:rPr>
              <a:t>—</a:t>
            </a:r>
            <a:r>
              <a:rPr sz="1200" baseline="24305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1200" spc="-405" baseline="24305" dirty="0">
                <a:solidFill>
                  <a:srgbClr val="E1E7EF"/>
                </a:solidFill>
                <a:latin typeface="Courier New"/>
                <a:cs typeface="Courier New"/>
              </a:rPr>
              <a:t>m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66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1432" baseline="24305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1200" spc="7" baseline="24305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1200" spc="89" baseline="243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1200" spc="-487" baseline="24305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175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465" baseline="24305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fi</a:t>
            </a:r>
            <a:r>
              <a:rPr sz="1200" spc="-450" baseline="24305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535" dirty="0">
                <a:solidFill>
                  <a:srgbClr val="774409"/>
                </a:solidFill>
                <a:latin typeface="Calibri"/>
                <a:cs typeface="Calibri"/>
              </a:rPr>
              <a:t>tti</a:t>
            </a:r>
            <a:r>
              <a:rPr sz="1200" spc="-7" baseline="24305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1200" spc="-690" baseline="24305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950" spc="-490" dirty="0">
                <a:solidFill>
                  <a:srgbClr val="774409"/>
                </a:solidFill>
                <a:latin typeface="Calibri"/>
                <a:cs typeface="Calibri"/>
              </a:rPr>
              <a:t>g</a:t>
            </a:r>
            <a:r>
              <a:rPr sz="1200" baseline="24305" dirty="0">
                <a:solidFill>
                  <a:srgbClr val="E1E7EF"/>
                </a:solidFill>
                <a:latin typeface="Courier New"/>
                <a:cs typeface="Courier New"/>
              </a:rPr>
              <a:t>y</a:t>
            </a:r>
            <a:r>
              <a:rPr sz="1200" spc="-375" baseline="243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indexes</a:t>
            </a:r>
            <a:r>
              <a:rPr sz="950" spc="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on</a:t>
            </a:r>
            <a:r>
              <a:rPr sz="950" spc="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live</a:t>
            </a:r>
            <a:r>
              <a:rPr sz="950" spc="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10M-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row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table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requires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careful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75" dirty="0">
                <a:solidFill>
                  <a:srgbClr val="774409"/>
                </a:solidFill>
                <a:latin typeface="Calibri"/>
                <a:cs typeface="Calibri"/>
              </a:rPr>
              <a:t>planning.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64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9356" y="502198"/>
            <a:ext cx="1280795" cy="329565"/>
          </a:xfrm>
          <a:custGeom>
            <a:avLst/>
            <a:gdLst/>
            <a:ahLst/>
            <a:cxnLst/>
            <a:rect l="l" t="t" r="r" b="b"/>
            <a:pathLst>
              <a:path w="1280795" h="329565">
                <a:moveTo>
                  <a:pt x="91808" y="0"/>
                </a:moveTo>
                <a:lnTo>
                  <a:pt x="46088" y="12242"/>
                </a:lnTo>
                <a:lnTo>
                  <a:pt x="12598" y="45720"/>
                </a:lnTo>
                <a:lnTo>
                  <a:pt x="368" y="91439"/>
                </a:lnTo>
                <a:lnTo>
                  <a:pt x="0" y="237959"/>
                </a:lnTo>
                <a:lnTo>
                  <a:pt x="798" y="249966"/>
                </a:lnTo>
                <a:lnTo>
                  <a:pt x="18843" y="293724"/>
                </a:lnTo>
                <a:lnTo>
                  <a:pt x="56512" y="322418"/>
                </a:lnTo>
                <a:lnTo>
                  <a:pt x="91439" y="329399"/>
                </a:lnTo>
                <a:lnTo>
                  <a:pt x="1189088" y="329399"/>
                </a:lnTo>
                <a:lnTo>
                  <a:pt x="1234808" y="317169"/>
                </a:lnTo>
                <a:lnTo>
                  <a:pt x="1268285" y="283679"/>
                </a:lnTo>
                <a:lnTo>
                  <a:pt x="1280528" y="237959"/>
                </a:lnTo>
                <a:lnTo>
                  <a:pt x="1280503" y="91439"/>
                </a:lnTo>
                <a:lnTo>
                  <a:pt x="1268285" y="46088"/>
                </a:lnTo>
                <a:lnTo>
                  <a:pt x="1234808" y="12598"/>
                </a:lnTo>
                <a:lnTo>
                  <a:pt x="1189088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2901" y="578067"/>
            <a:ext cx="6343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0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09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27024" y="1020142"/>
            <a:ext cx="463804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/>
              <a:t>CI/CD</a:t>
            </a:r>
            <a:r>
              <a:rPr sz="4200" spc="-90" dirty="0"/>
              <a:t> </a:t>
            </a:r>
            <a:r>
              <a:rPr sz="4200" dirty="0"/>
              <a:t>&amp;</a:t>
            </a:r>
            <a:r>
              <a:rPr sz="4200" spc="-80" dirty="0"/>
              <a:t> </a:t>
            </a:r>
            <a:r>
              <a:rPr sz="4200" spc="-10" dirty="0"/>
              <a:t>Deployment</a:t>
            </a:r>
            <a:endParaRPr sz="4200"/>
          </a:p>
        </p:txBody>
      </p:sp>
      <p:sp>
        <p:nvSpPr>
          <p:cNvPr id="6" name="object 6"/>
          <p:cNvSpPr txBox="1"/>
          <p:nvPr/>
        </p:nvSpPr>
        <p:spPr>
          <a:xfrm>
            <a:off x="627024" y="1838428"/>
            <a:ext cx="45840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80" dirty="0">
                <a:solidFill>
                  <a:srgbClr val="F49D0A"/>
                </a:solidFill>
                <a:latin typeface="Arial"/>
                <a:cs typeface="Arial"/>
              </a:rPr>
              <a:t>GitHub</a:t>
            </a:r>
            <a:r>
              <a:rPr sz="1500" i="1" spc="-50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80" dirty="0">
                <a:solidFill>
                  <a:srgbClr val="F49D0A"/>
                </a:solidFill>
                <a:latin typeface="Arial"/>
                <a:cs typeface="Arial"/>
              </a:rPr>
              <a:t>Actions</a:t>
            </a:r>
            <a:r>
              <a:rPr sz="1500" i="1" spc="-5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50" dirty="0">
                <a:solidFill>
                  <a:srgbClr val="F49D0A"/>
                </a:solidFill>
                <a:latin typeface="Arial"/>
                <a:cs typeface="Arial"/>
              </a:rPr>
              <a:t>→</a:t>
            </a:r>
            <a:r>
              <a:rPr sz="1500" i="1" spc="-5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10" dirty="0">
                <a:solidFill>
                  <a:srgbClr val="F49D0A"/>
                </a:solidFill>
                <a:latin typeface="Arial"/>
                <a:cs typeface="Arial"/>
              </a:rPr>
              <a:t>Docker</a:t>
            </a:r>
            <a:r>
              <a:rPr sz="1500" i="1" spc="-5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50" dirty="0">
                <a:solidFill>
                  <a:srgbClr val="F49D0A"/>
                </a:solidFill>
                <a:latin typeface="Arial"/>
                <a:cs typeface="Arial"/>
              </a:rPr>
              <a:t>→</a:t>
            </a:r>
            <a:r>
              <a:rPr sz="1500" i="1" spc="-6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14" dirty="0">
                <a:solidFill>
                  <a:srgbClr val="F49D0A"/>
                </a:solidFill>
                <a:latin typeface="Arial"/>
                <a:cs typeface="Arial"/>
              </a:rPr>
              <a:t>Robi</a:t>
            </a:r>
            <a:r>
              <a:rPr sz="1500" i="1" spc="-60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114" dirty="0">
                <a:solidFill>
                  <a:srgbClr val="F49D0A"/>
                </a:solidFill>
                <a:latin typeface="Arial"/>
                <a:cs typeface="Arial"/>
              </a:rPr>
              <a:t>Cloud</a:t>
            </a:r>
            <a:r>
              <a:rPr sz="1500" i="1" spc="-45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55" dirty="0">
                <a:solidFill>
                  <a:srgbClr val="F49D0A"/>
                </a:solidFill>
                <a:latin typeface="Arial"/>
                <a:cs typeface="Arial"/>
              </a:rPr>
              <a:t>automated</a:t>
            </a:r>
            <a:r>
              <a:rPr sz="1500" i="1" spc="-50" dirty="0">
                <a:solidFill>
                  <a:srgbClr val="F49D0A"/>
                </a:solidFill>
                <a:latin typeface="Arial"/>
                <a:cs typeface="Arial"/>
              </a:rPr>
              <a:t> </a:t>
            </a:r>
            <a:r>
              <a:rPr sz="1500" i="1" spc="-20" dirty="0">
                <a:solidFill>
                  <a:srgbClr val="F49D0A"/>
                </a:solidFill>
                <a:latin typeface="Arial"/>
                <a:cs typeface="Arial"/>
              </a:rPr>
              <a:t>pipeline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4800" y="2325422"/>
            <a:ext cx="2024380" cy="515620"/>
            <a:chOff x="633424" y="2325422"/>
            <a:chExt cx="2024380" cy="515620"/>
          </a:xfrm>
        </p:grpSpPr>
        <p:sp>
          <p:nvSpPr>
            <p:cNvPr id="8" name="object 8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191987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5" y="434789"/>
                  </a:lnTo>
                  <a:lnTo>
                    <a:pt x="3148" y="435149"/>
                  </a:lnTo>
                  <a:lnTo>
                    <a:pt x="6859" y="446051"/>
                  </a:lnTo>
                  <a:lnTo>
                    <a:pt x="35675" y="484083"/>
                  </a:lnTo>
                  <a:lnTo>
                    <a:pt x="79433" y="502121"/>
                  </a:lnTo>
                  <a:lnTo>
                    <a:pt x="91440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08402" y="435149"/>
                  </a:lnTo>
                  <a:lnTo>
                    <a:pt x="2008525" y="434789"/>
                  </a:lnTo>
                  <a:lnTo>
                    <a:pt x="2010806" y="423485"/>
                  </a:lnTo>
                  <a:lnTo>
                    <a:pt x="2010879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11" y="91439"/>
                  </a:lnTo>
                  <a:lnTo>
                    <a:pt x="1999081" y="45719"/>
                  </a:lnTo>
                  <a:lnTo>
                    <a:pt x="1965591" y="12242"/>
                  </a:lnTo>
                  <a:lnTo>
                    <a:pt x="1931878" y="798"/>
                  </a:lnTo>
                  <a:lnTo>
                    <a:pt x="1919871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0" y="91439"/>
                  </a:moveTo>
                  <a:lnTo>
                    <a:pt x="798" y="79434"/>
                  </a:lnTo>
                  <a:lnTo>
                    <a:pt x="3148" y="67770"/>
                  </a:lnTo>
                  <a:lnTo>
                    <a:pt x="26679" y="26681"/>
                  </a:lnTo>
                  <a:lnTo>
                    <a:pt x="67765" y="3149"/>
                  </a:lnTo>
                  <a:lnTo>
                    <a:pt x="91440" y="0"/>
                  </a:lnTo>
                  <a:lnTo>
                    <a:pt x="1919871" y="0"/>
                  </a:lnTo>
                  <a:lnTo>
                    <a:pt x="1965591" y="12242"/>
                  </a:lnTo>
                  <a:lnTo>
                    <a:pt x="1999081" y="45719"/>
                  </a:lnTo>
                  <a:lnTo>
                    <a:pt x="2011311" y="91439"/>
                  </a:lnTo>
                  <a:lnTo>
                    <a:pt x="2011679" y="411124"/>
                  </a:lnTo>
                  <a:lnTo>
                    <a:pt x="2010879" y="423124"/>
                  </a:lnTo>
                  <a:lnTo>
                    <a:pt x="2008525" y="434789"/>
                  </a:lnTo>
                  <a:lnTo>
                    <a:pt x="1984989" y="475873"/>
                  </a:lnTo>
                  <a:lnTo>
                    <a:pt x="1943904" y="499410"/>
                  </a:lnTo>
                  <a:lnTo>
                    <a:pt x="91440" y="502919"/>
                  </a:lnTo>
                  <a:lnTo>
                    <a:pt x="45720" y="490677"/>
                  </a:lnTo>
                  <a:lnTo>
                    <a:pt x="12230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37400" y="2497939"/>
            <a:ext cx="7575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GitHub</a:t>
            </a:r>
            <a:r>
              <a:rPr sz="950" spc="-45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Actions</a:t>
            </a:r>
            <a:endParaRPr sz="95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80996" y="2325422"/>
            <a:ext cx="2024380" cy="515620"/>
            <a:chOff x="2809620" y="2325422"/>
            <a:chExt cx="2024380" cy="515620"/>
          </a:xfrm>
        </p:grpSpPr>
        <p:sp>
          <p:nvSpPr>
            <p:cNvPr id="12" name="object 12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76" y="484083"/>
                  </a:lnTo>
                  <a:lnTo>
                    <a:pt x="79433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79" y="411124"/>
                  </a:lnTo>
                  <a:lnTo>
                    <a:pt x="2010881" y="423124"/>
                  </a:lnTo>
                  <a:lnTo>
                    <a:pt x="2008530" y="434789"/>
                  </a:lnTo>
                  <a:lnTo>
                    <a:pt x="1984994" y="475873"/>
                  </a:lnTo>
                  <a:lnTo>
                    <a:pt x="1943909" y="499410"/>
                  </a:lnTo>
                  <a:lnTo>
                    <a:pt x="91439" y="502919"/>
                  </a:lnTo>
                  <a:lnTo>
                    <a:pt x="45719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76232" y="2497939"/>
            <a:ext cx="6343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Maven</a:t>
            </a:r>
            <a:r>
              <a:rPr sz="950" spc="-2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Build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57192" y="2325422"/>
            <a:ext cx="2024380" cy="515620"/>
            <a:chOff x="4985816" y="2325422"/>
            <a:chExt cx="2024380" cy="515620"/>
          </a:xfrm>
        </p:grpSpPr>
        <p:sp>
          <p:nvSpPr>
            <p:cNvPr id="16" name="object 16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83" y="484083"/>
                  </a:lnTo>
                  <a:lnTo>
                    <a:pt x="79440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49" y="456844"/>
                  </a:lnTo>
                  <a:lnTo>
                    <a:pt x="2008409" y="435149"/>
                  </a:lnTo>
                  <a:lnTo>
                    <a:pt x="2008531" y="434789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80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9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90" y="26681"/>
                  </a:lnTo>
                  <a:lnTo>
                    <a:pt x="6777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80" y="411124"/>
                  </a:lnTo>
                  <a:lnTo>
                    <a:pt x="2010881" y="423124"/>
                  </a:lnTo>
                  <a:lnTo>
                    <a:pt x="2008531" y="434789"/>
                  </a:lnTo>
                  <a:lnTo>
                    <a:pt x="1985000" y="475873"/>
                  </a:lnTo>
                  <a:lnTo>
                    <a:pt x="1943914" y="499410"/>
                  </a:lnTo>
                  <a:lnTo>
                    <a:pt x="91439" y="502919"/>
                  </a:lnTo>
                  <a:lnTo>
                    <a:pt x="45720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86350" y="2497939"/>
            <a:ext cx="3663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Docker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33755" y="2325422"/>
            <a:ext cx="1987550" cy="515620"/>
            <a:chOff x="7162379" y="2325422"/>
            <a:chExt cx="1987550" cy="515620"/>
          </a:xfrm>
        </p:grpSpPr>
        <p:sp>
          <p:nvSpPr>
            <p:cNvPr id="20" name="object 20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1988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12242" y="457200"/>
                  </a:lnTo>
                  <a:lnTo>
                    <a:pt x="45720" y="490677"/>
                  </a:lnTo>
                  <a:lnTo>
                    <a:pt x="91440" y="502919"/>
                  </a:lnTo>
                  <a:lnTo>
                    <a:pt x="1920240" y="502564"/>
                  </a:lnTo>
                  <a:lnTo>
                    <a:pt x="1965960" y="490321"/>
                  </a:lnTo>
                  <a:lnTo>
                    <a:pt x="1974951" y="484412"/>
                  </a:lnTo>
                  <a:lnTo>
                    <a:pt x="1974951" y="18383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74951" y="484412"/>
                  </a:moveTo>
                  <a:lnTo>
                    <a:pt x="1932245" y="501764"/>
                  </a:lnTo>
                  <a:lnTo>
                    <a:pt x="91440" y="502919"/>
                  </a:lnTo>
                  <a:lnTo>
                    <a:pt x="79434" y="502121"/>
                  </a:lnTo>
                  <a:lnTo>
                    <a:pt x="35676" y="484083"/>
                  </a:lnTo>
                  <a:lnTo>
                    <a:pt x="6986" y="446409"/>
                  </a:lnTo>
                  <a:lnTo>
                    <a:pt x="0" y="411479"/>
                  </a:lnTo>
                  <a:lnTo>
                    <a:pt x="0" y="91439"/>
                  </a:lnTo>
                  <a:lnTo>
                    <a:pt x="12242" y="45719"/>
                  </a:lnTo>
                  <a:lnTo>
                    <a:pt x="45720" y="12242"/>
                  </a:lnTo>
                  <a:lnTo>
                    <a:pt x="91440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74951" y="18383"/>
                  </a:lnTo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385711" y="2497939"/>
            <a:ext cx="918844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Robi</a:t>
            </a:r>
            <a:r>
              <a:rPr sz="950" spc="-45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Cloud</a:t>
            </a:r>
            <a:r>
              <a:rPr sz="950" spc="-4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Deploy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65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C4D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GitHub</a:t>
            </a:r>
            <a:r>
              <a:rPr spc="-45" dirty="0"/>
              <a:t> </a:t>
            </a:r>
            <a:r>
              <a:rPr dirty="0"/>
              <a:t>Actions</a:t>
            </a:r>
            <a:r>
              <a:rPr spc="-45" dirty="0"/>
              <a:t> </a:t>
            </a:r>
            <a:r>
              <a:rPr dirty="0"/>
              <a:t>—</a:t>
            </a:r>
            <a:r>
              <a:rPr spc="-50" dirty="0"/>
              <a:t> </a:t>
            </a:r>
            <a:r>
              <a:rPr dirty="0"/>
              <a:t>CI</a:t>
            </a:r>
            <a:r>
              <a:rPr spc="-40" dirty="0"/>
              <a:t> </a:t>
            </a:r>
            <a:r>
              <a:rPr spc="-10" dirty="0"/>
              <a:t>Pipeline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3183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Test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→</a:t>
            </a: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Build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→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0" dirty="0">
                <a:solidFill>
                  <a:srgbClr val="9FBFFF"/>
                </a:solidFill>
                <a:latin typeface="Arial"/>
                <a:cs typeface="Arial"/>
              </a:rPr>
              <a:t>Analyse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 on </a:t>
            </a:r>
            <a:r>
              <a:rPr sz="1000" i="1" spc="-60" dirty="0">
                <a:solidFill>
                  <a:srgbClr val="9FBFFF"/>
                </a:solidFill>
                <a:latin typeface="Arial"/>
                <a:cs typeface="Arial"/>
              </a:rPr>
              <a:t>every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pull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request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1"/>
            <a:ext cx="847482" cy="1498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3001" y="1038582"/>
            <a:ext cx="4533900" cy="1333500"/>
            <a:chOff x="243001" y="1038582"/>
            <a:chExt cx="4533900" cy="13335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001" y="1038582"/>
              <a:ext cx="4533836" cy="1333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0040" y="1115646"/>
              <a:ext cx="4343400" cy="1143000"/>
            </a:xfrm>
            <a:custGeom>
              <a:avLst/>
              <a:gdLst/>
              <a:ahLst/>
              <a:cxnLst/>
              <a:rect l="l" t="t" r="r" b="b"/>
              <a:pathLst>
                <a:path w="4343400" h="1143000">
                  <a:moveTo>
                    <a:pt x="4251960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42" y="1097280"/>
                  </a:lnTo>
                  <a:lnTo>
                    <a:pt x="45720" y="1130757"/>
                  </a:lnTo>
                  <a:lnTo>
                    <a:pt x="91439" y="1143000"/>
                  </a:lnTo>
                  <a:lnTo>
                    <a:pt x="4251960" y="1143000"/>
                  </a:lnTo>
                  <a:lnTo>
                    <a:pt x="4297680" y="1130757"/>
                  </a:lnTo>
                  <a:lnTo>
                    <a:pt x="4331157" y="1097280"/>
                  </a:lnTo>
                  <a:lnTo>
                    <a:pt x="4343400" y="1051560"/>
                  </a:lnTo>
                  <a:lnTo>
                    <a:pt x="4343400" y="91439"/>
                  </a:lnTo>
                  <a:lnTo>
                    <a:pt x="4331157" y="45720"/>
                  </a:lnTo>
                  <a:lnTo>
                    <a:pt x="4297680" y="12230"/>
                  </a:lnTo>
                  <a:lnTo>
                    <a:pt x="4251960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1115646"/>
              <a:ext cx="4343400" cy="1143000"/>
            </a:xfrm>
            <a:custGeom>
              <a:avLst/>
              <a:gdLst/>
              <a:ahLst/>
              <a:cxnLst/>
              <a:rect l="l" t="t" r="r" b="b"/>
              <a:pathLst>
                <a:path w="4343400" h="1143000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960" y="0"/>
                  </a:lnTo>
                  <a:lnTo>
                    <a:pt x="4297680" y="12230"/>
                  </a:lnTo>
                  <a:lnTo>
                    <a:pt x="4331157" y="45720"/>
                  </a:lnTo>
                  <a:lnTo>
                    <a:pt x="4343400" y="91439"/>
                  </a:lnTo>
                  <a:lnTo>
                    <a:pt x="4343400" y="1051560"/>
                  </a:lnTo>
                  <a:lnTo>
                    <a:pt x="4342601" y="1063559"/>
                  </a:lnTo>
                  <a:lnTo>
                    <a:pt x="4340250" y="1075224"/>
                  </a:lnTo>
                  <a:lnTo>
                    <a:pt x="4316718" y="1116309"/>
                  </a:lnTo>
                  <a:lnTo>
                    <a:pt x="4275629" y="1139850"/>
                  </a:lnTo>
                  <a:lnTo>
                    <a:pt x="4251960" y="1143000"/>
                  </a:lnTo>
                  <a:lnTo>
                    <a:pt x="91439" y="1143000"/>
                  </a:lnTo>
                  <a:lnTo>
                    <a:pt x="45720" y="1130757"/>
                  </a:lnTo>
                  <a:lnTo>
                    <a:pt x="12242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4093845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CI/CD</a:t>
            </a:r>
            <a:r>
              <a:rPr sz="850" b="1" spc="-2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GitHub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Actions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0" dirty="0">
                <a:solidFill>
                  <a:srgbClr val="FCE589"/>
                </a:solidFill>
                <a:latin typeface="Arial"/>
                <a:cs typeface="Arial"/>
              </a:rPr>
              <a:t>CI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workflow for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Spring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Boot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+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React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project.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On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every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0" dirty="0">
                <a:solidFill>
                  <a:srgbClr val="FCE589"/>
                </a:solidFill>
                <a:latin typeface="Arial"/>
                <a:cs typeface="Arial"/>
              </a:rPr>
              <a:t>PR: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(1)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Run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JUnit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tests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5" dirty="0">
                <a:solidFill>
                  <a:srgbClr val="FCE589"/>
                </a:solidFill>
                <a:latin typeface="Arial"/>
                <a:cs typeface="Arial"/>
              </a:rPr>
              <a:t>MySQL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service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container;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(2)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Run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React/Vitest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frontend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tests;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(3)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Run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20" dirty="0">
                <a:solidFill>
                  <a:srgbClr val="FCE589"/>
                </a:solidFill>
                <a:latin typeface="Arial"/>
                <a:cs typeface="Arial"/>
              </a:rPr>
              <a:t>OWASP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dependency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check;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(4)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Run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Checkstyle;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(5)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Build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Spring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Boot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5" dirty="0">
                <a:solidFill>
                  <a:srgbClr val="FCE589"/>
                </a:solidFill>
                <a:latin typeface="Arial"/>
                <a:cs typeface="Arial"/>
              </a:rPr>
              <a:t>JAR;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(6)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Build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React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production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assets.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Fail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50" dirty="0">
                <a:solidFill>
                  <a:srgbClr val="FCE589"/>
                </a:solidFill>
                <a:latin typeface="Arial"/>
                <a:cs typeface="Arial"/>
              </a:rPr>
              <a:t>PR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if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any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step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fails."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253947"/>
            <a:ext cx="4534535" cy="2567940"/>
            <a:chOff x="242646" y="2253947"/>
            <a:chExt cx="4534535" cy="256794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253947"/>
              <a:ext cx="4534204" cy="256788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330998"/>
              <a:ext cx="4344035" cy="2378075"/>
            </a:xfrm>
            <a:custGeom>
              <a:avLst/>
              <a:gdLst/>
              <a:ahLst/>
              <a:cxnLst/>
              <a:rect l="l" t="t" r="r" b="b"/>
              <a:pathLst>
                <a:path w="4344035" h="2378075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40"/>
                  </a:lnTo>
                  <a:lnTo>
                    <a:pt x="0" y="2286368"/>
                  </a:lnTo>
                  <a:lnTo>
                    <a:pt x="798" y="2298368"/>
                  </a:lnTo>
                  <a:lnTo>
                    <a:pt x="18830" y="2342125"/>
                  </a:lnTo>
                  <a:lnTo>
                    <a:pt x="56505" y="2370816"/>
                  </a:lnTo>
                  <a:lnTo>
                    <a:pt x="91439" y="2377808"/>
                  </a:lnTo>
                  <a:lnTo>
                    <a:pt x="4252315" y="2377808"/>
                  </a:lnTo>
                  <a:lnTo>
                    <a:pt x="4298035" y="2365565"/>
                  </a:lnTo>
                  <a:lnTo>
                    <a:pt x="4331512" y="2332088"/>
                  </a:lnTo>
                  <a:lnTo>
                    <a:pt x="4343755" y="2286368"/>
                  </a:lnTo>
                  <a:lnTo>
                    <a:pt x="4343731" y="91440"/>
                  </a:lnTo>
                  <a:lnTo>
                    <a:pt x="4331512" y="46088"/>
                  </a:lnTo>
                  <a:lnTo>
                    <a:pt x="4298035" y="12598"/>
                  </a:lnTo>
                  <a:lnTo>
                    <a:pt x="425231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330998"/>
              <a:ext cx="4344035" cy="2378075"/>
            </a:xfrm>
            <a:custGeom>
              <a:avLst/>
              <a:gdLst/>
              <a:ahLst/>
              <a:cxnLst/>
              <a:rect l="l" t="t" r="r" b="b"/>
              <a:pathLst>
                <a:path w="4344035" h="2378075">
                  <a:moveTo>
                    <a:pt x="355" y="91440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68"/>
                  </a:lnTo>
                  <a:lnTo>
                    <a:pt x="4298035" y="12598"/>
                  </a:lnTo>
                  <a:lnTo>
                    <a:pt x="4331512" y="46088"/>
                  </a:lnTo>
                  <a:lnTo>
                    <a:pt x="4343755" y="91808"/>
                  </a:lnTo>
                  <a:lnTo>
                    <a:pt x="4343755" y="2286368"/>
                  </a:lnTo>
                  <a:lnTo>
                    <a:pt x="4342957" y="2298368"/>
                  </a:lnTo>
                  <a:lnTo>
                    <a:pt x="4340606" y="2310033"/>
                  </a:lnTo>
                  <a:lnTo>
                    <a:pt x="4317074" y="2351117"/>
                  </a:lnTo>
                  <a:lnTo>
                    <a:pt x="4275985" y="2374653"/>
                  </a:lnTo>
                  <a:lnTo>
                    <a:pt x="4252315" y="2377808"/>
                  </a:lnTo>
                  <a:lnTo>
                    <a:pt x="91439" y="2377808"/>
                  </a:lnTo>
                  <a:lnTo>
                    <a:pt x="45719" y="2365565"/>
                  </a:lnTo>
                  <a:lnTo>
                    <a:pt x="12230" y="2332088"/>
                  </a:lnTo>
                  <a:lnTo>
                    <a:pt x="0" y="2286368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320035"/>
            <a:ext cx="2941955" cy="233426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3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Config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/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 marR="1307465">
              <a:lnSpc>
                <a:spcPct val="102499"/>
              </a:lnSpc>
              <a:spcBef>
                <a:spcPts val="50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800" spc="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.github/workflows/ci.yml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name: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WAMY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Finance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CI</a:t>
            </a:r>
            <a:endParaRPr sz="800">
              <a:latin typeface="Courier New"/>
              <a:cs typeface="Courier New"/>
            </a:endParaRPr>
          </a:p>
          <a:p>
            <a:pPr marL="12700" marR="180467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on: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[pull_request] jobs: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backend-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test:</a:t>
            </a:r>
            <a:endParaRPr sz="800">
              <a:latin typeface="Courier New"/>
              <a:cs typeface="Courier New"/>
            </a:endParaRPr>
          </a:p>
          <a:p>
            <a:pPr marL="260985" marR="130873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runs-on: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ubuntu-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latest services:</a:t>
            </a:r>
            <a:endParaRPr sz="800">
              <a:latin typeface="Courier New"/>
              <a:cs typeface="Courier New"/>
            </a:endParaRPr>
          </a:p>
          <a:p>
            <a:pPr marL="384175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mysql:</a:t>
            </a:r>
            <a:endParaRPr sz="800">
              <a:latin typeface="Courier New"/>
              <a:cs typeface="Courier New"/>
            </a:endParaRPr>
          </a:p>
          <a:p>
            <a:pPr marL="509270" marR="143129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image: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mysql:8.0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env:</a:t>
            </a:r>
            <a:endParaRPr sz="800">
              <a:latin typeface="Courier New"/>
              <a:cs typeface="Courier New"/>
            </a:endParaRPr>
          </a:p>
          <a:p>
            <a:pPr marL="634365" marR="74866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MYSQL_DATABASE: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wamy_test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MYSQL_ROOT_PASSWORD:</a:t>
            </a:r>
            <a:r>
              <a:rPr sz="800" spc="1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test</a:t>
            </a:r>
            <a:endParaRPr sz="800">
              <a:latin typeface="Courier New"/>
              <a:cs typeface="Courier New"/>
            </a:endParaRPr>
          </a:p>
          <a:p>
            <a:pPr marL="260985" marR="5080" indent="24828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options:</a:t>
            </a:r>
            <a:r>
              <a:rPr sz="800" spc="1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--health-cmd="mysqladmin</a:t>
            </a:r>
            <a:r>
              <a:rPr sz="800" spc="1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ping"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steps:</a:t>
            </a:r>
            <a:endParaRPr sz="800">
              <a:latin typeface="Courier New"/>
              <a:cs typeface="Courier New"/>
            </a:endParaRPr>
          </a:p>
          <a:p>
            <a:pPr marL="506095" indent="-121920">
              <a:lnSpc>
                <a:spcPct val="100000"/>
              </a:lnSpc>
              <a:spcBef>
                <a:spcPts val="20"/>
              </a:spcBef>
              <a:buChar char="-"/>
              <a:tabLst>
                <a:tab pos="50609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uses: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actions/checkout@v4</a:t>
            </a:r>
            <a:endParaRPr sz="800">
              <a:latin typeface="Courier New"/>
              <a:cs typeface="Courier New"/>
            </a:endParaRPr>
          </a:p>
          <a:p>
            <a:pPr marL="506095" indent="-121920">
              <a:lnSpc>
                <a:spcPct val="100000"/>
              </a:lnSpc>
              <a:spcBef>
                <a:spcPts val="25"/>
              </a:spcBef>
              <a:buChar char="-"/>
              <a:tabLst>
                <a:tab pos="50609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uses:</a:t>
            </a:r>
            <a:r>
              <a:rPr sz="800" spc="1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actions/setup-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java@v4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1938" y="4628427"/>
            <a:ext cx="319087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with: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java-version: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'21',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distribution: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temurin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7021" y="5003179"/>
            <a:ext cx="207327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run: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mvn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dependency-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check:check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68926" y="1037871"/>
            <a:ext cx="4168775" cy="3783965"/>
            <a:chOff x="4768926" y="1037871"/>
            <a:chExt cx="4168775" cy="378396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7871"/>
              <a:ext cx="4168444" cy="378396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932"/>
                  </a:lnTo>
                  <a:lnTo>
                    <a:pt x="355" y="109804"/>
                  </a:lnTo>
                  <a:lnTo>
                    <a:pt x="0" y="3484079"/>
                  </a:lnTo>
                  <a:lnTo>
                    <a:pt x="929" y="3498349"/>
                  </a:lnTo>
                  <a:lnTo>
                    <a:pt x="939" y="3498510"/>
                  </a:lnTo>
                  <a:lnTo>
                    <a:pt x="3699" y="3512385"/>
                  </a:lnTo>
                  <a:lnTo>
                    <a:pt x="3735" y="3512567"/>
                  </a:lnTo>
                  <a:lnTo>
                    <a:pt x="8284" y="3525949"/>
                  </a:lnTo>
                  <a:lnTo>
                    <a:pt x="32213" y="3561703"/>
                  </a:lnTo>
                  <a:lnTo>
                    <a:pt x="67932" y="3585525"/>
                  </a:lnTo>
                  <a:lnTo>
                    <a:pt x="109791" y="3593884"/>
                  </a:lnTo>
                  <a:lnTo>
                    <a:pt x="3868191" y="3593884"/>
                  </a:lnTo>
                  <a:lnTo>
                    <a:pt x="3910262" y="3585525"/>
                  </a:lnTo>
                  <a:lnTo>
                    <a:pt x="3945766" y="3561703"/>
                  </a:lnTo>
                  <a:lnTo>
                    <a:pt x="3969542" y="3526151"/>
                  </a:lnTo>
                  <a:lnTo>
                    <a:pt x="3974198" y="3512567"/>
                  </a:lnTo>
                  <a:lnTo>
                    <a:pt x="3974260" y="3512385"/>
                  </a:lnTo>
                  <a:lnTo>
                    <a:pt x="3977023" y="3498510"/>
                  </a:lnTo>
                  <a:lnTo>
                    <a:pt x="3977055" y="3498349"/>
                  </a:lnTo>
                  <a:lnTo>
                    <a:pt x="3977995" y="3484079"/>
                  </a:lnTo>
                  <a:lnTo>
                    <a:pt x="3977972" y="109804"/>
                  </a:lnTo>
                  <a:lnTo>
                    <a:pt x="3969642" y="68088"/>
                  </a:lnTo>
                  <a:lnTo>
                    <a:pt x="3945772" y="32535"/>
                  </a:lnTo>
                  <a:lnTo>
                    <a:pt x="3910062" y="8713"/>
                  </a:lnTo>
                  <a:lnTo>
                    <a:pt x="3868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355" y="109804"/>
                  </a:moveTo>
                  <a:lnTo>
                    <a:pt x="1295" y="95529"/>
                  </a:lnTo>
                  <a:lnTo>
                    <a:pt x="4090" y="81494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55"/>
                  </a:lnTo>
                  <a:lnTo>
                    <a:pt x="3910062" y="8713"/>
                  </a:lnTo>
                  <a:lnTo>
                    <a:pt x="3945772" y="32535"/>
                  </a:lnTo>
                  <a:lnTo>
                    <a:pt x="3969642" y="68088"/>
                  </a:lnTo>
                  <a:lnTo>
                    <a:pt x="3977995" y="110159"/>
                  </a:lnTo>
                  <a:lnTo>
                    <a:pt x="3977995" y="3484079"/>
                  </a:lnTo>
                  <a:lnTo>
                    <a:pt x="3977055" y="3498349"/>
                  </a:lnTo>
                  <a:lnTo>
                    <a:pt x="3974260" y="3512385"/>
                  </a:lnTo>
                  <a:lnTo>
                    <a:pt x="3955218" y="3550872"/>
                  </a:lnTo>
                  <a:lnTo>
                    <a:pt x="3923271" y="3579114"/>
                  </a:lnTo>
                  <a:lnTo>
                    <a:pt x="3882621" y="3592944"/>
                  </a:lnTo>
                  <a:lnTo>
                    <a:pt x="3868191" y="3593884"/>
                  </a:lnTo>
                  <a:lnTo>
                    <a:pt x="109791" y="3593884"/>
                  </a:lnTo>
                  <a:lnTo>
                    <a:pt x="67932" y="3585525"/>
                  </a:lnTo>
                  <a:lnTo>
                    <a:pt x="32213" y="3561703"/>
                  </a:lnTo>
                  <a:lnTo>
                    <a:pt x="8352" y="3526151"/>
                  </a:lnTo>
                  <a:lnTo>
                    <a:pt x="0" y="348407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1C4D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970424" y="1167538"/>
            <a:ext cx="130238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2462EA"/>
                </a:solidFill>
                <a:latin typeface="MingLiU_HKSCS-ExtB"/>
                <a:cs typeface="MingLiU_HKSCS-ExtB"/>
              </a:rPr>
              <a:t>🚀</a:t>
            </a:r>
            <a:r>
              <a:rPr sz="1300" spc="-275" dirty="0">
                <a:solidFill>
                  <a:srgbClr val="2462EA"/>
                </a:solidFill>
                <a:latin typeface="MingLiU_HKSCS-ExtB"/>
                <a:cs typeface="MingLiU_HKSCS-ExtB"/>
              </a:rPr>
              <a:t> </a:t>
            </a:r>
            <a:r>
              <a:rPr sz="1100" b="1" spc="-10" dirty="0">
                <a:solidFill>
                  <a:srgbClr val="2462EA"/>
                </a:solidFill>
                <a:latin typeface="Calibri"/>
                <a:cs typeface="Calibri"/>
              </a:rPr>
              <a:t>Deployment</a:t>
            </a:r>
            <a:r>
              <a:rPr sz="1100" b="1" spc="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2462EA"/>
                </a:solidFill>
                <a:latin typeface="Calibri"/>
                <a:cs typeface="Calibri"/>
              </a:rPr>
              <a:t>Facts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976774" y="1502412"/>
            <a:ext cx="3670300" cy="452120"/>
            <a:chOff x="4976774" y="1502412"/>
            <a:chExt cx="3670300" cy="452120"/>
          </a:xfrm>
        </p:grpSpPr>
        <p:sp>
          <p:nvSpPr>
            <p:cNvPr id="25" name="object 25"/>
            <p:cNvSpPr/>
            <p:nvPr/>
          </p:nvSpPr>
          <p:spPr>
            <a:xfrm>
              <a:off x="4983124" y="1508762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594" y="375036"/>
                  </a:lnTo>
                  <a:lnTo>
                    <a:pt x="607" y="375238"/>
                  </a:lnTo>
                  <a:lnTo>
                    <a:pt x="2393" y="384433"/>
                  </a:lnTo>
                  <a:lnTo>
                    <a:pt x="2428" y="384616"/>
                  </a:lnTo>
                  <a:lnTo>
                    <a:pt x="5410" y="393495"/>
                  </a:lnTo>
                  <a:lnTo>
                    <a:pt x="36360" y="429120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81"/>
                  </a:lnTo>
                  <a:lnTo>
                    <a:pt x="3655108" y="384616"/>
                  </a:lnTo>
                  <a:lnTo>
                    <a:pt x="3655169" y="384433"/>
                  </a:lnTo>
                  <a:lnTo>
                    <a:pt x="3656953" y="375238"/>
                  </a:lnTo>
                  <a:lnTo>
                    <a:pt x="3656992" y="375036"/>
                  </a:lnTo>
                  <a:lnTo>
                    <a:pt x="3657577" y="365760"/>
                  </a:lnTo>
                  <a:lnTo>
                    <a:pt x="3657599" y="365404"/>
                  </a:lnTo>
                  <a:lnTo>
                    <a:pt x="3657231" y="73075"/>
                  </a:lnTo>
                  <a:lnTo>
                    <a:pt x="3642140" y="28705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83124" y="1508762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4"/>
                  </a:lnTo>
                  <a:lnTo>
                    <a:pt x="3654802" y="54224"/>
                  </a:lnTo>
                  <a:lnTo>
                    <a:pt x="3657231" y="73075"/>
                  </a:lnTo>
                  <a:lnTo>
                    <a:pt x="3657599" y="365404"/>
                  </a:lnTo>
                  <a:lnTo>
                    <a:pt x="3656992" y="375036"/>
                  </a:lnTo>
                  <a:lnTo>
                    <a:pt x="3655169" y="384433"/>
                  </a:lnTo>
                  <a:lnTo>
                    <a:pt x="3628889" y="423381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089220" y="1496796"/>
            <a:ext cx="1460500" cy="40957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dirty="0">
                <a:solidFill>
                  <a:srgbClr val="2462EA"/>
                </a:solidFill>
                <a:latin typeface="Calibri"/>
                <a:cs typeface="Calibri"/>
              </a:rPr>
              <a:t>Pipeline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speed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&lt;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8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min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total (test+build+deploy)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976774" y="2014336"/>
            <a:ext cx="3670300" cy="452120"/>
            <a:chOff x="4976774" y="2014336"/>
            <a:chExt cx="3670300" cy="452120"/>
          </a:xfrm>
        </p:grpSpPr>
        <p:sp>
          <p:nvSpPr>
            <p:cNvPr id="29" name="object 29"/>
            <p:cNvSpPr/>
            <p:nvPr/>
          </p:nvSpPr>
          <p:spPr>
            <a:xfrm>
              <a:off x="4983124" y="202068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15091" y="410130"/>
                  </a:lnTo>
                  <a:lnTo>
                    <a:pt x="54041" y="436406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76"/>
                  </a:lnTo>
                  <a:lnTo>
                    <a:pt x="3652052" y="393650"/>
                  </a:lnTo>
                  <a:lnTo>
                    <a:pt x="3652129" y="393495"/>
                  </a:lnTo>
                  <a:lnTo>
                    <a:pt x="3657576" y="365760"/>
                  </a:lnTo>
                  <a:lnTo>
                    <a:pt x="3657599" y="365391"/>
                  </a:lnTo>
                  <a:lnTo>
                    <a:pt x="3657231" y="73075"/>
                  </a:lnTo>
                  <a:lnTo>
                    <a:pt x="3642140" y="28698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83124" y="202068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096"/>
                  </a:lnTo>
                  <a:lnTo>
                    <a:pt x="3654802" y="54219"/>
                  </a:lnTo>
                  <a:lnTo>
                    <a:pt x="3657231" y="73075"/>
                  </a:lnTo>
                  <a:lnTo>
                    <a:pt x="3657599" y="365391"/>
                  </a:lnTo>
                  <a:lnTo>
                    <a:pt x="3656992" y="375031"/>
                  </a:lnTo>
                  <a:lnTo>
                    <a:pt x="3655169" y="384432"/>
                  </a:lnTo>
                  <a:lnTo>
                    <a:pt x="3628889" y="423376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089220" y="2008339"/>
            <a:ext cx="1125855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Deployment</a:t>
            </a:r>
            <a:r>
              <a:rPr sz="850" b="1" spc="4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type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Rolling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zero downtime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976774" y="2526616"/>
            <a:ext cx="3670300" cy="452120"/>
            <a:chOff x="4976774" y="2526616"/>
            <a:chExt cx="3670300" cy="452120"/>
          </a:xfrm>
        </p:grpSpPr>
        <p:sp>
          <p:nvSpPr>
            <p:cNvPr id="33" name="object 33"/>
            <p:cNvSpPr/>
            <p:nvPr/>
          </p:nvSpPr>
          <p:spPr>
            <a:xfrm>
              <a:off x="4983124" y="253296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15091" y="410130"/>
                  </a:lnTo>
                  <a:lnTo>
                    <a:pt x="54041" y="436406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76"/>
                  </a:lnTo>
                  <a:lnTo>
                    <a:pt x="3652052" y="393650"/>
                  </a:lnTo>
                  <a:lnTo>
                    <a:pt x="3652129" y="393495"/>
                  </a:lnTo>
                  <a:lnTo>
                    <a:pt x="3657576" y="365760"/>
                  </a:lnTo>
                  <a:lnTo>
                    <a:pt x="3657599" y="365391"/>
                  </a:lnTo>
                  <a:lnTo>
                    <a:pt x="3657231" y="73075"/>
                  </a:lnTo>
                  <a:lnTo>
                    <a:pt x="3642140" y="28698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983124" y="253296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096"/>
                  </a:lnTo>
                  <a:lnTo>
                    <a:pt x="3654802" y="54219"/>
                  </a:lnTo>
                  <a:lnTo>
                    <a:pt x="3657231" y="73075"/>
                  </a:lnTo>
                  <a:lnTo>
                    <a:pt x="3657599" y="365391"/>
                  </a:lnTo>
                  <a:lnTo>
                    <a:pt x="3656992" y="375031"/>
                  </a:lnTo>
                  <a:lnTo>
                    <a:pt x="3655169" y="384432"/>
                  </a:lnTo>
                  <a:lnTo>
                    <a:pt x="3628889" y="423376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089220" y="2520263"/>
            <a:ext cx="134874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Rollback</a:t>
            </a:r>
            <a:r>
              <a:rPr sz="850" b="1" spc="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time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&lt; 60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seconds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(previous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image)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976774" y="3038527"/>
            <a:ext cx="3670300" cy="452120"/>
            <a:chOff x="4976774" y="3038527"/>
            <a:chExt cx="3670300" cy="452120"/>
          </a:xfrm>
        </p:grpSpPr>
        <p:sp>
          <p:nvSpPr>
            <p:cNvPr id="37" name="object 37"/>
            <p:cNvSpPr/>
            <p:nvPr/>
          </p:nvSpPr>
          <p:spPr>
            <a:xfrm>
              <a:off x="4983124" y="304487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59"/>
                  </a:lnTo>
                  <a:lnTo>
                    <a:pt x="5412" y="393500"/>
                  </a:lnTo>
                  <a:lnTo>
                    <a:pt x="5464" y="393656"/>
                  </a:lnTo>
                  <a:lnTo>
                    <a:pt x="36360" y="429120"/>
                  </a:lnTo>
                  <a:lnTo>
                    <a:pt x="73075" y="438848"/>
                  </a:lnTo>
                  <a:lnTo>
                    <a:pt x="3584511" y="438480"/>
                  </a:lnTo>
                  <a:lnTo>
                    <a:pt x="3628889" y="423388"/>
                  </a:lnTo>
                  <a:lnTo>
                    <a:pt x="3655109" y="384616"/>
                  </a:lnTo>
                  <a:lnTo>
                    <a:pt x="3656953" y="375238"/>
                  </a:lnTo>
                  <a:lnTo>
                    <a:pt x="3656992" y="375038"/>
                  </a:lnTo>
                  <a:lnTo>
                    <a:pt x="3657577" y="365759"/>
                  </a:lnTo>
                  <a:lnTo>
                    <a:pt x="3657599" y="365404"/>
                  </a:lnTo>
                  <a:lnTo>
                    <a:pt x="3657231" y="73088"/>
                  </a:lnTo>
                  <a:lnTo>
                    <a:pt x="3642140" y="28710"/>
                  </a:lnTo>
                  <a:lnTo>
                    <a:pt x="3603190" y="2430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83124" y="304487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9"/>
                  </a:lnTo>
                  <a:lnTo>
                    <a:pt x="3654802" y="54232"/>
                  </a:lnTo>
                  <a:lnTo>
                    <a:pt x="3657231" y="73088"/>
                  </a:lnTo>
                  <a:lnTo>
                    <a:pt x="3657599" y="365404"/>
                  </a:lnTo>
                  <a:lnTo>
                    <a:pt x="3656992" y="375038"/>
                  </a:lnTo>
                  <a:lnTo>
                    <a:pt x="3655169" y="384438"/>
                  </a:lnTo>
                  <a:lnTo>
                    <a:pt x="3628889" y="423388"/>
                  </a:lnTo>
                  <a:lnTo>
                    <a:pt x="358451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5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089220" y="3032543"/>
            <a:ext cx="133477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25" dirty="0">
                <a:solidFill>
                  <a:srgbClr val="2462EA"/>
                </a:solidFill>
                <a:latin typeface="Calibri"/>
                <a:cs typeface="Calibri"/>
              </a:rPr>
              <a:t>Test</a:t>
            </a:r>
            <a:r>
              <a:rPr sz="850" b="1" spc="-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coverage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JUnit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5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Vitest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k6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load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tests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976774" y="3550807"/>
            <a:ext cx="3670300" cy="452120"/>
            <a:chOff x="4976774" y="3550807"/>
            <a:chExt cx="3670300" cy="452120"/>
          </a:xfrm>
        </p:grpSpPr>
        <p:sp>
          <p:nvSpPr>
            <p:cNvPr id="41" name="object 41"/>
            <p:cNvSpPr/>
            <p:nvPr/>
          </p:nvSpPr>
          <p:spPr>
            <a:xfrm>
              <a:off x="4983124" y="355715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59"/>
                  </a:lnTo>
                  <a:lnTo>
                    <a:pt x="5412" y="393500"/>
                  </a:lnTo>
                  <a:lnTo>
                    <a:pt x="5464" y="393656"/>
                  </a:lnTo>
                  <a:lnTo>
                    <a:pt x="36360" y="429120"/>
                  </a:lnTo>
                  <a:lnTo>
                    <a:pt x="73075" y="438848"/>
                  </a:lnTo>
                  <a:lnTo>
                    <a:pt x="3584511" y="438480"/>
                  </a:lnTo>
                  <a:lnTo>
                    <a:pt x="3628889" y="423388"/>
                  </a:lnTo>
                  <a:lnTo>
                    <a:pt x="3655109" y="384616"/>
                  </a:lnTo>
                  <a:lnTo>
                    <a:pt x="3656953" y="375238"/>
                  </a:lnTo>
                  <a:lnTo>
                    <a:pt x="3656992" y="375038"/>
                  </a:lnTo>
                  <a:lnTo>
                    <a:pt x="3657577" y="365759"/>
                  </a:lnTo>
                  <a:lnTo>
                    <a:pt x="3657599" y="365404"/>
                  </a:lnTo>
                  <a:lnTo>
                    <a:pt x="3657231" y="73088"/>
                  </a:lnTo>
                  <a:lnTo>
                    <a:pt x="3642140" y="28710"/>
                  </a:lnTo>
                  <a:lnTo>
                    <a:pt x="3603190" y="2430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83124" y="355715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9"/>
                  </a:lnTo>
                  <a:lnTo>
                    <a:pt x="3654802" y="54232"/>
                  </a:lnTo>
                  <a:lnTo>
                    <a:pt x="3657231" y="73088"/>
                  </a:lnTo>
                  <a:lnTo>
                    <a:pt x="3657599" y="365404"/>
                  </a:lnTo>
                  <a:lnTo>
                    <a:pt x="3656992" y="375038"/>
                  </a:lnTo>
                  <a:lnTo>
                    <a:pt x="3655169" y="384438"/>
                  </a:lnTo>
                  <a:lnTo>
                    <a:pt x="3628889" y="423388"/>
                  </a:lnTo>
                  <a:lnTo>
                    <a:pt x="358451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5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089220" y="3544467"/>
            <a:ext cx="151384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dirty="0">
                <a:solidFill>
                  <a:srgbClr val="2462EA"/>
                </a:solidFill>
                <a:latin typeface="Calibri"/>
                <a:cs typeface="Calibri"/>
              </a:rPr>
              <a:t>Secret</a:t>
            </a:r>
            <a:r>
              <a:rPr sz="85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management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GitHub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Environments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Robi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Vault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45" name="object 45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18744" y="4730580"/>
            <a:ext cx="5681980" cy="2984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ts val="1240"/>
              </a:lnSpc>
              <a:spcBef>
                <a:spcPts val="114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25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spc="-110" dirty="0">
                <a:solidFill>
                  <a:srgbClr val="774409"/>
                </a:solidFill>
                <a:latin typeface="Calibri"/>
                <a:cs typeface="Calibri"/>
              </a:rPr>
              <a:t>CI/C</a:t>
            </a:r>
            <a:r>
              <a:rPr sz="1200" spc="-165" baseline="6944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950" spc="-16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240" baseline="6944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16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240" baseline="6944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950" spc="-160" dirty="0">
                <a:solidFill>
                  <a:srgbClr val="774409"/>
                </a:solidFill>
                <a:latin typeface="Calibri"/>
                <a:cs typeface="Calibri"/>
              </a:rPr>
              <a:t>ip</a:t>
            </a:r>
            <a:r>
              <a:rPr sz="1200" spc="-240" baseline="6944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160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1200" spc="-240" baseline="6944" dirty="0">
                <a:solidFill>
                  <a:srgbClr val="E1E7EF"/>
                </a:solidFill>
                <a:latin typeface="Courier New"/>
                <a:cs typeface="Courier New"/>
              </a:rPr>
              <a:t>:</a:t>
            </a:r>
            <a:r>
              <a:rPr sz="950" spc="-160" dirty="0">
                <a:solidFill>
                  <a:srgbClr val="774409"/>
                </a:solidFill>
                <a:latin typeface="Calibri"/>
                <a:cs typeface="Calibri"/>
              </a:rPr>
              <a:t>fa</a:t>
            </a:r>
            <a:r>
              <a:rPr sz="1200" spc="-240" baseline="6944" dirty="0">
                <a:solidFill>
                  <a:srgbClr val="E1E7EF"/>
                </a:solidFill>
                <a:latin typeface="Courier New"/>
                <a:cs typeface="Courier New"/>
              </a:rPr>
              <a:t>m</a:t>
            </a:r>
            <a:r>
              <a:rPr sz="950" spc="-160" dirty="0">
                <a:solidFill>
                  <a:srgbClr val="774409"/>
                </a:solidFill>
                <a:latin typeface="Calibri"/>
                <a:cs typeface="Calibri"/>
              </a:rPr>
              <a:t>il</a:t>
            </a:r>
            <a:r>
              <a:rPr sz="1200" spc="-240" baseline="6944" dirty="0">
                <a:solidFill>
                  <a:srgbClr val="E1E7EF"/>
                </a:solidFill>
                <a:latin typeface="Courier New"/>
                <a:cs typeface="Courier New"/>
              </a:rPr>
              <a:t>v</a:t>
            </a:r>
            <a:r>
              <a:rPr sz="950" spc="-160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1200" spc="-240" baseline="6944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160" dirty="0">
                <a:solidFill>
                  <a:srgbClr val="774409"/>
                </a:solidFill>
                <a:latin typeface="Calibri"/>
                <a:cs typeface="Calibri"/>
              </a:rPr>
              <a:t>g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292" baseline="6944" dirty="0">
                <a:solidFill>
                  <a:srgbClr val="E1E7EF"/>
                </a:solidFill>
                <a:latin typeface="Courier New"/>
                <a:cs typeface="Courier New"/>
              </a:rPr>
              <a:t>te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292" baseline="6944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292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on</a:t>
            </a:r>
            <a:r>
              <a:rPr sz="1200" spc="-292" baseline="6944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1200" spc="-562" baseline="6944" dirty="0">
                <a:solidFill>
                  <a:srgbClr val="E1E7EF"/>
                </a:solidFill>
                <a:latin typeface="Courier New"/>
                <a:cs typeface="Courier New"/>
              </a:rPr>
              <a:t>D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409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150" baseline="6944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28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337" baseline="6944" dirty="0">
                <a:solidFill>
                  <a:srgbClr val="E1E7EF"/>
                </a:solidFill>
                <a:latin typeface="Courier New"/>
                <a:cs typeface="Courier New"/>
              </a:rPr>
              <a:t>p</a:t>
            </a:r>
            <a:r>
              <a:rPr sz="950" spc="-9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262" baseline="6944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125" dirty="0">
                <a:solidFill>
                  <a:srgbClr val="774409"/>
                </a:solidFill>
                <a:latin typeface="Calibri"/>
                <a:cs typeface="Calibri"/>
              </a:rPr>
              <a:t>f</a:t>
            </a:r>
            <a:r>
              <a:rPr sz="1200" spc="-585" baseline="6944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6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637" baseline="6944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il</a:t>
            </a:r>
            <a:r>
              <a:rPr sz="950" spc="-509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1200" spc="-7" baseline="6944" dirty="0">
                <a:solidFill>
                  <a:srgbClr val="E1E7EF"/>
                </a:solidFill>
                <a:latin typeface="Courier New"/>
                <a:cs typeface="Courier New"/>
              </a:rPr>
              <a:t>g</a:t>
            </a:r>
            <a:r>
              <a:rPr sz="1200" spc="-705" baseline="6944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-31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22" baseline="6944" dirty="0">
                <a:solidFill>
                  <a:srgbClr val="E1E7EF"/>
                </a:solidFill>
                <a:latin typeface="Courier New"/>
                <a:cs typeface="Courier New"/>
              </a:rPr>
              <a:t>p</a:t>
            </a:r>
            <a:r>
              <a:rPr sz="1200" spc="-667" baseline="6944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150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217" baseline="6944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465" baseline="6944" dirty="0">
                <a:solidFill>
                  <a:srgbClr val="E1E7EF"/>
                </a:solidFill>
                <a:latin typeface="Courier New"/>
                <a:cs typeface="Courier New"/>
              </a:rPr>
              <a:t>f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h</a:t>
            </a:r>
            <a:r>
              <a:rPr sz="1200" spc="-457" baseline="6944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17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165" baseline="6944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665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1200" spc="-15" baseline="6944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1200" spc="-480" baseline="6944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480" baseline="6944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r>
              <a:rPr sz="950" spc="-60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667" baseline="6944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7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600" baseline="6944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585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1200" spc="-22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1200" spc="-592" baseline="6944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100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592" baseline="6944" dirty="0">
                <a:solidFill>
                  <a:srgbClr val="E1E7EF"/>
                </a:solidFill>
                <a:latin typeface="Courier New"/>
                <a:cs typeface="Courier New"/>
              </a:rPr>
              <a:t>v</a:t>
            </a:r>
            <a:r>
              <a:rPr sz="950" spc="-100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569" baseline="6944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-26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367" baseline="6944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950" spc="-21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419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23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405" baseline="6944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5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352" baseline="6944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4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525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f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ty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net.</a:t>
            </a:r>
            <a:r>
              <a:rPr sz="950" spc="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Never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merge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without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green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CI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pipeline.</a:t>
            </a:r>
            <a:endParaRPr sz="950">
              <a:latin typeface="Calibri"/>
              <a:cs typeface="Calibri"/>
            </a:endParaRPr>
          </a:p>
          <a:p>
            <a:pPr marL="400685">
              <a:lnSpc>
                <a:spcPts val="880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run: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mvn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checkstyle:check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66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C4D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Docker</a:t>
            </a:r>
            <a:r>
              <a:rPr spc="-65" dirty="0"/>
              <a:t> </a:t>
            </a:r>
            <a:r>
              <a:rPr dirty="0"/>
              <a:t>—</a:t>
            </a:r>
            <a:r>
              <a:rPr spc="-60" dirty="0"/>
              <a:t> </a:t>
            </a:r>
            <a:r>
              <a:rPr spc="-20" dirty="0"/>
              <a:t>Multi-</a:t>
            </a:r>
            <a:r>
              <a:rPr dirty="0"/>
              <a:t>Stage</a:t>
            </a:r>
            <a:r>
              <a:rPr spc="-65" dirty="0"/>
              <a:t> </a:t>
            </a:r>
            <a:r>
              <a:rPr spc="-10" dirty="0"/>
              <a:t>Build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6600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Optimised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5" dirty="0">
                <a:solidFill>
                  <a:srgbClr val="9FBFFF"/>
                </a:solidFill>
                <a:latin typeface="Arial"/>
                <a:cs typeface="Arial"/>
              </a:rPr>
              <a:t>Docker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Arial"/>
                <a:cs typeface="Arial"/>
              </a:rPr>
              <a:t>images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for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Spring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Boot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and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React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1"/>
            <a:ext cx="774002" cy="1498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3001" y="1038582"/>
            <a:ext cx="4533900" cy="1333500"/>
            <a:chOff x="243001" y="1038582"/>
            <a:chExt cx="4533900" cy="13335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001" y="1038582"/>
              <a:ext cx="4533836" cy="1333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0040" y="1115646"/>
              <a:ext cx="4343400" cy="1143000"/>
            </a:xfrm>
            <a:custGeom>
              <a:avLst/>
              <a:gdLst/>
              <a:ahLst/>
              <a:cxnLst/>
              <a:rect l="l" t="t" r="r" b="b"/>
              <a:pathLst>
                <a:path w="4343400" h="1143000">
                  <a:moveTo>
                    <a:pt x="4251960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42" y="1097280"/>
                  </a:lnTo>
                  <a:lnTo>
                    <a:pt x="45720" y="1130757"/>
                  </a:lnTo>
                  <a:lnTo>
                    <a:pt x="91439" y="1143000"/>
                  </a:lnTo>
                  <a:lnTo>
                    <a:pt x="4251960" y="1143000"/>
                  </a:lnTo>
                  <a:lnTo>
                    <a:pt x="4297680" y="1130757"/>
                  </a:lnTo>
                  <a:lnTo>
                    <a:pt x="4331157" y="1097280"/>
                  </a:lnTo>
                  <a:lnTo>
                    <a:pt x="4343400" y="1051560"/>
                  </a:lnTo>
                  <a:lnTo>
                    <a:pt x="4343400" y="91439"/>
                  </a:lnTo>
                  <a:lnTo>
                    <a:pt x="4331157" y="45720"/>
                  </a:lnTo>
                  <a:lnTo>
                    <a:pt x="4297680" y="12230"/>
                  </a:lnTo>
                  <a:lnTo>
                    <a:pt x="4251960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1115646"/>
              <a:ext cx="4343400" cy="1143000"/>
            </a:xfrm>
            <a:custGeom>
              <a:avLst/>
              <a:gdLst/>
              <a:ahLst/>
              <a:cxnLst/>
              <a:rect l="l" t="t" r="r" b="b"/>
              <a:pathLst>
                <a:path w="4343400" h="1143000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960" y="0"/>
                  </a:lnTo>
                  <a:lnTo>
                    <a:pt x="4297680" y="12230"/>
                  </a:lnTo>
                  <a:lnTo>
                    <a:pt x="4331157" y="45720"/>
                  </a:lnTo>
                  <a:lnTo>
                    <a:pt x="4343400" y="91439"/>
                  </a:lnTo>
                  <a:lnTo>
                    <a:pt x="4343400" y="1051560"/>
                  </a:lnTo>
                  <a:lnTo>
                    <a:pt x="4342601" y="1063559"/>
                  </a:lnTo>
                  <a:lnTo>
                    <a:pt x="4340250" y="1075224"/>
                  </a:lnTo>
                  <a:lnTo>
                    <a:pt x="4316718" y="1116309"/>
                  </a:lnTo>
                  <a:lnTo>
                    <a:pt x="4275629" y="1139850"/>
                  </a:lnTo>
                  <a:lnTo>
                    <a:pt x="4251960" y="1143000"/>
                  </a:lnTo>
                  <a:lnTo>
                    <a:pt x="91439" y="1143000"/>
                  </a:lnTo>
                  <a:lnTo>
                    <a:pt x="45720" y="1130757"/>
                  </a:lnTo>
                  <a:lnTo>
                    <a:pt x="12242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4044315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CI/CD</a:t>
            </a:r>
            <a:r>
              <a:rPr sz="850" b="1" spc="-2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Dockerfiles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Finance: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(1)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Spring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Boot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multi-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stage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Dockerfile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(build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Maven,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run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55" dirty="0">
                <a:solidFill>
                  <a:srgbClr val="FCE589"/>
                </a:solidFill>
                <a:latin typeface="Arial"/>
                <a:cs typeface="Arial"/>
              </a:rPr>
              <a:t>JRE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21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slim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—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target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&lt;200MB);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(2)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React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multi-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stage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Dockerfile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(build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Node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20,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serve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Nginx);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(3)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docker-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compose.yml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local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development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Spring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Boot,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React,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0" dirty="0">
                <a:solidFill>
                  <a:srgbClr val="FCE589"/>
                </a:solidFill>
                <a:latin typeface="Arial"/>
                <a:cs typeface="Arial"/>
              </a:rPr>
              <a:t>MySQL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8,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Redis.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Include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health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checks."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253947"/>
            <a:ext cx="4534535" cy="2567940"/>
            <a:chOff x="242646" y="2253947"/>
            <a:chExt cx="4534535" cy="256794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253947"/>
              <a:ext cx="4534204" cy="256788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330998"/>
              <a:ext cx="4344035" cy="2378075"/>
            </a:xfrm>
            <a:custGeom>
              <a:avLst/>
              <a:gdLst/>
              <a:ahLst/>
              <a:cxnLst/>
              <a:rect l="l" t="t" r="r" b="b"/>
              <a:pathLst>
                <a:path w="4344035" h="2378075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40"/>
                  </a:lnTo>
                  <a:lnTo>
                    <a:pt x="0" y="2286368"/>
                  </a:lnTo>
                  <a:lnTo>
                    <a:pt x="798" y="2298368"/>
                  </a:lnTo>
                  <a:lnTo>
                    <a:pt x="18830" y="2342125"/>
                  </a:lnTo>
                  <a:lnTo>
                    <a:pt x="56505" y="2370816"/>
                  </a:lnTo>
                  <a:lnTo>
                    <a:pt x="91439" y="2377808"/>
                  </a:lnTo>
                  <a:lnTo>
                    <a:pt x="4252315" y="2377808"/>
                  </a:lnTo>
                  <a:lnTo>
                    <a:pt x="4298035" y="2365565"/>
                  </a:lnTo>
                  <a:lnTo>
                    <a:pt x="4331512" y="2332088"/>
                  </a:lnTo>
                  <a:lnTo>
                    <a:pt x="4343755" y="2286368"/>
                  </a:lnTo>
                  <a:lnTo>
                    <a:pt x="4343731" y="91440"/>
                  </a:lnTo>
                  <a:lnTo>
                    <a:pt x="4331512" y="46088"/>
                  </a:lnTo>
                  <a:lnTo>
                    <a:pt x="4298035" y="12598"/>
                  </a:lnTo>
                  <a:lnTo>
                    <a:pt x="425231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330998"/>
              <a:ext cx="4344035" cy="2378075"/>
            </a:xfrm>
            <a:custGeom>
              <a:avLst/>
              <a:gdLst/>
              <a:ahLst/>
              <a:cxnLst/>
              <a:rect l="l" t="t" r="r" b="b"/>
              <a:pathLst>
                <a:path w="4344035" h="2378075">
                  <a:moveTo>
                    <a:pt x="355" y="91440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68"/>
                  </a:lnTo>
                  <a:lnTo>
                    <a:pt x="4298035" y="12598"/>
                  </a:lnTo>
                  <a:lnTo>
                    <a:pt x="4331512" y="46088"/>
                  </a:lnTo>
                  <a:lnTo>
                    <a:pt x="4343755" y="91808"/>
                  </a:lnTo>
                  <a:lnTo>
                    <a:pt x="4343755" y="2286368"/>
                  </a:lnTo>
                  <a:lnTo>
                    <a:pt x="4342957" y="2298368"/>
                  </a:lnTo>
                  <a:lnTo>
                    <a:pt x="4340606" y="2310033"/>
                  </a:lnTo>
                  <a:lnTo>
                    <a:pt x="4317074" y="2351117"/>
                  </a:lnTo>
                  <a:lnTo>
                    <a:pt x="4275985" y="2374653"/>
                  </a:lnTo>
                  <a:lnTo>
                    <a:pt x="4252315" y="2377808"/>
                  </a:lnTo>
                  <a:lnTo>
                    <a:pt x="91439" y="2377808"/>
                  </a:lnTo>
                  <a:lnTo>
                    <a:pt x="45719" y="2365565"/>
                  </a:lnTo>
                  <a:lnTo>
                    <a:pt x="12230" y="2332088"/>
                  </a:lnTo>
                  <a:lnTo>
                    <a:pt x="0" y="2286368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320035"/>
            <a:ext cx="3314065" cy="120967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3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Config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/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2499"/>
              </a:lnSpc>
              <a:spcBef>
                <a:spcPts val="50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Dockerfile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Spring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Boot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(multi-stage,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185MB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final)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eclipse-temurin:21-jdk-alpine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AS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build</a:t>
            </a:r>
            <a:endParaRPr sz="800">
              <a:latin typeface="Courier New"/>
              <a:cs typeface="Courier New"/>
            </a:endParaRPr>
          </a:p>
          <a:p>
            <a:pPr marL="12700" marR="242443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WORKDIR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/app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COPY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pom.xml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endParaRPr sz="800">
              <a:latin typeface="Courier New"/>
              <a:cs typeface="Courier New"/>
            </a:endParaRPr>
          </a:p>
          <a:p>
            <a:pPr marL="12700" marR="130683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RUN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mvn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dependency:go-offline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q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COPY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src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./src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RUN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mvn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package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-DskipTests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q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140" y="3629065"/>
            <a:ext cx="3438525" cy="10248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2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eclipse-temurin:21-jre-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alpine</a:t>
            </a:r>
            <a:endParaRPr sz="800">
              <a:latin typeface="Courier New"/>
              <a:cs typeface="Courier New"/>
            </a:endParaRPr>
          </a:p>
          <a:p>
            <a:pPr marL="12700" marR="5003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RUN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addgroup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-S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wamy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&amp;&amp;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adduser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-S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wamy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-G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wamy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WORKDIR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/app</a:t>
            </a:r>
            <a:endParaRPr sz="800">
              <a:latin typeface="Courier New"/>
              <a:cs typeface="Courier New"/>
            </a:endParaRPr>
          </a:p>
          <a:p>
            <a:pPr marL="12700" marR="74993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COPY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-from=build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/app/target/*.jar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app.jar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USER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wamy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EXPOSE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8080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02499"/>
              </a:lnSpc>
              <a:tabLst>
                <a:tab pos="2617470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HEALTHCHECK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--interval=30s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timeout=3s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	CMD wget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qO-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  <a:hlinkClick r:id="rId4"/>
              </a:rPr>
              <a:t>http://localhost:8080/actuator/health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||</a:t>
            </a:r>
            <a:r>
              <a:rPr sz="800" spc="1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exit</a:t>
            </a:r>
            <a:r>
              <a:rPr sz="800" spc="1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1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5140" y="4878262"/>
            <a:ext cx="269367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Dockerfile.frontend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React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(Nginx,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25MB)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140" y="5003179"/>
            <a:ext cx="176276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node:20-alpine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AS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build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68926" y="1037871"/>
            <a:ext cx="4168775" cy="3783965"/>
            <a:chOff x="4768926" y="1037871"/>
            <a:chExt cx="4168775" cy="378396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68926" y="1037871"/>
              <a:ext cx="4168444" cy="378396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932"/>
                  </a:lnTo>
                  <a:lnTo>
                    <a:pt x="355" y="109804"/>
                  </a:lnTo>
                  <a:lnTo>
                    <a:pt x="0" y="3484079"/>
                  </a:lnTo>
                  <a:lnTo>
                    <a:pt x="929" y="3498349"/>
                  </a:lnTo>
                  <a:lnTo>
                    <a:pt x="939" y="3498510"/>
                  </a:lnTo>
                  <a:lnTo>
                    <a:pt x="3699" y="3512385"/>
                  </a:lnTo>
                  <a:lnTo>
                    <a:pt x="3735" y="3512567"/>
                  </a:lnTo>
                  <a:lnTo>
                    <a:pt x="8284" y="3525949"/>
                  </a:lnTo>
                  <a:lnTo>
                    <a:pt x="32213" y="3561703"/>
                  </a:lnTo>
                  <a:lnTo>
                    <a:pt x="67932" y="3585525"/>
                  </a:lnTo>
                  <a:lnTo>
                    <a:pt x="109791" y="3593884"/>
                  </a:lnTo>
                  <a:lnTo>
                    <a:pt x="3868191" y="3593884"/>
                  </a:lnTo>
                  <a:lnTo>
                    <a:pt x="3910262" y="3585525"/>
                  </a:lnTo>
                  <a:lnTo>
                    <a:pt x="3945766" y="3561703"/>
                  </a:lnTo>
                  <a:lnTo>
                    <a:pt x="3969542" y="3526151"/>
                  </a:lnTo>
                  <a:lnTo>
                    <a:pt x="3974198" y="3512567"/>
                  </a:lnTo>
                  <a:lnTo>
                    <a:pt x="3974260" y="3512385"/>
                  </a:lnTo>
                  <a:lnTo>
                    <a:pt x="3977023" y="3498510"/>
                  </a:lnTo>
                  <a:lnTo>
                    <a:pt x="3977055" y="3498349"/>
                  </a:lnTo>
                  <a:lnTo>
                    <a:pt x="3977995" y="3484079"/>
                  </a:lnTo>
                  <a:lnTo>
                    <a:pt x="3977972" y="109804"/>
                  </a:lnTo>
                  <a:lnTo>
                    <a:pt x="3969642" y="68088"/>
                  </a:lnTo>
                  <a:lnTo>
                    <a:pt x="3945772" y="32535"/>
                  </a:lnTo>
                  <a:lnTo>
                    <a:pt x="3910062" y="8713"/>
                  </a:lnTo>
                  <a:lnTo>
                    <a:pt x="3868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355" y="109804"/>
                  </a:moveTo>
                  <a:lnTo>
                    <a:pt x="1295" y="95529"/>
                  </a:lnTo>
                  <a:lnTo>
                    <a:pt x="4090" y="81494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55"/>
                  </a:lnTo>
                  <a:lnTo>
                    <a:pt x="3910062" y="8713"/>
                  </a:lnTo>
                  <a:lnTo>
                    <a:pt x="3945772" y="32535"/>
                  </a:lnTo>
                  <a:lnTo>
                    <a:pt x="3969642" y="68088"/>
                  </a:lnTo>
                  <a:lnTo>
                    <a:pt x="3977995" y="110159"/>
                  </a:lnTo>
                  <a:lnTo>
                    <a:pt x="3977995" y="3484079"/>
                  </a:lnTo>
                  <a:lnTo>
                    <a:pt x="3977055" y="3498349"/>
                  </a:lnTo>
                  <a:lnTo>
                    <a:pt x="3974260" y="3512385"/>
                  </a:lnTo>
                  <a:lnTo>
                    <a:pt x="3955218" y="3550872"/>
                  </a:lnTo>
                  <a:lnTo>
                    <a:pt x="3923271" y="3579114"/>
                  </a:lnTo>
                  <a:lnTo>
                    <a:pt x="3882621" y="3592944"/>
                  </a:lnTo>
                  <a:lnTo>
                    <a:pt x="3868191" y="3593884"/>
                  </a:lnTo>
                  <a:lnTo>
                    <a:pt x="109791" y="3593884"/>
                  </a:lnTo>
                  <a:lnTo>
                    <a:pt x="67932" y="3585525"/>
                  </a:lnTo>
                  <a:lnTo>
                    <a:pt x="32213" y="3561703"/>
                  </a:lnTo>
                  <a:lnTo>
                    <a:pt x="8352" y="3526151"/>
                  </a:lnTo>
                  <a:lnTo>
                    <a:pt x="0" y="348407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1C4D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970424" y="1167538"/>
            <a:ext cx="130238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2462EA"/>
                </a:solidFill>
                <a:latin typeface="MingLiU_HKSCS-ExtB"/>
                <a:cs typeface="MingLiU_HKSCS-ExtB"/>
              </a:rPr>
              <a:t>🚀</a:t>
            </a:r>
            <a:r>
              <a:rPr sz="1300" spc="-275" dirty="0">
                <a:solidFill>
                  <a:srgbClr val="2462EA"/>
                </a:solidFill>
                <a:latin typeface="MingLiU_HKSCS-ExtB"/>
                <a:cs typeface="MingLiU_HKSCS-ExtB"/>
              </a:rPr>
              <a:t> </a:t>
            </a:r>
            <a:r>
              <a:rPr sz="1100" b="1" spc="-10" dirty="0">
                <a:solidFill>
                  <a:srgbClr val="2462EA"/>
                </a:solidFill>
                <a:latin typeface="Calibri"/>
                <a:cs typeface="Calibri"/>
              </a:rPr>
              <a:t>Deployment</a:t>
            </a:r>
            <a:r>
              <a:rPr sz="1100" b="1" spc="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2462EA"/>
                </a:solidFill>
                <a:latin typeface="Calibri"/>
                <a:cs typeface="Calibri"/>
              </a:rPr>
              <a:t>Facts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976774" y="1502412"/>
            <a:ext cx="3670300" cy="452120"/>
            <a:chOff x="4976774" y="1502412"/>
            <a:chExt cx="3670300" cy="452120"/>
          </a:xfrm>
        </p:grpSpPr>
        <p:sp>
          <p:nvSpPr>
            <p:cNvPr id="26" name="object 26"/>
            <p:cNvSpPr/>
            <p:nvPr/>
          </p:nvSpPr>
          <p:spPr>
            <a:xfrm>
              <a:off x="4983124" y="1508762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594" y="375036"/>
                  </a:lnTo>
                  <a:lnTo>
                    <a:pt x="607" y="375238"/>
                  </a:lnTo>
                  <a:lnTo>
                    <a:pt x="2393" y="384433"/>
                  </a:lnTo>
                  <a:lnTo>
                    <a:pt x="2428" y="384616"/>
                  </a:lnTo>
                  <a:lnTo>
                    <a:pt x="5410" y="393495"/>
                  </a:lnTo>
                  <a:lnTo>
                    <a:pt x="36360" y="429120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81"/>
                  </a:lnTo>
                  <a:lnTo>
                    <a:pt x="3655108" y="384616"/>
                  </a:lnTo>
                  <a:lnTo>
                    <a:pt x="3655169" y="384433"/>
                  </a:lnTo>
                  <a:lnTo>
                    <a:pt x="3656953" y="375238"/>
                  </a:lnTo>
                  <a:lnTo>
                    <a:pt x="3656992" y="375036"/>
                  </a:lnTo>
                  <a:lnTo>
                    <a:pt x="3657577" y="365760"/>
                  </a:lnTo>
                  <a:lnTo>
                    <a:pt x="3657599" y="365404"/>
                  </a:lnTo>
                  <a:lnTo>
                    <a:pt x="3657231" y="73075"/>
                  </a:lnTo>
                  <a:lnTo>
                    <a:pt x="3642140" y="28705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83124" y="1508762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4"/>
                  </a:lnTo>
                  <a:lnTo>
                    <a:pt x="3654802" y="54224"/>
                  </a:lnTo>
                  <a:lnTo>
                    <a:pt x="3657231" y="73075"/>
                  </a:lnTo>
                  <a:lnTo>
                    <a:pt x="3657599" y="365404"/>
                  </a:lnTo>
                  <a:lnTo>
                    <a:pt x="3656992" y="375036"/>
                  </a:lnTo>
                  <a:lnTo>
                    <a:pt x="3655169" y="384433"/>
                  </a:lnTo>
                  <a:lnTo>
                    <a:pt x="3628889" y="423381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089220" y="1496796"/>
            <a:ext cx="1460500" cy="40957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dirty="0">
                <a:solidFill>
                  <a:srgbClr val="2462EA"/>
                </a:solidFill>
                <a:latin typeface="Calibri"/>
                <a:cs typeface="Calibri"/>
              </a:rPr>
              <a:t>Pipeline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speed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&lt;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8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min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total (test+build+deploy)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976774" y="2014336"/>
            <a:ext cx="3670300" cy="452120"/>
            <a:chOff x="4976774" y="2014336"/>
            <a:chExt cx="3670300" cy="452120"/>
          </a:xfrm>
        </p:grpSpPr>
        <p:sp>
          <p:nvSpPr>
            <p:cNvPr id="30" name="object 30"/>
            <p:cNvSpPr/>
            <p:nvPr/>
          </p:nvSpPr>
          <p:spPr>
            <a:xfrm>
              <a:off x="4983124" y="202068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15091" y="410130"/>
                  </a:lnTo>
                  <a:lnTo>
                    <a:pt x="54041" y="436406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76"/>
                  </a:lnTo>
                  <a:lnTo>
                    <a:pt x="3652052" y="393650"/>
                  </a:lnTo>
                  <a:lnTo>
                    <a:pt x="3652129" y="393495"/>
                  </a:lnTo>
                  <a:lnTo>
                    <a:pt x="3657576" y="365760"/>
                  </a:lnTo>
                  <a:lnTo>
                    <a:pt x="3657599" y="365391"/>
                  </a:lnTo>
                  <a:lnTo>
                    <a:pt x="3657231" y="73075"/>
                  </a:lnTo>
                  <a:lnTo>
                    <a:pt x="3642140" y="28698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83124" y="202068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096"/>
                  </a:lnTo>
                  <a:lnTo>
                    <a:pt x="3654802" y="54219"/>
                  </a:lnTo>
                  <a:lnTo>
                    <a:pt x="3657231" y="73075"/>
                  </a:lnTo>
                  <a:lnTo>
                    <a:pt x="3657599" y="365391"/>
                  </a:lnTo>
                  <a:lnTo>
                    <a:pt x="3656992" y="375031"/>
                  </a:lnTo>
                  <a:lnTo>
                    <a:pt x="3655169" y="384432"/>
                  </a:lnTo>
                  <a:lnTo>
                    <a:pt x="3628889" y="423376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089220" y="2008339"/>
            <a:ext cx="1125855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Deployment</a:t>
            </a:r>
            <a:r>
              <a:rPr sz="850" b="1" spc="4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type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Rolling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zero downtime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976774" y="2526616"/>
            <a:ext cx="3670300" cy="452120"/>
            <a:chOff x="4976774" y="2526616"/>
            <a:chExt cx="3670300" cy="452120"/>
          </a:xfrm>
        </p:grpSpPr>
        <p:sp>
          <p:nvSpPr>
            <p:cNvPr id="34" name="object 34"/>
            <p:cNvSpPr/>
            <p:nvPr/>
          </p:nvSpPr>
          <p:spPr>
            <a:xfrm>
              <a:off x="4983124" y="253296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15091" y="410130"/>
                  </a:lnTo>
                  <a:lnTo>
                    <a:pt x="54041" y="436406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76"/>
                  </a:lnTo>
                  <a:lnTo>
                    <a:pt x="3652052" y="393650"/>
                  </a:lnTo>
                  <a:lnTo>
                    <a:pt x="3652129" y="393495"/>
                  </a:lnTo>
                  <a:lnTo>
                    <a:pt x="3657576" y="365760"/>
                  </a:lnTo>
                  <a:lnTo>
                    <a:pt x="3657599" y="365391"/>
                  </a:lnTo>
                  <a:lnTo>
                    <a:pt x="3657231" y="73075"/>
                  </a:lnTo>
                  <a:lnTo>
                    <a:pt x="3642140" y="28698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983124" y="253296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096"/>
                  </a:lnTo>
                  <a:lnTo>
                    <a:pt x="3654802" y="54219"/>
                  </a:lnTo>
                  <a:lnTo>
                    <a:pt x="3657231" y="73075"/>
                  </a:lnTo>
                  <a:lnTo>
                    <a:pt x="3657599" y="365391"/>
                  </a:lnTo>
                  <a:lnTo>
                    <a:pt x="3656992" y="375031"/>
                  </a:lnTo>
                  <a:lnTo>
                    <a:pt x="3655169" y="384432"/>
                  </a:lnTo>
                  <a:lnTo>
                    <a:pt x="3628889" y="423376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089220" y="2520263"/>
            <a:ext cx="134874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Rollback</a:t>
            </a:r>
            <a:r>
              <a:rPr sz="850" b="1" spc="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time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&lt; 60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seconds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(previous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image)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976774" y="3038527"/>
            <a:ext cx="3670300" cy="452120"/>
            <a:chOff x="4976774" y="3038527"/>
            <a:chExt cx="3670300" cy="452120"/>
          </a:xfrm>
        </p:grpSpPr>
        <p:sp>
          <p:nvSpPr>
            <p:cNvPr id="38" name="object 38"/>
            <p:cNvSpPr/>
            <p:nvPr/>
          </p:nvSpPr>
          <p:spPr>
            <a:xfrm>
              <a:off x="4983124" y="304487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59"/>
                  </a:lnTo>
                  <a:lnTo>
                    <a:pt x="5412" y="393500"/>
                  </a:lnTo>
                  <a:lnTo>
                    <a:pt x="5464" y="393656"/>
                  </a:lnTo>
                  <a:lnTo>
                    <a:pt x="36360" y="429120"/>
                  </a:lnTo>
                  <a:lnTo>
                    <a:pt x="73075" y="438848"/>
                  </a:lnTo>
                  <a:lnTo>
                    <a:pt x="3584511" y="438480"/>
                  </a:lnTo>
                  <a:lnTo>
                    <a:pt x="3628889" y="423388"/>
                  </a:lnTo>
                  <a:lnTo>
                    <a:pt x="3655109" y="384616"/>
                  </a:lnTo>
                  <a:lnTo>
                    <a:pt x="3656953" y="375238"/>
                  </a:lnTo>
                  <a:lnTo>
                    <a:pt x="3656992" y="375038"/>
                  </a:lnTo>
                  <a:lnTo>
                    <a:pt x="3657577" y="365759"/>
                  </a:lnTo>
                  <a:lnTo>
                    <a:pt x="3657599" y="365404"/>
                  </a:lnTo>
                  <a:lnTo>
                    <a:pt x="3657231" y="73088"/>
                  </a:lnTo>
                  <a:lnTo>
                    <a:pt x="3642140" y="28710"/>
                  </a:lnTo>
                  <a:lnTo>
                    <a:pt x="3603190" y="2430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983124" y="304487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9"/>
                  </a:lnTo>
                  <a:lnTo>
                    <a:pt x="3654802" y="54232"/>
                  </a:lnTo>
                  <a:lnTo>
                    <a:pt x="3657231" y="73088"/>
                  </a:lnTo>
                  <a:lnTo>
                    <a:pt x="3657599" y="365404"/>
                  </a:lnTo>
                  <a:lnTo>
                    <a:pt x="3656992" y="375038"/>
                  </a:lnTo>
                  <a:lnTo>
                    <a:pt x="3655169" y="384438"/>
                  </a:lnTo>
                  <a:lnTo>
                    <a:pt x="3628889" y="423388"/>
                  </a:lnTo>
                  <a:lnTo>
                    <a:pt x="358451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5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089220" y="3032543"/>
            <a:ext cx="133477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25" dirty="0">
                <a:solidFill>
                  <a:srgbClr val="2462EA"/>
                </a:solidFill>
                <a:latin typeface="Calibri"/>
                <a:cs typeface="Calibri"/>
              </a:rPr>
              <a:t>Test</a:t>
            </a:r>
            <a:r>
              <a:rPr sz="850" b="1" spc="-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coverage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JUnit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5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Vitest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k6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load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tests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976774" y="3550807"/>
            <a:ext cx="3670300" cy="452120"/>
            <a:chOff x="4976774" y="3550807"/>
            <a:chExt cx="3670300" cy="452120"/>
          </a:xfrm>
        </p:grpSpPr>
        <p:sp>
          <p:nvSpPr>
            <p:cNvPr id="42" name="object 42"/>
            <p:cNvSpPr/>
            <p:nvPr/>
          </p:nvSpPr>
          <p:spPr>
            <a:xfrm>
              <a:off x="4983124" y="355715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59"/>
                  </a:lnTo>
                  <a:lnTo>
                    <a:pt x="5412" y="393500"/>
                  </a:lnTo>
                  <a:lnTo>
                    <a:pt x="5464" y="393656"/>
                  </a:lnTo>
                  <a:lnTo>
                    <a:pt x="36360" y="429120"/>
                  </a:lnTo>
                  <a:lnTo>
                    <a:pt x="73075" y="438848"/>
                  </a:lnTo>
                  <a:lnTo>
                    <a:pt x="3584511" y="438480"/>
                  </a:lnTo>
                  <a:lnTo>
                    <a:pt x="3628889" y="423388"/>
                  </a:lnTo>
                  <a:lnTo>
                    <a:pt x="3655109" y="384616"/>
                  </a:lnTo>
                  <a:lnTo>
                    <a:pt x="3656953" y="375238"/>
                  </a:lnTo>
                  <a:lnTo>
                    <a:pt x="3656992" y="375038"/>
                  </a:lnTo>
                  <a:lnTo>
                    <a:pt x="3657577" y="365759"/>
                  </a:lnTo>
                  <a:lnTo>
                    <a:pt x="3657599" y="365404"/>
                  </a:lnTo>
                  <a:lnTo>
                    <a:pt x="3657231" y="73088"/>
                  </a:lnTo>
                  <a:lnTo>
                    <a:pt x="3642140" y="28710"/>
                  </a:lnTo>
                  <a:lnTo>
                    <a:pt x="3603190" y="2430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83124" y="355715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9"/>
                  </a:lnTo>
                  <a:lnTo>
                    <a:pt x="3654802" y="54232"/>
                  </a:lnTo>
                  <a:lnTo>
                    <a:pt x="3657231" y="73088"/>
                  </a:lnTo>
                  <a:lnTo>
                    <a:pt x="3657599" y="365404"/>
                  </a:lnTo>
                  <a:lnTo>
                    <a:pt x="3656992" y="375038"/>
                  </a:lnTo>
                  <a:lnTo>
                    <a:pt x="3655169" y="384438"/>
                  </a:lnTo>
                  <a:lnTo>
                    <a:pt x="3628889" y="423388"/>
                  </a:lnTo>
                  <a:lnTo>
                    <a:pt x="358451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5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089220" y="3544467"/>
            <a:ext cx="151384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dirty="0">
                <a:solidFill>
                  <a:srgbClr val="2462EA"/>
                </a:solidFill>
                <a:latin typeface="Calibri"/>
                <a:cs typeface="Calibri"/>
              </a:rPr>
              <a:t>Secret</a:t>
            </a:r>
            <a:r>
              <a:rPr sz="85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management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GitHub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Environments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Robi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Vault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46" name="object 46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435140" y="4628427"/>
            <a:ext cx="5640070" cy="298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88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ENTRYPOINT</a:t>
            </a:r>
            <a:r>
              <a:rPr sz="800" spc="1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["java","-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jar","app.jar"]</a:t>
            </a:r>
            <a:endParaRPr sz="800">
              <a:latin typeface="Courier New"/>
              <a:cs typeface="Courier New"/>
            </a:endParaRPr>
          </a:p>
          <a:p>
            <a:pPr marL="21590">
              <a:lnSpc>
                <a:spcPts val="1240"/>
              </a:lnSpc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CI/CD</a:t>
            </a:r>
            <a:r>
              <a:rPr sz="950" spc="-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Tip: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failing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PR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on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test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failure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is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most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important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safety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net.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Never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merge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without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green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CI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pipeline.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67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C4D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CD</a:t>
            </a:r>
            <a:r>
              <a:rPr spc="-65" dirty="0"/>
              <a:t> </a:t>
            </a:r>
            <a:r>
              <a:rPr dirty="0"/>
              <a:t>Pipeline</a:t>
            </a:r>
            <a:r>
              <a:rPr spc="-65" dirty="0"/>
              <a:t> </a:t>
            </a:r>
            <a:r>
              <a:rPr dirty="0"/>
              <a:t>—</a:t>
            </a:r>
            <a:r>
              <a:rPr spc="-55" dirty="0"/>
              <a:t> </a:t>
            </a:r>
            <a:r>
              <a:rPr dirty="0"/>
              <a:t>Deploy</a:t>
            </a:r>
            <a:r>
              <a:rPr spc="-6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Robi</a:t>
            </a:r>
            <a:r>
              <a:rPr spc="-60" dirty="0"/>
              <a:t> </a:t>
            </a:r>
            <a:r>
              <a:rPr spc="-10" dirty="0"/>
              <a:t>Cloud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5596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Automated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deployment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on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merge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9FBFFF"/>
                </a:solidFill>
                <a:latin typeface="Arial"/>
                <a:cs typeface="Arial"/>
              </a:rPr>
              <a:t>to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main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branch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3001" y="1038582"/>
            <a:ext cx="4533900" cy="1333500"/>
            <a:chOff x="243001" y="1038582"/>
            <a:chExt cx="4533900" cy="13335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001" y="1038582"/>
              <a:ext cx="4533836" cy="1333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0040" y="1115646"/>
              <a:ext cx="4343400" cy="1143000"/>
            </a:xfrm>
            <a:custGeom>
              <a:avLst/>
              <a:gdLst/>
              <a:ahLst/>
              <a:cxnLst/>
              <a:rect l="l" t="t" r="r" b="b"/>
              <a:pathLst>
                <a:path w="4343400" h="1143000">
                  <a:moveTo>
                    <a:pt x="4251960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42" y="1097280"/>
                  </a:lnTo>
                  <a:lnTo>
                    <a:pt x="45720" y="1130757"/>
                  </a:lnTo>
                  <a:lnTo>
                    <a:pt x="91439" y="1143000"/>
                  </a:lnTo>
                  <a:lnTo>
                    <a:pt x="4251960" y="1143000"/>
                  </a:lnTo>
                  <a:lnTo>
                    <a:pt x="4297680" y="1130757"/>
                  </a:lnTo>
                  <a:lnTo>
                    <a:pt x="4331157" y="1097280"/>
                  </a:lnTo>
                  <a:lnTo>
                    <a:pt x="4343400" y="1051560"/>
                  </a:lnTo>
                  <a:lnTo>
                    <a:pt x="4343400" y="91439"/>
                  </a:lnTo>
                  <a:lnTo>
                    <a:pt x="4331157" y="45720"/>
                  </a:lnTo>
                  <a:lnTo>
                    <a:pt x="4297680" y="12230"/>
                  </a:lnTo>
                  <a:lnTo>
                    <a:pt x="4251960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1115646"/>
              <a:ext cx="4343400" cy="1143000"/>
            </a:xfrm>
            <a:custGeom>
              <a:avLst/>
              <a:gdLst/>
              <a:ahLst/>
              <a:cxnLst/>
              <a:rect l="l" t="t" r="r" b="b"/>
              <a:pathLst>
                <a:path w="4343400" h="1143000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960" y="0"/>
                  </a:lnTo>
                  <a:lnTo>
                    <a:pt x="4297680" y="12230"/>
                  </a:lnTo>
                  <a:lnTo>
                    <a:pt x="4331157" y="45720"/>
                  </a:lnTo>
                  <a:lnTo>
                    <a:pt x="4343400" y="91439"/>
                  </a:lnTo>
                  <a:lnTo>
                    <a:pt x="4343400" y="1051560"/>
                  </a:lnTo>
                  <a:lnTo>
                    <a:pt x="4342601" y="1063559"/>
                  </a:lnTo>
                  <a:lnTo>
                    <a:pt x="4340250" y="1075224"/>
                  </a:lnTo>
                  <a:lnTo>
                    <a:pt x="4316718" y="1116309"/>
                  </a:lnTo>
                  <a:lnTo>
                    <a:pt x="4275629" y="1139850"/>
                  </a:lnTo>
                  <a:lnTo>
                    <a:pt x="4251960" y="1143000"/>
                  </a:lnTo>
                  <a:lnTo>
                    <a:pt x="91439" y="1143000"/>
                  </a:lnTo>
                  <a:lnTo>
                    <a:pt x="45720" y="1130757"/>
                  </a:lnTo>
                  <a:lnTo>
                    <a:pt x="12242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4069079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CI/CD</a:t>
            </a:r>
            <a:r>
              <a:rPr sz="850" b="1" spc="-2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GitHub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Actions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35" dirty="0">
                <a:solidFill>
                  <a:srgbClr val="FCE589"/>
                </a:solidFill>
                <a:latin typeface="Arial"/>
                <a:cs typeface="Arial"/>
              </a:rPr>
              <a:t>CD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workflow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that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deploys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to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Robi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Cloud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on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push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to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main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branch.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Steps: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(1)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Build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Docker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images;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(2)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Push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to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container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registry;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(3)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60" dirty="0">
                <a:solidFill>
                  <a:srgbClr val="FCE589"/>
                </a:solidFill>
                <a:latin typeface="Arial"/>
                <a:cs typeface="Arial"/>
              </a:rPr>
              <a:t>SSH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to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Robi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Cloud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server;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(4)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Pull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new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images;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(5)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Run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zero-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downtime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rolling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deployment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docker-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compose;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(6)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Run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database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migrations;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(7)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Health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check;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(8)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Rollback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on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failure."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253947"/>
            <a:ext cx="4534535" cy="2567940"/>
            <a:chOff x="242646" y="2253947"/>
            <a:chExt cx="4534535" cy="256794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253947"/>
              <a:ext cx="4534204" cy="256788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330998"/>
              <a:ext cx="4344035" cy="2378075"/>
            </a:xfrm>
            <a:custGeom>
              <a:avLst/>
              <a:gdLst/>
              <a:ahLst/>
              <a:cxnLst/>
              <a:rect l="l" t="t" r="r" b="b"/>
              <a:pathLst>
                <a:path w="4344035" h="2378075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40"/>
                  </a:lnTo>
                  <a:lnTo>
                    <a:pt x="0" y="2286368"/>
                  </a:lnTo>
                  <a:lnTo>
                    <a:pt x="798" y="2298368"/>
                  </a:lnTo>
                  <a:lnTo>
                    <a:pt x="18830" y="2342125"/>
                  </a:lnTo>
                  <a:lnTo>
                    <a:pt x="56505" y="2370816"/>
                  </a:lnTo>
                  <a:lnTo>
                    <a:pt x="91439" y="2377808"/>
                  </a:lnTo>
                  <a:lnTo>
                    <a:pt x="4252315" y="2377808"/>
                  </a:lnTo>
                  <a:lnTo>
                    <a:pt x="4298035" y="2365565"/>
                  </a:lnTo>
                  <a:lnTo>
                    <a:pt x="4331512" y="2332088"/>
                  </a:lnTo>
                  <a:lnTo>
                    <a:pt x="4343755" y="2286368"/>
                  </a:lnTo>
                  <a:lnTo>
                    <a:pt x="4343731" y="91440"/>
                  </a:lnTo>
                  <a:lnTo>
                    <a:pt x="4331512" y="46088"/>
                  </a:lnTo>
                  <a:lnTo>
                    <a:pt x="4298035" y="12598"/>
                  </a:lnTo>
                  <a:lnTo>
                    <a:pt x="425231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330998"/>
              <a:ext cx="4344035" cy="2378075"/>
            </a:xfrm>
            <a:custGeom>
              <a:avLst/>
              <a:gdLst/>
              <a:ahLst/>
              <a:cxnLst/>
              <a:rect l="l" t="t" r="r" b="b"/>
              <a:pathLst>
                <a:path w="4344035" h="2378075">
                  <a:moveTo>
                    <a:pt x="355" y="91440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68"/>
                  </a:lnTo>
                  <a:lnTo>
                    <a:pt x="4298035" y="12598"/>
                  </a:lnTo>
                  <a:lnTo>
                    <a:pt x="4331512" y="46088"/>
                  </a:lnTo>
                  <a:lnTo>
                    <a:pt x="4343755" y="91808"/>
                  </a:lnTo>
                  <a:lnTo>
                    <a:pt x="4343755" y="2286368"/>
                  </a:lnTo>
                  <a:lnTo>
                    <a:pt x="4342957" y="2298368"/>
                  </a:lnTo>
                  <a:lnTo>
                    <a:pt x="4340606" y="2310033"/>
                  </a:lnTo>
                  <a:lnTo>
                    <a:pt x="4317074" y="2351117"/>
                  </a:lnTo>
                  <a:lnTo>
                    <a:pt x="4275985" y="2374653"/>
                  </a:lnTo>
                  <a:lnTo>
                    <a:pt x="4252315" y="2377808"/>
                  </a:lnTo>
                  <a:lnTo>
                    <a:pt x="91439" y="2377808"/>
                  </a:lnTo>
                  <a:lnTo>
                    <a:pt x="45719" y="2365565"/>
                  </a:lnTo>
                  <a:lnTo>
                    <a:pt x="12230" y="2332088"/>
                  </a:lnTo>
                  <a:lnTo>
                    <a:pt x="0" y="2286368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320035"/>
            <a:ext cx="2072005" cy="158432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3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Config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/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 marR="437515" algn="just">
              <a:lnSpc>
                <a:spcPct val="102499"/>
              </a:lnSpc>
              <a:spcBef>
                <a:spcPts val="50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800" spc="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.github/workflows/cd.yml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name: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Deploy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Robi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Cloud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on:</a:t>
            </a:r>
            <a:endParaRPr sz="800">
              <a:latin typeface="Courier New"/>
              <a:cs typeface="Courier New"/>
            </a:endParaRPr>
          </a:p>
          <a:p>
            <a:pPr marL="12700" marR="313690" indent="123189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push: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branches: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[main]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jobs: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deploy:</a:t>
            </a:r>
            <a:endParaRPr sz="800">
              <a:latin typeface="Courier New"/>
              <a:cs typeface="Courier New"/>
            </a:endParaRPr>
          </a:p>
          <a:p>
            <a:pPr marL="260985" marR="37592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runs-on: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ubuntu-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latest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environment: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production steps:</a:t>
            </a:r>
            <a:endParaRPr sz="800">
              <a:latin typeface="Courier New"/>
              <a:cs typeface="Courier New"/>
            </a:endParaRPr>
          </a:p>
          <a:p>
            <a:pPr marL="38417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2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uses: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actions/checkout@v4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7021" y="4003829"/>
            <a:ext cx="2135505" cy="400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160" marR="5080" indent="-125095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name: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Build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&amp;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push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Docker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images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run: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|</a:t>
            </a:r>
            <a:endParaRPr sz="800">
              <a:latin typeface="Courier New"/>
              <a:cs typeface="Courier New"/>
            </a:endParaRPr>
          </a:p>
          <a:p>
            <a:pPr marL="26225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echo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REGISTRY_TOKEN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|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66338" y="4253664"/>
            <a:ext cx="77089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docker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login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140" y="4378581"/>
            <a:ext cx="3997960" cy="4006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registry.robi.cloud</a:t>
            </a:r>
            <a:r>
              <a:rPr sz="800" spc="1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-u</a:t>
            </a:r>
            <a:r>
              <a:rPr sz="800" spc="1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REGISTRY_USER</a:t>
            </a:r>
            <a:r>
              <a:rPr sz="800" spc="11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--password-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stdin</a:t>
            </a:r>
            <a:endParaRPr sz="800">
              <a:latin typeface="Courier New"/>
              <a:cs typeface="Courier New"/>
            </a:endParaRPr>
          </a:p>
          <a:p>
            <a:pPr marL="634365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docker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build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-t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registry.robi.cloud/wamy/api:GIT_SHA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.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docker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push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registry.robi.cloud/wamy/api:GIT_SHA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1938" y="5003179"/>
            <a:ext cx="201168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uses:</a:t>
            </a:r>
            <a:r>
              <a:rPr sz="800" spc="1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appleboy/ssh-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action@master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768926" y="1037871"/>
            <a:ext cx="4168775" cy="3783965"/>
            <a:chOff x="4768926" y="1037871"/>
            <a:chExt cx="4168775" cy="378396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7871"/>
              <a:ext cx="4168444" cy="378396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932"/>
                  </a:lnTo>
                  <a:lnTo>
                    <a:pt x="355" y="109804"/>
                  </a:lnTo>
                  <a:lnTo>
                    <a:pt x="0" y="3484079"/>
                  </a:lnTo>
                  <a:lnTo>
                    <a:pt x="929" y="3498349"/>
                  </a:lnTo>
                  <a:lnTo>
                    <a:pt x="939" y="3498510"/>
                  </a:lnTo>
                  <a:lnTo>
                    <a:pt x="3699" y="3512385"/>
                  </a:lnTo>
                  <a:lnTo>
                    <a:pt x="3735" y="3512567"/>
                  </a:lnTo>
                  <a:lnTo>
                    <a:pt x="8284" y="3525949"/>
                  </a:lnTo>
                  <a:lnTo>
                    <a:pt x="32213" y="3561703"/>
                  </a:lnTo>
                  <a:lnTo>
                    <a:pt x="67932" y="3585525"/>
                  </a:lnTo>
                  <a:lnTo>
                    <a:pt x="109791" y="3593884"/>
                  </a:lnTo>
                  <a:lnTo>
                    <a:pt x="3868191" y="3593884"/>
                  </a:lnTo>
                  <a:lnTo>
                    <a:pt x="3910262" y="3585525"/>
                  </a:lnTo>
                  <a:lnTo>
                    <a:pt x="3945766" y="3561703"/>
                  </a:lnTo>
                  <a:lnTo>
                    <a:pt x="3969542" y="3526151"/>
                  </a:lnTo>
                  <a:lnTo>
                    <a:pt x="3974198" y="3512567"/>
                  </a:lnTo>
                  <a:lnTo>
                    <a:pt x="3974260" y="3512385"/>
                  </a:lnTo>
                  <a:lnTo>
                    <a:pt x="3977023" y="3498510"/>
                  </a:lnTo>
                  <a:lnTo>
                    <a:pt x="3977055" y="3498349"/>
                  </a:lnTo>
                  <a:lnTo>
                    <a:pt x="3977995" y="3484079"/>
                  </a:lnTo>
                  <a:lnTo>
                    <a:pt x="3977972" y="109804"/>
                  </a:lnTo>
                  <a:lnTo>
                    <a:pt x="3969642" y="68088"/>
                  </a:lnTo>
                  <a:lnTo>
                    <a:pt x="3945772" y="32535"/>
                  </a:lnTo>
                  <a:lnTo>
                    <a:pt x="3910062" y="8713"/>
                  </a:lnTo>
                  <a:lnTo>
                    <a:pt x="3868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355" y="109804"/>
                  </a:moveTo>
                  <a:lnTo>
                    <a:pt x="1295" y="95529"/>
                  </a:lnTo>
                  <a:lnTo>
                    <a:pt x="4090" y="81494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55"/>
                  </a:lnTo>
                  <a:lnTo>
                    <a:pt x="3910062" y="8713"/>
                  </a:lnTo>
                  <a:lnTo>
                    <a:pt x="3945772" y="32535"/>
                  </a:lnTo>
                  <a:lnTo>
                    <a:pt x="3969642" y="68088"/>
                  </a:lnTo>
                  <a:lnTo>
                    <a:pt x="3977995" y="110159"/>
                  </a:lnTo>
                  <a:lnTo>
                    <a:pt x="3977995" y="3484079"/>
                  </a:lnTo>
                  <a:lnTo>
                    <a:pt x="3977055" y="3498349"/>
                  </a:lnTo>
                  <a:lnTo>
                    <a:pt x="3974260" y="3512385"/>
                  </a:lnTo>
                  <a:lnTo>
                    <a:pt x="3955218" y="3550872"/>
                  </a:lnTo>
                  <a:lnTo>
                    <a:pt x="3923271" y="3579114"/>
                  </a:lnTo>
                  <a:lnTo>
                    <a:pt x="3882621" y="3592944"/>
                  </a:lnTo>
                  <a:lnTo>
                    <a:pt x="3868191" y="3593884"/>
                  </a:lnTo>
                  <a:lnTo>
                    <a:pt x="109791" y="3593884"/>
                  </a:lnTo>
                  <a:lnTo>
                    <a:pt x="67932" y="3585525"/>
                  </a:lnTo>
                  <a:lnTo>
                    <a:pt x="32213" y="3561703"/>
                  </a:lnTo>
                  <a:lnTo>
                    <a:pt x="8352" y="3526151"/>
                  </a:lnTo>
                  <a:lnTo>
                    <a:pt x="0" y="348407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1C4D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970424" y="1167538"/>
            <a:ext cx="130238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2462EA"/>
                </a:solidFill>
                <a:latin typeface="MingLiU_HKSCS-ExtB"/>
                <a:cs typeface="MingLiU_HKSCS-ExtB"/>
              </a:rPr>
              <a:t>🚀</a:t>
            </a:r>
            <a:r>
              <a:rPr sz="1300" spc="-275" dirty="0">
                <a:solidFill>
                  <a:srgbClr val="2462EA"/>
                </a:solidFill>
                <a:latin typeface="MingLiU_HKSCS-ExtB"/>
                <a:cs typeface="MingLiU_HKSCS-ExtB"/>
              </a:rPr>
              <a:t> </a:t>
            </a:r>
            <a:r>
              <a:rPr sz="1100" b="1" spc="-10" dirty="0">
                <a:solidFill>
                  <a:srgbClr val="2462EA"/>
                </a:solidFill>
                <a:latin typeface="Calibri"/>
                <a:cs typeface="Calibri"/>
              </a:rPr>
              <a:t>Deployment</a:t>
            </a:r>
            <a:r>
              <a:rPr sz="1100" b="1" spc="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2462EA"/>
                </a:solidFill>
                <a:latin typeface="Calibri"/>
                <a:cs typeface="Calibri"/>
              </a:rPr>
              <a:t>Facts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976774" y="1502412"/>
            <a:ext cx="3670300" cy="452120"/>
            <a:chOff x="4976774" y="1502412"/>
            <a:chExt cx="3670300" cy="452120"/>
          </a:xfrm>
        </p:grpSpPr>
        <p:sp>
          <p:nvSpPr>
            <p:cNvPr id="27" name="object 27"/>
            <p:cNvSpPr/>
            <p:nvPr/>
          </p:nvSpPr>
          <p:spPr>
            <a:xfrm>
              <a:off x="4983124" y="1508762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594" y="375036"/>
                  </a:lnTo>
                  <a:lnTo>
                    <a:pt x="607" y="375238"/>
                  </a:lnTo>
                  <a:lnTo>
                    <a:pt x="2393" y="384433"/>
                  </a:lnTo>
                  <a:lnTo>
                    <a:pt x="2428" y="384616"/>
                  </a:lnTo>
                  <a:lnTo>
                    <a:pt x="5410" y="393495"/>
                  </a:lnTo>
                  <a:lnTo>
                    <a:pt x="36360" y="429120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81"/>
                  </a:lnTo>
                  <a:lnTo>
                    <a:pt x="3655108" y="384616"/>
                  </a:lnTo>
                  <a:lnTo>
                    <a:pt x="3655169" y="384433"/>
                  </a:lnTo>
                  <a:lnTo>
                    <a:pt x="3656953" y="375238"/>
                  </a:lnTo>
                  <a:lnTo>
                    <a:pt x="3656992" y="375036"/>
                  </a:lnTo>
                  <a:lnTo>
                    <a:pt x="3657577" y="365760"/>
                  </a:lnTo>
                  <a:lnTo>
                    <a:pt x="3657599" y="365404"/>
                  </a:lnTo>
                  <a:lnTo>
                    <a:pt x="3657231" y="73075"/>
                  </a:lnTo>
                  <a:lnTo>
                    <a:pt x="3642140" y="28705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83124" y="1508762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4"/>
                  </a:lnTo>
                  <a:lnTo>
                    <a:pt x="3654802" y="54224"/>
                  </a:lnTo>
                  <a:lnTo>
                    <a:pt x="3657231" y="73075"/>
                  </a:lnTo>
                  <a:lnTo>
                    <a:pt x="3657599" y="365404"/>
                  </a:lnTo>
                  <a:lnTo>
                    <a:pt x="3656992" y="375036"/>
                  </a:lnTo>
                  <a:lnTo>
                    <a:pt x="3655169" y="384433"/>
                  </a:lnTo>
                  <a:lnTo>
                    <a:pt x="3628889" y="423381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089220" y="1496796"/>
            <a:ext cx="1460500" cy="40957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dirty="0">
                <a:solidFill>
                  <a:srgbClr val="2462EA"/>
                </a:solidFill>
                <a:latin typeface="Calibri"/>
                <a:cs typeface="Calibri"/>
              </a:rPr>
              <a:t>Pipeline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speed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&lt;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8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min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total (test+build+deploy)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976774" y="2014336"/>
            <a:ext cx="3670300" cy="452120"/>
            <a:chOff x="4976774" y="2014336"/>
            <a:chExt cx="3670300" cy="452120"/>
          </a:xfrm>
        </p:grpSpPr>
        <p:sp>
          <p:nvSpPr>
            <p:cNvPr id="31" name="object 31"/>
            <p:cNvSpPr/>
            <p:nvPr/>
          </p:nvSpPr>
          <p:spPr>
            <a:xfrm>
              <a:off x="4983124" y="202068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15091" y="410130"/>
                  </a:lnTo>
                  <a:lnTo>
                    <a:pt x="54041" y="436406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76"/>
                  </a:lnTo>
                  <a:lnTo>
                    <a:pt x="3652052" y="393650"/>
                  </a:lnTo>
                  <a:lnTo>
                    <a:pt x="3652129" y="393495"/>
                  </a:lnTo>
                  <a:lnTo>
                    <a:pt x="3657576" y="365760"/>
                  </a:lnTo>
                  <a:lnTo>
                    <a:pt x="3657599" y="365391"/>
                  </a:lnTo>
                  <a:lnTo>
                    <a:pt x="3657231" y="73075"/>
                  </a:lnTo>
                  <a:lnTo>
                    <a:pt x="3642140" y="28698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83124" y="202068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096"/>
                  </a:lnTo>
                  <a:lnTo>
                    <a:pt x="3654802" y="54219"/>
                  </a:lnTo>
                  <a:lnTo>
                    <a:pt x="3657231" y="73075"/>
                  </a:lnTo>
                  <a:lnTo>
                    <a:pt x="3657599" y="365391"/>
                  </a:lnTo>
                  <a:lnTo>
                    <a:pt x="3656992" y="375031"/>
                  </a:lnTo>
                  <a:lnTo>
                    <a:pt x="3655169" y="384432"/>
                  </a:lnTo>
                  <a:lnTo>
                    <a:pt x="3628889" y="423376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089220" y="2008339"/>
            <a:ext cx="1125855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Deployment</a:t>
            </a:r>
            <a:r>
              <a:rPr sz="850" b="1" spc="4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type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Rolling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zero downtime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976774" y="2526616"/>
            <a:ext cx="3670300" cy="452120"/>
            <a:chOff x="4976774" y="2526616"/>
            <a:chExt cx="3670300" cy="452120"/>
          </a:xfrm>
        </p:grpSpPr>
        <p:sp>
          <p:nvSpPr>
            <p:cNvPr id="35" name="object 35"/>
            <p:cNvSpPr/>
            <p:nvPr/>
          </p:nvSpPr>
          <p:spPr>
            <a:xfrm>
              <a:off x="4983124" y="253296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15091" y="410130"/>
                  </a:lnTo>
                  <a:lnTo>
                    <a:pt x="54041" y="436406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76"/>
                  </a:lnTo>
                  <a:lnTo>
                    <a:pt x="3652052" y="393650"/>
                  </a:lnTo>
                  <a:lnTo>
                    <a:pt x="3652129" y="393495"/>
                  </a:lnTo>
                  <a:lnTo>
                    <a:pt x="3657576" y="365760"/>
                  </a:lnTo>
                  <a:lnTo>
                    <a:pt x="3657599" y="365391"/>
                  </a:lnTo>
                  <a:lnTo>
                    <a:pt x="3657231" y="73075"/>
                  </a:lnTo>
                  <a:lnTo>
                    <a:pt x="3642140" y="28698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83124" y="253296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096"/>
                  </a:lnTo>
                  <a:lnTo>
                    <a:pt x="3654802" y="54219"/>
                  </a:lnTo>
                  <a:lnTo>
                    <a:pt x="3657231" y="73075"/>
                  </a:lnTo>
                  <a:lnTo>
                    <a:pt x="3657599" y="365391"/>
                  </a:lnTo>
                  <a:lnTo>
                    <a:pt x="3656992" y="375031"/>
                  </a:lnTo>
                  <a:lnTo>
                    <a:pt x="3655169" y="384432"/>
                  </a:lnTo>
                  <a:lnTo>
                    <a:pt x="3628889" y="423376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089220" y="2520263"/>
            <a:ext cx="134874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Rollback</a:t>
            </a:r>
            <a:r>
              <a:rPr sz="850" b="1" spc="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time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&lt; 60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seconds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(previous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image)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976774" y="3038527"/>
            <a:ext cx="3670300" cy="452120"/>
            <a:chOff x="4976774" y="3038527"/>
            <a:chExt cx="3670300" cy="452120"/>
          </a:xfrm>
        </p:grpSpPr>
        <p:sp>
          <p:nvSpPr>
            <p:cNvPr id="39" name="object 39"/>
            <p:cNvSpPr/>
            <p:nvPr/>
          </p:nvSpPr>
          <p:spPr>
            <a:xfrm>
              <a:off x="4983124" y="304487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59"/>
                  </a:lnTo>
                  <a:lnTo>
                    <a:pt x="5412" y="393500"/>
                  </a:lnTo>
                  <a:lnTo>
                    <a:pt x="5464" y="393656"/>
                  </a:lnTo>
                  <a:lnTo>
                    <a:pt x="36360" y="429120"/>
                  </a:lnTo>
                  <a:lnTo>
                    <a:pt x="73075" y="438848"/>
                  </a:lnTo>
                  <a:lnTo>
                    <a:pt x="3584511" y="438480"/>
                  </a:lnTo>
                  <a:lnTo>
                    <a:pt x="3628889" y="423388"/>
                  </a:lnTo>
                  <a:lnTo>
                    <a:pt x="3655109" y="384616"/>
                  </a:lnTo>
                  <a:lnTo>
                    <a:pt x="3656953" y="375238"/>
                  </a:lnTo>
                  <a:lnTo>
                    <a:pt x="3656992" y="375038"/>
                  </a:lnTo>
                  <a:lnTo>
                    <a:pt x="3657577" y="365759"/>
                  </a:lnTo>
                  <a:lnTo>
                    <a:pt x="3657599" y="365404"/>
                  </a:lnTo>
                  <a:lnTo>
                    <a:pt x="3657231" y="73088"/>
                  </a:lnTo>
                  <a:lnTo>
                    <a:pt x="3642140" y="28710"/>
                  </a:lnTo>
                  <a:lnTo>
                    <a:pt x="3603190" y="2430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983124" y="304487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9"/>
                  </a:lnTo>
                  <a:lnTo>
                    <a:pt x="3654802" y="54232"/>
                  </a:lnTo>
                  <a:lnTo>
                    <a:pt x="3657231" y="73088"/>
                  </a:lnTo>
                  <a:lnTo>
                    <a:pt x="3657599" y="365404"/>
                  </a:lnTo>
                  <a:lnTo>
                    <a:pt x="3656992" y="375038"/>
                  </a:lnTo>
                  <a:lnTo>
                    <a:pt x="3655169" y="384438"/>
                  </a:lnTo>
                  <a:lnTo>
                    <a:pt x="3628889" y="423388"/>
                  </a:lnTo>
                  <a:lnTo>
                    <a:pt x="358451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5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089220" y="3032543"/>
            <a:ext cx="133477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25" dirty="0">
                <a:solidFill>
                  <a:srgbClr val="2462EA"/>
                </a:solidFill>
                <a:latin typeface="Calibri"/>
                <a:cs typeface="Calibri"/>
              </a:rPr>
              <a:t>Test</a:t>
            </a:r>
            <a:r>
              <a:rPr sz="850" b="1" spc="-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coverage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JUnit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5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Vitest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k6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load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tests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976774" y="3550807"/>
            <a:ext cx="3670300" cy="452120"/>
            <a:chOff x="4976774" y="3550807"/>
            <a:chExt cx="3670300" cy="452120"/>
          </a:xfrm>
        </p:grpSpPr>
        <p:sp>
          <p:nvSpPr>
            <p:cNvPr id="43" name="object 43"/>
            <p:cNvSpPr/>
            <p:nvPr/>
          </p:nvSpPr>
          <p:spPr>
            <a:xfrm>
              <a:off x="4983124" y="355715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59"/>
                  </a:lnTo>
                  <a:lnTo>
                    <a:pt x="5412" y="393500"/>
                  </a:lnTo>
                  <a:lnTo>
                    <a:pt x="5464" y="393656"/>
                  </a:lnTo>
                  <a:lnTo>
                    <a:pt x="36360" y="429120"/>
                  </a:lnTo>
                  <a:lnTo>
                    <a:pt x="73075" y="438848"/>
                  </a:lnTo>
                  <a:lnTo>
                    <a:pt x="3584511" y="438480"/>
                  </a:lnTo>
                  <a:lnTo>
                    <a:pt x="3628889" y="423388"/>
                  </a:lnTo>
                  <a:lnTo>
                    <a:pt x="3655109" y="384616"/>
                  </a:lnTo>
                  <a:lnTo>
                    <a:pt x="3656953" y="375238"/>
                  </a:lnTo>
                  <a:lnTo>
                    <a:pt x="3656992" y="375038"/>
                  </a:lnTo>
                  <a:lnTo>
                    <a:pt x="3657577" y="365759"/>
                  </a:lnTo>
                  <a:lnTo>
                    <a:pt x="3657599" y="365404"/>
                  </a:lnTo>
                  <a:lnTo>
                    <a:pt x="3657231" y="73088"/>
                  </a:lnTo>
                  <a:lnTo>
                    <a:pt x="3642140" y="28710"/>
                  </a:lnTo>
                  <a:lnTo>
                    <a:pt x="3603190" y="2430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83124" y="355715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9"/>
                  </a:lnTo>
                  <a:lnTo>
                    <a:pt x="3654802" y="54232"/>
                  </a:lnTo>
                  <a:lnTo>
                    <a:pt x="3657231" y="73088"/>
                  </a:lnTo>
                  <a:lnTo>
                    <a:pt x="3657599" y="365404"/>
                  </a:lnTo>
                  <a:lnTo>
                    <a:pt x="3656992" y="375038"/>
                  </a:lnTo>
                  <a:lnTo>
                    <a:pt x="3655169" y="384438"/>
                  </a:lnTo>
                  <a:lnTo>
                    <a:pt x="3628889" y="423388"/>
                  </a:lnTo>
                  <a:lnTo>
                    <a:pt x="358451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5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089220" y="3544467"/>
            <a:ext cx="151384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dirty="0">
                <a:solidFill>
                  <a:srgbClr val="2462EA"/>
                </a:solidFill>
                <a:latin typeface="Calibri"/>
                <a:cs typeface="Calibri"/>
              </a:rPr>
              <a:t>Secret</a:t>
            </a:r>
            <a:r>
              <a:rPr sz="85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management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GitHub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Environments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Robi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Vault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47" name="object 47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44144" y="4730580"/>
            <a:ext cx="5631180" cy="2984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1240"/>
              </a:lnSpc>
              <a:spcBef>
                <a:spcPts val="114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CI/CD</a:t>
            </a:r>
            <a:r>
              <a:rPr sz="950" spc="-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Tip: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failing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PR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on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test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failure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is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most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important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safety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net.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Never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merge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without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green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CI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pipeline.</a:t>
            </a:r>
            <a:endParaRPr sz="950">
              <a:latin typeface="Calibri"/>
              <a:cs typeface="Calibri"/>
            </a:endParaRPr>
          </a:p>
          <a:p>
            <a:pPr marL="375285">
              <a:lnSpc>
                <a:spcPts val="880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name: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Deploy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to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Robi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Cloud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68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C4D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Database</a:t>
            </a:r>
            <a:r>
              <a:rPr spc="-75" dirty="0"/>
              <a:t> </a:t>
            </a:r>
            <a:r>
              <a:rPr spc="-10" dirty="0"/>
              <a:t>Migration</a:t>
            </a:r>
            <a:r>
              <a:rPr spc="-75" dirty="0"/>
              <a:t> </a:t>
            </a:r>
            <a:r>
              <a:rPr dirty="0"/>
              <a:t>—</a:t>
            </a:r>
            <a:r>
              <a:rPr spc="-75" dirty="0"/>
              <a:t> </a:t>
            </a:r>
            <a:r>
              <a:rPr spc="-10" dirty="0"/>
              <a:t>Flyway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4669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70" dirty="0">
                <a:solidFill>
                  <a:srgbClr val="9FBFFF"/>
                </a:solidFill>
                <a:latin typeface="Arial"/>
                <a:cs typeface="Arial"/>
              </a:rPr>
              <a:t>Version-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controlled</a:t>
            </a:r>
            <a:r>
              <a:rPr sz="1000" i="1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80" dirty="0">
                <a:solidFill>
                  <a:srgbClr val="9FBFFF"/>
                </a:solidFill>
                <a:latin typeface="Arial"/>
                <a:cs typeface="Arial"/>
              </a:rPr>
              <a:t>schema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0" dirty="0">
                <a:solidFill>
                  <a:srgbClr val="9FBFFF"/>
                </a:solidFill>
                <a:latin typeface="Arial"/>
                <a:cs typeface="Arial"/>
              </a:rPr>
              <a:t>changes</a:t>
            </a:r>
            <a:r>
              <a:rPr sz="1000" i="1" spc="-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9FBFFF"/>
                </a:solidFill>
                <a:latin typeface="Arial"/>
                <a:cs typeface="Arial"/>
              </a:rPr>
              <a:t>with</a:t>
            </a:r>
            <a:r>
              <a:rPr sz="1000" i="1" spc="-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Flyway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1"/>
            <a:ext cx="774002" cy="1498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3001" y="1038582"/>
            <a:ext cx="4533900" cy="1333500"/>
            <a:chOff x="243001" y="1038582"/>
            <a:chExt cx="4533900" cy="13335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001" y="1038582"/>
              <a:ext cx="4533836" cy="1333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0040" y="1115646"/>
              <a:ext cx="4343400" cy="1143000"/>
            </a:xfrm>
            <a:custGeom>
              <a:avLst/>
              <a:gdLst/>
              <a:ahLst/>
              <a:cxnLst/>
              <a:rect l="l" t="t" r="r" b="b"/>
              <a:pathLst>
                <a:path w="4343400" h="1143000">
                  <a:moveTo>
                    <a:pt x="4251960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42" y="1097280"/>
                  </a:lnTo>
                  <a:lnTo>
                    <a:pt x="45720" y="1130757"/>
                  </a:lnTo>
                  <a:lnTo>
                    <a:pt x="91439" y="1143000"/>
                  </a:lnTo>
                  <a:lnTo>
                    <a:pt x="4251960" y="1143000"/>
                  </a:lnTo>
                  <a:lnTo>
                    <a:pt x="4297680" y="1130757"/>
                  </a:lnTo>
                  <a:lnTo>
                    <a:pt x="4331157" y="1097280"/>
                  </a:lnTo>
                  <a:lnTo>
                    <a:pt x="4343400" y="1051560"/>
                  </a:lnTo>
                  <a:lnTo>
                    <a:pt x="4343400" y="91439"/>
                  </a:lnTo>
                  <a:lnTo>
                    <a:pt x="4331157" y="45720"/>
                  </a:lnTo>
                  <a:lnTo>
                    <a:pt x="4297680" y="12230"/>
                  </a:lnTo>
                  <a:lnTo>
                    <a:pt x="4251960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1115646"/>
              <a:ext cx="4343400" cy="1143000"/>
            </a:xfrm>
            <a:custGeom>
              <a:avLst/>
              <a:gdLst/>
              <a:ahLst/>
              <a:cxnLst/>
              <a:rect l="l" t="t" r="r" b="b"/>
              <a:pathLst>
                <a:path w="4343400" h="1143000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960" y="0"/>
                  </a:lnTo>
                  <a:lnTo>
                    <a:pt x="4297680" y="12230"/>
                  </a:lnTo>
                  <a:lnTo>
                    <a:pt x="4331157" y="45720"/>
                  </a:lnTo>
                  <a:lnTo>
                    <a:pt x="4343400" y="91439"/>
                  </a:lnTo>
                  <a:lnTo>
                    <a:pt x="4343400" y="1051560"/>
                  </a:lnTo>
                  <a:lnTo>
                    <a:pt x="4342601" y="1063559"/>
                  </a:lnTo>
                  <a:lnTo>
                    <a:pt x="4340250" y="1075224"/>
                  </a:lnTo>
                  <a:lnTo>
                    <a:pt x="4316718" y="1116309"/>
                  </a:lnTo>
                  <a:lnTo>
                    <a:pt x="4275629" y="1139850"/>
                  </a:lnTo>
                  <a:lnTo>
                    <a:pt x="4251960" y="1143000"/>
                  </a:lnTo>
                  <a:lnTo>
                    <a:pt x="91439" y="1143000"/>
                  </a:lnTo>
                  <a:lnTo>
                    <a:pt x="45720" y="1130757"/>
                  </a:lnTo>
                  <a:lnTo>
                    <a:pt x="12242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3892550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CI/CD</a:t>
            </a:r>
            <a:r>
              <a:rPr sz="850" b="1" spc="-2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"Set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up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Flyway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database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migration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Finance.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Generate: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(1)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V1</a:t>
            </a:r>
            <a:r>
              <a:rPr sz="850" u="sng" spc="215" dirty="0">
                <a:solidFill>
                  <a:srgbClr val="FCE589"/>
                </a:solidFill>
                <a:uFill>
                  <a:solidFill>
                    <a:srgbClr val="FBE488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Create_initial_schema.sql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all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9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core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tables;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(2)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V2</a:t>
            </a:r>
            <a:r>
              <a:rPr sz="850" u="sng" spc="220" dirty="0">
                <a:solidFill>
                  <a:srgbClr val="FCE589"/>
                </a:solidFill>
                <a:uFill>
                  <a:solidFill>
                    <a:srgbClr val="FBE488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Add_indexes.sql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7</a:t>
            </a:r>
            <a:r>
              <a:rPr sz="850" i="1" spc="50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performance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indexes;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(3)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V3</a:t>
            </a:r>
            <a:r>
              <a:rPr sz="850" u="sng" spc="265" dirty="0">
                <a:solidFill>
                  <a:srgbClr val="FCE589"/>
                </a:solidFill>
                <a:uFill>
                  <a:solidFill>
                    <a:srgbClr val="FBE488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Seed_chart_of_accounts.sql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standard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10" dirty="0">
                <a:solidFill>
                  <a:srgbClr val="FCE589"/>
                </a:solidFill>
                <a:latin typeface="Arial"/>
                <a:cs typeface="Arial"/>
              </a:rPr>
              <a:t>NGO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Chart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of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Accounts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(50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accounts).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Configure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Spring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Boot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Flyway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to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run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on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startup."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253947"/>
            <a:ext cx="4534535" cy="2567940"/>
            <a:chOff x="242646" y="2253947"/>
            <a:chExt cx="4534535" cy="256794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253947"/>
              <a:ext cx="4534204" cy="256788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330998"/>
              <a:ext cx="4344035" cy="2378075"/>
            </a:xfrm>
            <a:custGeom>
              <a:avLst/>
              <a:gdLst/>
              <a:ahLst/>
              <a:cxnLst/>
              <a:rect l="l" t="t" r="r" b="b"/>
              <a:pathLst>
                <a:path w="4344035" h="2378075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40"/>
                  </a:lnTo>
                  <a:lnTo>
                    <a:pt x="0" y="2286368"/>
                  </a:lnTo>
                  <a:lnTo>
                    <a:pt x="798" y="2298368"/>
                  </a:lnTo>
                  <a:lnTo>
                    <a:pt x="18830" y="2342125"/>
                  </a:lnTo>
                  <a:lnTo>
                    <a:pt x="56505" y="2370816"/>
                  </a:lnTo>
                  <a:lnTo>
                    <a:pt x="91439" y="2377808"/>
                  </a:lnTo>
                  <a:lnTo>
                    <a:pt x="4252315" y="2377808"/>
                  </a:lnTo>
                  <a:lnTo>
                    <a:pt x="4298035" y="2365565"/>
                  </a:lnTo>
                  <a:lnTo>
                    <a:pt x="4331512" y="2332088"/>
                  </a:lnTo>
                  <a:lnTo>
                    <a:pt x="4343755" y="2286368"/>
                  </a:lnTo>
                  <a:lnTo>
                    <a:pt x="4343731" y="91440"/>
                  </a:lnTo>
                  <a:lnTo>
                    <a:pt x="4331512" y="46088"/>
                  </a:lnTo>
                  <a:lnTo>
                    <a:pt x="4298035" y="12598"/>
                  </a:lnTo>
                  <a:lnTo>
                    <a:pt x="425231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330998"/>
              <a:ext cx="4344035" cy="2378075"/>
            </a:xfrm>
            <a:custGeom>
              <a:avLst/>
              <a:gdLst/>
              <a:ahLst/>
              <a:cxnLst/>
              <a:rect l="l" t="t" r="r" b="b"/>
              <a:pathLst>
                <a:path w="4344035" h="2378075">
                  <a:moveTo>
                    <a:pt x="355" y="91440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68"/>
                  </a:lnTo>
                  <a:lnTo>
                    <a:pt x="4298035" y="12598"/>
                  </a:lnTo>
                  <a:lnTo>
                    <a:pt x="4331512" y="46088"/>
                  </a:lnTo>
                  <a:lnTo>
                    <a:pt x="4343755" y="91808"/>
                  </a:lnTo>
                  <a:lnTo>
                    <a:pt x="4343755" y="2286368"/>
                  </a:lnTo>
                  <a:lnTo>
                    <a:pt x="4342957" y="2298368"/>
                  </a:lnTo>
                  <a:lnTo>
                    <a:pt x="4340606" y="2310033"/>
                  </a:lnTo>
                  <a:lnTo>
                    <a:pt x="4317074" y="2351117"/>
                  </a:lnTo>
                  <a:lnTo>
                    <a:pt x="4275985" y="2374653"/>
                  </a:lnTo>
                  <a:lnTo>
                    <a:pt x="4252315" y="2377808"/>
                  </a:lnTo>
                  <a:lnTo>
                    <a:pt x="91439" y="2377808"/>
                  </a:lnTo>
                  <a:lnTo>
                    <a:pt x="45719" y="2365565"/>
                  </a:lnTo>
                  <a:lnTo>
                    <a:pt x="12230" y="2332088"/>
                  </a:lnTo>
                  <a:lnTo>
                    <a:pt x="0" y="2286368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320035"/>
            <a:ext cx="2632075" cy="58483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3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Config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/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2499"/>
              </a:lnSpc>
              <a:spcBef>
                <a:spcPts val="50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V1</a:t>
            </a:r>
            <a:r>
              <a:rPr sz="800" u="sng" spc="345" dirty="0">
                <a:solidFill>
                  <a:srgbClr val="E1E7EF"/>
                </a:solidFill>
                <a:uFill>
                  <a:solidFill>
                    <a:srgbClr val="E0E6EE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Create_initial_schema.sql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(excerpt)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CREATE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TABLE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chart_of_accounts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(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622" y="2879549"/>
            <a:ext cx="273685" cy="525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id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code name type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8622" y="3504148"/>
            <a:ext cx="646430" cy="525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normal_bal parent_id is_active created_at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02288" y="2879549"/>
            <a:ext cx="2509520" cy="1149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77190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BIGINT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AUTO_INCREMENT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PRIMARY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KEY,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VARCHAR(10)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NOT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NULL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UNIQUE,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VARCHAR(255)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NOT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NULL,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ENUM('ASSET','LIABILITY','EQUITY',</a:t>
            </a:r>
            <a:endParaRPr sz="800">
              <a:latin typeface="Courier New"/>
              <a:cs typeface="Courier New"/>
            </a:endParaRPr>
          </a:p>
          <a:p>
            <a:pPr marL="12700" marR="313055" indent="31369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'REVENUE','EXPENSE')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NOT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NULL,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ENUM('DEBIT','CREDIT')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NOT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NULL,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BIGINT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REFERENCES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chart_of_accounts(id),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BOOLEAN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DEFAULT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TRUE,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TIMESTAMP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DEFAULT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CURRENT_TIMESTAMP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5140" y="4003829"/>
            <a:ext cx="3003550" cy="775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);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CREATE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TABLE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journal_entries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(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0"/>
              </a:spcBef>
              <a:tabLst>
                <a:tab pos="879475" algn="l"/>
              </a:tabLst>
            </a:pP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id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	BIGINT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AUTO_INCREMENT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PRIMARY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KEY,</a:t>
            </a:r>
            <a:endParaRPr sz="800">
              <a:latin typeface="Courier New"/>
              <a:cs typeface="Courier New"/>
            </a:endParaRPr>
          </a:p>
          <a:p>
            <a:pPr marL="135890" marR="124587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entry_date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DATE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NOT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NULL,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description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TEXT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NOT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NULL,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8622" y="5003179"/>
            <a:ext cx="306578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56285" algn="l"/>
              </a:tabLst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posted_by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	BIGINT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NOT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NULL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REFERENCES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users(id),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768926" y="1037871"/>
            <a:ext cx="4168775" cy="3783965"/>
            <a:chOff x="4768926" y="1037871"/>
            <a:chExt cx="4168775" cy="378396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7871"/>
              <a:ext cx="4168444" cy="378396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932"/>
                  </a:lnTo>
                  <a:lnTo>
                    <a:pt x="355" y="109804"/>
                  </a:lnTo>
                  <a:lnTo>
                    <a:pt x="0" y="3484079"/>
                  </a:lnTo>
                  <a:lnTo>
                    <a:pt x="929" y="3498349"/>
                  </a:lnTo>
                  <a:lnTo>
                    <a:pt x="939" y="3498510"/>
                  </a:lnTo>
                  <a:lnTo>
                    <a:pt x="3699" y="3512385"/>
                  </a:lnTo>
                  <a:lnTo>
                    <a:pt x="3735" y="3512567"/>
                  </a:lnTo>
                  <a:lnTo>
                    <a:pt x="8284" y="3525949"/>
                  </a:lnTo>
                  <a:lnTo>
                    <a:pt x="32213" y="3561703"/>
                  </a:lnTo>
                  <a:lnTo>
                    <a:pt x="67932" y="3585525"/>
                  </a:lnTo>
                  <a:lnTo>
                    <a:pt x="109791" y="3593884"/>
                  </a:lnTo>
                  <a:lnTo>
                    <a:pt x="3868191" y="3593884"/>
                  </a:lnTo>
                  <a:lnTo>
                    <a:pt x="3910262" y="3585525"/>
                  </a:lnTo>
                  <a:lnTo>
                    <a:pt x="3945766" y="3561703"/>
                  </a:lnTo>
                  <a:lnTo>
                    <a:pt x="3969542" y="3526151"/>
                  </a:lnTo>
                  <a:lnTo>
                    <a:pt x="3974198" y="3512567"/>
                  </a:lnTo>
                  <a:lnTo>
                    <a:pt x="3974260" y="3512385"/>
                  </a:lnTo>
                  <a:lnTo>
                    <a:pt x="3977023" y="3498510"/>
                  </a:lnTo>
                  <a:lnTo>
                    <a:pt x="3977055" y="3498349"/>
                  </a:lnTo>
                  <a:lnTo>
                    <a:pt x="3977995" y="3484079"/>
                  </a:lnTo>
                  <a:lnTo>
                    <a:pt x="3977972" y="109804"/>
                  </a:lnTo>
                  <a:lnTo>
                    <a:pt x="3969642" y="68088"/>
                  </a:lnTo>
                  <a:lnTo>
                    <a:pt x="3945772" y="32535"/>
                  </a:lnTo>
                  <a:lnTo>
                    <a:pt x="3910062" y="8713"/>
                  </a:lnTo>
                  <a:lnTo>
                    <a:pt x="3868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355" y="109804"/>
                  </a:moveTo>
                  <a:lnTo>
                    <a:pt x="1295" y="95529"/>
                  </a:lnTo>
                  <a:lnTo>
                    <a:pt x="4090" y="81494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55"/>
                  </a:lnTo>
                  <a:lnTo>
                    <a:pt x="3910062" y="8713"/>
                  </a:lnTo>
                  <a:lnTo>
                    <a:pt x="3945772" y="32535"/>
                  </a:lnTo>
                  <a:lnTo>
                    <a:pt x="3969642" y="68088"/>
                  </a:lnTo>
                  <a:lnTo>
                    <a:pt x="3977995" y="110159"/>
                  </a:lnTo>
                  <a:lnTo>
                    <a:pt x="3977995" y="3484079"/>
                  </a:lnTo>
                  <a:lnTo>
                    <a:pt x="3977055" y="3498349"/>
                  </a:lnTo>
                  <a:lnTo>
                    <a:pt x="3974260" y="3512385"/>
                  </a:lnTo>
                  <a:lnTo>
                    <a:pt x="3955218" y="3550872"/>
                  </a:lnTo>
                  <a:lnTo>
                    <a:pt x="3923271" y="3579114"/>
                  </a:lnTo>
                  <a:lnTo>
                    <a:pt x="3882621" y="3592944"/>
                  </a:lnTo>
                  <a:lnTo>
                    <a:pt x="3868191" y="3593884"/>
                  </a:lnTo>
                  <a:lnTo>
                    <a:pt x="109791" y="3593884"/>
                  </a:lnTo>
                  <a:lnTo>
                    <a:pt x="67932" y="3585525"/>
                  </a:lnTo>
                  <a:lnTo>
                    <a:pt x="32213" y="3561703"/>
                  </a:lnTo>
                  <a:lnTo>
                    <a:pt x="8352" y="3526151"/>
                  </a:lnTo>
                  <a:lnTo>
                    <a:pt x="0" y="348407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1C4D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70424" y="1167538"/>
            <a:ext cx="130238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2462EA"/>
                </a:solidFill>
                <a:latin typeface="MingLiU_HKSCS-ExtB"/>
                <a:cs typeface="MingLiU_HKSCS-ExtB"/>
              </a:rPr>
              <a:t>🚀</a:t>
            </a:r>
            <a:r>
              <a:rPr sz="1300" spc="-275" dirty="0">
                <a:solidFill>
                  <a:srgbClr val="2462EA"/>
                </a:solidFill>
                <a:latin typeface="MingLiU_HKSCS-ExtB"/>
                <a:cs typeface="MingLiU_HKSCS-ExtB"/>
              </a:rPr>
              <a:t> </a:t>
            </a:r>
            <a:r>
              <a:rPr sz="1100" b="1" spc="-10" dirty="0">
                <a:solidFill>
                  <a:srgbClr val="2462EA"/>
                </a:solidFill>
                <a:latin typeface="Calibri"/>
                <a:cs typeface="Calibri"/>
              </a:rPr>
              <a:t>Deployment</a:t>
            </a:r>
            <a:r>
              <a:rPr sz="1100" b="1" spc="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2462EA"/>
                </a:solidFill>
                <a:latin typeface="Calibri"/>
                <a:cs typeface="Calibri"/>
              </a:rPr>
              <a:t>Facts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976774" y="1502412"/>
            <a:ext cx="3670300" cy="452120"/>
            <a:chOff x="4976774" y="1502412"/>
            <a:chExt cx="3670300" cy="452120"/>
          </a:xfrm>
        </p:grpSpPr>
        <p:sp>
          <p:nvSpPr>
            <p:cNvPr id="28" name="object 28"/>
            <p:cNvSpPr/>
            <p:nvPr/>
          </p:nvSpPr>
          <p:spPr>
            <a:xfrm>
              <a:off x="4983124" y="1508762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594" y="375036"/>
                  </a:lnTo>
                  <a:lnTo>
                    <a:pt x="607" y="375238"/>
                  </a:lnTo>
                  <a:lnTo>
                    <a:pt x="2393" y="384433"/>
                  </a:lnTo>
                  <a:lnTo>
                    <a:pt x="2428" y="384616"/>
                  </a:lnTo>
                  <a:lnTo>
                    <a:pt x="5410" y="393495"/>
                  </a:lnTo>
                  <a:lnTo>
                    <a:pt x="36360" y="429120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81"/>
                  </a:lnTo>
                  <a:lnTo>
                    <a:pt x="3655108" y="384616"/>
                  </a:lnTo>
                  <a:lnTo>
                    <a:pt x="3655169" y="384433"/>
                  </a:lnTo>
                  <a:lnTo>
                    <a:pt x="3656953" y="375238"/>
                  </a:lnTo>
                  <a:lnTo>
                    <a:pt x="3656992" y="375036"/>
                  </a:lnTo>
                  <a:lnTo>
                    <a:pt x="3657577" y="365760"/>
                  </a:lnTo>
                  <a:lnTo>
                    <a:pt x="3657599" y="365404"/>
                  </a:lnTo>
                  <a:lnTo>
                    <a:pt x="3657231" y="73075"/>
                  </a:lnTo>
                  <a:lnTo>
                    <a:pt x="3642140" y="28705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983124" y="1508762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4"/>
                  </a:lnTo>
                  <a:lnTo>
                    <a:pt x="3654802" y="54224"/>
                  </a:lnTo>
                  <a:lnTo>
                    <a:pt x="3657231" y="73075"/>
                  </a:lnTo>
                  <a:lnTo>
                    <a:pt x="3657599" y="365404"/>
                  </a:lnTo>
                  <a:lnTo>
                    <a:pt x="3656992" y="375036"/>
                  </a:lnTo>
                  <a:lnTo>
                    <a:pt x="3655169" y="384433"/>
                  </a:lnTo>
                  <a:lnTo>
                    <a:pt x="3628889" y="423381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089220" y="1496796"/>
            <a:ext cx="1460500" cy="40957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dirty="0">
                <a:solidFill>
                  <a:srgbClr val="2462EA"/>
                </a:solidFill>
                <a:latin typeface="Calibri"/>
                <a:cs typeface="Calibri"/>
              </a:rPr>
              <a:t>Pipeline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speed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&lt;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8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min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total (test+build+deploy)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76774" y="2014336"/>
            <a:ext cx="3670300" cy="452120"/>
            <a:chOff x="4976774" y="2014336"/>
            <a:chExt cx="3670300" cy="452120"/>
          </a:xfrm>
        </p:grpSpPr>
        <p:sp>
          <p:nvSpPr>
            <p:cNvPr id="32" name="object 32"/>
            <p:cNvSpPr/>
            <p:nvPr/>
          </p:nvSpPr>
          <p:spPr>
            <a:xfrm>
              <a:off x="4983124" y="202068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15091" y="410130"/>
                  </a:lnTo>
                  <a:lnTo>
                    <a:pt x="54041" y="436406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76"/>
                  </a:lnTo>
                  <a:lnTo>
                    <a:pt x="3652052" y="393650"/>
                  </a:lnTo>
                  <a:lnTo>
                    <a:pt x="3652129" y="393495"/>
                  </a:lnTo>
                  <a:lnTo>
                    <a:pt x="3657576" y="365760"/>
                  </a:lnTo>
                  <a:lnTo>
                    <a:pt x="3657599" y="365391"/>
                  </a:lnTo>
                  <a:lnTo>
                    <a:pt x="3657231" y="73075"/>
                  </a:lnTo>
                  <a:lnTo>
                    <a:pt x="3642140" y="28698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83124" y="202068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096"/>
                  </a:lnTo>
                  <a:lnTo>
                    <a:pt x="3654802" y="54219"/>
                  </a:lnTo>
                  <a:lnTo>
                    <a:pt x="3657231" y="73075"/>
                  </a:lnTo>
                  <a:lnTo>
                    <a:pt x="3657599" y="365391"/>
                  </a:lnTo>
                  <a:lnTo>
                    <a:pt x="3656992" y="375031"/>
                  </a:lnTo>
                  <a:lnTo>
                    <a:pt x="3655169" y="384432"/>
                  </a:lnTo>
                  <a:lnTo>
                    <a:pt x="3628889" y="423376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089220" y="2008339"/>
            <a:ext cx="1125855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Deployment</a:t>
            </a:r>
            <a:r>
              <a:rPr sz="850" b="1" spc="4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type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Rolling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zero downtime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976774" y="2526616"/>
            <a:ext cx="3670300" cy="452120"/>
            <a:chOff x="4976774" y="2526616"/>
            <a:chExt cx="3670300" cy="452120"/>
          </a:xfrm>
        </p:grpSpPr>
        <p:sp>
          <p:nvSpPr>
            <p:cNvPr id="36" name="object 36"/>
            <p:cNvSpPr/>
            <p:nvPr/>
          </p:nvSpPr>
          <p:spPr>
            <a:xfrm>
              <a:off x="4983124" y="253296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15091" y="410130"/>
                  </a:lnTo>
                  <a:lnTo>
                    <a:pt x="54041" y="436406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76"/>
                  </a:lnTo>
                  <a:lnTo>
                    <a:pt x="3652052" y="393650"/>
                  </a:lnTo>
                  <a:lnTo>
                    <a:pt x="3652129" y="393495"/>
                  </a:lnTo>
                  <a:lnTo>
                    <a:pt x="3657576" y="365760"/>
                  </a:lnTo>
                  <a:lnTo>
                    <a:pt x="3657599" y="365391"/>
                  </a:lnTo>
                  <a:lnTo>
                    <a:pt x="3657231" y="73075"/>
                  </a:lnTo>
                  <a:lnTo>
                    <a:pt x="3642140" y="28698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983124" y="253296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096"/>
                  </a:lnTo>
                  <a:lnTo>
                    <a:pt x="3654802" y="54219"/>
                  </a:lnTo>
                  <a:lnTo>
                    <a:pt x="3657231" y="73075"/>
                  </a:lnTo>
                  <a:lnTo>
                    <a:pt x="3657599" y="365391"/>
                  </a:lnTo>
                  <a:lnTo>
                    <a:pt x="3656992" y="375031"/>
                  </a:lnTo>
                  <a:lnTo>
                    <a:pt x="3655169" y="384432"/>
                  </a:lnTo>
                  <a:lnTo>
                    <a:pt x="3628889" y="423376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089220" y="2520263"/>
            <a:ext cx="134874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Rollback</a:t>
            </a:r>
            <a:r>
              <a:rPr sz="850" b="1" spc="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time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&lt; 60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seconds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(previous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image)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976774" y="3038527"/>
            <a:ext cx="3670300" cy="452120"/>
            <a:chOff x="4976774" y="3038527"/>
            <a:chExt cx="3670300" cy="452120"/>
          </a:xfrm>
        </p:grpSpPr>
        <p:sp>
          <p:nvSpPr>
            <p:cNvPr id="40" name="object 40"/>
            <p:cNvSpPr/>
            <p:nvPr/>
          </p:nvSpPr>
          <p:spPr>
            <a:xfrm>
              <a:off x="4983124" y="304487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59"/>
                  </a:lnTo>
                  <a:lnTo>
                    <a:pt x="5412" y="393500"/>
                  </a:lnTo>
                  <a:lnTo>
                    <a:pt x="5464" y="393656"/>
                  </a:lnTo>
                  <a:lnTo>
                    <a:pt x="36360" y="429120"/>
                  </a:lnTo>
                  <a:lnTo>
                    <a:pt x="73075" y="438848"/>
                  </a:lnTo>
                  <a:lnTo>
                    <a:pt x="3584511" y="438480"/>
                  </a:lnTo>
                  <a:lnTo>
                    <a:pt x="3628889" y="423388"/>
                  </a:lnTo>
                  <a:lnTo>
                    <a:pt x="3655109" y="384616"/>
                  </a:lnTo>
                  <a:lnTo>
                    <a:pt x="3656953" y="375238"/>
                  </a:lnTo>
                  <a:lnTo>
                    <a:pt x="3656992" y="375038"/>
                  </a:lnTo>
                  <a:lnTo>
                    <a:pt x="3657577" y="365759"/>
                  </a:lnTo>
                  <a:lnTo>
                    <a:pt x="3657599" y="365404"/>
                  </a:lnTo>
                  <a:lnTo>
                    <a:pt x="3657231" y="73088"/>
                  </a:lnTo>
                  <a:lnTo>
                    <a:pt x="3642140" y="28710"/>
                  </a:lnTo>
                  <a:lnTo>
                    <a:pt x="3603190" y="2430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983124" y="304487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9"/>
                  </a:lnTo>
                  <a:lnTo>
                    <a:pt x="3654802" y="54232"/>
                  </a:lnTo>
                  <a:lnTo>
                    <a:pt x="3657231" y="73088"/>
                  </a:lnTo>
                  <a:lnTo>
                    <a:pt x="3657599" y="365404"/>
                  </a:lnTo>
                  <a:lnTo>
                    <a:pt x="3656992" y="375038"/>
                  </a:lnTo>
                  <a:lnTo>
                    <a:pt x="3655169" y="384438"/>
                  </a:lnTo>
                  <a:lnTo>
                    <a:pt x="3628889" y="423388"/>
                  </a:lnTo>
                  <a:lnTo>
                    <a:pt x="358451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5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089220" y="3032543"/>
            <a:ext cx="133477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25" dirty="0">
                <a:solidFill>
                  <a:srgbClr val="2462EA"/>
                </a:solidFill>
                <a:latin typeface="Calibri"/>
                <a:cs typeface="Calibri"/>
              </a:rPr>
              <a:t>Test</a:t>
            </a:r>
            <a:r>
              <a:rPr sz="850" b="1" spc="-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coverage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JUnit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5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Vitest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k6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load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tests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976774" y="3550807"/>
            <a:ext cx="3670300" cy="452120"/>
            <a:chOff x="4976774" y="3550807"/>
            <a:chExt cx="3670300" cy="452120"/>
          </a:xfrm>
        </p:grpSpPr>
        <p:sp>
          <p:nvSpPr>
            <p:cNvPr id="44" name="object 44"/>
            <p:cNvSpPr/>
            <p:nvPr/>
          </p:nvSpPr>
          <p:spPr>
            <a:xfrm>
              <a:off x="4983124" y="355715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59"/>
                  </a:lnTo>
                  <a:lnTo>
                    <a:pt x="5412" y="393500"/>
                  </a:lnTo>
                  <a:lnTo>
                    <a:pt x="5464" y="393656"/>
                  </a:lnTo>
                  <a:lnTo>
                    <a:pt x="36360" y="429120"/>
                  </a:lnTo>
                  <a:lnTo>
                    <a:pt x="73075" y="438848"/>
                  </a:lnTo>
                  <a:lnTo>
                    <a:pt x="3584511" y="438480"/>
                  </a:lnTo>
                  <a:lnTo>
                    <a:pt x="3628889" y="423388"/>
                  </a:lnTo>
                  <a:lnTo>
                    <a:pt x="3655109" y="384616"/>
                  </a:lnTo>
                  <a:lnTo>
                    <a:pt x="3656953" y="375238"/>
                  </a:lnTo>
                  <a:lnTo>
                    <a:pt x="3656992" y="375038"/>
                  </a:lnTo>
                  <a:lnTo>
                    <a:pt x="3657577" y="365759"/>
                  </a:lnTo>
                  <a:lnTo>
                    <a:pt x="3657599" y="365404"/>
                  </a:lnTo>
                  <a:lnTo>
                    <a:pt x="3657231" y="73088"/>
                  </a:lnTo>
                  <a:lnTo>
                    <a:pt x="3642140" y="28710"/>
                  </a:lnTo>
                  <a:lnTo>
                    <a:pt x="3603190" y="2430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983124" y="355715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9"/>
                  </a:lnTo>
                  <a:lnTo>
                    <a:pt x="3654802" y="54232"/>
                  </a:lnTo>
                  <a:lnTo>
                    <a:pt x="3657231" y="73088"/>
                  </a:lnTo>
                  <a:lnTo>
                    <a:pt x="3657599" y="365404"/>
                  </a:lnTo>
                  <a:lnTo>
                    <a:pt x="3656992" y="375038"/>
                  </a:lnTo>
                  <a:lnTo>
                    <a:pt x="3655169" y="384438"/>
                  </a:lnTo>
                  <a:lnTo>
                    <a:pt x="3628889" y="423388"/>
                  </a:lnTo>
                  <a:lnTo>
                    <a:pt x="358451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5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089220" y="3544467"/>
            <a:ext cx="151384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dirty="0">
                <a:solidFill>
                  <a:srgbClr val="2462EA"/>
                </a:solidFill>
                <a:latin typeface="Calibri"/>
                <a:cs typeface="Calibri"/>
              </a:rPr>
              <a:t>Secret</a:t>
            </a:r>
            <a:r>
              <a:rPr sz="85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management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GitHub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Environments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Robi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Vault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48" name="object 48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18744" y="4730580"/>
            <a:ext cx="5681980" cy="2984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ts val="1240"/>
              </a:lnSpc>
              <a:spcBef>
                <a:spcPts val="114"/>
              </a:spcBef>
            </a:pPr>
            <a:r>
              <a:rPr sz="1100" spc="-200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200" spc="-300" baseline="6944" dirty="0">
                <a:solidFill>
                  <a:srgbClr val="E1E7EF"/>
                </a:solidFill>
                <a:latin typeface="Courier New"/>
                <a:cs typeface="Courier New"/>
              </a:rPr>
              <a:t>re</a:t>
            </a:r>
            <a:r>
              <a:rPr sz="950" spc="-20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300" baseline="6944" dirty="0">
                <a:solidFill>
                  <a:srgbClr val="E1E7EF"/>
                </a:solidFill>
                <a:latin typeface="Courier New"/>
                <a:cs typeface="Courier New"/>
              </a:rPr>
              <a:t>f</a:t>
            </a:r>
            <a:r>
              <a:rPr sz="950" spc="-200" dirty="0">
                <a:solidFill>
                  <a:srgbClr val="774409"/>
                </a:solidFill>
                <a:latin typeface="Calibri"/>
                <a:cs typeface="Calibri"/>
              </a:rPr>
              <a:t>I/</a:t>
            </a:r>
            <a:r>
              <a:rPr sz="1200" spc="-300" baseline="6944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20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300" baseline="6944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20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300" baseline="6944" dirty="0">
                <a:solidFill>
                  <a:srgbClr val="E1E7EF"/>
                </a:solidFill>
                <a:latin typeface="Courier New"/>
                <a:cs typeface="Courier New"/>
              </a:rPr>
              <a:t>en</a:t>
            </a:r>
            <a:r>
              <a:rPr sz="950" spc="-20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300" baseline="6944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950" spc="-200" dirty="0">
                <a:solidFill>
                  <a:srgbClr val="774409"/>
                </a:solidFill>
                <a:latin typeface="Calibri"/>
                <a:cs typeface="Calibri"/>
              </a:rPr>
              <a:t>ip</a:t>
            </a:r>
            <a:r>
              <a:rPr sz="1200" spc="-300" baseline="6944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200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fail</a:t>
            </a:r>
            <a:r>
              <a:rPr sz="1200" spc="-232" baseline="6944" dirty="0">
                <a:solidFill>
                  <a:srgbClr val="E1E7EF"/>
                </a:solidFill>
                <a:latin typeface="Courier New"/>
                <a:cs typeface="Courier New"/>
              </a:rPr>
              <a:t>V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1200" spc="-232" baseline="6944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g</a:t>
            </a:r>
            <a:r>
              <a:rPr sz="1200" spc="-232" baseline="6944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232" baseline="6944" dirty="0">
                <a:solidFill>
                  <a:srgbClr val="E1E7EF"/>
                </a:solidFill>
                <a:latin typeface="Courier New"/>
                <a:cs typeface="Courier New"/>
              </a:rPr>
              <a:t>CH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232" baseline="6944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232" baseline="6944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232" baseline="6944" dirty="0">
                <a:solidFill>
                  <a:srgbClr val="E1E7EF"/>
                </a:solidFill>
                <a:latin typeface="Courier New"/>
                <a:cs typeface="Courier New"/>
              </a:rPr>
              <a:t>(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232" baseline="6944" dirty="0">
                <a:solidFill>
                  <a:srgbClr val="E1E7EF"/>
                </a:solidFill>
                <a:latin typeface="Courier New"/>
                <a:cs typeface="Courier New"/>
              </a:rPr>
              <a:t>10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te</a:t>
            </a:r>
            <a:r>
              <a:rPr sz="1200" spc="-232" baseline="6944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232" baseline="6944" dirty="0">
                <a:solidFill>
                  <a:srgbClr val="E1E7EF"/>
                </a:solidFill>
                <a:latin typeface="Courier New"/>
                <a:cs typeface="Courier New"/>
              </a:rPr>
              <a:t>)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232" baseline="6944" dirty="0">
                <a:solidFill>
                  <a:srgbClr val="E1E7EF"/>
                </a:solidFill>
                <a:latin typeface="Courier New"/>
                <a:cs typeface="Courier New"/>
              </a:rPr>
              <a:t>,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failure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is the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most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important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safety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 net.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Never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merge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without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green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CI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pipeline.</a:t>
            </a:r>
            <a:endParaRPr sz="950">
              <a:latin typeface="Calibri"/>
              <a:cs typeface="Calibri"/>
            </a:endParaRPr>
          </a:p>
          <a:p>
            <a:pPr marL="152400">
              <a:lnSpc>
                <a:spcPts val="880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project_id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BIGINT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NOT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NULL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REFERENCES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projects(id),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69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C4D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Environment</a:t>
            </a:r>
            <a:r>
              <a:rPr spc="-105" dirty="0"/>
              <a:t> </a:t>
            </a:r>
            <a:r>
              <a:rPr spc="-10" dirty="0"/>
              <a:t>Configuration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8467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90" dirty="0">
                <a:solidFill>
                  <a:srgbClr val="9FBFFF"/>
                </a:solidFill>
                <a:latin typeface="Arial"/>
                <a:cs typeface="Arial"/>
              </a:rPr>
              <a:t>Secure</a:t>
            </a:r>
            <a:r>
              <a:rPr sz="1000" i="1" spc="-1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configuration</a:t>
            </a:r>
            <a:r>
              <a:rPr sz="1000" i="1" spc="-1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management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for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all 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environments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3001" y="1038582"/>
            <a:ext cx="4533900" cy="1333500"/>
            <a:chOff x="243001" y="1038582"/>
            <a:chExt cx="4533900" cy="13335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001" y="1038582"/>
              <a:ext cx="4533836" cy="1333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0040" y="1115646"/>
              <a:ext cx="4343400" cy="1143000"/>
            </a:xfrm>
            <a:custGeom>
              <a:avLst/>
              <a:gdLst/>
              <a:ahLst/>
              <a:cxnLst/>
              <a:rect l="l" t="t" r="r" b="b"/>
              <a:pathLst>
                <a:path w="4343400" h="1143000">
                  <a:moveTo>
                    <a:pt x="4251960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42" y="1097280"/>
                  </a:lnTo>
                  <a:lnTo>
                    <a:pt x="45720" y="1130757"/>
                  </a:lnTo>
                  <a:lnTo>
                    <a:pt x="91439" y="1143000"/>
                  </a:lnTo>
                  <a:lnTo>
                    <a:pt x="4251960" y="1143000"/>
                  </a:lnTo>
                  <a:lnTo>
                    <a:pt x="4297680" y="1130757"/>
                  </a:lnTo>
                  <a:lnTo>
                    <a:pt x="4331157" y="1097280"/>
                  </a:lnTo>
                  <a:lnTo>
                    <a:pt x="4343400" y="1051560"/>
                  </a:lnTo>
                  <a:lnTo>
                    <a:pt x="4343400" y="91439"/>
                  </a:lnTo>
                  <a:lnTo>
                    <a:pt x="4331157" y="45720"/>
                  </a:lnTo>
                  <a:lnTo>
                    <a:pt x="4297680" y="12230"/>
                  </a:lnTo>
                  <a:lnTo>
                    <a:pt x="4251960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1115646"/>
              <a:ext cx="4343400" cy="1143000"/>
            </a:xfrm>
            <a:custGeom>
              <a:avLst/>
              <a:gdLst/>
              <a:ahLst/>
              <a:cxnLst/>
              <a:rect l="l" t="t" r="r" b="b"/>
              <a:pathLst>
                <a:path w="4343400" h="1143000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960" y="0"/>
                  </a:lnTo>
                  <a:lnTo>
                    <a:pt x="4297680" y="12230"/>
                  </a:lnTo>
                  <a:lnTo>
                    <a:pt x="4331157" y="45720"/>
                  </a:lnTo>
                  <a:lnTo>
                    <a:pt x="4343400" y="91439"/>
                  </a:lnTo>
                  <a:lnTo>
                    <a:pt x="4343400" y="1051560"/>
                  </a:lnTo>
                  <a:lnTo>
                    <a:pt x="4342601" y="1063559"/>
                  </a:lnTo>
                  <a:lnTo>
                    <a:pt x="4340250" y="1075224"/>
                  </a:lnTo>
                  <a:lnTo>
                    <a:pt x="4316718" y="1116309"/>
                  </a:lnTo>
                  <a:lnTo>
                    <a:pt x="4275629" y="1139850"/>
                  </a:lnTo>
                  <a:lnTo>
                    <a:pt x="4251960" y="1143000"/>
                  </a:lnTo>
                  <a:lnTo>
                    <a:pt x="91439" y="1143000"/>
                  </a:lnTo>
                  <a:lnTo>
                    <a:pt x="45720" y="1130757"/>
                  </a:lnTo>
                  <a:lnTo>
                    <a:pt x="12242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4029075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CI/CD</a:t>
            </a:r>
            <a:r>
              <a:rPr sz="850" b="1" spc="-2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Spring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Boot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configuration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files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Finance: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application.yml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(shared),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application-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dev.yml</a:t>
            </a:r>
            <a:r>
              <a:rPr sz="850" i="1" spc="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(local</a:t>
            </a:r>
            <a:r>
              <a:rPr sz="850" i="1" spc="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H2),</a:t>
            </a:r>
            <a:r>
              <a:rPr sz="850" i="1" spc="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application-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test.yml</a:t>
            </a:r>
            <a:r>
              <a:rPr sz="850" i="1" spc="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(test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MySQL),</a:t>
            </a:r>
            <a:r>
              <a:rPr sz="850" i="1" spc="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application-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prod.yml</a:t>
            </a:r>
            <a:r>
              <a:rPr sz="850" i="1" spc="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(Robi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Cloud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95" dirty="0">
                <a:solidFill>
                  <a:srgbClr val="FCE589"/>
                </a:solidFill>
                <a:latin typeface="Arial"/>
                <a:cs typeface="Arial"/>
              </a:rPr>
              <a:t>MySQL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+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Redis).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Use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environment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variable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substitution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all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secrets.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Generate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.env.example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Docker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deployment."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253947"/>
            <a:ext cx="4534535" cy="2567940"/>
            <a:chOff x="242646" y="2253947"/>
            <a:chExt cx="4534535" cy="256794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253947"/>
              <a:ext cx="4534204" cy="256788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330998"/>
              <a:ext cx="4344035" cy="2378075"/>
            </a:xfrm>
            <a:custGeom>
              <a:avLst/>
              <a:gdLst/>
              <a:ahLst/>
              <a:cxnLst/>
              <a:rect l="l" t="t" r="r" b="b"/>
              <a:pathLst>
                <a:path w="4344035" h="2378075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40"/>
                  </a:lnTo>
                  <a:lnTo>
                    <a:pt x="0" y="2286368"/>
                  </a:lnTo>
                  <a:lnTo>
                    <a:pt x="798" y="2298368"/>
                  </a:lnTo>
                  <a:lnTo>
                    <a:pt x="18830" y="2342125"/>
                  </a:lnTo>
                  <a:lnTo>
                    <a:pt x="56505" y="2370816"/>
                  </a:lnTo>
                  <a:lnTo>
                    <a:pt x="91439" y="2377808"/>
                  </a:lnTo>
                  <a:lnTo>
                    <a:pt x="4252315" y="2377808"/>
                  </a:lnTo>
                  <a:lnTo>
                    <a:pt x="4298035" y="2365565"/>
                  </a:lnTo>
                  <a:lnTo>
                    <a:pt x="4331512" y="2332088"/>
                  </a:lnTo>
                  <a:lnTo>
                    <a:pt x="4343755" y="2286368"/>
                  </a:lnTo>
                  <a:lnTo>
                    <a:pt x="4343731" y="91440"/>
                  </a:lnTo>
                  <a:lnTo>
                    <a:pt x="4331512" y="46088"/>
                  </a:lnTo>
                  <a:lnTo>
                    <a:pt x="4298035" y="12598"/>
                  </a:lnTo>
                  <a:lnTo>
                    <a:pt x="425231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330998"/>
              <a:ext cx="4344035" cy="2378075"/>
            </a:xfrm>
            <a:custGeom>
              <a:avLst/>
              <a:gdLst/>
              <a:ahLst/>
              <a:cxnLst/>
              <a:rect l="l" t="t" r="r" b="b"/>
              <a:pathLst>
                <a:path w="4344035" h="2378075">
                  <a:moveTo>
                    <a:pt x="355" y="91440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68"/>
                  </a:lnTo>
                  <a:lnTo>
                    <a:pt x="4298035" y="12598"/>
                  </a:lnTo>
                  <a:lnTo>
                    <a:pt x="4331512" y="46088"/>
                  </a:lnTo>
                  <a:lnTo>
                    <a:pt x="4343755" y="91808"/>
                  </a:lnTo>
                  <a:lnTo>
                    <a:pt x="4343755" y="2286368"/>
                  </a:lnTo>
                  <a:lnTo>
                    <a:pt x="4342957" y="2298368"/>
                  </a:lnTo>
                  <a:lnTo>
                    <a:pt x="4340606" y="2310033"/>
                  </a:lnTo>
                  <a:lnTo>
                    <a:pt x="4317074" y="2351117"/>
                  </a:lnTo>
                  <a:lnTo>
                    <a:pt x="4275985" y="2374653"/>
                  </a:lnTo>
                  <a:lnTo>
                    <a:pt x="4252315" y="2377808"/>
                  </a:lnTo>
                  <a:lnTo>
                    <a:pt x="91439" y="2377808"/>
                  </a:lnTo>
                  <a:lnTo>
                    <a:pt x="45719" y="2365565"/>
                  </a:lnTo>
                  <a:lnTo>
                    <a:pt x="12230" y="2332088"/>
                  </a:lnTo>
                  <a:lnTo>
                    <a:pt x="0" y="2286368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320035"/>
            <a:ext cx="2258695" cy="83502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3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Config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/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 marR="190500">
              <a:lnSpc>
                <a:spcPct val="102499"/>
              </a:lnSpc>
              <a:spcBef>
                <a:spcPts val="50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application.yml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shared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config spring:</a:t>
            </a:r>
            <a:endParaRPr sz="800">
              <a:latin typeface="Courier New"/>
              <a:cs typeface="Courier New"/>
            </a:endParaRPr>
          </a:p>
          <a:p>
            <a:pPr marL="13589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application.name:</a:t>
            </a:r>
            <a:r>
              <a:rPr sz="800" spc="2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wamy-finance-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api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jpa: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44994" y="3129383"/>
            <a:ext cx="145224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Flyway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manages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schema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8622" y="3129383"/>
            <a:ext cx="1887220" cy="400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160" marR="5080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hibernate.ddl-auto:</a:t>
            </a:r>
            <a:r>
              <a:rPr sz="800" spc="1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validate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open-in-view: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false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flyway.enabled: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true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140" y="3629065"/>
            <a:ext cx="2941320" cy="4006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management:</a:t>
            </a:r>
            <a:endParaRPr sz="800">
              <a:latin typeface="Courier New"/>
              <a:cs typeface="Courier New"/>
            </a:endParaRPr>
          </a:p>
          <a:p>
            <a:pPr marL="135890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endpoints.web.exposure.include:</a:t>
            </a:r>
            <a:r>
              <a:rPr sz="800" spc="2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health,info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endpoint.health.show-details:</a:t>
            </a:r>
            <a:r>
              <a:rPr sz="800" spc="229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when_authorized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5140" y="4128746"/>
            <a:ext cx="3376295" cy="650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183640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application-prod.yml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Robi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Cloud spring: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datasource:</a:t>
            </a:r>
            <a:endParaRPr sz="800">
              <a:latin typeface="Courier New"/>
              <a:cs typeface="Courier New"/>
            </a:endParaRPr>
          </a:p>
          <a:p>
            <a:pPr marL="260985" marR="508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url: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jdbc:mysql://DB_HOST_VALUE:3306/DB_NAME_VALUE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username: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DB_USER_VALUE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8622" y="5003179"/>
            <a:ext cx="70866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data.redis: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768926" y="1037871"/>
            <a:ext cx="4168775" cy="3783965"/>
            <a:chOff x="4768926" y="1037871"/>
            <a:chExt cx="4168775" cy="378396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7871"/>
              <a:ext cx="4168444" cy="378396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932"/>
                  </a:lnTo>
                  <a:lnTo>
                    <a:pt x="355" y="109804"/>
                  </a:lnTo>
                  <a:lnTo>
                    <a:pt x="0" y="3484079"/>
                  </a:lnTo>
                  <a:lnTo>
                    <a:pt x="929" y="3498349"/>
                  </a:lnTo>
                  <a:lnTo>
                    <a:pt x="939" y="3498510"/>
                  </a:lnTo>
                  <a:lnTo>
                    <a:pt x="3699" y="3512385"/>
                  </a:lnTo>
                  <a:lnTo>
                    <a:pt x="3735" y="3512567"/>
                  </a:lnTo>
                  <a:lnTo>
                    <a:pt x="8284" y="3525949"/>
                  </a:lnTo>
                  <a:lnTo>
                    <a:pt x="32213" y="3561703"/>
                  </a:lnTo>
                  <a:lnTo>
                    <a:pt x="67932" y="3585525"/>
                  </a:lnTo>
                  <a:lnTo>
                    <a:pt x="109791" y="3593884"/>
                  </a:lnTo>
                  <a:lnTo>
                    <a:pt x="3868191" y="3593884"/>
                  </a:lnTo>
                  <a:lnTo>
                    <a:pt x="3910262" y="3585525"/>
                  </a:lnTo>
                  <a:lnTo>
                    <a:pt x="3945766" y="3561703"/>
                  </a:lnTo>
                  <a:lnTo>
                    <a:pt x="3969542" y="3526151"/>
                  </a:lnTo>
                  <a:lnTo>
                    <a:pt x="3974198" y="3512567"/>
                  </a:lnTo>
                  <a:lnTo>
                    <a:pt x="3974260" y="3512385"/>
                  </a:lnTo>
                  <a:lnTo>
                    <a:pt x="3977023" y="3498510"/>
                  </a:lnTo>
                  <a:lnTo>
                    <a:pt x="3977055" y="3498349"/>
                  </a:lnTo>
                  <a:lnTo>
                    <a:pt x="3977995" y="3484079"/>
                  </a:lnTo>
                  <a:lnTo>
                    <a:pt x="3977972" y="109804"/>
                  </a:lnTo>
                  <a:lnTo>
                    <a:pt x="3969642" y="68088"/>
                  </a:lnTo>
                  <a:lnTo>
                    <a:pt x="3945772" y="32535"/>
                  </a:lnTo>
                  <a:lnTo>
                    <a:pt x="3910062" y="8713"/>
                  </a:lnTo>
                  <a:lnTo>
                    <a:pt x="3868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355" y="109804"/>
                  </a:moveTo>
                  <a:lnTo>
                    <a:pt x="1295" y="95529"/>
                  </a:lnTo>
                  <a:lnTo>
                    <a:pt x="4090" y="81494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55"/>
                  </a:lnTo>
                  <a:lnTo>
                    <a:pt x="3910062" y="8713"/>
                  </a:lnTo>
                  <a:lnTo>
                    <a:pt x="3945772" y="32535"/>
                  </a:lnTo>
                  <a:lnTo>
                    <a:pt x="3969642" y="68088"/>
                  </a:lnTo>
                  <a:lnTo>
                    <a:pt x="3977995" y="110159"/>
                  </a:lnTo>
                  <a:lnTo>
                    <a:pt x="3977995" y="3484079"/>
                  </a:lnTo>
                  <a:lnTo>
                    <a:pt x="3977055" y="3498349"/>
                  </a:lnTo>
                  <a:lnTo>
                    <a:pt x="3974260" y="3512385"/>
                  </a:lnTo>
                  <a:lnTo>
                    <a:pt x="3955218" y="3550872"/>
                  </a:lnTo>
                  <a:lnTo>
                    <a:pt x="3923271" y="3579114"/>
                  </a:lnTo>
                  <a:lnTo>
                    <a:pt x="3882621" y="3592944"/>
                  </a:lnTo>
                  <a:lnTo>
                    <a:pt x="3868191" y="3593884"/>
                  </a:lnTo>
                  <a:lnTo>
                    <a:pt x="109791" y="3593884"/>
                  </a:lnTo>
                  <a:lnTo>
                    <a:pt x="67932" y="3585525"/>
                  </a:lnTo>
                  <a:lnTo>
                    <a:pt x="32213" y="3561703"/>
                  </a:lnTo>
                  <a:lnTo>
                    <a:pt x="8352" y="3526151"/>
                  </a:lnTo>
                  <a:lnTo>
                    <a:pt x="0" y="348407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1C4D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70424" y="1167538"/>
            <a:ext cx="130238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2462EA"/>
                </a:solidFill>
                <a:latin typeface="MingLiU_HKSCS-ExtB"/>
                <a:cs typeface="MingLiU_HKSCS-ExtB"/>
              </a:rPr>
              <a:t>🚀</a:t>
            </a:r>
            <a:r>
              <a:rPr sz="1300" spc="-275" dirty="0">
                <a:solidFill>
                  <a:srgbClr val="2462EA"/>
                </a:solidFill>
                <a:latin typeface="MingLiU_HKSCS-ExtB"/>
                <a:cs typeface="MingLiU_HKSCS-ExtB"/>
              </a:rPr>
              <a:t> </a:t>
            </a:r>
            <a:r>
              <a:rPr sz="1100" b="1" spc="-10" dirty="0">
                <a:solidFill>
                  <a:srgbClr val="2462EA"/>
                </a:solidFill>
                <a:latin typeface="Calibri"/>
                <a:cs typeface="Calibri"/>
              </a:rPr>
              <a:t>Deployment</a:t>
            </a:r>
            <a:r>
              <a:rPr sz="1100" b="1" spc="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2462EA"/>
                </a:solidFill>
                <a:latin typeface="Calibri"/>
                <a:cs typeface="Calibri"/>
              </a:rPr>
              <a:t>Facts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976774" y="1502412"/>
            <a:ext cx="3670300" cy="452120"/>
            <a:chOff x="4976774" y="1502412"/>
            <a:chExt cx="3670300" cy="452120"/>
          </a:xfrm>
        </p:grpSpPr>
        <p:sp>
          <p:nvSpPr>
            <p:cNvPr id="28" name="object 28"/>
            <p:cNvSpPr/>
            <p:nvPr/>
          </p:nvSpPr>
          <p:spPr>
            <a:xfrm>
              <a:off x="4983124" y="1508762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594" y="375036"/>
                  </a:lnTo>
                  <a:lnTo>
                    <a:pt x="607" y="375238"/>
                  </a:lnTo>
                  <a:lnTo>
                    <a:pt x="2393" y="384433"/>
                  </a:lnTo>
                  <a:lnTo>
                    <a:pt x="2428" y="384616"/>
                  </a:lnTo>
                  <a:lnTo>
                    <a:pt x="5410" y="393495"/>
                  </a:lnTo>
                  <a:lnTo>
                    <a:pt x="36360" y="429120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81"/>
                  </a:lnTo>
                  <a:lnTo>
                    <a:pt x="3655108" y="384616"/>
                  </a:lnTo>
                  <a:lnTo>
                    <a:pt x="3655169" y="384433"/>
                  </a:lnTo>
                  <a:lnTo>
                    <a:pt x="3656953" y="375238"/>
                  </a:lnTo>
                  <a:lnTo>
                    <a:pt x="3656992" y="375036"/>
                  </a:lnTo>
                  <a:lnTo>
                    <a:pt x="3657577" y="365760"/>
                  </a:lnTo>
                  <a:lnTo>
                    <a:pt x="3657599" y="365404"/>
                  </a:lnTo>
                  <a:lnTo>
                    <a:pt x="3657231" y="73075"/>
                  </a:lnTo>
                  <a:lnTo>
                    <a:pt x="3642140" y="28705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983124" y="1508762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4"/>
                  </a:lnTo>
                  <a:lnTo>
                    <a:pt x="3654802" y="54224"/>
                  </a:lnTo>
                  <a:lnTo>
                    <a:pt x="3657231" y="73075"/>
                  </a:lnTo>
                  <a:lnTo>
                    <a:pt x="3657599" y="365404"/>
                  </a:lnTo>
                  <a:lnTo>
                    <a:pt x="3656992" y="375036"/>
                  </a:lnTo>
                  <a:lnTo>
                    <a:pt x="3655169" y="384433"/>
                  </a:lnTo>
                  <a:lnTo>
                    <a:pt x="3628889" y="423381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089220" y="1496796"/>
            <a:ext cx="1460500" cy="40957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dirty="0">
                <a:solidFill>
                  <a:srgbClr val="2462EA"/>
                </a:solidFill>
                <a:latin typeface="Calibri"/>
                <a:cs typeface="Calibri"/>
              </a:rPr>
              <a:t>Pipeline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speed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&lt;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8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min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total (test+build+deploy)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76774" y="2014336"/>
            <a:ext cx="3670300" cy="452120"/>
            <a:chOff x="4976774" y="2014336"/>
            <a:chExt cx="3670300" cy="452120"/>
          </a:xfrm>
        </p:grpSpPr>
        <p:sp>
          <p:nvSpPr>
            <p:cNvPr id="32" name="object 32"/>
            <p:cNvSpPr/>
            <p:nvPr/>
          </p:nvSpPr>
          <p:spPr>
            <a:xfrm>
              <a:off x="4983124" y="202068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15091" y="410130"/>
                  </a:lnTo>
                  <a:lnTo>
                    <a:pt x="54041" y="436406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76"/>
                  </a:lnTo>
                  <a:lnTo>
                    <a:pt x="3652052" y="393650"/>
                  </a:lnTo>
                  <a:lnTo>
                    <a:pt x="3652129" y="393495"/>
                  </a:lnTo>
                  <a:lnTo>
                    <a:pt x="3657576" y="365760"/>
                  </a:lnTo>
                  <a:lnTo>
                    <a:pt x="3657599" y="365391"/>
                  </a:lnTo>
                  <a:lnTo>
                    <a:pt x="3657231" y="73075"/>
                  </a:lnTo>
                  <a:lnTo>
                    <a:pt x="3642140" y="28698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83124" y="202068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096"/>
                  </a:lnTo>
                  <a:lnTo>
                    <a:pt x="3654802" y="54219"/>
                  </a:lnTo>
                  <a:lnTo>
                    <a:pt x="3657231" y="73075"/>
                  </a:lnTo>
                  <a:lnTo>
                    <a:pt x="3657599" y="365391"/>
                  </a:lnTo>
                  <a:lnTo>
                    <a:pt x="3656992" y="375031"/>
                  </a:lnTo>
                  <a:lnTo>
                    <a:pt x="3655169" y="384432"/>
                  </a:lnTo>
                  <a:lnTo>
                    <a:pt x="3628889" y="423376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089220" y="2008339"/>
            <a:ext cx="1125855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Deployment</a:t>
            </a:r>
            <a:r>
              <a:rPr sz="850" b="1" spc="4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type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Rolling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zero downtime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976774" y="2526616"/>
            <a:ext cx="3670300" cy="452120"/>
            <a:chOff x="4976774" y="2526616"/>
            <a:chExt cx="3670300" cy="452120"/>
          </a:xfrm>
        </p:grpSpPr>
        <p:sp>
          <p:nvSpPr>
            <p:cNvPr id="36" name="object 36"/>
            <p:cNvSpPr/>
            <p:nvPr/>
          </p:nvSpPr>
          <p:spPr>
            <a:xfrm>
              <a:off x="4983124" y="253296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15091" y="410130"/>
                  </a:lnTo>
                  <a:lnTo>
                    <a:pt x="54041" y="436406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76"/>
                  </a:lnTo>
                  <a:lnTo>
                    <a:pt x="3652052" y="393650"/>
                  </a:lnTo>
                  <a:lnTo>
                    <a:pt x="3652129" y="393495"/>
                  </a:lnTo>
                  <a:lnTo>
                    <a:pt x="3657576" y="365760"/>
                  </a:lnTo>
                  <a:lnTo>
                    <a:pt x="3657599" y="365391"/>
                  </a:lnTo>
                  <a:lnTo>
                    <a:pt x="3657231" y="73075"/>
                  </a:lnTo>
                  <a:lnTo>
                    <a:pt x="3642140" y="28698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983124" y="253296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096"/>
                  </a:lnTo>
                  <a:lnTo>
                    <a:pt x="3654802" y="54219"/>
                  </a:lnTo>
                  <a:lnTo>
                    <a:pt x="3657231" y="73075"/>
                  </a:lnTo>
                  <a:lnTo>
                    <a:pt x="3657599" y="365391"/>
                  </a:lnTo>
                  <a:lnTo>
                    <a:pt x="3656992" y="375031"/>
                  </a:lnTo>
                  <a:lnTo>
                    <a:pt x="3655169" y="384432"/>
                  </a:lnTo>
                  <a:lnTo>
                    <a:pt x="3628889" y="423376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089220" y="2520263"/>
            <a:ext cx="134874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Rollback</a:t>
            </a:r>
            <a:r>
              <a:rPr sz="850" b="1" spc="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time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&lt; 60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seconds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(previous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image)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976774" y="3038527"/>
            <a:ext cx="3670300" cy="452120"/>
            <a:chOff x="4976774" y="3038527"/>
            <a:chExt cx="3670300" cy="452120"/>
          </a:xfrm>
        </p:grpSpPr>
        <p:sp>
          <p:nvSpPr>
            <p:cNvPr id="40" name="object 40"/>
            <p:cNvSpPr/>
            <p:nvPr/>
          </p:nvSpPr>
          <p:spPr>
            <a:xfrm>
              <a:off x="4983124" y="304487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59"/>
                  </a:lnTo>
                  <a:lnTo>
                    <a:pt x="5412" y="393500"/>
                  </a:lnTo>
                  <a:lnTo>
                    <a:pt x="5464" y="393656"/>
                  </a:lnTo>
                  <a:lnTo>
                    <a:pt x="36360" y="429120"/>
                  </a:lnTo>
                  <a:lnTo>
                    <a:pt x="73075" y="438848"/>
                  </a:lnTo>
                  <a:lnTo>
                    <a:pt x="3584511" y="438480"/>
                  </a:lnTo>
                  <a:lnTo>
                    <a:pt x="3628889" y="423388"/>
                  </a:lnTo>
                  <a:lnTo>
                    <a:pt x="3655109" y="384616"/>
                  </a:lnTo>
                  <a:lnTo>
                    <a:pt x="3656953" y="375238"/>
                  </a:lnTo>
                  <a:lnTo>
                    <a:pt x="3656992" y="375038"/>
                  </a:lnTo>
                  <a:lnTo>
                    <a:pt x="3657577" y="365759"/>
                  </a:lnTo>
                  <a:lnTo>
                    <a:pt x="3657599" y="365404"/>
                  </a:lnTo>
                  <a:lnTo>
                    <a:pt x="3657231" y="73088"/>
                  </a:lnTo>
                  <a:lnTo>
                    <a:pt x="3642140" y="28710"/>
                  </a:lnTo>
                  <a:lnTo>
                    <a:pt x="3603190" y="2430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983124" y="304487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9"/>
                  </a:lnTo>
                  <a:lnTo>
                    <a:pt x="3654802" y="54232"/>
                  </a:lnTo>
                  <a:lnTo>
                    <a:pt x="3657231" y="73088"/>
                  </a:lnTo>
                  <a:lnTo>
                    <a:pt x="3657599" y="365404"/>
                  </a:lnTo>
                  <a:lnTo>
                    <a:pt x="3656992" y="375038"/>
                  </a:lnTo>
                  <a:lnTo>
                    <a:pt x="3655169" y="384438"/>
                  </a:lnTo>
                  <a:lnTo>
                    <a:pt x="3628889" y="423388"/>
                  </a:lnTo>
                  <a:lnTo>
                    <a:pt x="358451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5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089220" y="3032543"/>
            <a:ext cx="133477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25" dirty="0">
                <a:solidFill>
                  <a:srgbClr val="2462EA"/>
                </a:solidFill>
                <a:latin typeface="Calibri"/>
                <a:cs typeface="Calibri"/>
              </a:rPr>
              <a:t>Test</a:t>
            </a:r>
            <a:r>
              <a:rPr sz="850" b="1" spc="-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coverage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JUnit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5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Vitest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k6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load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tests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976774" y="3550807"/>
            <a:ext cx="3670300" cy="452120"/>
            <a:chOff x="4976774" y="3550807"/>
            <a:chExt cx="3670300" cy="452120"/>
          </a:xfrm>
        </p:grpSpPr>
        <p:sp>
          <p:nvSpPr>
            <p:cNvPr id="44" name="object 44"/>
            <p:cNvSpPr/>
            <p:nvPr/>
          </p:nvSpPr>
          <p:spPr>
            <a:xfrm>
              <a:off x="4983124" y="355715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59"/>
                  </a:lnTo>
                  <a:lnTo>
                    <a:pt x="5412" y="393500"/>
                  </a:lnTo>
                  <a:lnTo>
                    <a:pt x="5464" y="393656"/>
                  </a:lnTo>
                  <a:lnTo>
                    <a:pt x="36360" y="429120"/>
                  </a:lnTo>
                  <a:lnTo>
                    <a:pt x="73075" y="438848"/>
                  </a:lnTo>
                  <a:lnTo>
                    <a:pt x="3584511" y="438480"/>
                  </a:lnTo>
                  <a:lnTo>
                    <a:pt x="3628889" y="423388"/>
                  </a:lnTo>
                  <a:lnTo>
                    <a:pt x="3655109" y="384616"/>
                  </a:lnTo>
                  <a:lnTo>
                    <a:pt x="3656953" y="375238"/>
                  </a:lnTo>
                  <a:lnTo>
                    <a:pt x="3656992" y="375038"/>
                  </a:lnTo>
                  <a:lnTo>
                    <a:pt x="3657577" y="365759"/>
                  </a:lnTo>
                  <a:lnTo>
                    <a:pt x="3657599" y="365404"/>
                  </a:lnTo>
                  <a:lnTo>
                    <a:pt x="3657231" y="73088"/>
                  </a:lnTo>
                  <a:lnTo>
                    <a:pt x="3642140" y="28710"/>
                  </a:lnTo>
                  <a:lnTo>
                    <a:pt x="3603190" y="2430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983124" y="355715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9"/>
                  </a:lnTo>
                  <a:lnTo>
                    <a:pt x="3654802" y="54232"/>
                  </a:lnTo>
                  <a:lnTo>
                    <a:pt x="3657231" y="73088"/>
                  </a:lnTo>
                  <a:lnTo>
                    <a:pt x="3657599" y="365404"/>
                  </a:lnTo>
                  <a:lnTo>
                    <a:pt x="3656992" y="375038"/>
                  </a:lnTo>
                  <a:lnTo>
                    <a:pt x="3655169" y="384438"/>
                  </a:lnTo>
                  <a:lnTo>
                    <a:pt x="3628889" y="423388"/>
                  </a:lnTo>
                  <a:lnTo>
                    <a:pt x="358451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5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089220" y="3544467"/>
            <a:ext cx="151384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dirty="0">
                <a:solidFill>
                  <a:srgbClr val="2462EA"/>
                </a:solidFill>
                <a:latin typeface="Calibri"/>
                <a:cs typeface="Calibri"/>
              </a:rPr>
              <a:t>Secret</a:t>
            </a:r>
            <a:r>
              <a:rPr sz="85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management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GitHub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Environments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Robi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Vault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48" name="object 48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18744" y="4730580"/>
            <a:ext cx="5681980" cy="2984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ts val="1240"/>
              </a:lnSpc>
              <a:spcBef>
                <a:spcPts val="114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35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p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I/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sw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ip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d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f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: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ail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D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B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g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_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PA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_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VA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te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failure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is the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most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important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safety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 net.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Never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merge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without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green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CI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pipeline.</a:t>
            </a:r>
            <a:endParaRPr sz="950">
              <a:latin typeface="Calibri"/>
              <a:cs typeface="Calibri"/>
            </a:endParaRPr>
          </a:p>
          <a:p>
            <a:pPr marL="277495">
              <a:lnSpc>
                <a:spcPts val="880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hikari.maximum-pool-size:</a:t>
            </a:r>
            <a:r>
              <a:rPr sz="800" spc="19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20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70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C4D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Monitoring</a:t>
            </a:r>
            <a:r>
              <a:rPr spc="-85" dirty="0"/>
              <a:t> </a:t>
            </a:r>
            <a:r>
              <a:rPr dirty="0"/>
              <a:t>&amp;</a:t>
            </a:r>
            <a:r>
              <a:rPr spc="-80" dirty="0"/>
              <a:t> </a:t>
            </a:r>
            <a:r>
              <a:rPr spc="-10" dirty="0"/>
              <a:t>Observability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8892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Spring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Boot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Actuator</a:t>
            </a:r>
            <a:r>
              <a:rPr sz="1000" i="1" spc="-1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95" dirty="0">
                <a:solidFill>
                  <a:srgbClr val="9FBFFF"/>
                </a:solidFill>
                <a:latin typeface="Arial"/>
                <a:cs typeface="Arial"/>
              </a:rPr>
              <a:t>+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Prometheus</a:t>
            </a:r>
            <a:r>
              <a:rPr sz="1000" i="1" spc="-1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95" dirty="0">
                <a:solidFill>
                  <a:srgbClr val="9FBFFF"/>
                </a:solidFill>
                <a:latin typeface="Arial"/>
                <a:cs typeface="Arial"/>
              </a:rPr>
              <a:t>+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structured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logging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650240" cy="1606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3001" y="1038582"/>
            <a:ext cx="4533900" cy="1333500"/>
            <a:chOff x="243001" y="1038582"/>
            <a:chExt cx="4533900" cy="13335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001" y="1038582"/>
              <a:ext cx="4533836" cy="1333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0040" y="1115646"/>
              <a:ext cx="4343400" cy="1143000"/>
            </a:xfrm>
            <a:custGeom>
              <a:avLst/>
              <a:gdLst/>
              <a:ahLst/>
              <a:cxnLst/>
              <a:rect l="l" t="t" r="r" b="b"/>
              <a:pathLst>
                <a:path w="4343400" h="1143000">
                  <a:moveTo>
                    <a:pt x="4251960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42" y="1097280"/>
                  </a:lnTo>
                  <a:lnTo>
                    <a:pt x="45720" y="1130757"/>
                  </a:lnTo>
                  <a:lnTo>
                    <a:pt x="91439" y="1143000"/>
                  </a:lnTo>
                  <a:lnTo>
                    <a:pt x="4251960" y="1143000"/>
                  </a:lnTo>
                  <a:lnTo>
                    <a:pt x="4297680" y="1130757"/>
                  </a:lnTo>
                  <a:lnTo>
                    <a:pt x="4331157" y="1097280"/>
                  </a:lnTo>
                  <a:lnTo>
                    <a:pt x="4343400" y="1051560"/>
                  </a:lnTo>
                  <a:lnTo>
                    <a:pt x="4343400" y="91439"/>
                  </a:lnTo>
                  <a:lnTo>
                    <a:pt x="4331157" y="45720"/>
                  </a:lnTo>
                  <a:lnTo>
                    <a:pt x="4297680" y="12230"/>
                  </a:lnTo>
                  <a:lnTo>
                    <a:pt x="4251960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1115646"/>
              <a:ext cx="4343400" cy="1143000"/>
            </a:xfrm>
            <a:custGeom>
              <a:avLst/>
              <a:gdLst/>
              <a:ahLst/>
              <a:cxnLst/>
              <a:rect l="l" t="t" r="r" b="b"/>
              <a:pathLst>
                <a:path w="4343400" h="1143000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960" y="0"/>
                  </a:lnTo>
                  <a:lnTo>
                    <a:pt x="4297680" y="12230"/>
                  </a:lnTo>
                  <a:lnTo>
                    <a:pt x="4331157" y="45720"/>
                  </a:lnTo>
                  <a:lnTo>
                    <a:pt x="4343400" y="91439"/>
                  </a:lnTo>
                  <a:lnTo>
                    <a:pt x="4343400" y="1051560"/>
                  </a:lnTo>
                  <a:lnTo>
                    <a:pt x="4342601" y="1063559"/>
                  </a:lnTo>
                  <a:lnTo>
                    <a:pt x="4340250" y="1075224"/>
                  </a:lnTo>
                  <a:lnTo>
                    <a:pt x="4316718" y="1116309"/>
                  </a:lnTo>
                  <a:lnTo>
                    <a:pt x="4275629" y="1139850"/>
                  </a:lnTo>
                  <a:lnTo>
                    <a:pt x="4251960" y="1143000"/>
                  </a:lnTo>
                  <a:lnTo>
                    <a:pt x="91439" y="1143000"/>
                  </a:lnTo>
                  <a:lnTo>
                    <a:pt x="45720" y="1130757"/>
                  </a:lnTo>
                  <a:lnTo>
                    <a:pt x="12242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4053204" cy="97536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CI/CD</a:t>
            </a:r>
            <a:r>
              <a:rPr sz="850" b="1" spc="-2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"Set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up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monitoring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on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Robi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Cloud: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(1)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Spring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Boot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 Actuator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custom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health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indicators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(DB,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Redis,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journal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balance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check);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(2)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Micrometer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metrics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exported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to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Prometheus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(report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generation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time,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journal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entries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per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minute,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failed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auth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attempts);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(3)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Structured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35" dirty="0">
                <a:solidFill>
                  <a:srgbClr val="FCE589"/>
                </a:solidFill>
                <a:latin typeface="Arial"/>
                <a:cs typeface="Arial"/>
              </a:rPr>
              <a:t>JSON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logging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with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Logback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(correlation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ID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per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request);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(4)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Alert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rules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for: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journal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imbalance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detected,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report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&gt;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3sec,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failed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logins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&gt;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5/min."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253947"/>
            <a:ext cx="4534535" cy="2567940"/>
            <a:chOff x="242646" y="2253947"/>
            <a:chExt cx="4534535" cy="256794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253947"/>
              <a:ext cx="4534204" cy="256788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330998"/>
              <a:ext cx="4344035" cy="2378075"/>
            </a:xfrm>
            <a:custGeom>
              <a:avLst/>
              <a:gdLst/>
              <a:ahLst/>
              <a:cxnLst/>
              <a:rect l="l" t="t" r="r" b="b"/>
              <a:pathLst>
                <a:path w="4344035" h="2378075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40"/>
                  </a:lnTo>
                  <a:lnTo>
                    <a:pt x="0" y="2286368"/>
                  </a:lnTo>
                  <a:lnTo>
                    <a:pt x="798" y="2298368"/>
                  </a:lnTo>
                  <a:lnTo>
                    <a:pt x="18830" y="2342125"/>
                  </a:lnTo>
                  <a:lnTo>
                    <a:pt x="56505" y="2370816"/>
                  </a:lnTo>
                  <a:lnTo>
                    <a:pt x="91439" y="2377808"/>
                  </a:lnTo>
                  <a:lnTo>
                    <a:pt x="4252315" y="2377808"/>
                  </a:lnTo>
                  <a:lnTo>
                    <a:pt x="4298035" y="2365565"/>
                  </a:lnTo>
                  <a:lnTo>
                    <a:pt x="4331512" y="2332088"/>
                  </a:lnTo>
                  <a:lnTo>
                    <a:pt x="4343755" y="2286368"/>
                  </a:lnTo>
                  <a:lnTo>
                    <a:pt x="4343731" y="91440"/>
                  </a:lnTo>
                  <a:lnTo>
                    <a:pt x="4331512" y="46088"/>
                  </a:lnTo>
                  <a:lnTo>
                    <a:pt x="4298035" y="12598"/>
                  </a:lnTo>
                  <a:lnTo>
                    <a:pt x="425231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330998"/>
              <a:ext cx="4344035" cy="2378075"/>
            </a:xfrm>
            <a:custGeom>
              <a:avLst/>
              <a:gdLst/>
              <a:ahLst/>
              <a:cxnLst/>
              <a:rect l="l" t="t" r="r" b="b"/>
              <a:pathLst>
                <a:path w="4344035" h="2378075">
                  <a:moveTo>
                    <a:pt x="355" y="91440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68"/>
                  </a:lnTo>
                  <a:lnTo>
                    <a:pt x="4298035" y="12598"/>
                  </a:lnTo>
                  <a:lnTo>
                    <a:pt x="4331512" y="46088"/>
                  </a:lnTo>
                  <a:lnTo>
                    <a:pt x="4343755" y="91808"/>
                  </a:lnTo>
                  <a:lnTo>
                    <a:pt x="4343755" y="2286368"/>
                  </a:lnTo>
                  <a:lnTo>
                    <a:pt x="4342957" y="2298368"/>
                  </a:lnTo>
                  <a:lnTo>
                    <a:pt x="4340606" y="2310033"/>
                  </a:lnTo>
                  <a:lnTo>
                    <a:pt x="4317074" y="2351117"/>
                  </a:lnTo>
                  <a:lnTo>
                    <a:pt x="4275985" y="2374653"/>
                  </a:lnTo>
                  <a:lnTo>
                    <a:pt x="4252315" y="2377808"/>
                  </a:lnTo>
                  <a:lnTo>
                    <a:pt x="91439" y="2377808"/>
                  </a:lnTo>
                  <a:lnTo>
                    <a:pt x="45719" y="2365565"/>
                  </a:lnTo>
                  <a:lnTo>
                    <a:pt x="12230" y="2332088"/>
                  </a:lnTo>
                  <a:lnTo>
                    <a:pt x="0" y="2286368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320035"/>
            <a:ext cx="3314065" cy="195897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3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Config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/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2499"/>
              </a:lnSpc>
              <a:spcBef>
                <a:spcPts val="50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Custom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health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indicator: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journal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balance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check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@Component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class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JournalBalanceHealthIndicator</a:t>
            </a:r>
            <a:endParaRPr sz="800">
              <a:latin typeface="Courier New"/>
              <a:cs typeface="Courier New"/>
            </a:endParaRPr>
          </a:p>
          <a:p>
            <a:pPr marL="135890" marR="1307465" indent="124460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implements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HealthIndicator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Health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health()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long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imbalanced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journalRepo</a:t>
            </a:r>
            <a:endParaRPr sz="800">
              <a:latin typeface="Courier New"/>
              <a:cs typeface="Courier New"/>
            </a:endParaRPr>
          </a:p>
          <a:p>
            <a:pPr marL="260985" marR="1307465" indent="123189">
              <a:lnSpc>
                <a:spcPct val="102499"/>
              </a:lnSpc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.countImbalancedEntries();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if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(imbalanced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&gt;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0)</a:t>
            </a:r>
            <a:endParaRPr sz="800">
              <a:latin typeface="Courier New"/>
              <a:cs typeface="Courier New"/>
            </a:endParaRPr>
          </a:p>
          <a:p>
            <a:pPr marL="38417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return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Health.down()</a:t>
            </a:r>
            <a:endParaRPr sz="800">
              <a:latin typeface="Courier New"/>
              <a:cs typeface="Courier New"/>
            </a:endParaRPr>
          </a:p>
          <a:p>
            <a:pPr marL="50927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.withDetail("imbalancedEntries",</a:t>
            </a:r>
            <a:r>
              <a:rPr sz="800" spc="2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imbalanced)</a:t>
            </a:r>
            <a:endParaRPr sz="800">
              <a:latin typeface="Courier New"/>
              <a:cs typeface="Courier New"/>
            </a:endParaRPr>
          </a:p>
          <a:p>
            <a:pPr marL="50927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.build();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return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Health.up().build();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140" y="5003179"/>
            <a:ext cx="169989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Alert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rule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(Prometheus):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768926" y="1037871"/>
            <a:ext cx="4168775" cy="3783965"/>
            <a:chOff x="4768926" y="1037871"/>
            <a:chExt cx="4168775" cy="378396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7871"/>
              <a:ext cx="4168444" cy="378396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932"/>
                  </a:lnTo>
                  <a:lnTo>
                    <a:pt x="355" y="109804"/>
                  </a:lnTo>
                  <a:lnTo>
                    <a:pt x="0" y="3484079"/>
                  </a:lnTo>
                  <a:lnTo>
                    <a:pt x="929" y="3498349"/>
                  </a:lnTo>
                  <a:lnTo>
                    <a:pt x="939" y="3498510"/>
                  </a:lnTo>
                  <a:lnTo>
                    <a:pt x="3699" y="3512385"/>
                  </a:lnTo>
                  <a:lnTo>
                    <a:pt x="3735" y="3512567"/>
                  </a:lnTo>
                  <a:lnTo>
                    <a:pt x="8284" y="3525949"/>
                  </a:lnTo>
                  <a:lnTo>
                    <a:pt x="32213" y="3561703"/>
                  </a:lnTo>
                  <a:lnTo>
                    <a:pt x="67932" y="3585525"/>
                  </a:lnTo>
                  <a:lnTo>
                    <a:pt x="109791" y="3593884"/>
                  </a:lnTo>
                  <a:lnTo>
                    <a:pt x="3868191" y="3593884"/>
                  </a:lnTo>
                  <a:lnTo>
                    <a:pt x="3910262" y="3585525"/>
                  </a:lnTo>
                  <a:lnTo>
                    <a:pt x="3945766" y="3561703"/>
                  </a:lnTo>
                  <a:lnTo>
                    <a:pt x="3969542" y="3526151"/>
                  </a:lnTo>
                  <a:lnTo>
                    <a:pt x="3974198" y="3512567"/>
                  </a:lnTo>
                  <a:lnTo>
                    <a:pt x="3974260" y="3512385"/>
                  </a:lnTo>
                  <a:lnTo>
                    <a:pt x="3977023" y="3498510"/>
                  </a:lnTo>
                  <a:lnTo>
                    <a:pt x="3977055" y="3498349"/>
                  </a:lnTo>
                  <a:lnTo>
                    <a:pt x="3977995" y="3484079"/>
                  </a:lnTo>
                  <a:lnTo>
                    <a:pt x="3977972" y="109804"/>
                  </a:lnTo>
                  <a:lnTo>
                    <a:pt x="3969642" y="68088"/>
                  </a:lnTo>
                  <a:lnTo>
                    <a:pt x="3945772" y="32535"/>
                  </a:lnTo>
                  <a:lnTo>
                    <a:pt x="3910062" y="8713"/>
                  </a:lnTo>
                  <a:lnTo>
                    <a:pt x="3868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355" y="109804"/>
                  </a:moveTo>
                  <a:lnTo>
                    <a:pt x="1295" y="95529"/>
                  </a:lnTo>
                  <a:lnTo>
                    <a:pt x="4090" y="81494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55"/>
                  </a:lnTo>
                  <a:lnTo>
                    <a:pt x="3910062" y="8713"/>
                  </a:lnTo>
                  <a:lnTo>
                    <a:pt x="3945772" y="32535"/>
                  </a:lnTo>
                  <a:lnTo>
                    <a:pt x="3969642" y="68088"/>
                  </a:lnTo>
                  <a:lnTo>
                    <a:pt x="3977995" y="110159"/>
                  </a:lnTo>
                  <a:lnTo>
                    <a:pt x="3977995" y="3484079"/>
                  </a:lnTo>
                  <a:lnTo>
                    <a:pt x="3977055" y="3498349"/>
                  </a:lnTo>
                  <a:lnTo>
                    <a:pt x="3974260" y="3512385"/>
                  </a:lnTo>
                  <a:lnTo>
                    <a:pt x="3955218" y="3550872"/>
                  </a:lnTo>
                  <a:lnTo>
                    <a:pt x="3923271" y="3579114"/>
                  </a:lnTo>
                  <a:lnTo>
                    <a:pt x="3882621" y="3592944"/>
                  </a:lnTo>
                  <a:lnTo>
                    <a:pt x="3868191" y="3593884"/>
                  </a:lnTo>
                  <a:lnTo>
                    <a:pt x="109791" y="3593884"/>
                  </a:lnTo>
                  <a:lnTo>
                    <a:pt x="67932" y="3585525"/>
                  </a:lnTo>
                  <a:lnTo>
                    <a:pt x="32213" y="3561703"/>
                  </a:lnTo>
                  <a:lnTo>
                    <a:pt x="8352" y="3526151"/>
                  </a:lnTo>
                  <a:lnTo>
                    <a:pt x="0" y="348407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1C4D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70424" y="1167538"/>
            <a:ext cx="130238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2462EA"/>
                </a:solidFill>
                <a:latin typeface="MingLiU_HKSCS-ExtB"/>
                <a:cs typeface="MingLiU_HKSCS-ExtB"/>
              </a:rPr>
              <a:t>🚀</a:t>
            </a:r>
            <a:r>
              <a:rPr sz="1300" spc="-275" dirty="0">
                <a:solidFill>
                  <a:srgbClr val="2462EA"/>
                </a:solidFill>
                <a:latin typeface="MingLiU_HKSCS-ExtB"/>
                <a:cs typeface="MingLiU_HKSCS-ExtB"/>
              </a:rPr>
              <a:t> </a:t>
            </a:r>
            <a:r>
              <a:rPr sz="1100" b="1" spc="-10" dirty="0">
                <a:solidFill>
                  <a:srgbClr val="2462EA"/>
                </a:solidFill>
                <a:latin typeface="Calibri"/>
                <a:cs typeface="Calibri"/>
              </a:rPr>
              <a:t>Deployment</a:t>
            </a:r>
            <a:r>
              <a:rPr sz="1100" b="1" spc="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2462EA"/>
                </a:solidFill>
                <a:latin typeface="Calibri"/>
                <a:cs typeface="Calibri"/>
              </a:rPr>
              <a:t>Facts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976774" y="1502412"/>
            <a:ext cx="3670300" cy="452120"/>
            <a:chOff x="4976774" y="1502412"/>
            <a:chExt cx="3670300" cy="452120"/>
          </a:xfrm>
        </p:grpSpPr>
        <p:sp>
          <p:nvSpPr>
            <p:cNvPr id="24" name="object 24"/>
            <p:cNvSpPr/>
            <p:nvPr/>
          </p:nvSpPr>
          <p:spPr>
            <a:xfrm>
              <a:off x="4983124" y="1508762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594" y="375036"/>
                  </a:lnTo>
                  <a:lnTo>
                    <a:pt x="607" y="375238"/>
                  </a:lnTo>
                  <a:lnTo>
                    <a:pt x="2393" y="384433"/>
                  </a:lnTo>
                  <a:lnTo>
                    <a:pt x="2428" y="384616"/>
                  </a:lnTo>
                  <a:lnTo>
                    <a:pt x="5410" y="393495"/>
                  </a:lnTo>
                  <a:lnTo>
                    <a:pt x="36360" y="429120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81"/>
                  </a:lnTo>
                  <a:lnTo>
                    <a:pt x="3655108" y="384616"/>
                  </a:lnTo>
                  <a:lnTo>
                    <a:pt x="3655169" y="384433"/>
                  </a:lnTo>
                  <a:lnTo>
                    <a:pt x="3656953" y="375238"/>
                  </a:lnTo>
                  <a:lnTo>
                    <a:pt x="3656992" y="375036"/>
                  </a:lnTo>
                  <a:lnTo>
                    <a:pt x="3657577" y="365760"/>
                  </a:lnTo>
                  <a:lnTo>
                    <a:pt x="3657599" y="365404"/>
                  </a:lnTo>
                  <a:lnTo>
                    <a:pt x="3657231" y="73075"/>
                  </a:lnTo>
                  <a:lnTo>
                    <a:pt x="3642140" y="28705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83124" y="1508762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4"/>
                  </a:lnTo>
                  <a:lnTo>
                    <a:pt x="3654802" y="54224"/>
                  </a:lnTo>
                  <a:lnTo>
                    <a:pt x="3657231" y="73075"/>
                  </a:lnTo>
                  <a:lnTo>
                    <a:pt x="3657599" y="365404"/>
                  </a:lnTo>
                  <a:lnTo>
                    <a:pt x="3656992" y="375036"/>
                  </a:lnTo>
                  <a:lnTo>
                    <a:pt x="3655169" y="384433"/>
                  </a:lnTo>
                  <a:lnTo>
                    <a:pt x="3628889" y="423381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089220" y="1496796"/>
            <a:ext cx="1460500" cy="40957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dirty="0">
                <a:solidFill>
                  <a:srgbClr val="2462EA"/>
                </a:solidFill>
                <a:latin typeface="Calibri"/>
                <a:cs typeface="Calibri"/>
              </a:rPr>
              <a:t>Pipeline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speed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&lt;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8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min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total (test+build+deploy)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976774" y="2014336"/>
            <a:ext cx="3670300" cy="452120"/>
            <a:chOff x="4976774" y="2014336"/>
            <a:chExt cx="3670300" cy="452120"/>
          </a:xfrm>
        </p:grpSpPr>
        <p:sp>
          <p:nvSpPr>
            <p:cNvPr id="28" name="object 28"/>
            <p:cNvSpPr/>
            <p:nvPr/>
          </p:nvSpPr>
          <p:spPr>
            <a:xfrm>
              <a:off x="4983124" y="202068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15091" y="410130"/>
                  </a:lnTo>
                  <a:lnTo>
                    <a:pt x="54041" y="436406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76"/>
                  </a:lnTo>
                  <a:lnTo>
                    <a:pt x="3652052" y="393650"/>
                  </a:lnTo>
                  <a:lnTo>
                    <a:pt x="3652129" y="393495"/>
                  </a:lnTo>
                  <a:lnTo>
                    <a:pt x="3657576" y="365760"/>
                  </a:lnTo>
                  <a:lnTo>
                    <a:pt x="3657599" y="365391"/>
                  </a:lnTo>
                  <a:lnTo>
                    <a:pt x="3657231" y="73075"/>
                  </a:lnTo>
                  <a:lnTo>
                    <a:pt x="3642140" y="28698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983124" y="202068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096"/>
                  </a:lnTo>
                  <a:lnTo>
                    <a:pt x="3654802" y="54219"/>
                  </a:lnTo>
                  <a:lnTo>
                    <a:pt x="3657231" y="73075"/>
                  </a:lnTo>
                  <a:lnTo>
                    <a:pt x="3657599" y="365391"/>
                  </a:lnTo>
                  <a:lnTo>
                    <a:pt x="3656992" y="375031"/>
                  </a:lnTo>
                  <a:lnTo>
                    <a:pt x="3655169" y="384432"/>
                  </a:lnTo>
                  <a:lnTo>
                    <a:pt x="3628889" y="423376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089220" y="2008339"/>
            <a:ext cx="1125855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Deployment</a:t>
            </a:r>
            <a:r>
              <a:rPr sz="850" b="1" spc="4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type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Rolling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zero downtime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76774" y="2526616"/>
            <a:ext cx="3670300" cy="452120"/>
            <a:chOff x="4976774" y="2526616"/>
            <a:chExt cx="3670300" cy="452120"/>
          </a:xfrm>
        </p:grpSpPr>
        <p:sp>
          <p:nvSpPr>
            <p:cNvPr id="32" name="object 32"/>
            <p:cNvSpPr/>
            <p:nvPr/>
          </p:nvSpPr>
          <p:spPr>
            <a:xfrm>
              <a:off x="4983124" y="253296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15091" y="410130"/>
                  </a:lnTo>
                  <a:lnTo>
                    <a:pt x="54041" y="436406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76"/>
                  </a:lnTo>
                  <a:lnTo>
                    <a:pt x="3652052" y="393650"/>
                  </a:lnTo>
                  <a:lnTo>
                    <a:pt x="3652129" y="393495"/>
                  </a:lnTo>
                  <a:lnTo>
                    <a:pt x="3657576" y="365760"/>
                  </a:lnTo>
                  <a:lnTo>
                    <a:pt x="3657599" y="365391"/>
                  </a:lnTo>
                  <a:lnTo>
                    <a:pt x="3657231" y="73075"/>
                  </a:lnTo>
                  <a:lnTo>
                    <a:pt x="3642140" y="28698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83124" y="253296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096"/>
                  </a:lnTo>
                  <a:lnTo>
                    <a:pt x="3654802" y="54219"/>
                  </a:lnTo>
                  <a:lnTo>
                    <a:pt x="3657231" y="73075"/>
                  </a:lnTo>
                  <a:lnTo>
                    <a:pt x="3657599" y="365391"/>
                  </a:lnTo>
                  <a:lnTo>
                    <a:pt x="3656992" y="375031"/>
                  </a:lnTo>
                  <a:lnTo>
                    <a:pt x="3655169" y="384432"/>
                  </a:lnTo>
                  <a:lnTo>
                    <a:pt x="3628889" y="423376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089220" y="2520263"/>
            <a:ext cx="134874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Rollback</a:t>
            </a:r>
            <a:r>
              <a:rPr sz="850" b="1" spc="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time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&lt; 60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seconds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(previous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image)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976774" y="3038527"/>
            <a:ext cx="3670300" cy="452120"/>
            <a:chOff x="4976774" y="3038527"/>
            <a:chExt cx="3670300" cy="452120"/>
          </a:xfrm>
        </p:grpSpPr>
        <p:sp>
          <p:nvSpPr>
            <p:cNvPr id="36" name="object 36"/>
            <p:cNvSpPr/>
            <p:nvPr/>
          </p:nvSpPr>
          <p:spPr>
            <a:xfrm>
              <a:off x="4983124" y="304487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59"/>
                  </a:lnTo>
                  <a:lnTo>
                    <a:pt x="5412" y="393500"/>
                  </a:lnTo>
                  <a:lnTo>
                    <a:pt x="5464" y="393656"/>
                  </a:lnTo>
                  <a:lnTo>
                    <a:pt x="36360" y="429120"/>
                  </a:lnTo>
                  <a:lnTo>
                    <a:pt x="73075" y="438848"/>
                  </a:lnTo>
                  <a:lnTo>
                    <a:pt x="3584511" y="438480"/>
                  </a:lnTo>
                  <a:lnTo>
                    <a:pt x="3628889" y="423388"/>
                  </a:lnTo>
                  <a:lnTo>
                    <a:pt x="3655109" y="384616"/>
                  </a:lnTo>
                  <a:lnTo>
                    <a:pt x="3656953" y="375238"/>
                  </a:lnTo>
                  <a:lnTo>
                    <a:pt x="3656992" y="375038"/>
                  </a:lnTo>
                  <a:lnTo>
                    <a:pt x="3657577" y="365759"/>
                  </a:lnTo>
                  <a:lnTo>
                    <a:pt x="3657599" y="365404"/>
                  </a:lnTo>
                  <a:lnTo>
                    <a:pt x="3657231" y="73088"/>
                  </a:lnTo>
                  <a:lnTo>
                    <a:pt x="3642140" y="28710"/>
                  </a:lnTo>
                  <a:lnTo>
                    <a:pt x="3603190" y="2430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983124" y="304487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9"/>
                  </a:lnTo>
                  <a:lnTo>
                    <a:pt x="3654802" y="54232"/>
                  </a:lnTo>
                  <a:lnTo>
                    <a:pt x="3657231" y="73088"/>
                  </a:lnTo>
                  <a:lnTo>
                    <a:pt x="3657599" y="365404"/>
                  </a:lnTo>
                  <a:lnTo>
                    <a:pt x="3656992" y="375038"/>
                  </a:lnTo>
                  <a:lnTo>
                    <a:pt x="3655169" y="384438"/>
                  </a:lnTo>
                  <a:lnTo>
                    <a:pt x="3628889" y="423388"/>
                  </a:lnTo>
                  <a:lnTo>
                    <a:pt x="358451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5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089220" y="3032543"/>
            <a:ext cx="133477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25" dirty="0">
                <a:solidFill>
                  <a:srgbClr val="2462EA"/>
                </a:solidFill>
                <a:latin typeface="Calibri"/>
                <a:cs typeface="Calibri"/>
              </a:rPr>
              <a:t>Test</a:t>
            </a:r>
            <a:r>
              <a:rPr sz="850" b="1" spc="-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coverage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JUnit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5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Vitest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k6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load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tests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976774" y="3550807"/>
            <a:ext cx="3670300" cy="452120"/>
            <a:chOff x="4976774" y="3550807"/>
            <a:chExt cx="3670300" cy="452120"/>
          </a:xfrm>
        </p:grpSpPr>
        <p:sp>
          <p:nvSpPr>
            <p:cNvPr id="40" name="object 40"/>
            <p:cNvSpPr/>
            <p:nvPr/>
          </p:nvSpPr>
          <p:spPr>
            <a:xfrm>
              <a:off x="4983124" y="355715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59"/>
                  </a:lnTo>
                  <a:lnTo>
                    <a:pt x="5412" y="393500"/>
                  </a:lnTo>
                  <a:lnTo>
                    <a:pt x="5464" y="393656"/>
                  </a:lnTo>
                  <a:lnTo>
                    <a:pt x="36360" y="429120"/>
                  </a:lnTo>
                  <a:lnTo>
                    <a:pt x="73075" y="438848"/>
                  </a:lnTo>
                  <a:lnTo>
                    <a:pt x="3584511" y="438480"/>
                  </a:lnTo>
                  <a:lnTo>
                    <a:pt x="3628889" y="423388"/>
                  </a:lnTo>
                  <a:lnTo>
                    <a:pt x="3655109" y="384616"/>
                  </a:lnTo>
                  <a:lnTo>
                    <a:pt x="3656953" y="375238"/>
                  </a:lnTo>
                  <a:lnTo>
                    <a:pt x="3656992" y="375038"/>
                  </a:lnTo>
                  <a:lnTo>
                    <a:pt x="3657577" y="365759"/>
                  </a:lnTo>
                  <a:lnTo>
                    <a:pt x="3657599" y="365404"/>
                  </a:lnTo>
                  <a:lnTo>
                    <a:pt x="3657231" y="73088"/>
                  </a:lnTo>
                  <a:lnTo>
                    <a:pt x="3642140" y="28710"/>
                  </a:lnTo>
                  <a:lnTo>
                    <a:pt x="3603190" y="2430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983124" y="355715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9"/>
                  </a:lnTo>
                  <a:lnTo>
                    <a:pt x="3654802" y="54232"/>
                  </a:lnTo>
                  <a:lnTo>
                    <a:pt x="3657231" y="73088"/>
                  </a:lnTo>
                  <a:lnTo>
                    <a:pt x="3657599" y="365404"/>
                  </a:lnTo>
                  <a:lnTo>
                    <a:pt x="3656992" y="375038"/>
                  </a:lnTo>
                  <a:lnTo>
                    <a:pt x="3655169" y="384438"/>
                  </a:lnTo>
                  <a:lnTo>
                    <a:pt x="3628889" y="423388"/>
                  </a:lnTo>
                  <a:lnTo>
                    <a:pt x="358451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5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089220" y="3544467"/>
            <a:ext cx="151384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dirty="0">
                <a:solidFill>
                  <a:srgbClr val="2462EA"/>
                </a:solidFill>
                <a:latin typeface="Calibri"/>
                <a:cs typeface="Calibri"/>
              </a:rPr>
              <a:t>Secret</a:t>
            </a:r>
            <a:r>
              <a:rPr sz="85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management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GitHub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Environments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Robi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Vault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44" name="object 44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97040" y="4378581"/>
            <a:ext cx="5716270" cy="5480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Prometheus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metrics:</a:t>
            </a:r>
            <a:endParaRPr sz="800">
              <a:latin typeface="Courier New"/>
              <a:cs typeface="Courier New"/>
            </a:endParaRPr>
          </a:p>
          <a:p>
            <a:pPr marL="485140" marR="3361054" indent="-434975">
              <a:lnSpc>
                <a:spcPct val="102499"/>
              </a:lnSpc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@Timed(name="report.generation",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tags={"report","profit-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loss"})</a:t>
            </a:r>
            <a:endParaRPr sz="800">
              <a:latin typeface="Courier New"/>
              <a:cs typeface="Courier New"/>
            </a:endParaRPr>
          </a:p>
          <a:p>
            <a:pPr marL="50800">
              <a:lnSpc>
                <a:spcPts val="1165"/>
              </a:lnSpc>
            </a:pPr>
            <a:r>
              <a:rPr sz="1200" spc="-622" baseline="6944" dirty="0">
                <a:solidFill>
                  <a:srgbClr val="E1E7EF"/>
                </a:solidFill>
                <a:latin typeface="Courier New"/>
                <a:cs typeface="Courier New"/>
              </a:rPr>
              <a:t>p</a:t>
            </a:r>
            <a:r>
              <a:rPr sz="1100" spc="-76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200" spc="-7" baseline="6944" dirty="0">
                <a:solidFill>
                  <a:srgbClr val="E1E7EF"/>
                </a:solidFill>
                <a:latin typeface="Courier New"/>
                <a:cs typeface="Courier New"/>
              </a:rPr>
              <a:t>ub</a:t>
            </a:r>
            <a:r>
              <a:rPr sz="1200" spc="-419" baseline="6944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229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405" baseline="6944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335" dirty="0">
                <a:solidFill>
                  <a:srgbClr val="774409"/>
                </a:solidFill>
                <a:latin typeface="Calibri"/>
                <a:cs typeface="Calibri"/>
              </a:rPr>
              <a:t>/</a:t>
            </a:r>
            <a:r>
              <a:rPr sz="1200" spc="-247" baseline="6944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950" spc="-455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7" baseline="6944" dirty="0">
                <a:solidFill>
                  <a:srgbClr val="E1E7EF"/>
                </a:solidFill>
                <a:latin typeface="Courier New"/>
                <a:cs typeface="Courier New"/>
              </a:rPr>
              <a:t>P</a:t>
            </a:r>
            <a:r>
              <a:rPr sz="1200" spc="-472" baseline="6944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15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517" baseline="6944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370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187" baseline="6944" dirty="0">
                <a:solidFill>
                  <a:srgbClr val="E1E7EF"/>
                </a:solidFill>
                <a:latin typeface="Courier New"/>
                <a:cs typeface="Courier New"/>
              </a:rPr>
              <a:t>f</a:t>
            </a:r>
            <a:r>
              <a:rPr sz="950" spc="-145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1200" spc="-209" baseline="6944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f</a:t>
            </a:r>
            <a:r>
              <a:rPr sz="1200" spc="-532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9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592" baseline="6944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il</a:t>
            </a:r>
            <a:r>
              <a:rPr sz="950" spc="-250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1200" spc="-345" baseline="6944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27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345" baseline="6944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235" dirty="0">
                <a:solidFill>
                  <a:srgbClr val="774409"/>
                </a:solidFill>
                <a:latin typeface="Calibri"/>
                <a:cs typeface="Calibri"/>
              </a:rPr>
              <a:t>g</a:t>
            </a:r>
            <a:r>
              <a:rPr sz="1200" spc="-82" baseline="6944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40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7" baseline="6944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1200" spc="-532" baseline="6944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130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532" baseline="6944" dirty="0">
                <a:solidFill>
                  <a:srgbClr val="E1E7EF"/>
                </a:solidFill>
                <a:latin typeface="Courier New"/>
                <a:cs typeface="Courier New"/>
              </a:rPr>
              <a:t>p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209" baseline="6944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380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172" baseline="6944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39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1200" spc="-540" baseline="694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40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157" baseline="6944" dirty="0">
                <a:solidFill>
                  <a:srgbClr val="E1E7EF"/>
                </a:solidFill>
                <a:latin typeface="Courier New"/>
                <a:cs typeface="Courier New"/>
              </a:rPr>
              <a:t>g</a:t>
            </a:r>
            <a:r>
              <a:rPr sz="950" spc="-27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345" baseline="6944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10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254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20" dirty="0">
                <a:solidFill>
                  <a:srgbClr val="774409"/>
                </a:solidFill>
                <a:latin typeface="Calibri"/>
                <a:cs typeface="Calibri"/>
              </a:rPr>
              <a:t>f</a:t>
            </a:r>
            <a:r>
              <a:rPr sz="1200" spc="-592" baseline="6944" dirty="0">
                <a:solidFill>
                  <a:srgbClr val="E1E7EF"/>
                </a:solidFill>
                <a:latin typeface="Courier New"/>
                <a:cs typeface="Courier New"/>
              </a:rPr>
              <a:t>P</a:t>
            </a:r>
            <a:r>
              <a:rPr sz="950" spc="-6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644" baseline="6944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il</a:t>
            </a:r>
            <a:r>
              <a:rPr sz="950" spc="-500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1200" spc="-7" baseline="6944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1200" spc="-712" baseline="6944" dirty="0">
                <a:solidFill>
                  <a:srgbClr val="E1E7EF"/>
                </a:solidFill>
                <a:latin typeface="Courier New"/>
                <a:cs typeface="Courier New"/>
              </a:rPr>
              <a:t>f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-31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15" baseline="6944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1200" spc="-682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14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225" baseline="6944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17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472" baseline="6944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h</a:t>
            </a:r>
            <a:r>
              <a:rPr sz="1200" spc="-472" baseline="6944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6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172" baseline="6944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670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1200" spc="-7" baseline="6944" dirty="0">
                <a:solidFill>
                  <a:srgbClr val="E1E7EF"/>
                </a:solidFill>
                <a:latin typeface="Courier New"/>
                <a:cs typeface="Courier New"/>
              </a:rPr>
              <a:t>(</a:t>
            </a:r>
            <a:r>
              <a:rPr sz="1200" spc="-487" baseline="6944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r>
              <a:rPr sz="950" spc="-175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480" baseline="6944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950" spc="-35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7" baseline="6944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r>
              <a:rPr sz="1200" spc="-600" baseline="6944" dirty="0">
                <a:solidFill>
                  <a:srgbClr val="E1E7EF"/>
                </a:solidFill>
                <a:latin typeface="Courier New"/>
                <a:cs typeface="Courier New"/>
              </a:rPr>
              <a:t>)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950" spc="-95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2152" baseline="6944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r>
              <a:rPr sz="1200" baseline="6944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1200" spc="330" baseline="694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950" spc="-100" dirty="0">
                <a:solidFill>
                  <a:srgbClr val="774409"/>
                </a:solidFill>
                <a:latin typeface="Calibri"/>
                <a:cs typeface="Calibri"/>
              </a:rPr>
              <a:t>rt</a:t>
            </a:r>
            <a:r>
              <a:rPr sz="1200" spc="-150" baseline="6944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r>
              <a:rPr sz="950" spc="-10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150" baseline="6944" dirty="0">
                <a:solidFill>
                  <a:srgbClr val="E1E7EF"/>
                </a:solidFill>
                <a:latin typeface="Courier New"/>
                <a:cs typeface="Courier New"/>
              </a:rPr>
              <a:t>.</a:t>
            </a:r>
            <a:r>
              <a:rPr sz="950" spc="-100" dirty="0">
                <a:solidFill>
                  <a:srgbClr val="774409"/>
                </a:solidFill>
                <a:latin typeface="Calibri"/>
                <a:cs typeface="Calibri"/>
              </a:rPr>
              <a:t>nt</a:t>
            </a:r>
            <a:r>
              <a:rPr sz="1200" spc="-150" baseline="6944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r>
              <a:rPr sz="950" spc="-100" dirty="0">
                <a:solidFill>
                  <a:srgbClr val="774409"/>
                </a:solidFill>
                <a:latin typeface="Calibri"/>
                <a:cs typeface="Calibri"/>
              </a:rPr>
              <a:t>safety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net.</a:t>
            </a:r>
            <a:r>
              <a:rPr sz="950" spc="4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Never</a:t>
            </a:r>
            <a:r>
              <a:rPr sz="950" spc="4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merge</a:t>
            </a:r>
            <a:r>
              <a:rPr sz="950" spc="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without</a:t>
            </a:r>
            <a:r>
              <a:rPr sz="950" spc="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green</a:t>
            </a:r>
            <a:r>
              <a:rPr sz="950" spc="4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CI</a:t>
            </a:r>
            <a:r>
              <a:rPr sz="950" spc="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pipeline.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71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C4D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Testing</a:t>
            </a:r>
            <a:r>
              <a:rPr spc="-65" dirty="0"/>
              <a:t> </a:t>
            </a:r>
            <a:r>
              <a:rPr spc="-10" dirty="0"/>
              <a:t>Strategy</a:t>
            </a:r>
            <a:r>
              <a:rPr spc="-60" dirty="0"/>
              <a:t> </a:t>
            </a:r>
            <a:r>
              <a:rPr dirty="0"/>
              <a:t>—</a:t>
            </a:r>
            <a:r>
              <a:rPr spc="-70" dirty="0"/>
              <a:t> </a:t>
            </a:r>
            <a:r>
              <a:rPr dirty="0"/>
              <a:t>Full</a:t>
            </a:r>
            <a:r>
              <a:rPr spc="-65" dirty="0"/>
              <a:t> </a:t>
            </a:r>
            <a:r>
              <a:rPr spc="-10" dirty="0"/>
              <a:t>Pyramid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30346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Unit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→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Integration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→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40" dirty="0">
                <a:solidFill>
                  <a:srgbClr val="9FBFFF"/>
                </a:solidFill>
                <a:latin typeface="Arial"/>
                <a:cs typeface="Arial"/>
              </a:rPr>
              <a:t>E2E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test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Arial"/>
                <a:cs typeface="Arial"/>
              </a:rPr>
              <a:t>coverage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for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WAMY</a:t>
            </a:r>
            <a:r>
              <a:rPr sz="1000" i="1" spc="-4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Finance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1"/>
            <a:ext cx="774002" cy="1498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3001" y="1038582"/>
            <a:ext cx="4533900" cy="1333500"/>
            <a:chOff x="243001" y="1038582"/>
            <a:chExt cx="4533900" cy="13335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001" y="1038582"/>
              <a:ext cx="4533836" cy="1333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0040" y="1115646"/>
              <a:ext cx="4343400" cy="1143000"/>
            </a:xfrm>
            <a:custGeom>
              <a:avLst/>
              <a:gdLst/>
              <a:ahLst/>
              <a:cxnLst/>
              <a:rect l="l" t="t" r="r" b="b"/>
              <a:pathLst>
                <a:path w="4343400" h="1143000">
                  <a:moveTo>
                    <a:pt x="4251960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42" y="1097280"/>
                  </a:lnTo>
                  <a:lnTo>
                    <a:pt x="45720" y="1130757"/>
                  </a:lnTo>
                  <a:lnTo>
                    <a:pt x="91439" y="1143000"/>
                  </a:lnTo>
                  <a:lnTo>
                    <a:pt x="4251960" y="1143000"/>
                  </a:lnTo>
                  <a:lnTo>
                    <a:pt x="4297680" y="1130757"/>
                  </a:lnTo>
                  <a:lnTo>
                    <a:pt x="4331157" y="1097280"/>
                  </a:lnTo>
                  <a:lnTo>
                    <a:pt x="4343400" y="1051560"/>
                  </a:lnTo>
                  <a:lnTo>
                    <a:pt x="4343400" y="91439"/>
                  </a:lnTo>
                  <a:lnTo>
                    <a:pt x="4331157" y="45720"/>
                  </a:lnTo>
                  <a:lnTo>
                    <a:pt x="4297680" y="12230"/>
                  </a:lnTo>
                  <a:lnTo>
                    <a:pt x="4251960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1115646"/>
              <a:ext cx="4343400" cy="1143000"/>
            </a:xfrm>
            <a:custGeom>
              <a:avLst/>
              <a:gdLst/>
              <a:ahLst/>
              <a:cxnLst/>
              <a:rect l="l" t="t" r="r" b="b"/>
              <a:pathLst>
                <a:path w="4343400" h="1143000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960" y="0"/>
                  </a:lnTo>
                  <a:lnTo>
                    <a:pt x="4297680" y="12230"/>
                  </a:lnTo>
                  <a:lnTo>
                    <a:pt x="4331157" y="45720"/>
                  </a:lnTo>
                  <a:lnTo>
                    <a:pt x="4343400" y="91439"/>
                  </a:lnTo>
                  <a:lnTo>
                    <a:pt x="4343400" y="1051560"/>
                  </a:lnTo>
                  <a:lnTo>
                    <a:pt x="4342601" y="1063559"/>
                  </a:lnTo>
                  <a:lnTo>
                    <a:pt x="4340250" y="1075224"/>
                  </a:lnTo>
                  <a:lnTo>
                    <a:pt x="4316718" y="1116309"/>
                  </a:lnTo>
                  <a:lnTo>
                    <a:pt x="4275629" y="1139850"/>
                  </a:lnTo>
                  <a:lnTo>
                    <a:pt x="4251960" y="1143000"/>
                  </a:lnTo>
                  <a:lnTo>
                    <a:pt x="91439" y="1143000"/>
                  </a:lnTo>
                  <a:lnTo>
                    <a:pt x="45720" y="1130757"/>
                  </a:lnTo>
                  <a:lnTo>
                    <a:pt x="12242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4041775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CI/CD</a:t>
            </a:r>
            <a:r>
              <a:rPr sz="850" b="1" spc="-2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comprehensive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testing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strategy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document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Finance.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Include: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(1)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Unit</a:t>
            </a:r>
            <a:r>
              <a:rPr sz="850" i="1" spc="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test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coverage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targets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(&gt;80%);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(2)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Integration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test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scenarios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(key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API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flows);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(3)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20" dirty="0">
                <a:solidFill>
                  <a:srgbClr val="FCE589"/>
                </a:solidFill>
                <a:latin typeface="Arial"/>
                <a:cs typeface="Arial"/>
              </a:rPr>
              <a:t>E2E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test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plan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using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Playwright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React;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(4)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Performance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test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script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using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k6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report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endpoints;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(5)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Test</a:t>
            </a:r>
            <a:r>
              <a:rPr sz="850" i="1" spc="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data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generation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script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realistic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financial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data."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253947"/>
            <a:ext cx="4534535" cy="2567940"/>
            <a:chOff x="242646" y="2253947"/>
            <a:chExt cx="4534535" cy="256794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253947"/>
              <a:ext cx="4534204" cy="256788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330998"/>
              <a:ext cx="4344035" cy="2378075"/>
            </a:xfrm>
            <a:custGeom>
              <a:avLst/>
              <a:gdLst/>
              <a:ahLst/>
              <a:cxnLst/>
              <a:rect l="l" t="t" r="r" b="b"/>
              <a:pathLst>
                <a:path w="4344035" h="2378075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40"/>
                  </a:lnTo>
                  <a:lnTo>
                    <a:pt x="0" y="2286368"/>
                  </a:lnTo>
                  <a:lnTo>
                    <a:pt x="798" y="2298368"/>
                  </a:lnTo>
                  <a:lnTo>
                    <a:pt x="18830" y="2342125"/>
                  </a:lnTo>
                  <a:lnTo>
                    <a:pt x="56505" y="2370816"/>
                  </a:lnTo>
                  <a:lnTo>
                    <a:pt x="91439" y="2377808"/>
                  </a:lnTo>
                  <a:lnTo>
                    <a:pt x="4252315" y="2377808"/>
                  </a:lnTo>
                  <a:lnTo>
                    <a:pt x="4298035" y="2365565"/>
                  </a:lnTo>
                  <a:lnTo>
                    <a:pt x="4331512" y="2332088"/>
                  </a:lnTo>
                  <a:lnTo>
                    <a:pt x="4343755" y="2286368"/>
                  </a:lnTo>
                  <a:lnTo>
                    <a:pt x="4343731" y="91440"/>
                  </a:lnTo>
                  <a:lnTo>
                    <a:pt x="4331512" y="46088"/>
                  </a:lnTo>
                  <a:lnTo>
                    <a:pt x="4298035" y="12598"/>
                  </a:lnTo>
                  <a:lnTo>
                    <a:pt x="425231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330998"/>
              <a:ext cx="4344035" cy="2378075"/>
            </a:xfrm>
            <a:custGeom>
              <a:avLst/>
              <a:gdLst/>
              <a:ahLst/>
              <a:cxnLst/>
              <a:rect l="l" t="t" r="r" b="b"/>
              <a:pathLst>
                <a:path w="4344035" h="2378075">
                  <a:moveTo>
                    <a:pt x="355" y="91440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68"/>
                  </a:lnTo>
                  <a:lnTo>
                    <a:pt x="4298035" y="12598"/>
                  </a:lnTo>
                  <a:lnTo>
                    <a:pt x="4331512" y="46088"/>
                  </a:lnTo>
                  <a:lnTo>
                    <a:pt x="4343755" y="91808"/>
                  </a:lnTo>
                  <a:lnTo>
                    <a:pt x="4343755" y="2286368"/>
                  </a:lnTo>
                  <a:lnTo>
                    <a:pt x="4342957" y="2298368"/>
                  </a:lnTo>
                  <a:lnTo>
                    <a:pt x="4340606" y="2310033"/>
                  </a:lnTo>
                  <a:lnTo>
                    <a:pt x="4317074" y="2351117"/>
                  </a:lnTo>
                  <a:lnTo>
                    <a:pt x="4275985" y="2374653"/>
                  </a:lnTo>
                  <a:lnTo>
                    <a:pt x="4252315" y="2377808"/>
                  </a:lnTo>
                  <a:lnTo>
                    <a:pt x="91439" y="2377808"/>
                  </a:lnTo>
                  <a:lnTo>
                    <a:pt x="45719" y="2365565"/>
                  </a:lnTo>
                  <a:lnTo>
                    <a:pt x="12230" y="2332088"/>
                  </a:lnTo>
                  <a:lnTo>
                    <a:pt x="0" y="2286368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320035"/>
            <a:ext cx="2755900" cy="70993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3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Config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/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2499"/>
              </a:lnSpc>
              <a:spcBef>
                <a:spcPts val="50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k6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performance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test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P&amp;L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report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endpoint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import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http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'k6/http';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import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check,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sleep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from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'k6';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30599" y="3379218"/>
            <a:ext cx="770890" cy="4006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ramp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up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sustain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ramp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down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5140" y="3129383"/>
            <a:ext cx="2197735" cy="8997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890" marR="688340" indent="-123825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export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const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options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stages: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[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duration: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'1m',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target: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20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},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duration: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'3m',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target: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50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},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duration: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'1m',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target: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},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],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thresholds: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140" y="4003829"/>
            <a:ext cx="3314065" cy="775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985" marR="5080">
              <a:lnSpc>
                <a:spcPct val="102499"/>
              </a:lnSpc>
              <a:spcBef>
                <a:spcPts val="95"/>
              </a:spcBef>
              <a:tabLst>
                <a:tab pos="143954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http_req_duration: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['p(95)&lt;3000'],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3s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SLA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http_req_failed: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	['rate&lt;0.01'],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99%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success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0"/>
              </a:spcBef>
            </a:pP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},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};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export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default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function()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3539" y="5003179"/>
            <a:ext cx="281813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'?projectId=1&amp;from=2024-01-01&amp;to=2024-12-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31',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768926" y="1037871"/>
            <a:ext cx="4168775" cy="3783965"/>
            <a:chOff x="4768926" y="1037871"/>
            <a:chExt cx="4168775" cy="378396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7871"/>
              <a:ext cx="4168444" cy="378396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932"/>
                  </a:lnTo>
                  <a:lnTo>
                    <a:pt x="355" y="109804"/>
                  </a:lnTo>
                  <a:lnTo>
                    <a:pt x="0" y="3484079"/>
                  </a:lnTo>
                  <a:lnTo>
                    <a:pt x="929" y="3498349"/>
                  </a:lnTo>
                  <a:lnTo>
                    <a:pt x="939" y="3498510"/>
                  </a:lnTo>
                  <a:lnTo>
                    <a:pt x="3699" y="3512385"/>
                  </a:lnTo>
                  <a:lnTo>
                    <a:pt x="3735" y="3512567"/>
                  </a:lnTo>
                  <a:lnTo>
                    <a:pt x="8284" y="3525949"/>
                  </a:lnTo>
                  <a:lnTo>
                    <a:pt x="32213" y="3561703"/>
                  </a:lnTo>
                  <a:lnTo>
                    <a:pt x="67932" y="3585525"/>
                  </a:lnTo>
                  <a:lnTo>
                    <a:pt x="109791" y="3593884"/>
                  </a:lnTo>
                  <a:lnTo>
                    <a:pt x="3868191" y="3593884"/>
                  </a:lnTo>
                  <a:lnTo>
                    <a:pt x="3910262" y="3585525"/>
                  </a:lnTo>
                  <a:lnTo>
                    <a:pt x="3945766" y="3561703"/>
                  </a:lnTo>
                  <a:lnTo>
                    <a:pt x="3969542" y="3526151"/>
                  </a:lnTo>
                  <a:lnTo>
                    <a:pt x="3974198" y="3512567"/>
                  </a:lnTo>
                  <a:lnTo>
                    <a:pt x="3974260" y="3512385"/>
                  </a:lnTo>
                  <a:lnTo>
                    <a:pt x="3977023" y="3498510"/>
                  </a:lnTo>
                  <a:lnTo>
                    <a:pt x="3977055" y="3498349"/>
                  </a:lnTo>
                  <a:lnTo>
                    <a:pt x="3977995" y="3484079"/>
                  </a:lnTo>
                  <a:lnTo>
                    <a:pt x="3977972" y="109804"/>
                  </a:lnTo>
                  <a:lnTo>
                    <a:pt x="3969642" y="68088"/>
                  </a:lnTo>
                  <a:lnTo>
                    <a:pt x="3945772" y="32535"/>
                  </a:lnTo>
                  <a:lnTo>
                    <a:pt x="3910062" y="8713"/>
                  </a:lnTo>
                  <a:lnTo>
                    <a:pt x="3868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355" y="109804"/>
                  </a:moveTo>
                  <a:lnTo>
                    <a:pt x="1295" y="95529"/>
                  </a:lnTo>
                  <a:lnTo>
                    <a:pt x="4090" y="81494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55"/>
                  </a:lnTo>
                  <a:lnTo>
                    <a:pt x="3910062" y="8713"/>
                  </a:lnTo>
                  <a:lnTo>
                    <a:pt x="3945772" y="32535"/>
                  </a:lnTo>
                  <a:lnTo>
                    <a:pt x="3969642" y="68088"/>
                  </a:lnTo>
                  <a:lnTo>
                    <a:pt x="3977995" y="110159"/>
                  </a:lnTo>
                  <a:lnTo>
                    <a:pt x="3977995" y="3484079"/>
                  </a:lnTo>
                  <a:lnTo>
                    <a:pt x="3977055" y="3498349"/>
                  </a:lnTo>
                  <a:lnTo>
                    <a:pt x="3974260" y="3512385"/>
                  </a:lnTo>
                  <a:lnTo>
                    <a:pt x="3955218" y="3550872"/>
                  </a:lnTo>
                  <a:lnTo>
                    <a:pt x="3923271" y="3579114"/>
                  </a:lnTo>
                  <a:lnTo>
                    <a:pt x="3882621" y="3592944"/>
                  </a:lnTo>
                  <a:lnTo>
                    <a:pt x="3868191" y="3593884"/>
                  </a:lnTo>
                  <a:lnTo>
                    <a:pt x="109791" y="3593884"/>
                  </a:lnTo>
                  <a:lnTo>
                    <a:pt x="67932" y="3585525"/>
                  </a:lnTo>
                  <a:lnTo>
                    <a:pt x="32213" y="3561703"/>
                  </a:lnTo>
                  <a:lnTo>
                    <a:pt x="8352" y="3526151"/>
                  </a:lnTo>
                  <a:lnTo>
                    <a:pt x="0" y="348407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1C4D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970424" y="1167538"/>
            <a:ext cx="130238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2462EA"/>
                </a:solidFill>
                <a:latin typeface="MingLiU_HKSCS-ExtB"/>
                <a:cs typeface="MingLiU_HKSCS-ExtB"/>
              </a:rPr>
              <a:t>🚀</a:t>
            </a:r>
            <a:r>
              <a:rPr sz="1300" spc="-275" dirty="0">
                <a:solidFill>
                  <a:srgbClr val="2462EA"/>
                </a:solidFill>
                <a:latin typeface="MingLiU_HKSCS-ExtB"/>
                <a:cs typeface="MingLiU_HKSCS-ExtB"/>
              </a:rPr>
              <a:t> </a:t>
            </a:r>
            <a:r>
              <a:rPr sz="1100" b="1" spc="-10" dirty="0">
                <a:solidFill>
                  <a:srgbClr val="2462EA"/>
                </a:solidFill>
                <a:latin typeface="Calibri"/>
                <a:cs typeface="Calibri"/>
              </a:rPr>
              <a:t>Deployment</a:t>
            </a:r>
            <a:r>
              <a:rPr sz="1100" b="1" spc="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2462EA"/>
                </a:solidFill>
                <a:latin typeface="Calibri"/>
                <a:cs typeface="Calibri"/>
              </a:rPr>
              <a:t>Facts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976774" y="1502412"/>
            <a:ext cx="3670300" cy="452120"/>
            <a:chOff x="4976774" y="1502412"/>
            <a:chExt cx="3670300" cy="452120"/>
          </a:xfrm>
        </p:grpSpPr>
        <p:sp>
          <p:nvSpPr>
            <p:cNvPr id="27" name="object 27"/>
            <p:cNvSpPr/>
            <p:nvPr/>
          </p:nvSpPr>
          <p:spPr>
            <a:xfrm>
              <a:off x="4983124" y="1508762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594" y="375036"/>
                  </a:lnTo>
                  <a:lnTo>
                    <a:pt x="607" y="375238"/>
                  </a:lnTo>
                  <a:lnTo>
                    <a:pt x="2393" y="384433"/>
                  </a:lnTo>
                  <a:lnTo>
                    <a:pt x="2428" y="384616"/>
                  </a:lnTo>
                  <a:lnTo>
                    <a:pt x="5410" y="393495"/>
                  </a:lnTo>
                  <a:lnTo>
                    <a:pt x="36360" y="429120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81"/>
                  </a:lnTo>
                  <a:lnTo>
                    <a:pt x="3655108" y="384616"/>
                  </a:lnTo>
                  <a:lnTo>
                    <a:pt x="3655169" y="384433"/>
                  </a:lnTo>
                  <a:lnTo>
                    <a:pt x="3656953" y="375238"/>
                  </a:lnTo>
                  <a:lnTo>
                    <a:pt x="3656992" y="375036"/>
                  </a:lnTo>
                  <a:lnTo>
                    <a:pt x="3657577" y="365760"/>
                  </a:lnTo>
                  <a:lnTo>
                    <a:pt x="3657599" y="365404"/>
                  </a:lnTo>
                  <a:lnTo>
                    <a:pt x="3657231" y="73075"/>
                  </a:lnTo>
                  <a:lnTo>
                    <a:pt x="3642140" y="28705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83124" y="1508762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4"/>
                  </a:lnTo>
                  <a:lnTo>
                    <a:pt x="3654802" y="54224"/>
                  </a:lnTo>
                  <a:lnTo>
                    <a:pt x="3657231" y="73075"/>
                  </a:lnTo>
                  <a:lnTo>
                    <a:pt x="3657599" y="365404"/>
                  </a:lnTo>
                  <a:lnTo>
                    <a:pt x="3656992" y="375036"/>
                  </a:lnTo>
                  <a:lnTo>
                    <a:pt x="3655169" y="384433"/>
                  </a:lnTo>
                  <a:lnTo>
                    <a:pt x="3628889" y="423381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089220" y="1496796"/>
            <a:ext cx="1460500" cy="40957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dirty="0">
                <a:solidFill>
                  <a:srgbClr val="2462EA"/>
                </a:solidFill>
                <a:latin typeface="Calibri"/>
                <a:cs typeface="Calibri"/>
              </a:rPr>
              <a:t>Pipeline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speed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&lt;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8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min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total (test+build+deploy)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976774" y="2014336"/>
            <a:ext cx="3670300" cy="452120"/>
            <a:chOff x="4976774" y="2014336"/>
            <a:chExt cx="3670300" cy="452120"/>
          </a:xfrm>
        </p:grpSpPr>
        <p:sp>
          <p:nvSpPr>
            <p:cNvPr id="31" name="object 31"/>
            <p:cNvSpPr/>
            <p:nvPr/>
          </p:nvSpPr>
          <p:spPr>
            <a:xfrm>
              <a:off x="4983124" y="202068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15091" y="410130"/>
                  </a:lnTo>
                  <a:lnTo>
                    <a:pt x="54041" y="436406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76"/>
                  </a:lnTo>
                  <a:lnTo>
                    <a:pt x="3652052" y="393650"/>
                  </a:lnTo>
                  <a:lnTo>
                    <a:pt x="3652129" y="393495"/>
                  </a:lnTo>
                  <a:lnTo>
                    <a:pt x="3657576" y="365760"/>
                  </a:lnTo>
                  <a:lnTo>
                    <a:pt x="3657599" y="365391"/>
                  </a:lnTo>
                  <a:lnTo>
                    <a:pt x="3657231" y="73075"/>
                  </a:lnTo>
                  <a:lnTo>
                    <a:pt x="3642140" y="28698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83124" y="202068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096"/>
                  </a:lnTo>
                  <a:lnTo>
                    <a:pt x="3654802" y="54219"/>
                  </a:lnTo>
                  <a:lnTo>
                    <a:pt x="3657231" y="73075"/>
                  </a:lnTo>
                  <a:lnTo>
                    <a:pt x="3657599" y="365391"/>
                  </a:lnTo>
                  <a:lnTo>
                    <a:pt x="3656992" y="375031"/>
                  </a:lnTo>
                  <a:lnTo>
                    <a:pt x="3655169" y="384432"/>
                  </a:lnTo>
                  <a:lnTo>
                    <a:pt x="3628889" y="423376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089220" y="2008339"/>
            <a:ext cx="1125855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Deployment</a:t>
            </a:r>
            <a:r>
              <a:rPr sz="850" b="1" spc="4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type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Rolling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zero downtime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976774" y="2526616"/>
            <a:ext cx="3670300" cy="452120"/>
            <a:chOff x="4976774" y="2526616"/>
            <a:chExt cx="3670300" cy="452120"/>
          </a:xfrm>
        </p:grpSpPr>
        <p:sp>
          <p:nvSpPr>
            <p:cNvPr id="35" name="object 35"/>
            <p:cNvSpPr/>
            <p:nvPr/>
          </p:nvSpPr>
          <p:spPr>
            <a:xfrm>
              <a:off x="4983124" y="253296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15091" y="410130"/>
                  </a:lnTo>
                  <a:lnTo>
                    <a:pt x="54041" y="436406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76"/>
                  </a:lnTo>
                  <a:lnTo>
                    <a:pt x="3652052" y="393650"/>
                  </a:lnTo>
                  <a:lnTo>
                    <a:pt x="3652129" y="393495"/>
                  </a:lnTo>
                  <a:lnTo>
                    <a:pt x="3657576" y="365760"/>
                  </a:lnTo>
                  <a:lnTo>
                    <a:pt x="3657599" y="365391"/>
                  </a:lnTo>
                  <a:lnTo>
                    <a:pt x="3657231" y="73075"/>
                  </a:lnTo>
                  <a:lnTo>
                    <a:pt x="3642140" y="28698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83124" y="253296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096"/>
                  </a:lnTo>
                  <a:lnTo>
                    <a:pt x="3654802" y="54219"/>
                  </a:lnTo>
                  <a:lnTo>
                    <a:pt x="3657231" y="73075"/>
                  </a:lnTo>
                  <a:lnTo>
                    <a:pt x="3657599" y="365391"/>
                  </a:lnTo>
                  <a:lnTo>
                    <a:pt x="3656992" y="375031"/>
                  </a:lnTo>
                  <a:lnTo>
                    <a:pt x="3655169" y="384432"/>
                  </a:lnTo>
                  <a:lnTo>
                    <a:pt x="3628889" y="423376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089220" y="2520263"/>
            <a:ext cx="134874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Rollback</a:t>
            </a:r>
            <a:r>
              <a:rPr sz="850" b="1" spc="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time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&lt; 60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seconds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(previous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image)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976774" y="3038527"/>
            <a:ext cx="3670300" cy="452120"/>
            <a:chOff x="4976774" y="3038527"/>
            <a:chExt cx="3670300" cy="452120"/>
          </a:xfrm>
        </p:grpSpPr>
        <p:sp>
          <p:nvSpPr>
            <p:cNvPr id="39" name="object 39"/>
            <p:cNvSpPr/>
            <p:nvPr/>
          </p:nvSpPr>
          <p:spPr>
            <a:xfrm>
              <a:off x="4983124" y="304487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59"/>
                  </a:lnTo>
                  <a:lnTo>
                    <a:pt x="5412" y="393500"/>
                  </a:lnTo>
                  <a:lnTo>
                    <a:pt x="5464" y="393656"/>
                  </a:lnTo>
                  <a:lnTo>
                    <a:pt x="36360" y="429120"/>
                  </a:lnTo>
                  <a:lnTo>
                    <a:pt x="73075" y="438848"/>
                  </a:lnTo>
                  <a:lnTo>
                    <a:pt x="3584511" y="438480"/>
                  </a:lnTo>
                  <a:lnTo>
                    <a:pt x="3628889" y="423388"/>
                  </a:lnTo>
                  <a:lnTo>
                    <a:pt x="3655109" y="384616"/>
                  </a:lnTo>
                  <a:lnTo>
                    <a:pt x="3656953" y="375238"/>
                  </a:lnTo>
                  <a:lnTo>
                    <a:pt x="3656992" y="375038"/>
                  </a:lnTo>
                  <a:lnTo>
                    <a:pt x="3657577" y="365759"/>
                  </a:lnTo>
                  <a:lnTo>
                    <a:pt x="3657599" y="365404"/>
                  </a:lnTo>
                  <a:lnTo>
                    <a:pt x="3657231" y="73088"/>
                  </a:lnTo>
                  <a:lnTo>
                    <a:pt x="3642140" y="28710"/>
                  </a:lnTo>
                  <a:lnTo>
                    <a:pt x="3603190" y="2430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983124" y="304487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9"/>
                  </a:lnTo>
                  <a:lnTo>
                    <a:pt x="3654802" y="54232"/>
                  </a:lnTo>
                  <a:lnTo>
                    <a:pt x="3657231" y="73088"/>
                  </a:lnTo>
                  <a:lnTo>
                    <a:pt x="3657599" y="365404"/>
                  </a:lnTo>
                  <a:lnTo>
                    <a:pt x="3656992" y="375038"/>
                  </a:lnTo>
                  <a:lnTo>
                    <a:pt x="3655169" y="384438"/>
                  </a:lnTo>
                  <a:lnTo>
                    <a:pt x="3628889" y="423388"/>
                  </a:lnTo>
                  <a:lnTo>
                    <a:pt x="358451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5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089220" y="3032543"/>
            <a:ext cx="133477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25" dirty="0">
                <a:solidFill>
                  <a:srgbClr val="2462EA"/>
                </a:solidFill>
                <a:latin typeface="Calibri"/>
                <a:cs typeface="Calibri"/>
              </a:rPr>
              <a:t>Test</a:t>
            </a:r>
            <a:r>
              <a:rPr sz="850" b="1" spc="-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coverage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JUnit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5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Vitest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k6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load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tests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976774" y="3550807"/>
            <a:ext cx="3670300" cy="452120"/>
            <a:chOff x="4976774" y="3550807"/>
            <a:chExt cx="3670300" cy="452120"/>
          </a:xfrm>
        </p:grpSpPr>
        <p:sp>
          <p:nvSpPr>
            <p:cNvPr id="43" name="object 43"/>
            <p:cNvSpPr/>
            <p:nvPr/>
          </p:nvSpPr>
          <p:spPr>
            <a:xfrm>
              <a:off x="4983124" y="355715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59"/>
                  </a:lnTo>
                  <a:lnTo>
                    <a:pt x="5412" y="393500"/>
                  </a:lnTo>
                  <a:lnTo>
                    <a:pt x="5464" y="393656"/>
                  </a:lnTo>
                  <a:lnTo>
                    <a:pt x="36360" y="429120"/>
                  </a:lnTo>
                  <a:lnTo>
                    <a:pt x="73075" y="438848"/>
                  </a:lnTo>
                  <a:lnTo>
                    <a:pt x="3584511" y="438480"/>
                  </a:lnTo>
                  <a:lnTo>
                    <a:pt x="3628889" y="423388"/>
                  </a:lnTo>
                  <a:lnTo>
                    <a:pt x="3655109" y="384616"/>
                  </a:lnTo>
                  <a:lnTo>
                    <a:pt x="3656953" y="375238"/>
                  </a:lnTo>
                  <a:lnTo>
                    <a:pt x="3656992" y="375038"/>
                  </a:lnTo>
                  <a:lnTo>
                    <a:pt x="3657577" y="365759"/>
                  </a:lnTo>
                  <a:lnTo>
                    <a:pt x="3657599" y="365404"/>
                  </a:lnTo>
                  <a:lnTo>
                    <a:pt x="3657231" y="73088"/>
                  </a:lnTo>
                  <a:lnTo>
                    <a:pt x="3642140" y="28710"/>
                  </a:lnTo>
                  <a:lnTo>
                    <a:pt x="3603190" y="2430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83124" y="355715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9"/>
                  </a:lnTo>
                  <a:lnTo>
                    <a:pt x="3654802" y="54232"/>
                  </a:lnTo>
                  <a:lnTo>
                    <a:pt x="3657231" y="73088"/>
                  </a:lnTo>
                  <a:lnTo>
                    <a:pt x="3657599" y="365404"/>
                  </a:lnTo>
                  <a:lnTo>
                    <a:pt x="3656992" y="375038"/>
                  </a:lnTo>
                  <a:lnTo>
                    <a:pt x="3655169" y="384438"/>
                  </a:lnTo>
                  <a:lnTo>
                    <a:pt x="3628889" y="423388"/>
                  </a:lnTo>
                  <a:lnTo>
                    <a:pt x="358451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5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089220" y="3544467"/>
            <a:ext cx="151384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dirty="0">
                <a:solidFill>
                  <a:srgbClr val="2462EA"/>
                </a:solidFill>
                <a:latin typeface="Calibri"/>
                <a:cs typeface="Calibri"/>
              </a:rPr>
              <a:t>Secret</a:t>
            </a:r>
            <a:r>
              <a:rPr sz="85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management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GitHub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Environments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Robi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Vault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47" name="object 47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18744" y="4730580"/>
            <a:ext cx="5681980" cy="2984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ts val="1240"/>
              </a:lnSpc>
              <a:spcBef>
                <a:spcPts val="114"/>
              </a:spcBef>
            </a:pPr>
            <a:r>
              <a:rPr sz="1100" spc="-180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co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I/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ip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f</a:t>
            </a:r>
            <a:r>
              <a:rPr sz="1200" spc="-292" baseline="6944" dirty="0">
                <a:solidFill>
                  <a:srgbClr val="E1E7EF"/>
                </a:solidFill>
                <a:latin typeface="Courier New"/>
                <a:cs typeface="Courier New"/>
              </a:rPr>
              <a:t>=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ail</a:t>
            </a:r>
            <a:r>
              <a:rPr sz="1200" spc="-292" baseline="6944" dirty="0">
                <a:solidFill>
                  <a:srgbClr val="E1E7EF"/>
                </a:solidFill>
                <a:latin typeface="Courier New"/>
                <a:cs typeface="Courier New"/>
              </a:rPr>
              <a:t>h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1200" spc="-292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g</a:t>
            </a:r>
            <a:r>
              <a:rPr sz="1200" spc="-292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292" baseline="6944" dirty="0">
                <a:solidFill>
                  <a:srgbClr val="E1E7EF"/>
                </a:solidFill>
                <a:latin typeface="Courier New"/>
                <a:cs typeface="Courier New"/>
              </a:rPr>
              <a:t>p.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292" baseline="6944" dirty="0">
                <a:solidFill>
                  <a:srgbClr val="E1E7EF"/>
                </a:solidFill>
                <a:latin typeface="Courier New"/>
                <a:cs typeface="Courier New"/>
              </a:rPr>
              <a:t>g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292" baseline="6944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292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9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292" baseline="6944" dirty="0">
                <a:solidFill>
                  <a:srgbClr val="E1E7EF"/>
                </a:solidFill>
                <a:latin typeface="Courier New"/>
                <a:cs typeface="Courier New"/>
              </a:rPr>
              <a:t>(</a:t>
            </a:r>
            <a:r>
              <a:rPr sz="1200" spc="-569" baseline="694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test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failure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is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most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important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safety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net.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Never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merge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without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 green CI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pipeline.</a:t>
            </a:r>
            <a:endParaRPr sz="950">
              <a:latin typeface="Calibri"/>
              <a:cs typeface="Calibri"/>
            </a:endParaRPr>
          </a:p>
          <a:p>
            <a:pPr marL="277495">
              <a:lnSpc>
                <a:spcPts val="880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'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  <a:hlinkClick r:id="rId5"/>
              </a:rPr>
              <a:t>https://api.wamy.org/api/v1/reports/profit-loss'</a:t>
            </a:r>
            <a:r>
              <a:rPr sz="800" spc="3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72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C4D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Go-</a:t>
            </a:r>
            <a:r>
              <a:rPr dirty="0"/>
              <a:t>Live</a:t>
            </a:r>
            <a:r>
              <a:rPr spc="-70" dirty="0"/>
              <a:t> </a:t>
            </a:r>
            <a:r>
              <a:rPr spc="-10" dirty="0"/>
              <a:t>Checklist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9095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Final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pre-</a:t>
            </a:r>
            <a:r>
              <a:rPr sz="1000" i="1" spc="-35" dirty="0">
                <a:solidFill>
                  <a:srgbClr val="9FBFFF"/>
                </a:solidFill>
                <a:latin typeface="Arial"/>
                <a:cs typeface="Arial"/>
              </a:rPr>
              <a:t>production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Arial"/>
                <a:cs typeface="Arial"/>
              </a:rPr>
              <a:t>checklist</a:t>
            </a:r>
            <a:r>
              <a:rPr sz="1000" i="1" spc="-1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for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5" dirty="0">
                <a:solidFill>
                  <a:srgbClr val="9FBFFF"/>
                </a:solidFill>
                <a:latin typeface="Arial"/>
                <a:cs typeface="Arial"/>
              </a:rPr>
              <a:t>Robi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5" dirty="0">
                <a:solidFill>
                  <a:srgbClr val="9FBFFF"/>
                </a:solidFill>
                <a:latin typeface="Arial"/>
                <a:cs typeface="Arial"/>
              </a:rPr>
              <a:t>Cloud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deployment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3001" y="1038582"/>
            <a:ext cx="4533900" cy="1333500"/>
            <a:chOff x="243001" y="1038582"/>
            <a:chExt cx="4533900" cy="13335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001" y="1038582"/>
              <a:ext cx="4533836" cy="1333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0040" y="1115646"/>
              <a:ext cx="4343400" cy="1143000"/>
            </a:xfrm>
            <a:custGeom>
              <a:avLst/>
              <a:gdLst/>
              <a:ahLst/>
              <a:cxnLst/>
              <a:rect l="l" t="t" r="r" b="b"/>
              <a:pathLst>
                <a:path w="4343400" h="1143000">
                  <a:moveTo>
                    <a:pt x="4251960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42" y="1097280"/>
                  </a:lnTo>
                  <a:lnTo>
                    <a:pt x="45720" y="1130757"/>
                  </a:lnTo>
                  <a:lnTo>
                    <a:pt x="91439" y="1143000"/>
                  </a:lnTo>
                  <a:lnTo>
                    <a:pt x="4251960" y="1143000"/>
                  </a:lnTo>
                  <a:lnTo>
                    <a:pt x="4297680" y="1130757"/>
                  </a:lnTo>
                  <a:lnTo>
                    <a:pt x="4331157" y="1097280"/>
                  </a:lnTo>
                  <a:lnTo>
                    <a:pt x="4343400" y="1051560"/>
                  </a:lnTo>
                  <a:lnTo>
                    <a:pt x="4343400" y="91439"/>
                  </a:lnTo>
                  <a:lnTo>
                    <a:pt x="4331157" y="45720"/>
                  </a:lnTo>
                  <a:lnTo>
                    <a:pt x="4297680" y="12230"/>
                  </a:lnTo>
                  <a:lnTo>
                    <a:pt x="4251960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1115646"/>
              <a:ext cx="4343400" cy="1143000"/>
            </a:xfrm>
            <a:custGeom>
              <a:avLst/>
              <a:gdLst/>
              <a:ahLst/>
              <a:cxnLst/>
              <a:rect l="l" t="t" r="r" b="b"/>
              <a:pathLst>
                <a:path w="4343400" h="1143000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960" y="0"/>
                  </a:lnTo>
                  <a:lnTo>
                    <a:pt x="4297680" y="12230"/>
                  </a:lnTo>
                  <a:lnTo>
                    <a:pt x="4331157" y="45720"/>
                  </a:lnTo>
                  <a:lnTo>
                    <a:pt x="4343400" y="91439"/>
                  </a:lnTo>
                  <a:lnTo>
                    <a:pt x="4343400" y="1051560"/>
                  </a:lnTo>
                  <a:lnTo>
                    <a:pt x="4342601" y="1063559"/>
                  </a:lnTo>
                  <a:lnTo>
                    <a:pt x="4340250" y="1075224"/>
                  </a:lnTo>
                  <a:lnTo>
                    <a:pt x="4316718" y="1116309"/>
                  </a:lnTo>
                  <a:lnTo>
                    <a:pt x="4275629" y="1139850"/>
                  </a:lnTo>
                  <a:lnTo>
                    <a:pt x="4251960" y="1143000"/>
                  </a:lnTo>
                  <a:lnTo>
                    <a:pt x="91439" y="1143000"/>
                  </a:lnTo>
                  <a:lnTo>
                    <a:pt x="45720" y="1130757"/>
                  </a:lnTo>
                  <a:lnTo>
                    <a:pt x="12242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4064635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CI/CD</a:t>
            </a:r>
            <a:r>
              <a:rPr sz="850" b="1" spc="-2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comprehensive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go-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live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checklist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for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5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module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deployment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on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Robi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Cloud.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Cover: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infrastructure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readiness,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security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sign-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off,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performance</a:t>
            </a:r>
            <a:r>
              <a:rPr sz="850" i="1" spc="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validation,</a:t>
            </a:r>
            <a:r>
              <a:rPr sz="850" i="1" spc="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backup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configuration,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monitoring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setup,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rollback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procedure,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user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acceptance,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post-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launch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monitoring</a:t>
            </a:r>
            <a:r>
              <a:rPr sz="850" i="1" spc="4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plan."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253947"/>
            <a:ext cx="4534535" cy="2567940"/>
            <a:chOff x="242646" y="2253947"/>
            <a:chExt cx="4534535" cy="256794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253947"/>
              <a:ext cx="4534204" cy="256788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330998"/>
              <a:ext cx="4344035" cy="2378075"/>
            </a:xfrm>
            <a:custGeom>
              <a:avLst/>
              <a:gdLst/>
              <a:ahLst/>
              <a:cxnLst/>
              <a:rect l="l" t="t" r="r" b="b"/>
              <a:pathLst>
                <a:path w="4344035" h="2378075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40"/>
                  </a:lnTo>
                  <a:lnTo>
                    <a:pt x="0" y="2286368"/>
                  </a:lnTo>
                  <a:lnTo>
                    <a:pt x="798" y="2298368"/>
                  </a:lnTo>
                  <a:lnTo>
                    <a:pt x="18830" y="2342125"/>
                  </a:lnTo>
                  <a:lnTo>
                    <a:pt x="56505" y="2370816"/>
                  </a:lnTo>
                  <a:lnTo>
                    <a:pt x="91439" y="2377808"/>
                  </a:lnTo>
                  <a:lnTo>
                    <a:pt x="4252315" y="2377808"/>
                  </a:lnTo>
                  <a:lnTo>
                    <a:pt x="4298035" y="2365565"/>
                  </a:lnTo>
                  <a:lnTo>
                    <a:pt x="4331512" y="2332088"/>
                  </a:lnTo>
                  <a:lnTo>
                    <a:pt x="4343755" y="2286368"/>
                  </a:lnTo>
                  <a:lnTo>
                    <a:pt x="4343731" y="91440"/>
                  </a:lnTo>
                  <a:lnTo>
                    <a:pt x="4331512" y="46088"/>
                  </a:lnTo>
                  <a:lnTo>
                    <a:pt x="4298035" y="12598"/>
                  </a:lnTo>
                  <a:lnTo>
                    <a:pt x="425231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330998"/>
              <a:ext cx="4344035" cy="2378075"/>
            </a:xfrm>
            <a:custGeom>
              <a:avLst/>
              <a:gdLst/>
              <a:ahLst/>
              <a:cxnLst/>
              <a:rect l="l" t="t" r="r" b="b"/>
              <a:pathLst>
                <a:path w="4344035" h="2378075">
                  <a:moveTo>
                    <a:pt x="355" y="91440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68"/>
                  </a:lnTo>
                  <a:lnTo>
                    <a:pt x="4298035" y="12598"/>
                  </a:lnTo>
                  <a:lnTo>
                    <a:pt x="4331512" y="46088"/>
                  </a:lnTo>
                  <a:lnTo>
                    <a:pt x="4343755" y="91808"/>
                  </a:lnTo>
                  <a:lnTo>
                    <a:pt x="4343755" y="2286368"/>
                  </a:lnTo>
                  <a:lnTo>
                    <a:pt x="4342957" y="2298368"/>
                  </a:lnTo>
                  <a:lnTo>
                    <a:pt x="4340606" y="2310033"/>
                  </a:lnTo>
                  <a:lnTo>
                    <a:pt x="4317074" y="2351117"/>
                  </a:lnTo>
                  <a:lnTo>
                    <a:pt x="4275985" y="2374653"/>
                  </a:lnTo>
                  <a:lnTo>
                    <a:pt x="4252315" y="2377808"/>
                  </a:lnTo>
                  <a:lnTo>
                    <a:pt x="91439" y="2377808"/>
                  </a:lnTo>
                  <a:lnTo>
                    <a:pt x="45719" y="2365565"/>
                  </a:lnTo>
                  <a:lnTo>
                    <a:pt x="12230" y="2332088"/>
                  </a:lnTo>
                  <a:lnTo>
                    <a:pt x="0" y="2286368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320035"/>
            <a:ext cx="2135505" cy="58483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3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Config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/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2499"/>
              </a:lnSpc>
              <a:spcBef>
                <a:spcPts val="50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WAMY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Finance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—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Go-Live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Checklist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Generated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by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Claude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Code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140" y="2986076"/>
            <a:ext cx="3066415" cy="7937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ts val="1135"/>
              </a:lnSpc>
              <a:spcBef>
                <a:spcPts val="11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##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Infrastructure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950" spc="120" dirty="0">
                <a:solidFill>
                  <a:srgbClr val="E1E7EF"/>
                </a:solidFill>
                <a:latin typeface="MingLiU_HKSCS-ExtB"/>
                <a:cs typeface="MingLiU_HKSCS-ExtB"/>
              </a:rPr>
              <a:t>✅</a:t>
            </a:r>
            <a:endParaRPr sz="950">
              <a:latin typeface="MingLiU_HKSCS-ExtB"/>
              <a:cs typeface="MingLiU_HKSCS-ExtB"/>
            </a:endParaRPr>
          </a:p>
          <a:p>
            <a:pPr marL="135255" indent="-122555">
              <a:lnSpc>
                <a:spcPts val="955"/>
              </a:lnSpc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Robi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Cloud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server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sized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for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50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concurrent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users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0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MySQL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8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replica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configured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5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Redis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cluster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running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5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SSL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certificate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installed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and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auto-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renewing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0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Domain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DNS: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api.wamy.org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→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Robi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Cloud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IP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5140" y="3860509"/>
            <a:ext cx="2693670" cy="6686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ts val="1135"/>
              </a:lnSpc>
              <a:spcBef>
                <a:spcPts val="11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##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Security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Sign-off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950" spc="120" dirty="0">
                <a:solidFill>
                  <a:srgbClr val="E1E7EF"/>
                </a:solidFill>
                <a:latin typeface="MingLiU_HKSCS-ExtB"/>
                <a:cs typeface="MingLiU_HKSCS-ExtB"/>
              </a:rPr>
              <a:t>✅</a:t>
            </a:r>
            <a:endParaRPr sz="950">
              <a:latin typeface="MingLiU_HKSCS-ExtB"/>
              <a:cs typeface="MingLiU_HKSCS-ExtB"/>
            </a:endParaRPr>
          </a:p>
          <a:p>
            <a:pPr marL="135255" indent="-122555">
              <a:lnSpc>
                <a:spcPts val="955"/>
              </a:lnSpc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OWASP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scan: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Critical,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High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findings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0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Penetration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test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completed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and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signed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off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5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All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JWT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secrets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rotated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(not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defaults)</a:t>
            </a:r>
            <a:endParaRPr sz="800">
              <a:latin typeface="Courier New"/>
              <a:cs typeface="Courier New"/>
            </a:endParaRPr>
          </a:p>
          <a:p>
            <a:pPr marL="135255" indent="-122555">
              <a:lnSpc>
                <a:spcPct val="100000"/>
              </a:lnSpc>
              <a:spcBef>
                <a:spcPts val="25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Backup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encryption</a:t>
            </a:r>
            <a:r>
              <a:rPr sz="800" spc="7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enabled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140" y="4610038"/>
            <a:ext cx="1722755" cy="1727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##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Performance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Validated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950" spc="120" dirty="0">
                <a:solidFill>
                  <a:srgbClr val="E1E7EF"/>
                </a:solidFill>
                <a:latin typeface="MingLiU_HKSCS-ExtB"/>
                <a:cs typeface="MingLiU_HKSCS-ExtB"/>
              </a:rPr>
              <a:t>✅</a:t>
            </a:r>
            <a:endParaRPr sz="950">
              <a:latin typeface="MingLiU_HKSCS-ExtB"/>
              <a:cs typeface="MingLiU_HKSCS-ExtB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5140" y="5003179"/>
            <a:ext cx="300355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35255" indent="-122555">
              <a:lnSpc>
                <a:spcPct val="100000"/>
              </a:lnSpc>
              <a:spcBef>
                <a:spcPts val="120"/>
              </a:spcBef>
              <a:buChar char="□"/>
              <a:tabLst>
                <a:tab pos="1352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MySQL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connection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pool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not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exhausted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under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load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768926" y="1037871"/>
            <a:ext cx="4168775" cy="3783965"/>
            <a:chOff x="4768926" y="1037871"/>
            <a:chExt cx="4168775" cy="378396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7871"/>
              <a:ext cx="4168444" cy="378396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932"/>
                  </a:lnTo>
                  <a:lnTo>
                    <a:pt x="355" y="109804"/>
                  </a:lnTo>
                  <a:lnTo>
                    <a:pt x="0" y="3484079"/>
                  </a:lnTo>
                  <a:lnTo>
                    <a:pt x="929" y="3498349"/>
                  </a:lnTo>
                  <a:lnTo>
                    <a:pt x="939" y="3498510"/>
                  </a:lnTo>
                  <a:lnTo>
                    <a:pt x="3699" y="3512385"/>
                  </a:lnTo>
                  <a:lnTo>
                    <a:pt x="3735" y="3512567"/>
                  </a:lnTo>
                  <a:lnTo>
                    <a:pt x="8284" y="3525949"/>
                  </a:lnTo>
                  <a:lnTo>
                    <a:pt x="32213" y="3561703"/>
                  </a:lnTo>
                  <a:lnTo>
                    <a:pt x="67932" y="3585525"/>
                  </a:lnTo>
                  <a:lnTo>
                    <a:pt x="109791" y="3593884"/>
                  </a:lnTo>
                  <a:lnTo>
                    <a:pt x="3868191" y="3593884"/>
                  </a:lnTo>
                  <a:lnTo>
                    <a:pt x="3910262" y="3585525"/>
                  </a:lnTo>
                  <a:lnTo>
                    <a:pt x="3945766" y="3561703"/>
                  </a:lnTo>
                  <a:lnTo>
                    <a:pt x="3969542" y="3526151"/>
                  </a:lnTo>
                  <a:lnTo>
                    <a:pt x="3974198" y="3512567"/>
                  </a:lnTo>
                  <a:lnTo>
                    <a:pt x="3974260" y="3512385"/>
                  </a:lnTo>
                  <a:lnTo>
                    <a:pt x="3977023" y="3498510"/>
                  </a:lnTo>
                  <a:lnTo>
                    <a:pt x="3977055" y="3498349"/>
                  </a:lnTo>
                  <a:lnTo>
                    <a:pt x="3977995" y="3484079"/>
                  </a:lnTo>
                  <a:lnTo>
                    <a:pt x="3977972" y="109804"/>
                  </a:lnTo>
                  <a:lnTo>
                    <a:pt x="3969642" y="68088"/>
                  </a:lnTo>
                  <a:lnTo>
                    <a:pt x="3945772" y="32535"/>
                  </a:lnTo>
                  <a:lnTo>
                    <a:pt x="3910062" y="8713"/>
                  </a:lnTo>
                  <a:lnTo>
                    <a:pt x="3868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355" y="109804"/>
                  </a:moveTo>
                  <a:lnTo>
                    <a:pt x="1295" y="95529"/>
                  </a:lnTo>
                  <a:lnTo>
                    <a:pt x="4090" y="81494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55"/>
                  </a:lnTo>
                  <a:lnTo>
                    <a:pt x="3910062" y="8713"/>
                  </a:lnTo>
                  <a:lnTo>
                    <a:pt x="3945772" y="32535"/>
                  </a:lnTo>
                  <a:lnTo>
                    <a:pt x="3969642" y="68088"/>
                  </a:lnTo>
                  <a:lnTo>
                    <a:pt x="3977995" y="110159"/>
                  </a:lnTo>
                  <a:lnTo>
                    <a:pt x="3977995" y="3484079"/>
                  </a:lnTo>
                  <a:lnTo>
                    <a:pt x="3977055" y="3498349"/>
                  </a:lnTo>
                  <a:lnTo>
                    <a:pt x="3974260" y="3512385"/>
                  </a:lnTo>
                  <a:lnTo>
                    <a:pt x="3955218" y="3550872"/>
                  </a:lnTo>
                  <a:lnTo>
                    <a:pt x="3923271" y="3579114"/>
                  </a:lnTo>
                  <a:lnTo>
                    <a:pt x="3882621" y="3592944"/>
                  </a:lnTo>
                  <a:lnTo>
                    <a:pt x="3868191" y="3593884"/>
                  </a:lnTo>
                  <a:lnTo>
                    <a:pt x="109791" y="3593884"/>
                  </a:lnTo>
                  <a:lnTo>
                    <a:pt x="67932" y="3585525"/>
                  </a:lnTo>
                  <a:lnTo>
                    <a:pt x="32213" y="3561703"/>
                  </a:lnTo>
                  <a:lnTo>
                    <a:pt x="8352" y="3526151"/>
                  </a:lnTo>
                  <a:lnTo>
                    <a:pt x="0" y="348407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1C4D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970424" y="1167538"/>
            <a:ext cx="130238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2462EA"/>
                </a:solidFill>
                <a:latin typeface="MingLiU_HKSCS-ExtB"/>
                <a:cs typeface="MingLiU_HKSCS-ExtB"/>
              </a:rPr>
              <a:t>🚀</a:t>
            </a:r>
            <a:r>
              <a:rPr sz="1300" spc="-275" dirty="0">
                <a:solidFill>
                  <a:srgbClr val="2462EA"/>
                </a:solidFill>
                <a:latin typeface="MingLiU_HKSCS-ExtB"/>
                <a:cs typeface="MingLiU_HKSCS-ExtB"/>
              </a:rPr>
              <a:t> </a:t>
            </a:r>
            <a:r>
              <a:rPr sz="1100" b="1" spc="-10" dirty="0">
                <a:solidFill>
                  <a:srgbClr val="2462EA"/>
                </a:solidFill>
                <a:latin typeface="Calibri"/>
                <a:cs typeface="Calibri"/>
              </a:rPr>
              <a:t>Deployment</a:t>
            </a:r>
            <a:r>
              <a:rPr sz="1100" b="1" spc="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2462EA"/>
                </a:solidFill>
                <a:latin typeface="Calibri"/>
                <a:cs typeface="Calibri"/>
              </a:rPr>
              <a:t>Facts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976774" y="1502412"/>
            <a:ext cx="3670300" cy="452120"/>
            <a:chOff x="4976774" y="1502412"/>
            <a:chExt cx="3670300" cy="452120"/>
          </a:xfrm>
        </p:grpSpPr>
        <p:sp>
          <p:nvSpPr>
            <p:cNvPr id="27" name="object 27"/>
            <p:cNvSpPr/>
            <p:nvPr/>
          </p:nvSpPr>
          <p:spPr>
            <a:xfrm>
              <a:off x="4983124" y="1508762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594" y="375036"/>
                  </a:lnTo>
                  <a:lnTo>
                    <a:pt x="607" y="375238"/>
                  </a:lnTo>
                  <a:lnTo>
                    <a:pt x="2393" y="384433"/>
                  </a:lnTo>
                  <a:lnTo>
                    <a:pt x="2428" y="384616"/>
                  </a:lnTo>
                  <a:lnTo>
                    <a:pt x="5410" y="393495"/>
                  </a:lnTo>
                  <a:lnTo>
                    <a:pt x="36360" y="429120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81"/>
                  </a:lnTo>
                  <a:lnTo>
                    <a:pt x="3655108" y="384616"/>
                  </a:lnTo>
                  <a:lnTo>
                    <a:pt x="3655169" y="384433"/>
                  </a:lnTo>
                  <a:lnTo>
                    <a:pt x="3656953" y="375238"/>
                  </a:lnTo>
                  <a:lnTo>
                    <a:pt x="3656992" y="375036"/>
                  </a:lnTo>
                  <a:lnTo>
                    <a:pt x="3657577" y="365760"/>
                  </a:lnTo>
                  <a:lnTo>
                    <a:pt x="3657599" y="365404"/>
                  </a:lnTo>
                  <a:lnTo>
                    <a:pt x="3657231" y="73075"/>
                  </a:lnTo>
                  <a:lnTo>
                    <a:pt x="3642140" y="28705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83124" y="1508762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4"/>
                  </a:lnTo>
                  <a:lnTo>
                    <a:pt x="3654802" y="54224"/>
                  </a:lnTo>
                  <a:lnTo>
                    <a:pt x="3657231" y="73075"/>
                  </a:lnTo>
                  <a:lnTo>
                    <a:pt x="3657599" y="365404"/>
                  </a:lnTo>
                  <a:lnTo>
                    <a:pt x="3656992" y="375036"/>
                  </a:lnTo>
                  <a:lnTo>
                    <a:pt x="3655169" y="384433"/>
                  </a:lnTo>
                  <a:lnTo>
                    <a:pt x="3628889" y="423381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089220" y="1496796"/>
            <a:ext cx="1460500" cy="40957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dirty="0">
                <a:solidFill>
                  <a:srgbClr val="2462EA"/>
                </a:solidFill>
                <a:latin typeface="Calibri"/>
                <a:cs typeface="Calibri"/>
              </a:rPr>
              <a:t>Pipeline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speed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&lt;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8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min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total (test+build+deploy)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976774" y="2014336"/>
            <a:ext cx="3670300" cy="452120"/>
            <a:chOff x="4976774" y="2014336"/>
            <a:chExt cx="3670300" cy="452120"/>
          </a:xfrm>
        </p:grpSpPr>
        <p:sp>
          <p:nvSpPr>
            <p:cNvPr id="31" name="object 31"/>
            <p:cNvSpPr/>
            <p:nvPr/>
          </p:nvSpPr>
          <p:spPr>
            <a:xfrm>
              <a:off x="4983124" y="202068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15091" y="410130"/>
                  </a:lnTo>
                  <a:lnTo>
                    <a:pt x="54041" y="436406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76"/>
                  </a:lnTo>
                  <a:lnTo>
                    <a:pt x="3652052" y="393650"/>
                  </a:lnTo>
                  <a:lnTo>
                    <a:pt x="3652129" y="393495"/>
                  </a:lnTo>
                  <a:lnTo>
                    <a:pt x="3657576" y="365760"/>
                  </a:lnTo>
                  <a:lnTo>
                    <a:pt x="3657599" y="365391"/>
                  </a:lnTo>
                  <a:lnTo>
                    <a:pt x="3657231" y="73075"/>
                  </a:lnTo>
                  <a:lnTo>
                    <a:pt x="3642140" y="28698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83124" y="202068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096"/>
                  </a:lnTo>
                  <a:lnTo>
                    <a:pt x="3654802" y="54219"/>
                  </a:lnTo>
                  <a:lnTo>
                    <a:pt x="3657231" y="73075"/>
                  </a:lnTo>
                  <a:lnTo>
                    <a:pt x="3657599" y="365391"/>
                  </a:lnTo>
                  <a:lnTo>
                    <a:pt x="3656992" y="375031"/>
                  </a:lnTo>
                  <a:lnTo>
                    <a:pt x="3655169" y="384432"/>
                  </a:lnTo>
                  <a:lnTo>
                    <a:pt x="3628889" y="423376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089220" y="2008339"/>
            <a:ext cx="1125855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Deployment</a:t>
            </a:r>
            <a:r>
              <a:rPr sz="850" b="1" spc="4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type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Rolling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zero downtime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976774" y="2526616"/>
            <a:ext cx="3670300" cy="452120"/>
            <a:chOff x="4976774" y="2526616"/>
            <a:chExt cx="3670300" cy="452120"/>
          </a:xfrm>
        </p:grpSpPr>
        <p:sp>
          <p:nvSpPr>
            <p:cNvPr id="35" name="object 35"/>
            <p:cNvSpPr/>
            <p:nvPr/>
          </p:nvSpPr>
          <p:spPr>
            <a:xfrm>
              <a:off x="4983124" y="253296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15091" y="410130"/>
                  </a:lnTo>
                  <a:lnTo>
                    <a:pt x="54041" y="436406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76"/>
                  </a:lnTo>
                  <a:lnTo>
                    <a:pt x="3652052" y="393650"/>
                  </a:lnTo>
                  <a:lnTo>
                    <a:pt x="3652129" y="393495"/>
                  </a:lnTo>
                  <a:lnTo>
                    <a:pt x="3657576" y="365760"/>
                  </a:lnTo>
                  <a:lnTo>
                    <a:pt x="3657599" y="365391"/>
                  </a:lnTo>
                  <a:lnTo>
                    <a:pt x="3657231" y="73075"/>
                  </a:lnTo>
                  <a:lnTo>
                    <a:pt x="3642140" y="28698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83124" y="253296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096"/>
                  </a:lnTo>
                  <a:lnTo>
                    <a:pt x="3654802" y="54219"/>
                  </a:lnTo>
                  <a:lnTo>
                    <a:pt x="3657231" y="73075"/>
                  </a:lnTo>
                  <a:lnTo>
                    <a:pt x="3657599" y="365391"/>
                  </a:lnTo>
                  <a:lnTo>
                    <a:pt x="3656992" y="375031"/>
                  </a:lnTo>
                  <a:lnTo>
                    <a:pt x="3655169" y="384432"/>
                  </a:lnTo>
                  <a:lnTo>
                    <a:pt x="3628889" y="423376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089220" y="2520263"/>
            <a:ext cx="134874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Rollback</a:t>
            </a:r>
            <a:r>
              <a:rPr sz="850" b="1" spc="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time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&lt; 60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seconds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(previous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image)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976774" y="3038527"/>
            <a:ext cx="3670300" cy="452120"/>
            <a:chOff x="4976774" y="3038527"/>
            <a:chExt cx="3670300" cy="452120"/>
          </a:xfrm>
        </p:grpSpPr>
        <p:sp>
          <p:nvSpPr>
            <p:cNvPr id="39" name="object 39"/>
            <p:cNvSpPr/>
            <p:nvPr/>
          </p:nvSpPr>
          <p:spPr>
            <a:xfrm>
              <a:off x="4983124" y="304487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59"/>
                  </a:lnTo>
                  <a:lnTo>
                    <a:pt x="5412" y="393500"/>
                  </a:lnTo>
                  <a:lnTo>
                    <a:pt x="5464" y="393656"/>
                  </a:lnTo>
                  <a:lnTo>
                    <a:pt x="36360" y="429120"/>
                  </a:lnTo>
                  <a:lnTo>
                    <a:pt x="73075" y="438848"/>
                  </a:lnTo>
                  <a:lnTo>
                    <a:pt x="3584511" y="438480"/>
                  </a:lnTo>
                  <a:lnTo>
                    <a:pt x="3628889" y="423388"/>
                  </a:lnTo>
                  <a:lnTo>
                    <a:pt x="3655109" y="384616"/>
                  </a:lnTo>
                  <a:lnTo>
                    <a:pt x="3656953" y="375238"/>
                  </a:lnTo>
                  <a:lnTo>
                    <a:pt x="3656992" y="375038"/>
                  </a:lnTo>
                  <a:lnTo>
                    <a:pt x="3657577" y="365759"/>
                  </a:lnTo>
                  <a:lnTo>
                    <a:pt x="3657599" y="365404"/>
                  </a:lnTo>
                  <a:lnTo>
                    <a:pt x="3657231" y="73088"/>
                  </a:lnTo>
                  <a:lnTo>
                    <a:pt x="3642140" y="28710"/>
                  </a:lnTo>
                  <a:lnTo>
                    <a:pt x="3603190" y="2430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983124" y="304487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9"/>
                  </a:lnTo>
                  <a:lnTo>
                    <a:pt x="3654802" y="54232"/>
                  </a:lnTo>
                  <a:lnTo>
                    <a:pt x="3657231" y="73088"/>
                  </a:lnTo>
                  <a:lnTo>
                    <a:pt x="3657599" y="365404"/>
                  </a:lnTo>
                  <a:lnTo>
                    <a:pt x="3656992" y="375038"/>
                  </a:lnTo>
                  <a:lnTo>
                    <a:pt x="3655169" y="384438"/>
                  </a:lnTo>
                  <a:lnTo>
                    <a:pt x="3628889" y="423388"/>
                  </a:lnTo>
                  <a:lnTo>
                    <a:pt x="358451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5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089220" y="3032543"/>
            <a:ext cx="133477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25" dirty="0">
                <a:solidFill>
                  <a:srgbClr val="2462EA"/>
                </a:solidFill>
                <a:latin typeface="Calibri"/>
                <a:cs typeface="Calibri"/>
              </a:rPr>
              <a:t>Test</a:t>
            </a:r>
            <a:r>
              <a:rPr sz="850" b="1" spc="-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coverage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JUnit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5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Vitest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k6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load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tests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976774" y="3550807"/>
            <a:ext cx="3670300" cy="452120"/>
            <a:chOff x="4976774" y="3550807"/>
            <a:chExt cx="3670300" cy="452120"/>
          </a:xfrm>
        </p:grpSpPr>
        <p:sp>
          <p:nvSpPr>
            <p:cNvPr id="43" name="object 43"/>
            <p:cNvSpPr/>
            <p:nvPr/>
          </p:nvSpPr>
          <p:spPr>
            <a:xfrm>
              <a:off x="4983124" y="355715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59"/>
                  </a:lnTo>
                  <a:lnTo>
                    <a:pt x="5412" y="393500"/>
                  </a:lnTo>
                  <a:lnTo>
                    <a:pt x="5464" y="393656"/>
                  </a:lnTo>
                  <a:lnTo>
                    <a:pt x="36360" y="429120"/>
                  </a:lnTo>
                  <a:lnTo>
                    <a:pt x="73075" y="438848"/>
                  </a:lnTo>
                  <a:lnTo>
                    <a:pt x="3584511" y="438480"/>
                  </a:lnTo>
                  <a:lnTo>
                    <a:pt x="3628889" y="423388"/>
                  </a:lnTo>
                  <a:lnTo>
                    <a:pt x="3655109" y="384616"/>
                  </a:lnTo>
                  <a:lnTo>
                    <a:pt x="3656953" y="375238"/>
                  </a:lnTo>
                  <a:lnTo>
                    <a:pt x="3656992" y="375038"/>
                  </a:lnTo>
                  <a:lnTo>
                    <a:pt x="3657577" y="365759"/>
                  </a:lnTo>
                  <a:lnTo>
                    <a:pt x="3657599" y="365404"/>
                  </a:lnTo>
                  <a:lnTo>
                    <a:pt x="3657231" y="73088"/>
                  </a:lnTo>
                  <a:lnTo>
                    <a:pt x="3642140" y="28710"/>
                  </a:lnTo>
                  <a:lnTo>
                    <a:pt x="3603190" y="2430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83124" y="355715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9"/>
                  </a:lnTo>
                  <a:lnTo>
                    <a:pt x="3654802" y="54232"/>
                  </a:lnTo>
                  <a:lnTo>
                    <a:pt x="3657231" y="73088"/>
                  </a:lnTo>
                  <a:lnTo>
                    <a:pt x="3657599" y="365404"/>
                  </a:lnTo>
                  <a:lnTo>
                    <a:pt x="3656992" y="375038"/>
                  </a:lnTo>
                  <a:lnTo>
                    <a:pt x="3655169" y="384438"/>
                  </a:lnTo>
                  <a:lnTo>
                    <a:pt x="3628889" y="423388"/>
                  </a:lnTo>
                  <a:lnTo>
                    <a:pt x="358451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5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089220" y="3544467"/>
            <a:ext cx="151384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dirty="0">
                <a:solidFill>
                  <a:srgbClr val="2462EA"/>
                </a:solidFill>
                <a:latin typeface="Calibri"/>
                <a:cs typeface="Calibri"/>
              </a:rPr>
              <a:t>Secret</a:t>
            </a:r>
            <a:r>
              <a:rPr sz="85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management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GitHub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Environments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Robi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Vault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47" name="object 47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09740" y="4730580"/>
            <a:ext cx="5690870" cy="2984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ts val="1240"/>
              </a:lnSpc>
              <a:spcBef>
                <a:spcPts val="114"/>
              </a:spcBef>
            </a:pPr>
            <a:r>
              <a:rPr sz="1200" spc="-622" baseline="6944" dirty="0">
                <a:solidFill>
                  <a:srgbClr val="E1E7EF"/>
                </a:solidFill>
                <a:latin typeface="Courier New"/>
                <a:cs typeface="Courier New"/>
              </a:rPr>
              <a:t>□</a:t>
            </a:r>
            <a:r>
              <a:rPr sz="1100" spc="-34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200" spc="-22" baseline="6944" dirty="0">
                <a:solidFill>
                  <a:srgbClr val="E1E7EF"/>
                </a:solidFill>
                <a:latin typeface="Courier New"/>
                <a:cs typeface="Courier New"/>
              </a:rPr>
              <a:t>k</a:t>
            </a:r>
            <a:r>
              <a:rPr sz="1200" spc="-412" baseline="6944" dirty="0">
                <a:solidFill>
                  <a:srgbClr val="E1E7EF"/>
                </a:solidFill>
                <a:latin typeface="Courier New"/>
                <a:cs typeface="Courier New"/>
              </a:rPr>
              <a:t>6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345" dirty="0">
                <a:solidFill>
                  <a:srgbClr val="774409"/>
                </a:solidFill>
                <a:latin typeface="Calibri"/>
                <a:cs typeface="Calibri"/>
              </a:rPr>
              <a:t>/</a:t>
            </a:r>
            <a:r>
              <a:rPr sz="1200" spc="-232" baseline="6944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365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217" baseline="6944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45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22" baseline="6944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1200" spc="-457" baseline="6944" dirty="0">
                <a:solidFill>
                  <a:srgbClr val="E1E7EF"/>
                </a:solidFill>
                <a:latin typeface="Courier New"/>
                <a:cs typeface="Courier New"/>
              </a:rPr>
              <a:t>d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380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172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40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1200" spc="-209" baseline="6944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155" dirty="0">
                <a:solidFill>
                  <a:srgbClr val="774409"/>
                </a:solidFill>
                <a:latin typeface="Calibri"/>
                <a:cs typeface="Calibri"/>
              </a:rPr>
              <a:t>f</a:t>
            </a:r>
            <a:r>
              <a:rPr sz="1200" spc="-540" baseline="6944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0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577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45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1200" spc="-667" baseline="6944" dirty="0">
                <a:solidFill>
                  <a:srgbClr val="E1E7EF"/>
                </a:solidFill>
                <a:latin typeface="Courier New"/>
                <a:cs typeface="Courier New"/>
              </a:rPr>
              <a:t>: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950" spc="-229" dirty="0">
                <a:solidFill>
                  <a:srgbClr val="774409"/>
                </a:solidFill>
                <a:latin typeface="Calibri"/>
                <a:cs typeface="Calibri"/>
              </a:rPr>
              <a:t>g</a:t>
            </a:r>
            <a:r>
              <a:rPr sz="1200" spc="-89" baseline="6944" dirty="0">
                <a:solidFill>
                  <a:srgbClr val="E1E7EF"/>
                </a:solidFill>
                <a:latin typeface="Courier New"/>
                <a:cs typeface="Courier New"/>
              </a:rPr>
              <a:t>p</a:t>
            </a:r>
            <a:r>
              <a:rPr sz="950" spc="-40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22" baseline="6944" dirty="0">
                <a:solidFill>
                  <a:srgbClr val="E1E7EF"/>
                </a:solidFill>
                <a:latin typeface="Courier New"/>
                <a:cs typeface="Courier New"/>
              </a:rPr>
              <a:t>9</a:t>
            </a:r>
            <a:r>
              <a:rPr sz="1200" spc="-525" baseline="6944" dirty="0">
                <a:solidFill>
                  <a:srgbClr val="E1E7EF"/>
                </a:solidFill>
                <a:latin typeface="Courier New"/>
                <a:cs typeface="Courier New"/>
              </a:rPr>
              <a:t>5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950" spc="-165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195" baseline="6944" dirty="0">
                <a:solidFill>
                  <a:srgbClr val="E1E7EF"/>
                </a:solidFill>
                <a:latin typeface="Courier New"/>
                <a:cs typeface="Courier New"/>
              </a:rPr>
              <a:t>&lt;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950" spc="-39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15" baseline="6944" dirty="0">
                <a:solidFill>
                  <a:srgbClr val="E1E7EF"/>
                </a:solidFill>
                <a:latin typeface="Courier New"/>
                <a:cs typeface="Courier New"/>
              </a:rPr>
              <a:t>3</a:t>
            </a:r>
            <a:r>
              <a:rPr sz="1200" spc="-562" baseline="6944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950" spc="-28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330" baseline="6944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10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254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f</a:t>
            </a:r>
            <a:r>
              <a:rPr sz="950" spc="-6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630" baseline="6944" dirty="0">
                <a:solidFill>
                  <a:srgbClr val="E1E7EF"/>
                </a:solidFill>
                <a:latin typeface="Courier New"/>
                <a:cs typeface="Courier New"/>
              </a:rPr>
              <a:t>5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l</a:t>
            </a:r>
            <a:r>
              <a:rPr sz="1200" spc="-719" baseline="6944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u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-31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7" baseline="6944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1200" spc="-682" baseline="6944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14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225" baseline="6944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457" baseline="6944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950" spc="-200" dirty="0">
                <a:solidFill>
                  <a:srgbClr val="774409"/>
                </a:solidFill>
                <a:latin typeface="Calibri"/>
                <a:cs typeface="Calibri"/>
              </a:rPr>
              <a:t>h</a:t>
            </a:r>
            <a:r>
              <a:rPr sz="1200" spc="-457" baseline="6944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950" spc="-175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1200" spc="-157" baseline="6944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670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1200" spc="-7" baseline="6944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1200" spc="-494" baseline="6944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185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472" baseline="6944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6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660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4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585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1200" spc="-7" baseline="6944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1200" spc="-607" baseline="6944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05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585" baseline="6944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105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569" baseline="6944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950" spc="-26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359" baseline="6944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safety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net.</a:t>
            </a:r>
            <a:r>
              <a:rPr sz="950" spc="4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Never</a:t>
            </a:r>
            <a:r>
              <a:rPr sz="950" spc="4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merge</a:t>
            </a:r>
            <a:r>
              <a:rPr sz="950" spc="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without</a:t>
            </a:r>
            <a:r>
              <a:rPr sz="950" spc="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green</a:t>
            </a:r>
            <a:r>
              <a:rPr sz="950" spc="4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CI</a:t>
            </a:r>
            <a:r>
              <a:rPr sz="950" spc="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pipeline.</a:t>
            </a:r>
            <a:endParaRPr sz="950">
              <a:latin typeface="Calibri"/>
              <a:cs typeface="Calibri"/>
            </a:endParaRPr>
          </a:p>
          <a:p>
            <a:pPr marL="160655" indent="-122555">
              <a:lnSpc>
                <a:spcPts val="880"/>
              </a:lnSpc>
              <a:buChar char="□"/>
              <a:tabLst>
                <a:tab pos="160655" algn="l"/>
              </a:tabLst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All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10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reports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under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3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seconds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with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indexes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73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C4D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Post-</a:t>
            </a:r>
            <a:r>
              <a:rPr dirty="0"/>
              <a:t>Launch:</a:t>
            </a:r>
            <a:r>
              <a:rPr spc="-55" dirty="0"/>
              <a:t> </a:t>
            </a:r>
            <a:r>
              <a:rPr spc="-20" dirty="0"/>
              <a:t>Iterate</a:t>
            </a:r>
            <a:r>
              <a:rPr spc="-4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dirty="0"/>
              <a:t>Claude</a:t>
            </a:r>
            <a:r>
              <a:rPr spc="-45" dirty="0"/>
              <a:t> </a:t>
            </a:r>
            <a:r>
              <a:rPr spc="-20" dirty="0"/>
              <a:t>Code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94132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65" dirty="0">
                <a:solidFill>
                  <a:srgbClr val="9FBFFF"/>
                </a:solidFill>
                <a:latin typeface="Arial"/>
                <a:cs typeface="Arial"/>
              </a:rPr>
              <a:t>Using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75" dirty="0">
                <a:solidFill>
                  <a:srgbClr val="9FBFFF"/>
                </a:solidFill>
                <a:latin typeface="Arial"/>
                <a:cs typeface="Arial"/>
              </a:rPr>
              <a:t>Claude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0" dirty="0">
                <a:solidFill>
                  <a:srgbClr val="9FBFFF"/>
                </a:solidFill>
                <a:latin typeface="Arial"/>
                <a:cs typeface="Arial"/>
              </a:rPr>
              <a:t>Code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for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9FBFFF"/>
                </a:solidFill>
                <a:latin typeface="Arial"/>
                <a:cs typeface="Arial"/>
              </a:rPr>
              <a:t>ongoing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development</a:t>
            </a:r>
            <a:r>
              <a:rPr sz="1000" i="1" spc="-30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Arial"/>
                <a:cs typeface="Arial"/>
              </a:rPr>
              <a:t>aker</a:t>
            </a:r>
            <a:r>
              <a:rPr sz="1000" i="1" spc="-25" dirty="0">
                <a:solidFill>
                  <a:srgbClr val="9FB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Arial"/>
                <a:cs typeface="Arial"/>
              </a:rPr>
              <a:t>go-</a:t>
            </a:r>
            <a:r>
              <a:rPr sz="1000" i="1" spc="-20" dirty="0">
                <a:solidFill>
                  <a:srgbClr val="9FBFFF"/>
                </a:solidFill>
                <a:latin typeface="Arial"/>
                <a:cs typeface="Arial"/>
              </a:rPr>
              <a:t>live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7400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3001" y="1038582"/>
            <a:ext cx="4533900" cy="1333500"/>
            <a:chOff x="243001" y="1038582"/>
            <a:chExt cx="4533900" cy="13335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001" y="1038582"/>
              <a:ext cx="4533836" cy="13330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0040" y="1115646"/>
              <a:ext cx="4343400" cy="1143000"/>
            </a:xfrm>
            <a:custGeom>
              <a:avLst/>
              <a:gdLst/>
              <a:ahLst/>
              <a:cxnLst/>
              <a:rect l="l" t="t" r="r" b="b"/>
              <a:pathLst>
                <a:path w="4343400" h="1143000">
                  <a:moveTo>
                    <a:pt x="4251960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42" y="1097280"/>
                  </a:lnTo>
                  <a:lnTo>
                    <a:pt x="45720" y="1130757"/>
                  </a:lnTo>
                  <a:lnTo>
                    <a:pt x="91439" y="1143000"/>
                  </a:lnTo>
                  <a:lnTo>
                    <a:pt x="4251960" y="1143000"/>
                  </a:lnTo>
                  <a:lnTo>
                    <a:pt x="4297680" y="1130757"/>
                  </a:lnTo>
                  <a:lnTo>
                    <a:pt x="4331157" y="1097280"/>
                  </a:lnTo>
                  <a:lnTo>
                    <a:pt x="4343400" y="1051560"/>
                  </a:lnTo>
                  <a:lnTo>
                    <a:pt x="4343400" y="91439"/>
                  </a:lnTo>
                  <a:lnTo>
                    <a:pt x="4331157" y="45720"/>
                  </a:lnTo>
                  <a:lnTo>
                    <a:pt x="4297680" y="12230"/>
                  </a:lnTo>
                  <a:lnTo>
                    <a:pt x="4251960" y="0"/>
                  </a:lnTo>
                  <a:close/>
                </a:path>
              </a:pathLst>
            </a:custGeom>
            <a:solidFill>
              <a:srgbClr val="05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1115646"/>
              <a:ext cx="4343400" cy="1143000"/>
            </a:xfrm>
            <a:custGeom>
              <a:avLst/>
              <a:gdLst/>
              <a:ahLst/>
              <a:cxnLst/>
              <a:rect l="l" t="t" r="r" b="b"/>
              <a:pathLst>
                <a:path w="4343400" h="1143000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4251960" y="0"/>
                  </a:lnTo>
                  <a:lnTo>
                    <a:pt x="4297680" y="12230"/>
                  </a:lnTo>
                  <a:lnTo>
                    <a:pt x="4331157" y="45720"/>
                  </a:lnTo>
                  <a:lnTo>
                    <a:pt x="4343400" y="91439"/>
                  </a:lnTo>
                  <a:lnTo>
                    <a:pt x="4343400" y="1051560"/>
                  </a:lnTo>
                  <a:lnTo>
                    <a:pt x="4342601" y="1063559"/>
                  </a:lnTo>
                  <a:lnTo>
                    <a:pt x="4340250" y="1075224"/>
                  </a:lnTo>
                  <a:lnTo>
                    <a:pt x="4316718" y="1116309"/>
                  </a:lnTo>
                  <a:lnTo>
                    <a:pt x="4275629" y="1139850"/>
                  </a:lnTo>
                  <a:lnTo>
                    <a:pt x="4251960" y="1143000"/>
                  </a:lnTo>
                  <a:lnTo>
                    <a:pt x="91439" y="1143000"/>
                  </a:lnTo>
                  <a:lnTo>
                    <a:pt x="45720" y="1130757"/>
                  </a:lnTo>
                  <a:lnTo>
                    <a:pt x="12242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140" y="1093565"/>
            <a:ext cx="4086225" cy="8458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735"/>
              </a:spcBef>
            </a:pPr>
            <a:r>
              <a:rPr sz="1000" spc="160" dirty="0">
                <a:solidFill>
                  <a:srgbClr val="0C9387"/>
                </a:solidFill>
                <a:latin typeface="MingLiU_HKSCS-ExtB"/>
                <a:cs typeface="MingLiU_HKSCS-ExtB"/>
              </a:rPr>
              <a:t>📝</a:t>
            </a:r>
            <a:r>
              <a:rPr sz="1000" spc="-229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850" b="1" dirty="0">
                <a:solidFill>
                  <a:srgbClr val="0C9387"/>
                </a:solidFill>
                <a:latin typeface="Calibri"/>
                <a:cs typeface="Calibri"/>
              </a:rPr>
              <a:t>CI/CD</a:t>
            </a:r>
            <a:r>
              <a:rPr sz="850" b="1" spc="-2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387"/>
                </a:solidFill>
                <a:latin typeface="Calibri"/>
                <a:cs typeface="Calibri"/>
              </a:rPr>
              <a:t>Prompt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"WAMY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v1.0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is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live.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Manager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requests: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(1)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new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Donor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Contribution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report;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(2)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multi-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currency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support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0" dirty="0">
                <a:solidFill>
                  <a:srgbClr val="FCE589"/>
                </a:solidFill>
                <a:latin typeface="Arial"/>
                <a:cs typeface="Arial"/>
              </a:rPr>
              <a:t>(BDT,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5" dirty="0">
                <a:solidFill>
                  <a:srgbClr val="FCE589"/>
                </a:solidFill>
                <a:latin typeface="Arial"/>
                <a:cs typeface="Arial"/>
              </a:rPr>
              <a:t>USD,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35" dirty="0">
                <a:solidFill>
                  <a:srgbClr val="FCE589"/>
                </a:solidFill>
                <a:latin typeface="Arial"/>
                <a:cs typeface="Arial"/>
              </a:rPr>
              <a:t>EUR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with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daily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FCE589"/>
                </a:solidFill>
                <a:latin typeface="Arial"/>
                <a:cs typeface="Arial"/>
              </a:rPr>
              <a:t>exchange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rates);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FCE589"/>
                </a:solidFill>
                <a:latin typeface="Arial"/>
                <a:cs typeface="Arial"/>
              </a:rPr>
              <a:t>(3)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email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report </a:t>
            </a:r>
            <a:r>
              <a:rPr sz="850" i="1" spc="-40" dirty="0">
                <a:solidFill>
                  <a:srgbClr val="FCE589"/>
                </a:solidFill>
                <a:latin typeface="Arial"/>
                <a:cs typeface="Arial"/>
              </a:rPr>
              <a:t>delivery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on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schedule.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Generate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implementation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CE589"/>
                </a:solidFill>
                <a:latin typeface="Arial"/>
                <a:cs typeface="Arial"/>
              </a:rPr>
              <a:t>plan,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75" dirty="0">
                <a:solidFill>
                  <a:srgbClr val="FCE589"/>
                </a:solidFill>
                <a:latin typeface="Arial"/>
                <a:cs typeface="Arial"/>
              </a:rPr>
              <a:t>API</a:t>
            </a:r>
            <a:r>
              <a:rPr sz="8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60" dirty="0">
                <a:solidFill>
                  <a:srgbClr val="FCE589"/>
                </a:solidFill>
                <a:latin typeface="Arial"/>
                <a:cs typeface="Arial"/>
              </a:rPr>
              <a:t>changes,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10" dirty="0">
                <a:solidFill>
                  <a:srgbClr val="FCE589"/>
                </a:solidFill>
                <a:latin typeface="Arial"/>
                <a:cs typeface="Arial"/>
              </a:rPr>
              <a:t>DB</a:t>
            </a:r>
            <a:r>
              <a:rPr sz="850" i="1" spc="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FCE589"/>
                </a:solidFill>
                <a:latin typeface="Arial"/>
                <a:cs typeface="Arial"/>
              </a:rPr>
              <a:t>migrations,</a:t>
            </a:r>
            <a:r>
              <a:rPr sz="8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CE589"/>
                </a:solidFill>
                <a:latin typeface="Arial"/>
                <a:cs typeface="Arial"/>
              </a:rPr>
              <a:t>and </a:t>
            </a:r>
            <a:r>
              <a:rPr sz="850" i="1" spc="-70" dirty="0">
                <a:solidFill>
                  <a:srgbClr val="FCE589"/>
                </a:solidFill>
                <a:latin typeface="Arial"/>
                <a:cs typeface="Arial"/>
              </a:rPr>
              <a:t>React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FCE589"/>
                </a:solidFill>
                <a:latin typeface="Arial"/>
                <a:cs typeface="Arial"/>
              </a:rPr>
              <a:t>component</a:t>
            </a:r>
            <a:r>
              <a:rPr sz="8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for </a:t>
            </a:r>
            <a:r>
              <a:rPr sz="850" i="1" spc="-55" dirty="0">
                <a:solidFill>
                  <a:srgbClr val="FCE589"/>
                </a:solidFill>
                <a:latin typeface="Arial"/>
                <a:cs typeface="Arial"/>
              </a:rPr>
              <a:t>these</a:t>
            </a:r>
            <a:r>
              <a:rPr sz="850" i="1" spc="-10" dirty="0">
                <a:solidFill>
                  <a:srgbClr val="FCE589"/>
                </a:solidFill>
                <a:latin typeface="Arial"/>
                <a:cs typeface="Arial"/>
              </a:rPr>
              <a:t> features."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2646" y="2253947"/>
            <a:ext cx="4534535" cy="2567940"/>
            <a:chOff x="242646" y="2253947"/>
            <a:chExt cx="4534535" cy="256794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46" y="2253947"/>
              <a:ext cx="4534204" cy="256788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9684" y="2330998"/>
              <a:ext cx="4344035" cy="2378075"/>
            </a:xfrm>
            <a:custGeom>
              <a:avLst/>
              <a:gdLst/>
              <a:ahLst/>
              <a:cxnLst/>
              <a:rect l="l" t="t" r="r" b="b"/>
              <a:pathLst>
                <a:path w="4344035" h="2378075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40"/>
                  </a:lnTo>
                  <a:lnTo>
                    <a:pt x="0" y="2286368"/>
                  </a:lnTo>
                  <a:lnTo>
                    <a:pt x="798" y="2298368"/>
                  </a:lnTo>
                  <a:lnTo>
                    <a:pt x="18830" y="2342125"/>
                  </a:lnTo>
                  <a:lnTo>
                    <a:pt x="56505" y="2370816"/>
                  </a:lnTo>
                  <a:lnTo>
                    <a:pt x="91439" y="2377808"/>
                  </a:lnTo>
                  <a:lnTo>
                    <a:pt x="4252315" y="2377808"/>
                  </a:lnTo>
                  <a:lnTo>
                    <a:pt x="4298035" y="2365565"/>
                  </a:lnTo>
                  <a:lnTo>
                    <a:pt x="4331512" y="2332088"/>
                  </a:lnTo>
                  <a:lnTo>
                    <a:pt x="4343755" y="2286368"/>
                  </a:lnTo>
                  <a:lnTo>
                    <a:pt x="4343731" y="91440"/>
                  </a:lnTo>
                  <a:lnTo>
                    <a:pt x="4331512" y="46088"/>
                  </a:lnTo>
                  <a:lnTo>
                    <a:pt x="4298035" y="12598"/>
                  </a:lnTo>
                  <a:lnTo>
                    <a:pt x="425231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2330998"/>
              <a:ext cx="4344035" cy="2378075"/>
            </a:xfrm>
            <a:custGeom>
              <a:avLst/>
              <a:gdLst/>
              <a:ahLst/>
              <a:cxnLst/>
              <a:rect l="l" t="t" r="r" b="b"/>
              <a:pathLst>
                <a:path w="4344035" h="2378075">
                  <a:moveTo>
                    <a:pt x="355" y="91440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252315" y="368"/>
                  </a:lnTo>
                  <a:lnTo>
                    <a:pt x="4298035" y="12598"/>
                  </a:lnTo>
                  <a:lnTo>
                    <a:pt x="4331512" y="46088"/>
                  </a:lnTo>
                  <a:lnTo>
                    <a:pt x="4343755" y="91808"/>
                  </a:lnTo>
                  <a:lnTo>
                    <a:pt x="4343755" y="2286368"/>
                  </a:lnTo>
                  <a:lnTo>
                    <a:pt x="4342957" y="2298368"/>
                  </a:lnTo>
                  <a:lnTo>
                    <a:pt x="4340606" y="2310033"/>
                  </a:lnTo>
                  <a:lnTo>
                    <a:pt x="4317074" y="2351117"/>
                  </a:lnTo>
                  <a:lnTo>
                    <a:pt x="4275985" y="2374653"/>
                  </a:lnTo>
                  <a:lnTo>
                    <a:pt x="4252315" y="2377808"/>
                  </a:lnTo>
                  <a:lnTo>
                    <a:pt x="91439" y="2377808"/>
                  </a:lnTo>
                  <a:lnTo>
                    <a:pt x="45719" y="2365565"/>
                  </a:lnTo>
                  <a:lnTo>
                    <a:pt x="12230" y="2332088"/>
                  </a:lnTo>
                  <a:lnTo>
                    <a:pt x="0" y="2286368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140" y="2320035"/>
            <a:ext cx="2693670" cy="83502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50" spc="175" dirty="0">
                <a:solidFill>
                  <a:srgbClr val="49DD7F"/>
                </a:solidFill>
                <a:latin typeface="MingLiU_HKSCS-ExtB"/>
                <a:cs typeface="MingLiU_HKSCS-ExtB"/>
              </a:rPr>
              <a:t>⚡</a:t>
            </a:r>
            <a:r>
              <a:rPr sz="1050" spc="-254" dirty="0">
                <a:solidFill>
                  <a:srgbClr val="49DD7F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49DD7F"/>
                </a:solidFill>
                <a:latin typeface="Calibri"/>
                <a:cs typeface="Calibri"/>
              </a:rPr>
              <a:t>Generated</a:t>
            </a:r>
            <a:r>
              <a:rPr sz="900" b="1" spc="-3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Config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9DD7F"/>
                </a:solidFill>
                <a:latin typeface="Calibri"/>
                <a:cs typeface="Calibri"/>
              </a:rPr>
              <a:t>/ </a:t>
            </a:r>
            <a:r>
              <a:rPr sz="900" b="1" spc="-20" dirty="0">
                <a:solidFill>
                  <a:srgbClr val="49DD7F"/>
                </a:solidFill>
                <a:latin typeface="Calibri"/>
                <a:cs typeface="Calibri"/>
              </a:rPr>
              <a:t>Code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POST-LAUNCH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FEATURE:</a:t>
            </a:r>
            <a:r>
              <a:rPr sz="800" spc="8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Multi-Currency</a:t>
            </a:r>
            <a:r>
              <a:rPr sz="800" spc="1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Support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330" dirty="0">
                <a:solidFill>
                  <a:srgbClr val="E1E7EF"/>
                </a:solidFill>
                <a:latin typeface="SimSun-ExtB"/>
                <a:cs typeface="SimSun-ExtB"/>
              </a:rPr>
              <a:t>━━━━━━━━━━━━━━━━━━━━━━━━━━━━━━━━━━━━━━━━</a:t>
            </a:r>
            <a:endParaRPr sz="800">
              <a:latin typeface="SimSun-ExtB"/>
              <a:cs typeface="SimSun-ExtB"/>
            </a:endParaRPr>
          </a:p>
          <a:p>
            <a:pPr marL="135890" marR="66040" indent="-12382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New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migration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V10</a:t>
            </a:r>
            <a:r>
              <a:rPr sz="800" u="sng" spc="315" dirty="0">
                <a:solidFill>
                  <a:srgbClr val="E1E7EF"/>
                </a:solidFill>
                <a:uFill>
                  <a:solidFill>
                    <a:srgbClr val="E0E6EE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Add_multi_currency.sql: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ALTER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TABLE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journal_lines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3539" y="3129383"/>
            <a:ext cx="1329055" cy="400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ADD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COLUMN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currency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ADD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COLUMN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fx_rate</a:t>
            </a:r>
            <a:r>
              <a:rPr sz="800" spc="50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ADD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COLUMN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amount_bdt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72329" y="3129383"/>
            <a:ext cx="1949450" cy="400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14960">
              <a:lnSpc>
                <a:spcPct val="102499"/>
              </a:lnSpc>
              <a:spcBef>
                <a:spcPts val="95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VARCHAR(3)</a:t>
            </a:r>
            <a:r>
              <a:rPr sz="800" spc="7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DEFAULT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'BDT',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DECIMAL(15,6)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DEFAULT</a:t>
            </a:r>
            <a:r>
              <a:rPr sz="800" spc="9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E1E7EF"/>
                </a:solidFill>
                <a:latin typeface="Courier New"/>
                <a:cs typeface="Courier New"/>
              </a:rPr>
              <a:t>1.0,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DECIMAL(15,2);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--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base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currency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140" y="3629065"/>
            <a:ext cx="3500120" cy="8997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New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ExchangeRateService:</a:t>
            </a:r>
            <a:endParaRPr sz="800">
              <a:latin typeface="Courier New"/>
              <a:cs typeface="Courier New"/>
            </a:endParaRPr>
          </a:p>
          <a:p>
            <a:pPr marL="135890" marR="62547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@Scheduled(cron="0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0</a:t>
            </a:r>
            <a:r>
              <a:rPr sz="800" spc="2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9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*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*</a:t>
            </a:r>
            <a:r>
              <a:rPr sz="800" spc="3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*")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//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daily</a:t>
            </a:r>
            <a:r>
              <a:rPr sz="800" spc="4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E1E7EF"/>
                </a:solidFill>
                <a:latin typeface="Courier New"/>
                <a:cs typeface="Courier New"/>
              </a:rPr>
              <a:t>9AM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public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void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fetchExchangeRates()</a:t>
            </a:r>
            <a:r>
              <a:rPr sz="800" spc="8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384175" marR="5080" indent="-123825">
              <a:lnSpc>
                <a:spcPct val="102499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Map&lt;String,BigDecimal&gt;</a:t>
            </a:r>
            <a:r>
              <a:rPr sz="800" spc="10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rates</a:t>
            </a:r>
            <a:r>
              <a:rPr sz="800" spc="11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=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fxApiClient.getRates("BDT",</a:t>
            </a:r>
            <a:r>
              <a:rPr sz="800" spc="20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List.of("USD","EUR"));</a:t>
            </a:r>
            <a:endParaRPr sz="800">
              <a:latin typeface="Courier New"/>
              <a:cs typeface="Courier New"/>
            </a:endParaRPr>
          </a:p>
          <a:p>
            <a:pPr marL="260985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rateRepo.saveAll(toEntities(rates));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25"/>
              </a:spcBef>
            </a:pPr>
            <a:r>
              <a:rPr sz="800" spc="-50" dirty="0">
                <a:solidFill>
                  <a:srgbClr val="E1E7EF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5140" y="4628427"/>
            <a:ext cx="1203960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Updated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P&amp;L</a:t>
            </a:r>
            <a:r>
              <a:rPr sz="800" spc="3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Report: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768926" y="1037871"/>
            <a:ext cx="4168775" cy="3783965"/>
            <a:chOff x="4768926" y="1037871"/>
            <a:chExt cx="4168775" cy="378396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926" y="1037871"/>
              <a:ext cx="4168444" cy="378396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932"/>
                  </a:lnTo>
                  <a:lnTo>
                    <a:pt x="355" y="109804"/>
                  </a:lnTo>
                  <a:lnTo>
                    <a:pt x="0" y="3484079"/>
                  </a:lnTo>
                  <a:lnTo>
                    <a:pt x="929" y="3498349"/>
                  </a:lnTo>
                  <a:lnTo>
                    <a:pt x="939" y="3498510"/>
                  </a:lnTo>
                  <a:lnTo>
                    <a:pt x="3699" y="3512385"/>
                  </a:lnTo>
                  <a:lnTo>
                    <a:pt x="3735" y="3512567"/>
                  </a:lnTo>
                  <a:lnTo>
                    <a:pt x="8284" y="3525949"/>
                  </a:lnTo>
                  <a:lnTo>
                    <a:pt x="32213" y="3561703"/>
                  </a:lnTo>
                  <a:lnTo>
                    <a:pt x="67932" y="3585525"/>
                  </a:lnTo>
                  <a:lnTo>
                    <a:pt x="109791" y="3593884"/>
                  </a:lnTo>
                  <a:lnTo>
                    <a:pt x="3868191" y="3593884"/>
                  </a:lnTo>
                  <a:lnTo>
                    <a:pt x="3910262" y="3585525"/>
                  </a:lnTo>
                  <a:lnTo>
                    <a:pt x="3945766" y="3561703"/>
                  </a:lnTo>
                  <a:lnTo>
                    <a:pt x="3969542" y="3526151"/>
                  </a:lnTo>
                  <a:lnTo>
                    <a:pt x="3974198" y="3512567"/>
                  </a:lnTo>
                  <a:lnTo>
                    <a:pt x="3974260" y="3512385"/>
                  </a:lnTo>
                  <a:lnTo>
                    <a:pt x="3977023" y="3498510"/>
                  </a:lnTo>
                  <a:lnTo>
                    <a:pt x="3977055" y="3498349"/>
                  </a:lnTo>
                  <a:lnTo>
                    <a:pt x="3977995" y="3484079"/>
                  </a:lnTo>
                  <a:lnTo>
                    <a:pt x="3977972" y="109804"/>
                  </a:lnTo>
                  <a:lnTo>
                    <a:pt x="3969642" y="68088"/>
                  </a:lnTo>
                  <a:lnTo>
                    <a:pt x="3945772" y="32535"/>
                  </a:lnTo>
                  <a:lnTo>
                    <a:pt x="3910062" y="8713"/>
                  </a:lnTo>
                  <a:lnTo>
                    <a:pt x="3868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45964" y="1114922"/>
              <a:ext cx="3978275" cy="3594100"/>
            </a:xfrm>
            <a:custGeom>
              <a:avLst/>
              <a:gdLst/>
              <a:ahLst/>
              <a:cxnLst/>
              <a:rect l="l" t="t" r="r" b="b"/>
              <a:pathLst>
                <a:path w="3978275" h="3594100">
                  <a:moveTo>
                    <a:pt x="355" y="109804"/>
                  </a:moveTo>
                  <a:lnTo>
                    <a:pt x="1295" y="95529"/>
                  </a:lnTo>
                  <a:lnTo>
                    <a:pt x="4090" y="81494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868191" y="355"/>
                  </a:lnTo>
                  <a:lnTo>
                    <a:pt x="3910062" y="8713"/>
                  </a:lnTo>
                  <a:lnTo>
                    <a:pt x="3945772" y="32535"/>
                  </a:lnTo>
                  <a:lnTo>
                    <a:pt x="3969642" y="68088"/>
                  </a:lnTo>
                  <a:lnTo>
                    <a:pt x="3977995" y="110159"/>
                  </a:lnTo>
                  <a:lnTo>
                    <a:pt x="3977995" y="3484079"/>
                  </a:lnTo>
                  <a:lnTo>
                    <a:pt x="3977055" y="3498349"/>
                  </a:lnTo>
                  <a:lnTo>
                    <a:pt x="3974260" y="3512385"/>
                  </a:lnTo>
                  <a:lnTo>
                    <a:pt x="3955218" y="3550872"/>
                  </a:lnTo>
                  <a:lnTo>
                    <a:pt x="3923271" y="3579114"/>
                  </a:lnTo>
                  <a:lnTo>
                    <a:pt x="3882621" y="3592944"/>
                  </a:lnTo>
                  <a:lnTo>
                    <a:pt x="3868191" y="3593884"/>
                  </a:lnTo>
                  <a:lnTo>
                    <a:pt x="109791" y="3593884"/>
                  </a:lnTo>
                  <a:lnTo>
                    <a:pt x="67932" y="3585525"/>
                  </a:lnTo>
                  <a:lnTo>
                    <a:pt x="32213" y="3561703"/>
                  </a:lnTo>
                  <a:lnTo>
                    <a:pt x="8352" y="3526151"/>
                  </a:lnTo>
                  <a:lnTo>
                    <a:pt x="0" y="348407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1C4D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970424" y="1167538"/>
            <a:ext cx="130238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2462EA"/>
                </a:solidFill>
                <a:latin typeface="MingLiU_HKSCS-ExtB"/>
                <a:cs typeface="MingLiU_HKSCS-ExtB"/>
              </a:rPr>
              <a:t>🚀</a:t>
            </a:r>
            <a:r>
              <a:rPr sz="1300" spc="-275" dirty="0">
                <a:solidFill>
                  <a:srgbClr val="2462EA"/>
                </a:solidFill>
                <a:latin typeface="MingLiU_HKSCS-ExtB"/>
                <a:cs typeface="MingLiU_HKSCS-ExtB"/>
              </a:rPr>
              <a:t> </a:t>
            </a:r>
            <a:r>
              <a:rPr sz="1100" b="1" spc="-10" dirty="0">
                <a:solidFill>
                  <a:srgbClr val="2462EA"/>
                </a:solidFill>
                <a:latin typeface="Calibri"/>
                <a:cs typeface="Calibri"/>
              </a:rPr>
              <a:t>Deployment</a:t>
            </a:r>
            <a:r>
              <a:rPr sz="1100" b="1" spc="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2462EA"/>
                </a:solidFill>
                <a:latin typeface="Calibri"/>
                <a:cs typeface="Calibri"/>
              </a:rPr>
              <a:t>Facts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976774" y="1502412"/>
            <a:ext cx="3670300" cy="452120"/>
            <a:chOff x="4976774" y="1502412"/>
            <a:chExt cx="3670300" cy="452120"/>
          </a:xfrm>
        </p:grpSpPr>
        <p:sp>
          <p:nvSpPr>
            <p:cNvPr id="27" name="object 27"/>
            <p:cNvSpPr/>
            <p:nvPr/>
          </p:nvSpPr>
          <p:spPr>
            <a:xfrm>
              <a:off x="4983124" y="1508762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594" y="375036"/>
                  </a:lnTo>
                  <a:lnTo>
                    <a:pt x="607" y="375238"/>
                  </a:lnTo>
                  <a:lnTo>
                    <a:pt x="2393" y="384433"/>
                  </a:lnTo>
                  <a:lnTo>
                    <a:pt x="2428" y="384616"/>
                  </a:lnTo>
                  <a:lnTo>
                    <a:pt x="5410" y="393495"/>
                  </a:lnTo>
                  <a:lnTo>
                    <a:pt x="36360" y="429120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81"/>
                  </a:lnTo>
                  <a:lnTo>
                    <a:pt x="3655108" y="384616"/>
                  </a:lnTo>
                  <a:lnTo>
                    <a:pt x="3655169" y="384433"/>
                  </a:lnTo>
                  <a:lnTo>
                    <a:pt x="3656953" y="375238"/>
                  </a:lnTo>
                  <a:lnTo>
                    <a:pt x="3656992" y="375036"/>
                  </a:lnTo>
                  <a:lnTo>
                    <a:pt x="3657577" y="365760"/>
                  </a:lnTo>
                  <a:lnTo>
                    <a:pt x="3657599" y="365404"/>
                  </a:lnTo>
                  <a:lnTo>
                    <a:pt x="3657231" y="73075"/>
                  </a:lnTo>
                  <a:lnTo>
                    <a:pt x="3642140" y="28705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83124" y="1508762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4"/>
                  </a:lnTo>
                  <a:lnTo>
                    <a:pt x="3654802" y="54224"/>
                  </a:lnTo>
                  <a:lnTo>
                    <a:pt x="3657231" y="73075"/>
                  </a:lnTo>
                  <a:lnTo>
                    <a:pt x="3657599" y="365404"/>
                  </a:lnTo>
                  <a:lnTo>
                    <a:pt x="3656992" y="375036"/>
                  </a:lnTo>
                  <a:lnTo>
                    <a:pt x="3655169" y="384433"/>
                  </a:lnTo>
                  <a:lnTo>
                    <a:pt x="3628889" y="423381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089220" y="1496796"/>
            <a:ext cx="1460500" cy="40957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dirty="0">
                <a:solidFill>
                  <a:srgbClr val="2462EA"/>
                </a:solidFill>
                <a:latin typeface="Calibri"/>
                <a:cs typeface="Calibri"/>
              </a:rPr>
              <a:t>Pipeline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speed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&lt;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8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min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total (test+build+deploy)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976774" y="2014336"/>
            <a:ext cx="3670300" cy="452120"/>
            <a:chOff x="4976774" y="2014336"/>
            <a:chExt cx="3670300" cy="452120"/>
          </a:xfrm>
        </p:grpSpPr>
        <p:sp>
          <p:nvSpPr>
            <p:cNvPr id="31" name="object 31"/>
            <p:cNvSpPr/>
            <p:nvPr/>
          </p:nvSpPr>
          <p:spPr>
            <a:xfrm>
              <a:off x="4983124" y="202068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15091" y="410130"/>
                  </a:lnTo>
                  <a:lnTo>
                    <a:pt x="54041" y="436406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76"/>
                  </a:lnTo>
                  <a:lnTo>
                    <a:pt x="3652052" y="393650"/>
                  </a:lnTo>
                  <a:lnTo>
                    <a:pt x="3652129" y="393495"/>
                  </a:lnTo>
                  <a:lnTo>
                    <a:pt x="3657576" y="365760"/>
                  </a:lnTo>
                  <a:lnTo>
                    <a:pt x="3657599" y="365391"/>
                  </a:lnTo>
                  <a:lnTo>
                    <a:pt x="3657231" y="73075"/>
                  </a:lnTo>
                  <a:lnTo>
                    <a:pt x="3642140" y="28698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83124" y="202068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096"/>
                  </a:lnTo>
                  <a:lnTo>
                    <a:pt x="3654802" y="54219"/>
                  </a:lnTo>
                  <a:lnTo>
                    <a:pt x="3657231" y="73075"/>
                  </a:lnTo>
                  <a:lnTo>
                    <a:pt x="3657599" y="365391"/>
                  </a:lnTo>
                  <a:lnTo>
                    <a:pt x="3656992" y="375031"/>
                  </a:lnTo>
                  <a:lnTo>
                    <a:pt x="3655169" y="384432"/>
                  </a:lnTo>
                  <a:lnTo>
                    <a:pt x="3628889" y="423376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089220" y="2008339"/>
            <a:ext cx="1125855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Deployment</a:t>
            </a:r>
            <a:r>
              <a:rPr sz="850" b="1" spc="4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type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Rolling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zero downtime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976774" y="2526616"/>
            <a:ext cx="3670300" cy="452120"/>
            <a:chOff x="4976774" y="2526616"/>
            <a:chExt cx="3670300" cy="452120"/>
          </a:xfrm>
        </p:grpSpPr>
        <p:sp>
          <p:nvSpPr>
            <p:cNvPr id="35" name="object 35"/>
            <p:cNvSpPr/>
            <p:nvPr/>
          </p:nvSpPr>
          <p:spPr>
            <a:xfrm>
              <a:off x="4983124" y="253296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15091" y="410130"/>
                  </a:lnTo>
                  <a:lnTo>
                    <a:pt x="54041" y="436406"/>
                  </a:lnTo>
                  <a:lnTo>
                    <a:pt x="73075" y="438835"/>
                  </a:lnTo>
                  <a:lnTo>
                    <a:pt x="3584511" y="438480"/>
                  </a:lnTo>
                  <a:lnTo>
                    <a:pt x="3628889" y="423376"/>
                  </a:lnTo>
                  <a:lnTo>
                    <a:pt x="3652052" y="393650"/>
                  </a:lnTo>
                  <a:lnTo>
                    <a:pt x="3652129" y="393495"/>
                  </a:lnTo>
                  <a:lnTo>
                    <a:pt x="3657576" y="365760"/>
                  </a:lnTo>
                  <a:lnTo>
                    <a:pt x="3657599" y="365391"/>
                  </a:lnTo>
                  <a:lnTo>
                    <a:pt x="3657231" y="73075"/>
                  </a:lnTo>
                  <a:lnTo>
                    <a:pt x="3642140" y="28698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83124" y="2532966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096"/>
                  </a:lnTo>
                  <a:lnTo>
                    <a:pt x="3654802" y="54219"/>
                  </a:lnTo>
                  <a:lnTo>
                    <a:pt x="3657231" y="73075"/>
                  </a:lnTo>
                  <a:lnTo>
                    <a:pt x="3657599" y="365391"/>
                  </a:lnTo>
                  <a:lnTo>
                    <a:pt x="3656992" y="375031"/>
                  </a:lnTo>
                  <a:lnTo>
                    <a:pt x="3655169" y="384432"/>
                  </a:lnTo>
                  <a:lnTo>
                    <a:pt x="3628889" y="423376"/>
                  </a:lnTo>
                  <a:lnTo>
                    <a:pt x="35845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089220" y="2520263"/>
            <a:ext cx="134874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Rollback</a:t>
            </a:r>
            <a:r>
              <a:rPr sz="850" b="1" spc="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2462EA"/>
                </a:solidFill>
                <a:latin typeface="Calibri"/>
                <a:cs typeface="Calibri"/>
              </a:rPr>
              <a:t>time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&lt; 60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seconds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(previous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image)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976774" y="3038527"/>
            <a:ext cx="3670300" cy="452120"/>
            <a:chOff x="4976774" y="3038527"/>
            <a:chExt cx="3670300" cy="452120"/>
          </a:xfrm>
        </p:grpSpPr>
        <p:sp>
          <p:nvSpPr>
            <p:cNvPr id="39" name="object 39"/>
            <p:cNvSpPr/>
            <p:nvPr/>
          </p:nvSpPr>
          <p:spPr>
            <a:xfrm>
              <a:off x="4983124" y="304487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59"/>
                  </a:lnTo>
                  <a:lnTo>
                    <a:pt x="5412" y="393500"/>
                  </a:lnTo>
                  <a:lnTo>
                    <a:pt x="5464" y="393656"/>
                  </a:lnTo>
                  <a:lnTo>
                    <a:pt x="36360" y="429120"/>
                  </a:lnTo>
                  <a:lnTo>
                    <a:pt x="73075" y="438848"/>
                  </a:lnTo>
                  <a:lnTo>
                    <a:pt x="3584511" y="438480"/>
                  </a:lnTo>
                  <a:lnTo>
                    <a:pt x="3628889" y="423388"/>
                  </a:lnTo>
                  <a:lnTo>
                    <a:pt x="3655109" y="384616"/>
                  </a:lnTo>
                  <a:lnTo>
                    <a:pt x="3656953" y="375238"/>
                  </a:lnTo>
                  <a:lnTo>
                    <a:pt x="3656992" y="375038"/>
                  </a:lnTo>
                  <a:lnTo>
                    <a:pt x="3657577" y="365759"/>
                  </a:lnTo>
                  <a:lnTo>
                    <a:pt x="3657599" y="365404"/>
                  </a:lnTo>
                  <a:lnTo>
                    <a:pt x="3657231" y="73088"/>
                  </a:lnTo>
                  <a:lnTo>
                    <a:pt x="3642140" y="28710"/>
                  </a:lnTo>
                  <a:lnTo>
                    <a:pt x="3603190" y="2430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983124" y="304487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9"/>
                  </a:lnTo>
                  <a:lnTo>
                    <a:pt x="3654802" y="54232"/>
                  </a:lnTo>
                  <a:lnTo>
                    <a:pt x="3657231" y="73088"/>
                  </a:lnTo>
                  <a:lnTo>
                    <a:pt x="3657599" y="365404"/>
                  </a:lnTo>
                  <a:lnTo>
                    <a:pt x="3656992" y="375038"/>
                  </a:lnTo>
                  <a:lnTo>
                    <a:pt x="3655169" y="384438"/>
                  </a:lnTo>
                  <a:lnTo>
                    <a:pt x="3628889" y="423388"/>
                  </a:lnTo>
                  <a:lnTo>
                    <a:pt x="358451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5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089220" y="3032543"/>
            <a:ext cx="133477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spc="-25" dirty="0">
                <a:solidFill>
                  <a:srgbClr val="2462EA"/>
                </a:solidFill>
                <a:latin typeface="Calibri"/>
                <a:cs typeface="Calibri"/>
              </a:rPr>
              <a:t>Test</a:t>
            </a:r>
            <a:r>
              <a:rPr sz="850" b="1" spc="-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coverage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JUnit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5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Vitest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k6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load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tests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976774" y="3550807"/>
            <a:ext cx="3670300" cy="452120"/>
            <a:chOff x="4976774" y="3550807"/>
            <a:chExt cx="3670300" cy="452120"/>
          </a:xfrm>
        </p:grpSpPr>
        <p:sp>
          <p:nvSpPr>
            <p:cNvPr id="43" name="object 43"/>
            <p:cNvSpPr/>
            <p:nvPr/>
          </p:nvSpPr>
          <p:spPr>
            <a:xfrm>
              <a:off x="4983124" y="355715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59"/>
                  </a:lnTo>
                  <a:lnTo>
                    <a:pt x="5412" y="393500"/>
                  </a:lnTo>
                  <a:lnTo>
                    <a:pt x="5464" y="393656"/>
                  </a:lnTo>
                  <a:lnTo>
                    <a:pt x="36360" y="429120"/>
                  </a:lnTo>
                  <a:lnTo>
                    <a:pt x="73075" y="438848"/>
                  </a:lnTo>
                  <a:lnTo>
                    <a:pt x="3584511" y="438480"/>
                  </a:lnTo>
                  <a:lnTo>
                    <a:pt x="3628889" y="423388"/>
                  </a:lnTo>
                  <a:lnTo>
                    <a:pt x="3655109" y="384616"/>
                  </a:lnTo>
                  <a:lnTo>
                    <a:pt x="3656953" y="375238"/>
                  </a:lnTo>
                  <a:lnTo>
                    <a:pt x="3656992" y="375038"/>
                  </a:lnTo>
                  <a:lnTo>
                    <a:pt x="3657577" y="365759"/>
                  </a:lnTo>
                  <a:lnTo>
                    <a:pt x="3657599" y="365404"/>
                  </a:lnTo>
                  <a:lnTo>
                    <a:pt x="3657231" y="73088"/>
                  </a:lnTo>
                  <a:lnTo>
                    <a:pt x="3642140" y="28710"/>
                  </a:lnTo>
                  <a:lnTo>
                    <a:pt x="3603190" y="2430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EE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83124" y="3557157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9"/>
                  </a:lnTo>
                  <a:lnTo>
                    <a:pt x="3654802" y="54232"/>
                  </a:lnTo>
                  <a:lnTo>
                    <a:pt x="3657231" y="73088"/>
                  </a:lnTo>
                  <a:lnTo>
                    <a:pt x="3657599" y="365404"/>
                  </a:lnTo>
                  <a:lnTo>
                    <a:pt x="3656992" y="375038"/>
                  </a:lnTo>
                  <a:lnTo>
                    <a:pt x="3655169" y="384438"/>
                  </a:lnTo>
                  <a:lnTo>
                    <a:pt x="3628889" y="423388"/>
                  </a:lnTo>
                  <a:lnTo>
                    <a:pt x="358451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5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BED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089220" y="3544467"/>
            <a:ext cx="1513840" cy="41020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850" b="1" dirty="0">
                <a:solidFill>
                  <a:srgbClr val="2462EA"/>
                </a:solidFill>
                <a:latin typeface="Calibri"/>
                <a:cs typeface="Calibri"/>
              </a:rPr>
              <a:t>Secret</a:t>
            </a:r>
            <a:r>
              <a:rPr sz="85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462EA"/>
                </a:solidFill>
                <a:latin typeface="Calibri"/>
                <a:cs typeface="Calibri"/>
              </a:rPr>
              <a:t>management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GitHub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Environments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+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Robi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Vault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47" name="object 47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18744" y="4730580"/>
            <a:ext cx="5681980" cy="2984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ts val="1240"/>
              </a:lnSpc>
              <a:spcBef>
                <a:spcPts val="114"/>
              </a:spcBef>
            </a:pPr>
            <a:r>
              <a:rPr sz="1100" spc="-190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200" spc="-284" baseline="6944" dirty="0">
                <a:solidFill>
                  <a:srgbClr val="E1E7EF"/>
                </a:solidFill>
                <a:latin typeface="Courier New"/>
                <a:cs typeface="Courier New"/>
              </a:rPr>
              <a:t>Al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C</a:t>
            </a:r>
            <a:r>
              <a:rPr sz="1200" spc="-284" baseline="6944" dirty="0">
                <a:solidFill>
                  <a:srgbClr val="E1E7EF"/>
                </a:solidFill>
                <a:latin typeface="Courier New"/>
                <a:cs typeface="Courier New"/>
              </a:rPr>
              <a:t>l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I/C</a:t>
            </a:r>
            <a:r>
              <a:rPr sz="1200" spc="-284" baseline="6944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D</a:t>
            </a:r>
            <a:r>
              <a:rPr sz="1200" spc="-284" baseline="6944" dirty="0">
                <a:solidFill>
                  <a:srgbClr val="E1E7EF"/>
                </a:solidFill>
                <a:latin typeface="Courier New"/>
                <a:cs typeface="Courier New"/>
              </a:rPr>
              <a:t>mo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284" baseline="6944" dirty="0">
                <a:solidFill>
                  <a:srgbClr val="E1E7EF"/>
                </a:solidFill>
                <a:latin typeface="Courier New"/>
                <a:cs typeface="Courier New"/>
              </a:rPr>
              <a:t>u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ip</a:t>
            </a:r>
            <a:r>
              <a:rPr sz="1200" spc="-284" baseline="6944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:</a:t>
            </a:r>
            <a:r>
              <a:rPr sz="1200" spc="-284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f</a:t>
            </a:r>
            <a:r>
              <a:rPr sz="1200" spc="-284" baseline="6944" dirty="0">
                <a:solidFill>
                  <a:srgbClr val="E1E7EF"/>
                </a:solidFill>
                <a:latin typeface="Courier New"/>
                <a:cs typeface="Courier New"/>
              </a:rPr>
              <a:t>s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ail</a:t>
            </a:r>
            <a:r>
              <a:rPr sz="1200" spc="-284" baseline="6944" dirty="0">
                <a:solidFill>
                  <a:srgbClr val="E1E7EF"/>
                </a:solidFill>
                <a:latin typeface="Courier New"/>
                <a:cs typeface="Courier New"/>
              </a:rPr>
              <a:t>c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1200" spc="-284" baseline="6944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g</a:t>
            </a:r>
            <a:r>
              <a:rPr sz="1200" spc="-284" baseline="6944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284" baseline="6944" dirty="0">
                <a:solidFill>
                  <a:srgbClr val="E1E7EF"/>
                </a:solidFill>
                <a:latin typeface="Courier New"/>
                <a:cs typeface="Courier New"/>
              </a:rPr>
              <a:t>ve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1200" spc="-284" baseline="6944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R</a:t>
            </a:r>
            <a:r>
              <a:rPr sz="1200" spc="-284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284" baseline="6944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190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1200" spc="-284" baseline="6944" dirty="0">
                <a:solidFill>
                  <a:srgbClr val="E1E7EF"/>
                </a:solidFill>
                <a:latin typeface="Courier New"/>
                <a:cs typeface="Courier New"/>
              </a:rPr>
              <a:t>d</a:t>
            </a:r>
            <a:r>
              <a:rPr sz="1200" spc="-562" baseline="6944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950" spc="-165" dirty="0">
                <a:solidFill>
                  <a:srgbClr val="774409"/>
                </a:solidFill>
                <a:latin typeface="Calibri"/>
                <a:cs typeface="Calibri"/>
              </a:rPr>
              <a:t>te</a:t>
            </a:r>
            <a:r>
              <a:rPr sz="1200" spc="-247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6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247" baseline="6944" dirty="0">
                <a:solidFill>
                  <a:srgbClr val="E1E7EF"/>
                </a:solidFill>
                <a:latin typeface="Courier New"/>
                <a:cs typeface="Courier New"/>
              </a:rPr>
              <a:t>o</a:t>
            </a:r>
            <a:r>
              <a:rPr sz="950" spc="-165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f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B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D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il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ure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us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is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i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n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h</a:t>
            </a:r>
            <a:r>
              <a:rPr sz="1200" spc="-270" baseline="6944" dirty="0">
                <a:solidFill>
                  <a:srgbClr val="E1E7EF"/>
                </a:solidFill>
                <a:latin typeface="Courier New"/>
                <a:cs typeface="Courier New"/>
              </a:rPr>
              <a:t>g</a:t>
            </a:r>
            <a:r>
              <a:rPr sz="950" spc="-180" dirty="0">
                <a:solidFill>
                  <a:srgbClr val="774409"/>
                </a:solidFill>
                <a:latin typeface="Calibri"/>
                <a:cs typeface="Calibri"/>
              </a:rPr>
              <a:t>e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670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1200" spc="-7" baseline="6944" dirty="0">
                <a:solidFill>
                  <a:srgbClr val="E1E7EF"/>
                </a:solidFill>
                <a:latin typeface="Courier New"/>
                <a:cs typeface="Courier New"/>
              </a:rPr>
              <a:t>f</a:t>
            </a:r>
            <a:r>
              <a:rPr sz="1200" spc="-494" baseline="6944" dirty="0">
                <a:solidFill>
                  <a:srgbClr val="E1E7EF"/>
                </a:solidFill>
                <a:latin typeface="Courier New"/>
                <a:cs typeface="Courier New"/>
              </a:rPr>
              <a:t>x</a:t>
            </a:r>
            <a:r>
              <a:rPr sz="950" spc="-185" dirty="0">
                <a:solidFill>
                  <a:srgbClr val="774409"/>
                </a:solidFill>
                <a:latin typeface="Calibri"/>
                <a:cs typeface="Calibri"/>
              </a:rPr>
              <a:t>o</a:t>
            </a:r>
            <a:r>
              <a:rPr sz="1200" spc="-472" baseline="6944" dirty="0">
                <a:solidFill>
                  <a:srgbClr val="E1E7EF"/>
                </a:solidFill>
                <a:latin typeface="Courier New"/>
                <a:cs typeface="Courier New"/>
              </a:rPr>
              <a:t>_</a:t>
            </a:r>
            <a:r>
              <a:rPr sz="950" spc="-65" dirty="0">
                <a:solidFill>
                  <a:srgbClr val="774409"/>
                </a:solidFill>
                <a:latin typeface="Calibri"/>
                <a:cs typeface="Calibri"/>
              </a:rPr>
              <a:t>s</a:t>
            </a:r>
            <a:r>
              <a:rPr sz="1200" spc="-660" baseline="6944" dirty="0">
                <a:solidFill>
                  <a:srgbClr val="E1E7EF"/>
                </a:solidFill>
                <a:latin typeface="Courier New"/>
                <a:cs typeface="Courier New"/>
              </a:rPr>
              <a:t>r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7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1200" spc="-592" baseline="6944" dirty="0">
                <a:solidFill>
                  <a:srgbClr val="E1E7EF"/>
                </a:solidFill>
                <a:latin typeface="Courier New"/>
                <a:cs typeface="Courier New"/>
              </a:rPr>
              <a:t>a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i</a:t>
            </a:r>
            <a:r>
              <a:rPr sz="950" spc="-585" dirty="0">
                <a:solidFill>
                  <a:srgbClr val="774409"/>
                </a:solidFill>
                <a:latin typeface="Calibri"/>
                <a:cs typeface="Calibri"/>
              </a:rPr>
              <a:t>m</a:t>
            </a:r>
            <a:r>
              <a:rPr sz="1200" spc="-7" baseline="6944" dirty="0">
                <a:solidFill>
                  <a:srgbClr val="E1E7EF"/>
                </a:solidFill>
                <a:latin typeface="Courier New"/>
                <a:cs typeface="Courier New"/>
              </a:rPr>
              <a:t>t</a:t>
            </a:r>
            <a:r>
              <a:rPr sz="1200" spc="-607" baseline="6944" dirty="0">
                <a:solidFill>
                  <a:srgbClr val="E1E7EF"/>
                </a:solidFill>
                <a:latin typeface="Courier New"/>
                <a:cs typeface="Courier New"/>
              </a:rPr>
              <a:t>e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p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or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n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safety</a:t>
            </a:r>
            <a:r>
              <a:rPr sz="950" spc="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net.</a:t>
            </a:r>
            <a:r>
              <a:rPr sz="950" spc="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Never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merge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without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green</a:t>
            </a:r>
            <a:r>
              <a:rPr sz="950" spc="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CI</a:t>
            </a:r>
            <a:r>
              <a:rPr sz="950" spc="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pipeline.</a:t>
            </a:r>
            <a:endParaRPr sz="950">
              <a:latin typeface="Calibri"/>
              <a:cs typeface="Calibri"/>
            </a:endParaRPr>
          </a:p>
          <a:p>
            <a:pPr marL="152400">
              <a:lnSpc>
                <a:spcPts val="880"/>
              </a:lnSpc>
            </a:pP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Report</a:t>
            </a:r>
            <a:r>
              <a:rPr sz="800" spc="4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shows:</a:t>
            </a:r>
            <a:r>
              <a:rPr sz="800" spc="6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amount_original</a:t>
            </a:r>
            <a:r>
              <a:rPr sz="800" spc="6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currency</a:t>
            </a:r>
            <a:r>
              <a:rPr sz="800" spc="55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E1E7EF"/>
                </a:solidFill>
                <a:latin typeface="Courier New"/>
                <a:cs typeface="Courier New"/>
              </a:rPr>
              <a:t>+</a:t>
            </a:r>
            <a:r>
              <a:rPr sz="800" spc="50" dirty="0">
                <a:solidFill>
                  <a:srgbClr val="E1E7E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E1E7EF"/>
                </a:solidFill>
                <a:latin typeface="Courier New"/>
                <a:cs typeface="Courier New"/>
              </a:rPr>
              <a:t>amount_bdt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2B7"/>
                </a:solidFill>
                <a:latin typeface="Calibri"/>
                <a:cs typeface="Calibri"/>
              </a:rPr>
              <a:t>74 /</a:t>
            </a:r>
            <a:r>
              <a:rPr sz="8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93A2B7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9356" y="502198"/>
            <a:ext cx="1280795" cy="329565"/>
          </a:xfrm>
          <a:custGeom>
            <a:avLst/>
            <a:gdLst/>
            <a:ahLst/>
            <a:cxnLst/>
            <a:rect l="l" t="t" r="r" b="b"/>
            <a:pathLst>
              <a:path w="1280795" h="329565">
                <a:moveTo>
                  <a:pt x="91808" y="0"/>
                </a:moveTo>
                <a:lnTo>
                  <a:pt x="46088" y="12242"/>
                </a:lnTo>
                <a:lnTo>
                  <a:pt x="12598" y="45720"/>
                </a:lnTo>
                <a:lnTo>
                  <a:pt x="368" y="91439"/>
                </a:lnTo>
                <a:lnTo>
                  <a:pt x="0" y="237959"/>
                </a:lnTo>
                <a:lnTo>
                  <a:pt x="798" y="249966"/>
                </a:lnTo>
                <a:lnTo>
                  <a:pt x="18843" y="293724"/>
                </a:lnTo>
                <a:lnTo>
                  <a:pt x="56512" y="322418"/>
                </a:lnTo>
                <a:lnTo>
                  <a:pt x="91439" y="329399"/>
                </a:lnTo>
                <a:lnTo>
                  <a:pt x="1189088" y="329399"/>
                </a:lnTo>
                <a:lnTo>
                  <a:pt x="1234808" y="317169"/>
                </a:lnTo>
                <a:lnTo>
                  <a:pt x="1268285" y="283679"/>
                </a:lnTo>
                <a:lnTo>
                  <a:pt x="1280528" y="237959"/>
                </a:lnTo>
                <a:lnTo>
                  <a:pt x="1280503" y="91439"/>
                </a:lnTo>
                <a:lnTo>
                  <a:pt x="1268285" y="46088"/>
                </a:lnTo>
                <a:lnTo>
                  <a:pt x="1234808" y="12598"/>
                </a:lnTo>
                <a:lnTo>
                  <a:pt x="1189088" y="368"/>
                </a:lnTo>
                <a:lnTo>
                  <a:pt x="91808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2901" y="578067"/>
            <a:ext cx="6343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0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27024" y="1020142"/>
            <a:ext cx="665480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/>
              <a:t>Live</a:t>
            </a:r>
            <a:r>
              <a:rPr sz="4200" spc="-110" dirty="0"/>
              <a:t> </a:t>
            </a:r>
            <a:r>
              <a:rPr sz="4200" dirty="0"/>
              <a:t>Project</a:t>
            </a:r>
            <a:r>
              <a:rPr sz="4200" spc="-114" dirty="0"/>
              <a:t> </a:t>
            </a:r>
            <a:r>
              <a:rPr sz="4200" dirty="0"/>
              <a:t>—</a:t>
            </a:r>
            <a:r>
              <a:rPr sz="4200" spc="-105" dirty="0"/>
              <a:t> </a:t>
            </a:r>
            <a:r>
              <a:rPr sz="4200" spc="-40" dirty="0"/>
              <a:t>WAMY</a:t>
            </a:r>
            <a:r>
              <a:rPr sz="4200" spc="-110" dirty="0"/>
              <a:t> </a:t>
            </a:r>
            <a:r>
              <a:rPr sz="4200" spc="-10" dirty="0"/>
              <a:t>Finance</a:t>
            </a:r>
            <a:endParaRPr sz="4200"/>
          </a:p>
        </p:txBody>
      </p:sp>
      <p:sp>
        <p:nvSpPr>
          <p:cNvPr id="6" name="object 6"/>
          <p:cNvSpPr txBox="1"/>
          <p:nvPr/>
        </p:nvSpPr>
        <p:spPr>
          <a:xfrm>
            <a:off x="627024" y="1838428"/>
            <a:ext cx="402653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125" dirty="0">
                <a:solidFill>
                  <a:srgbClr val="F49D0A"/>
                </a:solidFill>
                <a:latin typeface="+mn-lt"/>
                <a:cs typeface="Arial"/>
              </a:rPr>
              <a:t>End-</a:t>
            </a:r>
            <a:r>
              <a:rPr sz="1500" i="1" spc="-25" dirty="0">
                <a:solidFill>
                  <a:srgbClr val="F49D0A"/>
                </a:solidFill>
                <a:latin typeface="+mn-lt"/>
                <a:cs typeface="Arial"/>
              </a:rPr>
              <a:t>to-</a:t>
            </a:r>
            <a:r>
              <a:rPr sz="1500" i="1" spc="-95" dirty="0">
                <a:solidFill>
                  <a:srgbClr val="F49D0A"/>
                </a:solidFill>
                <a:latin typeface="+mn-lt"/>
                <a:cs typeface="Arial"/>
              </a:rPr>
              <a:t>end</a:t>
            </a:r>
            <a:r>
              <a:rPr sz="1500" i="1" spc="-5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45" dirty="0">
                <a:solidFill>
                  <a:srgbClr val="F49D0A"/>
                </a:solidFill>
                <a:latin typeface="+mn-lt"/>
                <a:cs typeface="Arial"/>
              </a:rPr>
              <a:t>walkthrough</a:t>
            </a:r>
            <a:r>
              <a:rPr sz="1500" i="1" spc="-60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125" dirty="0">
                <a:solidFill>
                  <a:srgbClr val="F49D0A"/>
                </a:solidFill>
                <a:latin typeface="+mn-lt"/>
                <a:cs typeface="Arial"/>
              </a:rPr>
              <a:t>·</a:t>
            </a:r>
            <a:r>
              <a:rPr sz="1500" i="1" spc="-55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50" dirty="0">
                <a:solidFill>
                  <a:srgbClr val="F49D0A"/>
                </a:solidFill>
                <a:latin typeface="+mn-lt"/>
                <a:cs typeface="Arial"/>
              </a:rPr>
              <a:t>All</a:t>
            </a:r>
            <a:r>
              <a:rPr sz="1500" i="1" spc="-60" dirty="0">
                <a:solidFill>
                  <a:srgbClr val="F49D0A"/>
                </a:solidFill>
                <a:latin typeface="+mn-lt"/>
                <a:cs typeface="Arial"/>
              </a:rPr>
              <a:t> prompts</a:t>
            </a:r>
            <a:r>
              <a:rPr sz="1500" i="1" spc="-55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45" dirty="0">
                <a:solidFill>
                  <a:srgbClr val="F49D0A"/>
                </a:solidFill>
                <a:latin typeface="+mn-lt"/>
                <a:cs typeface="Arial"/>
              </a:rPr>
              <a:t>in</a:t>
            </a:r>
            <a:r>
              <a:rPr sz="1500" i="1" spc="-55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95" dirty="0">
                <a:solidFill>
                  <a:srgbClr val="F49D0A"/>
                </a:solidFill>
                <a:latin typeface="+mn-lt"/>
                <a:cs typeface="Arial"/>
              </a:rPr>
              <a:t>one</a:t>
            </a:r>
            <a:r>
              <a:rPr sz="1500" i="1" spc="-55" dirty="0">
                <a:solidFill>
                  <a:srgbClr val="F49D0A"/>
                </a:solidFill>
                <a:latin typeface="+mn-lt"/>
                <a:cs typeface="Arial"/>
              </a:rPr>
              <a:t> </a:t>
            </a:r>
            <a:r>
              <a:rPr sz="1500" i="1" spc="-75" dirty="0">
                <a:solidFill>
                  <a:srgbClr val="F49D0A"/>
                </a:solidFill>
                <a:latin typeface="+mn-lt"/>
                <a:cs typeface="Arial"/>
              </a:rPr>
              <a:t>session</a:t>
            </a:r>
            <a:endParaRPr sz="1500" dirty="0">
              <a:latin typeface="+mn-lt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4800" y="2325422"/>
            <a:ext cx="2024380" cy="515620"/>
            <a:chOff x="633424" y="2325422"/>
            <a:chExt cx="2024380" cy="515620"/>
          </a:xfrm>
        </p:grpSpPr>
        <p:sp>
          <p:nvSpPr>
            <p:cNvPr id="8" name="object 8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191987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5" y="434789"/>
                  </a:lnTo>
                  <a:lnTo>
                    <a:pt x="3148" y="435149"/>
                  </a:lnTo>
                  <a:lnTo>
                    <a:pt x="6859" y="446051"/>
                  </a:lnTo>
                  <a:lnTo>
                    <a:pt x="35675" y="484083"/>
                  </a:lnTo>
                  <a:lnTo>
                    <a:pt x="79433" y="502121"/>
                  </a:lnTo>
                  <a:lnTo>
                    <a:pt x="91440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08402" y="435149"/>
                  </a:lnTo>
                  <a:lnTo>
                    <a:pt x="2008525" y="434789"/>
                  </a:lnTo>
                  <a:lnTo>
                    <a:pt x="2010806" y="423485"/>
                  </a:lnTo>
                  <a:lnTo>
                    <a:pt x="2010879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11" y="91439"/>
                  </a:lnTo>
                  <a:lnTo>
                    <a:pt x="1999081" y="45719"/>
                  </a:lnTo>
                  <a:lnTo>
                    <a:pt x="1965591" y="12242"/>
                  </a:lnTo>
                  <a:lnTo>
                    <a:pt x="1931878" y="798"/>
                  </a:lnTo>
                  <a:lnTo>
                    <a:pt x="1919871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9724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19">
                  <a:moveTo>
                    <a:pt x="0" y="91439"/>
                  </a:moveTo>
                  <a:lnTo>
                    <a:pt x="798" y="79434"/>
                  </a:lnTo>
                  <a:lnTo>
                    <a:pt x="3148" y="67770"/>
                  </a:lnTo>
                  <a:lnTo>
                    <a:pt x="26679" y="26681"/>
                  </a:lnTo>
                  <a:lnTo>
                    <a:pt x="67765" y="3149"/>
                  </a:lnTo>
                  <a:lnTo>
                    <a:pt x="91440" y="0"/>
                  </a:lnTo>
                  <a:lnTo>
                    <a:pt x="1919871" y="0"/>
                  </a:lnTo>
                  <a:lnTo>
                    <a:pt x="1965591" y="12242"/>
                  </a:lnTo>
                  <a:lnTo>
                    <a:pt x="1999081" y="45719"/>
                  </a:lnTo>
                  <a:lnTo>
                    <a:pt x="2011311" y="91439"/>
                  </a:lnTo>
                  <a:lnTo>
                    <a:pt x="2011679" y="411124"/>
                  </a:lnTo>
                  <a:lnTo>
                    <a:pt x="2010879" y="423124"/>
                  </a:lnTo>
                  <a:lnTo>
                    <a:pt x="2008525" y="434789"/>
                  </a:lnTo>
                  <a:lnTo>
                    <a:pt x="1984989" y="475873"/>
                  </a:lnTo>
                  <a:lnTo>
                    <a:pt x="1943904" y="499410"/>
                  </a:lnTo>
                  <a:lnTo>
                    <a:pt x="91440" y="502919"/>
                  </a:lnTo>
                  <a:lnTo>
                    <a:pt x="45720" y="490677"/>
                  </a:lnTo>
                  <a:lnTo>
                    <a:pt x="12230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18312" y="2497939"/>
            <a:ext cx="7956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Live</a:t>
            </a:r>
            <a:r>
              <a:rPr sz="950" spc="-4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Demo</a:t>
            </a:r>
            <a:r>
              <a:rPr sz="950" spc="-45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9FC7FF"/>
                </a:solidFill>
                <a:latin typeface="Calibri"/>
                <a:cs typeface="Calibri"/>
              </a:rPr>
              <a:t>Flow</a:t>
            </a:r>
            <a:endParaRPr sz="95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80996" y="2325422"/>
            <a:ext cx="2024380" cy="515620"/>
            <a:chOff x="2809620" y="2325422"/>
            <a:chExt cx="2024380" cy="515620"/>
          </a:xfrm>
        </p:grpSpPr>
        <p:sp>
          <p:nvSpPr>
            <p:cNvPr id="12" name="object 12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76" y="484083"/>
                  </a:lnTo>
                  <a:lnTo>
                    <a:pt x="79433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37" y="456844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79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15920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79" y="411124"/>
                  </a:lnTo>
                  <a:lnTo>
                    <a:pt x="2010881" y="423124"/>
                  </a:lnTo>
                  <a:lnTo>
                    <a:pt x="2008530" y="434789"/>
                  </a:lnTo>
                  <a:lnTo>
                    <a:pt x="1984994" y="475873"/>
                  </a:lnTo>
                  <a:lnTo>
                    <a:pt x="1943909" y="499410"/>
                  </a:lnTo>
                  <a:lnTo>
                    <a:pt x="91439" y="502919"/>
                  </a:lnTo>
                  <a:lnTo>
                    <a:pt x="45719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99195" y="2497939"/>
            <a:ext cx="7867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40</a:t>
            </a:r>
            <a:r>
              <a:rPr sz="950" spc="-4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Key</a:t>
            </a:r>
            <a:r>
              <a:rPr sz="950" spc="-4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Prompts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57192" y="2325422"/>
            <a:ext cx="2024380" cy="515620"/>
            <a:chOff x="4985816" y="2325422"/>
            <a:chExt cx="2024380" cy="515620"/>
          </a:xfrm>
        </p:grpSpPr>
        <p:sp>
          <p:nvSpPr>
            <p:cNvPr id="16" name="object 16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191988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6" y="434789"/>
                  </a:lnTo>
                  <a:lnTo>
                    <a:pt x="3149" y="435149"/>
                  </a:lnTo>
                  <a:lnTo>
                    <a:pt x="6864" y="446051"/>
                  </a:lnTo>
                  <a:lnTo>
                    <a:pt x="35683" y="484083"/>
                  </a:lnTo>
                  <a:lnTo>
                    <a:pt x="79440" y="502121"/>
                  </a:lnTo>
                  <a:lnTo>
                    <a:pt x="91439" y="502919"/>
                  </a:lnTo>
                  <a:lnTo>
                    <a:pt x="1920239" y="502564"/>
                  </a:lnTo>
                  <a:lnTo>
                    <a:pt x="1965960" y="490321"/>
                  </a:lnTo>
                  <a:lnTo>
                    <a:pt x="1999449" y="456844"/>
                  </a:lnTo>
                  <a:lnTo>
                    <a:pt x="2008409" y="435149"/>
                  </a:lnTo>
                  <a:lnTo>
                    <a:pt x="2008531" y="434789"/>
                  </a:lnTo>
                  <a:lnTo>
                    <a:pt x="2010808" y="423485"/>
                  </a:lnTo>
                  <a:lnTo>
                    <a:pt x="2010881" y="423124"/>
                  </a:lnTo>
                  <a:lnTo>
                    <a:pt x="2011656" y="411479"/>
                  </a:lnTo>
                  <a:lnTo>
                    <a:pt x="2011680" y="411124"/>
                  </a:lnTo>
                  <a:lnTo>
                    <a:pt x="2011324" y="91439"/>
                  </a:lnTo>
                  <a:lnTo>
                    <a:pt x="1999081" y="45719"/>
                  </a:lnTo>
                  <a:lnTo>
                    <a:pt x="1965604" y="12242"/>
                  </a:lnTo>
                  <a:lnTo>
                    <a:pt x="1931889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92116" y="233172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1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90" y="26681"/>
                  </a:lnTo>
                  <a:lnTo>
                    <a:pt x="67775" y="3149"/>
                  </a:lnTo>
                  <a:lnTo>
                    <a:pt x="91439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99081" y="45719"/>
                  </a:lnTo>
                  <a:lnTo>
                    <a:pt x="2011324" y="91439"/>
                  </a:lnTo>
                  <a:lnTo>
                    <a:pt x="2011680" y="411124"/>
                  </a:lnTo>
                  <a:lnTo>
                    <a:pt x="2010881" y="423124"/>
                  </a:lnTo>
                  <a:lnTo>
                    <a:pt x="2008531" y="434789"/>
                  </a:lnTo>
                  <a:lnTo>
                    <a:pt x="1985000" y="475873"/>
                  </a:lnTo>
                  <a:lnTo>
                    <a:pt x="1943914" y="499410"/>
                  </a:lnTo>
                  <a:lnTo>
                    <a:pt x="91439" y="502919"/>
                  </a:lnTo>
                  <a:lnTo>
                    <a:pt x="45720" y="490677"/>
                  </a:lnTo>
                  <a:lnTo>
                    <a:pt x="12242" y="457200"/>
                  </a:lnTo>
                  <a:lnTo>
                    <a:pt x="0" y="41147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80521" y="2497939"/>
            <a:ext cx="5759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Action</a:t>
            </a:r>
            <a:r>
              <a:rPr sz="950" spc="-5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9FC7FF"/>
                </a:solidFill>
                <a:latin typeface="Calibri"/>
                <a:cs typeface="Calibri"/>
              </a:rPr>
              <a:t>Plan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33755" y="2325422"/>
            <a:ext cx="1987550" cy="515620"/>
            <a:chOff x="7162379" y="2325422"/>
            <a:chExt cx="1987550" cy="515620"/>
          </a:xfrm>
        </p:grpSpPr>
        <p:sp>
          <p:nvSpPr>
            <p:cNvPr id="20" name="object 20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1988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12242" y="457200"/>
                  </a:lnTo>
                  <a:lnTo>
                    <a:pt x="45720" y="490677"/>
                  </a:lnTo>
                  <a:lnTo>
                    <a:pt x="91440" y="502919"/>
                  </a:lnTo>
                  <a:lnTo>
                    <a:pt x="1920240" y="502564"/>
                  </a:lnTo>
                  <a:lnTo>
                    <a:pt x="1965960" y="490321"/>
                  </a:lnTo>
                  <a:lnTo>
                    <a:pt x="1974951" y="484412"/>
                  </a:lnTo>
                  <a:lnTo>
                    <a:pt x="1974951" y="18383"/>
                  </a:lnTo>
                  <a:lnTo>
                    <a:pt x="1931884" y="798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68679" y="2331722"/>
              <a:ext cx="1975485" cy="502920"/>
            </a:xfrm>
            <a:custGeom>
              <a:avLst/>
              <a:gdLst/>
              <a:ahLst/>
              <a:cxnLst/>
              <a:rect l="l" t="t" r="r" b="b"/>
              <a:pathLst>
                <a:path w="1975484" h="502919">
                  <a:moveTo>
                    <a:pt x="1974951" y="484412"/>
                  </a:moveTo>
                  <a:lnTo>
                    <a:pt x="1932245" y="501764"/>
                  </a:lnTo>
                  <a:lnTo>
                    <a:pt x="91440" y="502919"/>
                  </a:lnTo>
                  <a:lnTo>
                    <a:pt x="79434" y="502121"/>
                  </a:lnTo>
                  <a:lnTo>
                    <a:pt x="35676" y="484083"/>
                  </a:lnTo>
                  <a:lnTo>
                    <a:pt x="6986" y="446409"/>
                  </a:lnTo>
                  <a:lnTo>
                    <a:pt x="0" y="411479"/>
                  </a:lnTo>
                  <a:lnTo>
                    <a:pt x="0" y="91439"/>
                  </a:lnTo>
                  <a:lnTo>
                    <a:pt x="12242" y="45719"/>
                  </a:lnTo>
                  <a:lnTo>
                    <a:pt x="45720" y="12242"/>
                  </a:lnTo>
                  <a:lnTo>
                    <a:pt x="91440" y="0"/>
                  </a:lnTo>
                  <a:lnTo>
                    <a:pt x="1919884" y="0"/>
                  </a:lnTo>
                  <a:lnTo>
                    <a:pt x="1965604" y="12242"/>
                  </a:lnTo>
                  <a:lnTo>
                    <a:pt x="1974951" y="18383"/>
                  </a:lnTo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572922" y="2497939"/>
            <a:ext cx="5448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FC7FF"/>
                </a:solidFill>
                <a:latin typeface="Calibri"/>
                <a:cs typeface="Calibri"/>
              </a:rPr>
              <a:t>Next</a:t>
            </a:r>
            <a:r>
              <a:rPr sz="950" spc="-50" dirty="0">
                <a:solidFill>
                  <a:srgbClr val="9FC7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FC7FF"/>
                </a:solidFill>
                <a:latin typeface="Calibri"/>
                <a:cs typeface="Calibri"/>
              </a:rPr>
              <a:t>Steps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75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Live</a:t>
            </a:r>
            <a:r>
              <a:rPr spc="-55" dirty="0"/>
              <a:t> </a:t>
            </a:r>
            <a:r>
              <a:rPr dirty="0"/>
              <a:t>Demo</a:t>
            </a:r>
            <a:r>
              <a:rPr spc="-55" dirty="0"/>
              <a:t> </a:t>
            </a:r>
            <a:r>
              <a:rPr dirty="0"/>
              <a:t>—</a:t>
            </a:r>
            <a:r>
              <a:rPr spc="-60" dirty="0"/>
              <a:t> </a:t>
            </a:r>
            <a:r>
              <a:rPr dirty="0"/>
              <a:t>Build</a:t>
            </a:r>
            <a:r>
              <a:rPr spc="-50" dirty="0"/>
              <a:t> </a:t>
            </a:r>
            <a:r>
              <a:rPr spc="-10" dirty="0"/>
              <a:t>WAMY</a:t>
            </a:r>
            <a:r>
              <a:rPr spc="-55" dirty="0"/>
              <a:t> </a:t>
            </a:r>
            <a:r>
              <a:rPr dirty="0"/>
              <a:t>Finance</a:t>
            </a:r>
            <a:r>
              <a:rPr spc="-5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One</a:t>
            </a:r>
            <a:r>
              <a:rPr spc="-50" dirty="0"/>
              <a:t> </a:t>
            </a:r>
            <a:r>
              <a:rPr spc="-10" dirty="0"/>
              <a:t>Session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64604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55" dirty="0">
                <a:solidFill>
                  <a:srgbClr val="9FBFFF"/>
                </a:solidFill>
                <a:latin typeface="+mn-lt"/>
                <a:cs typeface="Arial"/>
              </a:rPr>
              <a:t>Simulated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+mn-lt"/>
                <a:cs typeface="Arial"/>
              </a:rPr>
              <a:t>2-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hour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75" dirty="0">
                <a:solidFill>
                  <a:srgbClr val="9FBFFF"/>
                </a:solidFill>
                <a:latin typeface="+mn-lt"/>
                <a:cs typeface="Arial"/>
              </a:rPr>
              <a:t>Claude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95" dirty="0">
                <a:solidFill>
                  <a:srgbClr val="9FBFFF"/>
                </a:solidFill>
                <a:latin typeface="+mn-lt"/>
                <a:cs typeface="Arial"/>
              </a:rPr>
              <a:t>Code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80" dirty="0">
                <a:solidFill>
                  <a:srgbClr val="9FBFFF"/>
                </a:solidFill>
                <a:latin typeface="+mn-lt"/>
                <a:cs typeface="Arial"/>
              </a:rPr>
              <a:t>session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walkthrough</a:t>
            </a:r>
            <a:endParaRPr sz="1000" dirty="0">
              <a:latin typeface="+mn-lt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139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3740" y="1108978"/>
            <a:ext cx="4328795" cy="652780"/>
            <a:chOff x="313740" y="1108978"/>
            <a:chExt cx="4328795" cy="652780"/>
          </a:xfrm>
        </p:grpSpPr>
        <p:sp>
          <p:nvSpPr>
            <p:cNvPr id="8" name="object 8"/>
            <p:cNvSpPr/>
            <p:nvPr/>
          </p:nvSpPr>
          <p:spPr>
            <a:xfrm>
              <a:off x="320040" y="1115277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80">
                  <a:moveTo>
                    <a:pt x="4242600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567004"/>
                  </a:lnTo>
                  <a:lnTo>
                    <a:pt x="594" y="576280"/>
                  </a:lnTo>
                  <a:lnTo>
                    <a:pt x="607" y="576482"/>
                  </a:lnTo>
                  <a:lnTo>
                    <a:pt x="2393" y="585677"/>
                  </a:lnTo>
                  <a:lnTo>
                    <a:pt x="2428" y="585860"/>
                  </a:lnTo>
                  <a:lnTo>
                    <a:pt x="5410" y="594739"/>
                  </a:lnTo>
                  <a:lnTo>
                    <a:pt x="36360" y="630364"/>
                  </a:lnTo>
                  <a:lnTo>
                    <a:pt x="73075" y="640079"/>
                  </a:lnTo>
                  <a:lnTo>
                    <a:pt x="4242955" y="639724"/>
                  </a:lnTo>
                  <a:lnTo>
                    <a:pt x="4287333" y="624625"/>
                  </a:lnTo>
                  <a:lnTo>
                    <a:pt x="4310494" y="594900"/>
                  </a:lnTo>
                  <a:lnTo>
                    <a:pt x="4310573" y="594739"/>
                  </a:lnTo>
                  <a:lnTo>
                    <a:pt x="4313552" y="585860"/>
                  </a:lnTo>
                  <a:lnTo>
                    <a:pt x="4313613" y="585677"/>
                  </a:lnTo>
                  <a:lnTo>
                    <a:pt x="4315397" y="576482"/>
                  </a:lnTo>
                  <a:lnTo>
                    <a:pt x="4315436" y="576280"/>
                  </a:lnTo>
                  <a:lnTo>
                    <a:pt x="4316021" y="567004"/>
                  </a:lnTo>
                  <a:lnTo>
                    <a:pt x="4316044" y="566648"/>
                  </a:lnTo>
                  <a:lnTo>
                    <a:pt x="4315675" y="73088"/>
                  </a:lnTo>
                  <a:lnTo>
                    <a:pt x="4300584" y="28710"/>
                  </a:lnTo>
                  <a:lnTo>
                    <a:pt x="4261634" y="2430"/>
                  </a:lnTo>
                  <a:lnTo>
                    <a:pt x="4252233" y="607"/>
                  </a:lnTo>
                  <a:lnTo>
                    <a:pt x="424260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0040" y="1115277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8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4242600" y="0"/>
                  </a:lnTo>
                  <a:lnTo>
                    <a:pt x="4287127" y="15109"/>
                  </a:lnTo>
                  <a:lnTo>
                    <a:pt x="4313247" y="54232"/>
                  </a:lnTo>
                  <a:lnTo>
                    <a:pt x="4315675" y="73088"/>
                  </a:lnTo>
                  <a:lnTo>
                    <a:pt x="4316044" y="566648"/>
                  </a:lnTo>
                  <a:lnTo>
                    <a:pt x="4315436" y="576280"/>
                  </a:lnTo>
                  <a:lnTo>
                    <a:pt x="4313613" y="585677"/>
                  </a:lnTo>
                  <a:lnTo>
                    <a:pt x="4287333" y="624625"/>
                  </a:lnTo>
                  <a:lnTo>
                    <a:pt x="4242955" y="639724"/>
                  </a:lnTo>
                  <a:lnTo>
                    <a:pt x="73075" y="640079"/>
                  </a:lnTo>
                  <a:lnTo>
                    <a:pt x="28555" y="624983"/>
                  </a:lnTo>
                  <a:lnTo>
                    <a:pt x="2428" y="585860"/>
                  </a:lnTo>
                  <a:lnTo>
                    <a:pt x="0" y="567004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9844" y="1280162"/>
              <a:ext cx="685800" cy="292735"/>
            </a:xfrm>
            <a:custGeom>
              <a:avLst/>
              <a:gdLst/>
              <a:ahLst/>
              <a:cxnLst/>
              <a:rect l="l" t="t" r="r" b="b"/>
              <a:pathLst>
                <a:path w="685800" h="292734">
                  <a:moveTo>
                    <a:pt x="59399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201244"/>
                  </a:lnTo>
                  <a:lnTo>
                    <a:pt x="774" y="212882"/>
                  </a:lnTo>
                  <a:lnTo>
                    <a:pt x="798" y="213243"/>
                  </a:lnTo>
                  <a:lnTo>
                    <a:pt x="3075" y="224550"/>
                  </a:lnTo>
                  <a:lnTo>
                    <a:pt x="3148" y="224909"/>
                  </a:lnTo>
                  <a:lnTo>
                    <a:pt x="6858" y="235810"/>
                  </a:lnTo>
                  <a:lnTo>
                    <a:pt x="35675" y="273840"/>
                  </a:lnTo>
                  <a:lnTo>
                    <a:pt x="79433" y="291885"/>
                  </a:lnTo>
                  <a:lnTo>
                    <a:pt x="91440" y="292684"/>
                  </a:lnTo>
                  <a:lnTo>
                    <a:pt x="594360" y="292315"/>
                  </a:lnTo>
                  <a:lnTo>
                    <a:pt x="640080" y="280085"/>
                  </a:lnTo>
                  <a:lnTo>
                    <a:pt x="673557" y="246595"/>
                  </a:lnTo>
                  <a:lnTo>
                    <a:pt x="682528" y="224909"/>
                  </a:lnTo>
                  <a:lnTo>
                    <a:pt x="682650" y="224550"/>
                  </a:lnTo>
                  <a:lnTo>
                    <a:pt x="684928" y="213243"/>
                  </a:lnTo>
                  <a:lnTo>
                    <a:pt x="685001" y="212882"/>
                  </a:lnTo>
                  <a:lnTo>
                    <a:pt x="685775" y="201244"/>
                  </a:lnTo>
                  <a:lnTo>
                    <a:pt x="685800" y="200875"/>
                  </a:lnTo>
                  <a:lnTo>
                    <a:pt x="685431" y="91439"/>
                  </a:lnTo>
                  <a:lnTo>
                    <a:pt x="673201" y="45720"/>
                  </a:lnTo>
                  <a:lnTo>
                    <a:pt x="639711" y="12242"/>
                  </a:lnTo>
                  <a:lnTo>
                    <a:pt x="605998" y="798"/>
                  </a:lnTo>
                  <a:lnTo>
                    <a:pt x="59399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63016" y="1348818"/>
            <a:ext cx="2190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0" dirty="0">
                <a:solidFill>
                  <a:srgbClr val="FFFFFF"/>
                </a:solidFill>
                <a:latin typeface="Calibri"/>
                <a:cs typeface="Calibri"/>
              </a:rPr>
              <a:t>0:00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03020" y="1196189"/>
            <a:ext cx="1579245" cy="454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1D283A"/>
                </a:solidFill>
                <a:latin typeface="Calibri"/>
                <a:cs typeface="Calibri"/>
              </a:rPr>
              <a:t>Project</a:t>
            </a:r>
            <a:r>
              <a:rPr sz="1050" b="1" spc="-6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b="1" spc="-20" dirty="0">
                <a:solidFill>
                  <a:srgbClr val="1D283A"/>
                </a:solidFill>
                <a:latin typeface="Calibri"/>
                <a:cs typeface="Calibri"/>
              </a:rPr>
              <a:t>Init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850" i="1" spc="-50" dirty="0">
                <a:solidFill>
                  <a:srgbClr val="465468"/>
                </a:solidFill>
                <a:latin typeface="Arial"/>
                <a:cs typeface="Arial"/>
              </a:rPr>
              <a:t>claude</a:t>
            </a:r>
            <a:r>
              <a:rPr sz="850" i="1" dirty="0">
                <a:solidFill>
                  <a:srgbClr val="465468"/>
                </a:solidFill>
                <a:latin typeface="Arial"/>
                <a:cs typeface="Arial"/>
              </a:rPr>
              <a:t> /init</a:t>
            </a:r>
            <a:r>
              <a:rPr sz="850" i="1" spc="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465468"/>
                </a:solidFill>
                <a:latin typeface="Arial"/>
                <a:cs typeface="Arial"/>
              </a:rPr>
              <a:t>on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465468"/>
                </a:solidFill>
                <a:latin typeface="Arial"/>
                <a:cs typeface="Arial"/>
              </a:rPr>
              <a:t>wamy-</a:t>
            </a:r>
            <a:r>
              <a:rPr sz="850" i="1" spc="-40" dirty="0">
                <a:solidFill>
                  <a:srgbClr val="465468"/>
                </a:solidFill>
                <a:latin typeface="Arial"/>
                <a:cs typeface="Arial"/>
              </a:rPr>
              <a:t>finance</a:t>
            </a:r>
            <a:r>
              <a:rPr sz="850" i="1" spc="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folder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12664" y="1108978"/>
            <a:ext cx="4328795" cy="652780"/>
            <a:chOff x="4812664" y="1108978"/>
            <a:chExt cx="4328795" cy="652780"/>
          </a:xfrm>
        </p:grpSpPr>
        <p:sp>
          <p:nvSpPr>
            <p:cNvPr id="14" name="object 14"/>
            <p:cNvSpPr/>
            <p:nvPr/>
          </p:nvSpPr>
          <p:spPr>
            <a:xfrm>
              <a:off x="4818964" y="1115277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80">
                  <a:moveTo>
                    <a:pt x="424260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567004"/>
                  </a:lnTo>
                  <a:lnTo>
                    <a:pt x="594" y="576280"/>
                  </a:lnTo>
                  <a:lnTo>
                    <a:pt x="607" y="576482"/>
                  </a:lnTo>
                  <a:lnTo>
                    <a:pt x="2393" y="585677"/>
                  </a:lnTo>
                  <a:lnTo>
                    <a:pt x="2428" y="585860"/>
                  </a:lnTo>
                  <a:lnTo>
                    <a:pt x="5410" y="594739"/>
                  </a:lnTo>
                  <a:lnTo>
                    <a:pt x="36360" y="630364"/>
                  </a:lnTo>
                  <a:lnTo>
                    <a:pt x="73075" y="640079"/>
                  </a:lnTo>
                  <a:lnTo>
                    <a:pt x="4242955" y="639724"/>
                  </a:lnTo>
                  <a:lnTo>
                    <a:pt x="4287333" y="624625"/>
                  </a:lnTo>
                  <a:lnTo>
                    <a:pt x="4313541" y="585860"/>
                  </a:lnTo>
                  <a:lnTo>
                    <a:pt x="4313602" y="585677"/>
                  </a:lnTo>
                  <a:lnTo>
                    <a:pt x="4315385" y="576482"/>
                  </a:lnTo>
                  <a:lnTo>
                    <a:pt x="4315424" y="576280"/>
                  </a:lnTo>
                  <a:lnTo>
                    <a:pt x="4316009" y="567004"/>
                  </a:lnTo>
                  <a:lnTo>
                    <a:pt x="4315675" y="73088"/>
                  </a:lnTo>
                  <a:lnTo>
                    <a:pt x="4300577" y="28710"/>
                  </a:lnTo>
                  <a:lnTo>
                    <a:pt x="4261629" y="2430"/>
                  </a:lnTo>
                  <a:lnTo>
                    <a:pt x="4252232" y="607"/>
                  </a:lnTo>
                  <a:lnTo>
                    <a:pt x="4242600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18964" y="1115277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8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4242600" y="0"/>
                  </a:lnTo>
                  <a:lnTo>
                    <a:pt x="4287120" y="15109"/>
                  </a:lnTo>
                  <a:lnTo>
                    <a:pt x="4313247" y="54232"/>
                  </a:lnTo>
                  <a:lnTo>
                    <a:pt x="4315675" y="73088"/>
                  </a:lnTo>
                  <a:lnTo>
                    <a:pt x="4316031" y="566648"/>
                  </a:lnTo>
                  <a:lnTo>
                    <a:pt x="4315424" y="576280"/>
                  </a:lnTo>
                  <a:lnTo>
                    <a:pt x="4313602" y="585677"/>
                  </a:lnTo>
                  <a:lnTo>
                    <a:pt x="4287333" y="624625"/>
                  </a:lnTo>
                  <a:lnTo>
                    <a:pt x="4242955" y="639724"/>
                  </a:lnTo>
                  <a:lnTo>
                    <a:pt x="73075" y="640079"/>
                  </a:lnTo>
                  <a:lnTo>
                    <a:pt x="28548" y="624983"/>
                  </a:lnTo>
                  <a:lnTo>
                    <a:pt x="2428" y="585860"/>
                  </a:lnTo>
                  <a:lnTo>
                    <a:pt x="0" y="567004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28755" y="1280162"/>
              <a:ext cx="685800" cy="292735"/>
            </a:xfrm>
            <a:custGeom>
              <a:avLst/>
              <a:gdLst/>
              <a:ahLst/>
              <a:cxnLst/>
              <a:rect l="l" t="t" r="r" b="b"/>
              <a:pathLst>
                <a:path w="685800" h="292734">
                  <a:moveTo>
                    <a:pt x="59400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201244"/>
                  </a:lnTo>
                  <a:lnTo>
                    <a:pt x="774" y="212882"/>
                  </a:lnTo>
                  <a:lnTo>
                    <a:pt x="798" y="213243"/>
                  </a:lnTo>
                  <a:lnTo>
                    <a:pt x="3077" y="224550"/>
                  </a:lnTo>
                  <a:lnTo>
                    <a:pt x="3149" y="224909"/>
                  </a:lnTo>
                  <a:lnTo>
                    <a:pt x="6863" y="235810"/>
                  </a:lnTo>
                  <a:lnTo>
                    <a:pt x="35683" y="273840"/>
                  </a:lnTo>
                  <a:lnTo>
                    <a:pt x="79440" y="291885"/>
                  </a:lnTo>
                  <a:lnTo>
                    <a:pt x="91439" y="292684"/>
                  </a:lnTo>
                  <a:lnTo>
                    <a:pt x="594360" y="292315"/>
                  </a:lnTo>
                  <a:lnTo>
                    <a:pt x="640079" y="280085"/>
                  </a:lnTo>
                  <a:lnTo>
                    <a:pt x="673569" y="246595"/>
                  </a:lnTo>
                  <a:lnTo>
                    <a:pt x="685775" y="201244"/>
                  </a:lnTo>
                  <a:lnTo>
                    <a:pt x="685800" y="200875"/>
                  </a:lnTo>
                  <a:lnTo>
                    <a:pt x="685444" y="91439"/>
                  </a:lnTo>
                  <a:lnTo>
                    <a:pt x="673201" y="45720"/>
                  </a:lnTo>
                  <a:lnTo>
                    <a:pt x="639724" y="12242"/>
                  </a:lnTo>
                  <a:lnTo>
                    <a:pt x="606009" y="798"/>
                  </a:lnTo>
                  <a:lnTo>
                    <a:pt x="59400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161940" y="1348818"/>
            <a:ext cx="2190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0" dirty="0">
                <a:solidFill>
                  <a:srgbClr val="FFFFFF"/>
                </a:solidFill>
                <a:latin typeface="Calibri"/>
                <a:cs typeface="Calibri"/>
              </a:rPr>
              <a:t>0:05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01944" y="1196189"/>
            <a:ext cx="2648585" cy="454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1D283A"/>
                </a:solidFill>
                <a:latin typeface="Calibri"/>
                <a:cs typeface="Calibri"/>
              </a:rPr>
              <a:t>BRD</a:t>
            </a:r>
            <a:r>
              <a:rPr sz="1050" b="1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1050" b="1" spc="-25" dirty="0">
                <a:solidFill>
                  <a:srgbClr val="1D283A"/>
                </a:solidFill>
                <a:latin typeface="Calibri"/>
                <a:cs typeface="Calibri"/>
              </a:rPr>
              <a:t> ERD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850" i="1" spc="-45" dirty="0">
                <a:solidFill>
                  <a:srgbClr val="465468"/>
                </a:solidFill>
                <a:latin typeface="Arial"/>
                <a:cs typeface="Arial"/>
              </a:rPr>
              <a:t>"Generate</a:t>
            </a:r>
            <a:r>
              <a:rPr sz="850" i="1" spc="-2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120" dirty="0">
                <a:solidFill>
                  <a:srgbClr val="465468"/>
                </a:solidFill>
                <a:latin typeface="Arial"/>
                <a:cs typeface="Arial"/>
              </a:rPr>
              <a:t>BRD</a:t>
            </a:r>
            <a:r>
              <a:rPr sz="850" i="1" spc="-2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465468"/>
                </a:solidFill>
                <a:latin typeface="Arial"/>
                <a:cs typeface="Arial"/>
              </a:rPr>
              <a:t>and</a:t>
            </a:r>
            <a:r>
              <a:rPr sz="850" i="1" spc="-3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135" dirty="0">
                <a:solidFill>
                  <a:srgbClr val="465468"/>
                </a:solidFill>
                <a:latin typeface="Arial"/>
                <a:cs typeface="Arial"/>
              </a:rPr>
              <a:t>ERD</a:t>
            </a:r>
            <a:r>
              <a:rPr sz="850" i="1" spc="-3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465468"/>
                </a:solidFill>
                <a:latin typeface="Arial"/>
                <a:cs typeface="Arial"/>
              </a:rPr>
              <a:t>from </a:t>
            </a:r>
            <a:r>
              <a:rPr sz="850" i="1" spc="-85" dirty="0">
                <a:solidFill>
                  <a:srgbClr val="465468"/>
                </a:solidFill>
                <a:latin typeface="Arial"/>
                <a:cs typeface="Arial"/>
              </a:rPr>
              <a:t>WAMY</a:t>
            </a:r>
            <a:r>
              <a:rPr sz="850" i="1" spc="-3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465468"/>
                </a:solidFill>
                <a:latin typeface="Arial"/>
                <a:cs typeface="Arial"/>
              </a:rPr>
              <a:t>Finance</a:t>
            </a:r>
            <a:r>
              <a:rPr sz="850" i="1" spc="-20" dirty="0">
                <a:solidFill>
                  <a:srgbClr val="465468"/>
                </a:solidFill>
                <a:latin typeface="Arial"/>
                <a:cs typeface="Arial"/>
              </a:rPr>
              <a:t> requirements"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3740" y="1822146"/>
            <a:ext cx="4328795" cy="652780"/>
            <a:chOff x="313740" y="1822146"/>
            <a:chExt cx="4328795" cy="652780"/>
          </a:xfrm>
        </p:grpSpPr>
        <p:sp>
          <p:nvSpPr>
            <p:cNvPr id="20" name="object 20"/>
            <p:cNvSpPr/>
            <p:nvPr/>
          </p:nvSpPr>
          <p:spPr>
            <a:xfrm>
              <a:off x="320040" y="1828446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80">
                  <a:moveTo>
                    <a:pt x="4242600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566991"/>
                  </a:lnTo>
                  <a:lnTo>
                    <a:pt x="15098" y="611369"/>
                  </a:lnTo>
                  <a:lnTo>
                    <a:pt x="54046" y="637649"/>
                  </a:lnTo>
                  <a:lnTo>
                    <a:pt x="73075" y="640079"/>
                  </a:lnTo>
                  <a:lnTo>
                    <a:pt x="4242955" y="639711"/>
                  </a:lnTo>
                  <a:lnTo>
                    <a:pt x="4287333" y="624620"/>
                  </a:lnTo>
                  <a:lnTo>
                    <a:pt x="4313554" y="585847"/>
                  </a:lnTo>
                  <a:lnTo>
                    <a:pt x="4315397" y="576469"/>
                  </a:lnTo>
                  <a:lnTo>
                    <a:pt x="4315436" y="576269"/>
                  </a:lnTo>
                  <a:lnTo>
                    <a:pt x="4316021" y="566991"/>
                  </a:lnTo>
                  <a:lnTo>
                    <a:pt x="4316044" y="566635"/>
                  </a:lnTo>
                  <a:lnTo>
                    <a:pt x="4315675" y="73075"/>
                  </a:lnTo>
                  <a:lnTo>
                    <a:pt x="4300584" y="28698"/>
                  </a:lnTo>
                  <a:lnTo>
                    <a:pt x="4261634" y="2428"/>
                  </a:lnTo>
                  <a:lnTo>
                    <a:pt x="4252233" y="607"/>
                  </a:lnTo>
                  <a:lnTo>
                    <a:pt x="424260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0040" y="1828446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8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4242600" y="0"/>
                  </a:lnTo>
                  <a:lnTo>
                    <a:pt x="4287127" y="15096"/>
                  </a:lnTo>
                  <a:lnTo>
                    <a:pt x="4313247" y="54219"/>
                  </a:lnTo>
                  <a:lnTo>
                    <a:pt x="4315675" y="73075"/>
                  </a:lnTo>
                  <a:lnTo>
                    <a:pt x="4316044" y="566635"/>
                  </a:lnTo>
                  <a:lnTo>
                    <a:pt x="4315436" y="576269"/>
                  </a:lnTo>
                  <a:lnTo>
                    <a:pt x="4313613" y="585670"/>
                  </a:lnTo>
                  <a:lnTo>
                    <a:pt x="4287333" y="624620"/>
                  </a:lnTo>
                  <a:lnTo>
                    <a:pt x="4242955" y="639711"/>
                  </a:lnTo>
                  <a:lnTo>
                    <a:pt x="73075" y="640079"/>
                  </a:lnTo>
                  <a:lnTo>
                    <a:pt x="28555" y="624970"/>
                  </a:lnTo>
                  <a:lnTo>
                    <a:pt x="2428" y="585847"/>
                  </a:lnTo>
                  <a:lnTo>
                    <a:pt x="0" y="56699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9844" y="1993317"/>
              <a:ext cx="685800" cy="292735"/>
            </a:xfrm>
            <a:custGeom>
              <a:avLst/>
              <a:gdLst/>
              <a:ahLst/>
              <a:cxnLst/>
              <a:rect l="l" t="t" r="r" b="b"/>
              <a:pathLst>
                <a:path w="685800" h="292735">
                  <a:moveTo>
                    <a:pt x="59399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39"/>
                  </a:lnTo>
                  <a:lnTo>
                    <a:pt x="0" y="201244"/>
                  </a:lnTo>
                  <a:lnTo>
                    <a:pt x="774" y="212888"/>
                  </a:lnTo>
                  <a:lnTo>
                    <a:pt x="798" y="213249"/>
                  </a:lnTo>
                  <a:lnTo>
                    <a:pt x="3075" y="224553"/>
                  </a:lnTo>
                  <a:lnTo>
                    <a:pt x="3148" y="224913"/>
                  </a:lnTo>
                  <a:lnTo>
                    <a:pt x="6859" y="235816"/>
                  </a:lnTo>
                  <a:lnTo>
                    <a:pt x="35675" y="273847"/>
                  </a:lnTo>
                  <a:lnTo>
                    <a:pt x="79433" y="291885"/>
                  </a:lnTo>
                  <a:lnTo>
                    <a:pt x="91440" y="292684"/>
                  </a:lnTo>
                  <a:lnTo>
                    <a:pt x="594360" y="292328"/>
                  </a:lnTo>
                  <a:lnTo>
                    <a:pt x="640080" y="280085"/>
                  </a:lnTo>
                  <a:lnTo>
                    <a:pt x="673557" y="246608"/>
                  </a:lnTo>
                  <a:lnTo>
                    <a:pt x="685776" y="201244"/>
                  </a:lnTo>
                  <a:lnTo>
                    <a:pt x="685800" y="200888"/>
                  </a:lnTo>
                  <a:lnTo>
                    <a:pt x="685431" y="91439"/>
                  </a:lnTo>
                  <a:lnTo>
                    <a:pt x="673201" y="45719"/>
                  </a:lnTo>
                  <a:lnTo>
                    <a:pt x="639711" y="12242"/>
                  </a:lnTo>
                  <a:lnTo>
                    <a:pt x="605998" y="798"/>
                  </a:lnTo>
                  <a:lnTo>
                    <a:pt x="59399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63016" y="2061986"/>
            <a:ext cx="2190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0" dirty="0">
                <a:solidFill>
                  <a:srgbClr val="FFFFFF"/>
                </a:solidFill>
                <a:latin typeface="Calibri"/>
                <a:cs typeface="Calibri"/>
              </a:rPr>
              <a:t>0:20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03020" y="1909345"/>
            <a:ext cx="2534285" cy="454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1D283A"/>
                </a:solidFill>
                <a:latin typeface="Calibri"/>
                <a:cs typeface="Calibri"/>
              </a:rPr>
              <a:t>DB</a:t>
            </a:r>
            <a:r>
              <a:rPr sz="105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1D283A"/>
                </a:solidFill>
                <a:latin typeface="Calibri"/>
                <a:cs typeface="Calibri"/>
              </a:rPr>
              <a:t>Migrations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850" i="1" spc="-45" dirty="0">
                <a:solidFill>
                  <a:srgbClr val="465468"/>
                </a:solidFill>
                <a:latin typeface="Arial"/>
                <a:cs typeface="Arial"/>
              </a:rPr>
              <a:t>"Generate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465468"/>
                </a:solidFill>
                <a:latin typeface="Arial"/>
                <a:cs typeface="Arial"/>
              </a:rPr>
              <a:t>Flyway</a:t>
            </a:r>
            <a:r>
              <a:rPr sz="850" i="1" spc="-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465468"/>
                </a:solidFill>
                <a:latin typeface="Arial"/>
                <a:cs typeface="Arial"/>
              </a:rPr>
              <a:t>V1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465468"/>
                </a:solidFill>
                <a:latin typeface="Arial"/>
                <a:cs typeface="Arial"/>
              </a:rPr>
              <a:t>migration</a:t>
            </a:r>
            <a:r>
              <a:rPr sz="850" i="1" spc="-2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for </a:t>
            </a:r>
            <a:r>
              <a:rPr sz="850" i="1" spc="-45" dirty="0">
                <a:solidFill>
                  <a:srgbClr val="465468"/>
                </a:solidFill>
                <a:latin typeface="Arial"/>
                <a:cs typeface="Arial"/>
              </a:rPr>
              <a:t>double-</a:t>
            </a:r>
            <a:r>
              <a:rPr sz="850" i="1" spc="-30" dirty="0">
                <a:solidFill>
                  <a:srgbClr val="465468"/>
                </a:solidFill>
                <a:latin typeface="Arial"/>
                <a:cs typeface="Arial"/>
              </a:rPr>
              <a:t>entry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465468"/>
                </a:solidFill>
                <a:latin typeface="Arial"/>
                <a:cs typeface="Arial"/>
              </a:rPr>
              <a:t>schema"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812664" y="1822146"/>
            <a:ext cx="4328795" cy="652780"/>
            <a:chOff x="4812664" y="1822146"/>
            <a:chExt cx="4328795" cy="652780"/>
          </a:xfrm>
        </p:grpSpPr>
        <p:sp>
          <p:nvSpPr>
            <p:cNvPr id="26" name="object 26"/>
            <p:cNvSpPr/>
            <p:nvPr/>
          </p:nvSpPr>
          <p:spPr>
            <a:xfrm>
              <a:off x="4818964" y="1828446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80">
                  <a:moveTo>
                    <a:pt x="424260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566991"/>
                  </a:lnTo>
                  <a:lnTo>
                    <a:pt x="5412" y="594732"/>
                  </a:lnTo>
                  <a:lnTo>
                    <a:pt x="5464" y="594887"/>
                  </a:lnTo>
                  <a:lnTo>
                    <a:pt x="36360" y="630351"/>
                  </a:lnTo>
                  <a:lnTo>
                    <a:pt x="73075" y="640079"/>
                  </a:lnTo>
                  <a:lnTo>
                    <a:pt x="4242955" y="639711"/>
                  </a:lnTo>
                  <a:lnTo>
                    <a:pt x="4287333" y="624620"/>
                  </a:lnTo>
                  <a:lnTo>
                    <a:pt x="4313543" y="585847"/>
                  </a:lnTo>
                  <a:lnTo>
                    <a:pt x="4316009" y="566991"/>
                  </a:lnTo>
                  <a:lnTo>
                    <a:pt x="4316031" y="566635"/>
                  </a:lnTo>
                  <a:lnTo>
                    <a:pt x="4315675" y="73075"/>
                  </a:lnTo>
                  <a:lnTo>
                    <a:pt x="4300577" y="28698"/>
                  </a:lnTo>
                  <a:lnTo>
                    <a:pt x="4261629" y="2428"/>
                  </a:lnTo>
                  <a:lnTo>
                    <a:pt x="4252232" y="607"/>
                  </a:lnTo>
                  <a:lnTo>
                    <a:pt x="4242600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18964" y="1828446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8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4242600" y="0"/>
                  </a:lnTo>
                  <a:lnTo>
                    <a:pt x="4287120" y="15096"/>
                  </a:lnTo>
                  <a:lnTo>
                    <a:pt x="4313247" y="54219"/>
                  </a:lnTo>
                  <a:lnTo>
                    <a:pt x="4315675" y="73075"/>
                  </a:lnTo>
                  <a:lnTo>
                    <a:pt x="4316031" y="566635"/>
                  </a:lnTo>
                  <a:lnTo>
                    <a:pt x="4315424" y="576269"/>
                  </a:lnTo>
                  <a:lnTo>
                    <a:pt x="4313602" y="585670"/>
                  </a:lnTo>
                  <a:lnTo>
                    <a:pt x="4287333" y="624620"/>
                  </a:lnTo>
                  <a:lnTo>
                    <a:pt x="4242955" y="639711"/>
                  </a:lnTo>
                  <a:lnTo>
                    <a:pt x="73075" y="640079"/>
                  </a:lnTo>
                  <a:lnTo>
                    <a:pt x="28548" y="624970"/>
                  </a:lnTo>
                  <a:lnTo>
                    <a:pt x="2428" y="585847"/>
                  </a:lnTo>
                  <a:lnTo>
                    <a:pt x="0" y="56699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28755" y="1993317"/>
              <a:ext cx="685800" cy="292735"/>
            </a:xfrm>
            <a:custGeom>
              <a:avLst/>
              <a:gdLst/>
              <a:ahLst/>
              <a:cxnLst/>
              <a:rect l="l" t="t" r="r" b="b"/>
              <a:pathLst>
                <a:path w="685800" h="292735">
                  <a:moveTo>
                    <a:pt x="59400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43"/>
                  </a:lnTo>
                  <a:lnTo>
                    <a:pt x="6986" y="56512"/>
                  </a:lnTo>
                  <a:lnTo>
                    <a:pt x="0" y="91439"/>
                  </a:lnTo>
                  <a:lnTo>
                    <a:pt x="0" y="201244"/>
                  </a:lnTo>
                  <a:lnTo>
                    <a:pt x="774" y="212888"/>
                  </a:lnTo>
                  <a:lnTo>
                    <a:pt x="798" y="213249"/>
                  </a:lnTo>
                  <a:lnTo>
                    <a:pt x="3076" y="224553"/>
                  </a:lnTo>
                  <a:lnTo>
                    <a:pt x="3149" y="224913"/>
                  </a:lnTo>
                  <a:lnTo>
                    <a:pt x="6864" y="235816"/>
                  </a:lnTo>
                  <a:lnTo>
                    <a:pt x="35683" y="273847"/>
                  </a:lnTo>
                  <a:lnTo>
                    <a:pt x="79440" y="291885"/>
                  </a:lnTo>
                  <a:lnTo>
                    <a:pt x="91439" y="292684"/>
                  </a:lnTo>
                  <a:lnTo>
                    <a:pt x="594360" y="292328"/>
                  </a:lnTo>
                  <a:lnTo>
                    <a:pt x="640079" y="280085"/>
                  </a:lnTo>
                  <a:lnTo>
                    <a:pt x="673569" y="246608"/>
                  </a:lnTo>
                  <a:lnTo>
                    <a:pt x="682529" y="224913"/>
                  </a:lnTo>
                  <a:lnTo>
                    <a:pt x="682651" y="224553"/>
                  </a:lnTo>
                  <a:lnTo>
                    <a:pt x="684928" y="213249"/>
                  </a:lnTo>
                  <a:lnTo>
                    <a:pt x="685001" y="212888"/>
                  </a:lnTo>
                  <a:lnTo>
                    <a:pt x="685776" y="201244"/>
                  </a:lnTo>
                  <a:lnTo>
                    <a:pt x="685444" y="91439"/>
                  </a:lnTo>
                  <a:lnTo>
                    <a:pt x="673201" y="45719"/>
                  </a:lnTo>
                  <a:lnTo>
                    <a:pt x="639724" y="12242"/>
                  </a:lnTo>
                  <a:lnTo>
                    <a:pt x="606009" y="798"/>
                  </a:lnTo>
                  <a:lnTo>
                    <a:pt x="59400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161940" y="2061986"/>
            <a:ext cx="2190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0" dirty="0">
                <a:solidFill>
                  <a:srgbClr val="FFFFFF"/>
                </a:solidFill>
                <a:latin typeface="Calibri"/>
                <a:cs typeface="Calibri"/>
              </a:rPr>
              <a:t>0:35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01944" y="1909345"/>
            <a:ext cx="2520315" cy="454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1D283A"/>
                </a:solidFill>
                <a:latin typeface="Calibri"/>
                <a:cs typeface="Calibri"/>
              </a:rPr>
              <a:t>Spring Security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850" i="1" spc="-45" dirty="0">
                <a:solidFill>
                  <a:srgbClr val="465468"/>
                </a:solidFill>
                <a:latin typeface="Arial"/>
                <a:cs typeface="Arial"/>
              </a:rPr>
              <a:t>"Generate</a:t>
            </a:r>
            <a:r>
              <a:rPr sz="850" i="1" spc="-2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465468"/>
                </a:solidFill>
                <a:latin typeface="Arial"/>
                <a:cs typeface="Arial"/>
              </a:rPr>
              <a:t>Spring</a:t>
            </a:r>
            <a:r>
              <a:rPr sz="850" i="1" spc="-3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465468"/>
                </a:solidFill>
                <a:latin typeface="Arial"/>
                <a:cs typeface="Arial"/>
              </a:rPr>
              <a:t>Security</a:t>
            </a:r>
            <a:r>
              <a:rPr sz="850" i="1" spc="-3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110" dirty="0">
                <a:solidFill>
                  <a:srgbClr val="465468"/>
                </a:solidFill>
                <a:latin typeface="Arial"/>
                <a:cs typeface="Arial"/>
              </a:rPr>
              <a:t>JWT</a:t>
            </a:r>
            <a:r>
              <a:rPr sz="850" i="1" spc="-1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105" dirty="0">
                <a:solidFill>
                  <a:srgbClr val="465468"/>
                </a:solidFill>
                <a:latin typeface="Arial"/>
                <a:cs typeface="Arial"/>
              </a:rPr>
              <a:t>RS256</a:t>
            </a:r>
            <a:r>
              <a:rPr sz="850" i="1" spc="-2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465468"/>
                </a:solidFill>
                <a:latin typeface="Arial"/>
                <a:cs typeface="Arial"/>
              </a:rPr>
              <a:t>config</a:t>
            </a:r>
            <a:r>
              <a:rPr sz="850" i="1" spc="-1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465468"/>
                </a:solidFill>
                <a:latin typeface="Arial"/>
                <a:cs typeface="Arial"/>
              </a:rPr>
              <a:t>with</a:t>
            </a:r>
            <a:r>
              <a:rPr sz="850" i="1" spc="-3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465468"/>
                </a:solidFill>
                <a:latin typeface="Arial"/>
                <a:cs typeface="Arial"/>
              </a:rPr>
              <a:t>4</a:t>
            </a:r>
            <a:r>
              <a:rPr sz="850" i="1" spc="-2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roles"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13740" y="2535302"/>
            <a:ext cx="4328795" cy="652780"/>
            <a:chOff x="313740" y="2535302"/>
            <a:chExt cx="4328795" cy="652780"/>
          </a:xfrm>
        </p:grpSpPr>
        <p:sp>
          <p:nvSpPr>
            <p:cNvPr id="32" name="object 32"/>
            <p:cNvSpPr/>
            <p:nvPr/>
          </p:nvSpPr>
          <p:spPr>
            <a:xfrm>
              <a:off x="320040" y="2541602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80">
                  <a:moveTo>
                    <a:pt x="4242600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567004"/>
                  </a:lnTo>
                  <a:lnTo>
                    <a:pt x="594" y="576275"/>
                  </a:lnTo>
                  <a:lnTo>
                    <a:pt x="607" y="576480"/>
                  </a:lnTo>
                  <a:lnTo>
                    <a:pt x="2394" y="585676"/>
                  </a:lnTo>
                  <a:lnTo>
                    <a:pt x="2428" y="585855"/>
                  </a:lnTo>
                  <a:lnTo>
                    <a:pt x="5412" y="594739"/>
                  </a:lnTo>
                  <a:lnTo>
                    <a:pt x="36360" y="630364"/>
                  </a:lnTo>
                  <a:lnTo>
                    <a:pt x="73075" y="640080"/>
                  </a:lnTo>
                  <a:lnTo>
                    <a:pt x="4242955" y="639724"/>
                  </a:lnTo>
                  <a:lnTo>
                    <a:pt x="4287333" y="624620"/>
                  </a:lnTo>
                  <a:lnTo>
                    <a:pt x="4313553" y="585855"/>
                  </a:lnTo>
                  <a:lnTo>
                    <a:pt x="4316044" y="566635"/>
                  </a:lnTo>
                  <a:lnTo>
                    <a:pt x="4315675" y="73075"/>
                  </a:lnTo>
                  <a:lnTo>
                    <a:pt x="4300584" y="28705"/>
                  </a:lnTo>
                  <a:lnTo>
                    <a:pt x="4261634" y="2428"/>
                  </a:lnTo>
                  <a:lnTo>
                    <a:pt x="4252233" y="607"/>
                  </a:lnTo>
                  <a:lnTo>
                    <a:pt x="424260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0040" y="2541602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8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4242600" y="0"/>
                  </a:lnTo>
                  <a:lnTo>
                    <a:pt x="4287127" y="15104"/>
                  </a:lnTo>
                  <a:lnTo>
                    <a:pt x="4313247" y="54224"/>
                  </a:lnTo>
                  <a:lnTo>
                    <a:pt x="4315675" y="73075"/>
                  </a:lnTo>
                  <a:lnTo>
                    <a:pt x="4316044" y="566635"/>
                  </a:lnTo>
                  <a:lnTo>
                    <a:pt x="4315436" y="576275"/>
                  </a:lnTo>
                  <a:lnTo>
                    <a:pt x="4313613" y="585676"/>
                  </a:lnTo>
                  <a:lnTo>
                    <a:pt x="4287333" y="624620"/>
                  </a:lnTo>
                  <a:lnTo>
                    <a:pt x="4242955" y="639724"/>
                  </a:lnTo>
                  <a:lnTo>
                    <a:pt x="73075" y="640080"/>
                  </a:lnTo>
                  <a:lnTo>
                    <a:pt x="28555" y="624975"/>
                  </a:lnTo>
                  <a:lnTo>
                    <a:pt x="2428" y="585855"/>
                  </a:lnTo>
                  <a:lnTo>
                    <a:pt x="0" y="56700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9844" y="2706486"/>
              <a:ext cx="685800" cy="292735"/>
            </a:xfrm>
            <a:custGeom>
              <a:avLst/>
              <a:gdLst/>
              <a:ahLst/>
              <a:cxnLst/>
              <a:rect l="l" t="t" r="r" b="b"/>
              <a:pathLst>
                <a:path w="685800" h="292735">
                  <a:moveTo>
                    <a:pt x="59399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201231"/>
                  </a:lnTo>
                  <a:lnTo>
                    <a:pt x="774" y="212880"/>
                  </a:lnTo>
                  <a:lnTo>
                    <a:pt x="798" y="213238"/>
                  </a:lnTo>
                  <a:lnTo>
                    <a:pt x="3075" y="224545"/>
                  </a:lnTo>
                  <a:lnTo>
                    <a:pt x="3148" y="224905"/>
                  </a:lnTo>
                  <a:lnTo>
                    <a:pt x="26679" y="265991"/>
                  </a:lnTo>
                  <a:lnTo>
                    <a:pt x="67765" y="289523"/>
                  </a:lnTo>
                  <a:lnTo>
                    <a:pt x="91440" y="292671"/>
                  </a:lnTo>
                  <a:lnTo>
                    <a:pt x="594360" y="292315"/>
                  </a:lnTo>
                  <a:lnTo>
                    <a:pt x="640080" y="280073"/>
                  </a:lnTo>
                  <a:lnTo>
                    <a:pt x="673557" y="246595"/>
                  </a:lnTo>
                  <a:lnTo>
                    <a:pt x="682527" y="224905"/>
                  </a:lnTo>
                  <a:lnTo>
                    <a:pt x="682650" y="224545"/>
                  </a:lnTo>
                  <a:lnTo>
                    <a:pt x="684929" y="213238"/>
                  </a:lnTo>
                  <a:lnTo>
                    <a:pt x="685001" y="212880"/>
                  </a:lnTo>
                  <a:lnTo>
                    <a:pt x="685776" y="201231"/>
                  </a:lnTo>
                  <a:lnTo>
                    <a:pt x="685800" y="200875"/>
                  </a:lnTo>
                  <a:lnTo>
                    <a:pt x="685431" y="91439"/>
                  </a:lnTo>
                  <a:lnTo>
                    <a:pt x="673201" y="45719"/>
                  </a:lnTo>
                  <a:lnTo>
                    <a:pt x="639711" y="12230"/>
                  </a:lnTo>
                  <a:lnTo>
                    <a:pt x="605998" y="798"/>
                  </a:lnTo>
                  <a:lnTo>
                    <a:pt x="59399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63016" y="2775142"/>
            <a:ext cx="2190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0" dirty="0">
                <a:solidFill>
                  <a:srgbClr val="FFFFFF"/>
                </a:solidFill>
                <a:latin typeface="Calibri"/>
                <a:cs typeface="Calibri"/>
              </a:rPr>
              <a:t>0:50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03020" y="2622869"/>
            <a:ext cx="2601595" cy="454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1D283A"/>
                </a:solidFill>
                <a:latin typeface="Calibri"/>
                <a:cs typeface="Calibri"/>
              </a:rPr>
              <a:t>AccountingService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850" i="1" spc="-45" dirty="0">
                <a:solidFill>
                  <a:srgbClr val="465468"/>
                </a:solidFill>
                <a:latin typeface="Arial"/>
                <a:cs typeface="Arial"/>
              </a:rPr>
              <a:t>"Generate</a:t>
            </a:r>
            <a:r>
              <a:rPr sz="850" i="1" spc="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465468"/>
                </a:solidFill>
                <a:latin typeface="Arial"/>
                <a:cs typeface="Arial"/>
              </a:rPr>
              <a:t>AccountingService</a:t>
            </a:r>
            <a:r>
              <a:rPr sz="850" i="1" spc="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465468"/>
                </a:solidFill>
                <a:latin typeface="Arial"/>
                <a:cs typeface="Arial"/>
              </a:rPr>
              <a:t>with</a:t>
            </a:r>
            <a:r>
              <a:rPr sz="850" i="1" spc="1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45" dirty="0">
                <a:solidFill>
                  <a:srgbClr val="465468"/>
                </a:solidFill>
                <a:latin typeface="Arial"/>
                <a:cs typeface="Arial"/>
              </a:rPr>
              <a:t>double-</a:t>
            </a:r>
            <a:r>
              <a:rPr sz="850" i="1" spc="-30" dirty="0">
                <a:solidFill>
                  <a:srgbClr val="465468"/>
                </a:solidFill>
                <a:latin typeface="Arial"/>
                <a:cs typeface="Arial"/>
              </a:rPr>
              <a:t>entry</a:t>
            </a:r>
            <a:r>
              <a:rPr sz="850" i="1" spc="-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validation"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812664" y="2535302"/>
            <a:ext cx="4328795" cy="652780"/>
            <a:chOff x="4812664" y="2535302"/>
            <a:chExt cx="4328795" cy="652780"/>
          </a:xfrm>
        </p:grpSpPr>
        <p:sp>
          <p:nvSpPr>
            <p:cNvPr id="38" name="object 38"/>
            <p:cNvSpPr/>
            <p:nvPr/>
          </p:nvSpPr>
          <p:spPr>
            <a:xfrm>
              <a:off x="4818964" y="2541602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80">
                  <a:moveTo>
                    <a:pt x="424260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567004"/>
                  </a:lnTo>
                  <a:lnTo>
                    <a:pt x="15091" y="611374"/>
                  </a:lnTo>
                  <a:lnTo>
                    <a:pt x="54041" y="637651"/>
                  </a:lnTo>
                  <a:lnTo>
                    <a:pt x="73075" y="640080"/>
                  </a:lnTo>
                  <a:lnTo>
                    <a:pt x="4242955" y="639724"/>
                  </a:lnTo>
                  <a:lnTo>
                    <a:pt x="4287333" y="624620"/>
                  </a:lnTo>
                  <a:lnTo>
                    <a:pt x="4310489" y="594895"/>
                  </a:lnTo>
                  <a:lnTo>
                    <a:pt x="4310566" y="594739"/>
                  </a:lnTo>
                  <a:lnTo>
                    <a:pt x="4313542" y="585855"/>
                  </a:lnTo>
                  <a:lnTo>
                    <a:pt x="4313602" y="585676"/>
                  </a:lnTo>
                  <a:lnTo>
                    <a:pt x="4315384" y="576480"/>
                  </a:lnTo>
                  <a:lnTo>
                    <a:pt x="4315424" y="576275"/>
                  </a:lnTo>
                  <a:lnTo>
                    <a:pt x="4316008" y="567004"/>
                  </a:lnTo>
                  <a:lnTo>
                    <a:pt x="4316031" y="566635"/>
                  </a:lnTo>
                  <a:lnTo>
                    <a:pt x="4315675" y="73075"/>
                  </a:lnTo>
                  <a:lnTo>
                    <a:pt x="4300577" y="28705"/>
                  </a:lnTo>
                  <a:lnTo>
                    <a:pt x="4261629" y="2428"/>
                  </a:lnTo>
                  <a:lnTo>
                    <a:pt x="4252232" y="607"/>
                  </a:lnTo>
                  <a:lnTo>
                    <a:pt x="4242600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18964" y="2541602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8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4242600" y="0"/>
                  </a:lnTo>
                  <a:lnTo>
                    <a:pt x="4287120" y="15104"/>
                  </a:lnTo>
                  <a:lnTo>
                    <a:pt x="4313247" y="54224"/>
                  </a:lnTo>
                  <a:lnTo>
                    <a:pt x="4315675" y="73075"/>
                  </a:lnTo>
                  <a:lnTo>
                    <a:pt x="4316031" y="566635"/>
                  </a:lnTo>
                  <a:lnTo>
                    <a:pt x="4315424" y="576275"/>
                  </a:lnTo>
                  <a:lnTo>
                    <a:pt x="4313602" y="585676"/>
                  </a:lnTo>
                  <a:lnTo>
                    <a:pt x="4287333" y="624620"/>
                  </a:lnTo>
                  <a:lnTo>
                    <a:pt x="4242955" y="639724"/>
                  </a:lnTo>
                  <a:lnTo>
                    <a:pt x="73075" y="640080"/>
                  </a:lnTo>
                  <a:lnTo>
                    <a:pt x="28548" y="624975"/>
                  </a:lnTo>
                  <a:lnTo>
                    <a:pt x="2428" y="585855"/>
                  </a:lnTo>
                  <a:lnTo>
                    <a:pt x="0" y="56700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928755" y="2706486"/>
              <a:ext cx="685800" cy="292735"/>
            </a:xfrm>
            <a:custGeom>
              <a:avLst/>
              <a:gdLst/>
              <a:ahLst/>
              <a:cxnLst/>
              <a:rect l="l" t="t" r="r" b="b"/>
              <a:pathLst>
                <a:path w="685800" h="292735">
                  <a:moveTo>
                    <a:pt x="59400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201231"/>
                  </a:lnTo>
                  <a:lnTo>
                    <a:pt x="774" y="212880"/>
                  </a:lnTo>
                  <a:lnTo>
                    <a:pt x="798" y="213238"/>
                  </a:lnTo>
                  <a:lnTo>
                    <a:pt x="18843" y="256995"/>
                  </a:lnTo>
                  <a:lnTo>
                    <a:pt x="56512" y="285690"/>
                  </a:lnTo>
                  <a:lnTo>
                    <a:pt x="91439" y="292671"/>
                  </a:lnTo>
                  <a:lnTo>
                    <a:pt x="594360" y="292315"/>
                  </a:lnTo>
                  <a:lnTo>
                    <a:pt x="640079" y="280073"/>
                  </a:lnTo>
                  <a:lnTo>
                    <a:pt x="673569" y="246595"/>
                  </a:lnTo>
                  <a:lnTo>
                    <a:pt x="682529" y="224905"/>
                  </a:lnTo>
                  <a:lnTo>
                    <a:pt x="682651" y="224545"/>
                  </a:lnTo>
                  <a:lnTo>
                    <a:pt x="684929" y="213238"/>
                  </a:lnTo>
                  <a:lnTo>
                    <a:pt x="685001" y="212880"/>
                  </a:lnTo>
                  <a:lnTo>
                    <a:pt x="685776" y="201231"/>
                  </a:lnTo>
                  <a:lnTo>
                    <a:pt x="685444" y="91439"/>
                  </a:lnTo>
                  <a:lnTo>
                    <a:pt x="673201" y="45719"/>
                  </a:lnTo>
                  <a:lnTo>
                    <a:pt x="639724" y="12230"/>
                  </a:lnTo>
                  <a:lnTo>
                    <a:pt x="606009" y="798"/>
                  </a:lnTo>
                  <a:lnTo>
                    <a:pt x="59400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161940" y="2775142"/>
            <a:ext cx="2190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0" dirty="0">
                <a:solidFill>
                  <a:srgbClr val="FFFFFF"/>
                </a:solidFill>
                <a:latin typeface="Calibri"/>
                <a:cs typeface="Calibri"/>
              </a:rPr>
              <a:t>1:05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01944" y="2622869"/>
            <a:ext cx="2181225" cy="454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1D283A"/>
                </a:solidFill>
                <a:latin typeface="Calibri"/>
                <a:cs typeface="Calibri"/>
              </a:rPr>
              <a:t>10</a:t>
            </a:r>
            <a:r>
              <a:rPr sz="1050" b="1" spc="-6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1D283A"/>
                </a:solidFill>
                <a:latin typeface="Calibri"/>
                <a:cs typeface="Calibri"/>
              </a:rPr>
              <a:t>Report</a:t>
            </a:r>
            <a:r>
              <a:rPr sz="1050" b="1" spc="-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1D283A"/>
                </a:solidFill>
                <a:latin typeface="Calibri"/>
                <a:cs typeface="Calibri"/>
              </a:rPr>
              <a:t>Queries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850" i="1" spc="-45" dirty="0">
                <a:solidFill>
                  <a:srgbClr val="465468"/>
                </a:solidFill>
                <a:latin typeface="Arial"/>
                <a:cs typeface="Arial"/>
              </a:rPr>
              <a:t>"Generate</a:t>
            </a:r>
            <a:r>
              <a:rPr sz="850" i="1" spc="-3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140" dirty="0">
                <a:solidFill>
                  <a:srgbClr val="465468"/>
                </a:solidFill>
                <a:latin typeface="Arial"/>
                <a:cs typeface="Arial"/>
              </a:rPr>
              <a:t>JPA</a:t>
            </a:r>
            <a:r>
              <a:rPr sz="850" i="1" spc="-3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465468"/>
                </a:solidFill>
                <a:latin typeface="Arial"/>
                <a:cs typeface="Arial"/>
              </a:rPr>
              <a:t>queries</a:t>
            </a:r>
            <a:r>
              <a:rPr sz="850" i="1" spc="-3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for</a:t>
            </a:r>
            <a:r>
              <a:rPr sz="850" i="1" spc="-3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all</a:t>
            </a:r>
            <a:r>
              <a:rPr sz="850" i="1" spc="-2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465468"/>
                </a:solidFill>
                <a:latin typeface="Arial"/>
                <a:cs typeface="Arial"/>
              </a:rPr>
              <a:t>10</a:t>
            </a:r>
            <a:r>
              <a:rPr sz="850" i="1" spc="-3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465468"/>
                </a:solidFill>
                <a:latin typeface="Arial"/>
                <a:cs typeface="Arial"/>
              </a:rPr>
              <a:t>financial</a:t>
            </a:r>
            <a:r>
              <a:rPr sz="850" i="1" spc="-2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reports"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13740" y="3248458"/>
            <a:ext cx="4328795" cy="652780"/>
            <a:chOff x="313740" y="3248458"/>
            <a:chExt cx="4328795" cy="652780"/>
          </a:xfrm>
        </p:grpSpPr>
        <p:sp>
          <p:nvSpPr>
            <p:cNvPr id="44" name="object 44"/>
            <p:cNvSpPr/>
            <p:nvPr/>
          </p:nvSpPr>
          <p:spPr>
            <a:xfrm>
              <a:off x="320040" y="3254758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79">
                  <a:moveTo>
                    <a:pt x="4242600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567004"/>
                  </a:lnTo>
                  <a:lnTo>
                    <a:pt x="594" y="576280"/>
                  </a:lnTo>
                  <a:lnTo>
                    <a:pt x="607" y="576482"/>
                  </a:lnTo>
                  <a:lnTo>
                    <a:pt x="2393" y="585677"/>
                  </a:lnTo>
                  <a:lnTo>
                    <a:pt x="2428" y="585860"/>
                  </a:lnTo>
                  <a:lnTo>
                    <a:pt x="5410" y="594739"/>
                  </a:lnTo>
                  <a:lnTo>
                    <a:pt x="36360" y="630364"/>
                  </a:lnTo>
                  <a:lnTo>
                    <a:pt x="73075" y="640080"/>
                  </a:lnTo>
                  <a:lnTo>
                    <a:pt x="4242955" y="639724"/>
                  </a:lnTo>
                  <a:lnTo>
                    <a:pt x="4287333" y="624625"/>
                  </a:lnTo>
                  <a:lnTo>
                    <a:pt x="4313552" y="585860"/>
                  </a:lnTo>
                  <a:lnTo>
                    <a:pt x="4313613" y="585677"/>
                  </a:lnTo>
                  <a:lnTo>
                    <a:pt x="4315397" y="576482"/>
                  </a:lnTo>
                  <a:lnTo>
                    <a:pt x="4315436" y="576280"/>
                  </a:lnTo>
                  <a:lnTo>
                    <a:pt x="4316021" y="567004"/>
                  </a:lnTo>
                  <a:lnTo>
                    <a:pt x="4315675" y="73088"/>
                  </a:lnTo>
                  <a:lnTo>
                    <a:pt x="4300584" y="28710"/>
                  </a:lnTo>
                  <a:lnTo>
                    <a:pt x="4261634" y="2430"/>
                  </a:lnTo>
                  <a:lnTo>
                    <a:pt x="4252233" y="607"/>
                  </a:lnTo>
                  <a:lnTo>
                    <a:pt x="424260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0040" y="3254758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7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4242600" y="0"/>
                  </a:lnTo>
                  <a:lnTo>
                    <a:pt x="4287127" y="15109"/>
                  </a:lnTo>
                  <a:lnTo>
                    <a:pt x="4313247" y="54232"/>
                  </a:lnTo>
                  <a:lnTo>
                    <a:pt x="4315675" y="73088"/>
                  </a:lnTo>
                  <a:lnTo>
                    <a:pt x="4316044" y="566648"/>
                  </a:lnTo>
                  <a:lnTo>
                    <a:pt x="4315436" y="576280"/>
                  </a:lnTo>
                  <a:lnTo>
                    <a:pt x="4313613" y="585677"/>
                  </a:lnTo>
                  <a:lnTo>
                    <a:pt x="4287333" y="624625"/>
                  </a:lnTo>
                  <a:lnTo>
                    <a:pt x="4242955" y="639724"/>
                  </a:lnTo>
                  <a:lnTo>
                    <a:pt x="73075" y="640080"/>
                  </a:lnTo>
                  <a:lnTo>
                    <a:pt x="28555" y="624983"/>
                  </a:lnTo>
                  <a:lnTo>
                    <a:pt x="2428" y="585860"/>
                  </a:lnTo>
                  <a:lnTo>
                    <a:pt x="0" y="567004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29844" y="3419997"/>
              <a:ext cx="685800" cy="292735"/>
            </a:xfrm>
            <a:custGeom>
              <a:avLst/>
              <a:gdLst/>
              <a:ahLst/>
              <a:cxnLst/>
              <a:rect l="l" t="t" r="r" b="b"/>
              <a:pathLst>
                <a:path w="685800" h="292735">
                  <a:moveTo>
                    <a:pt x="59399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40"/>
                  </a:lnTo>
                  <a:lnTo>
                    <a:pt x="0" y="201244"/>
                  </a:lnTo>
                  <a:lnTo>
                    <a:pt x="774" y="212888"/>
                  </a:lnTo>
                  <a:lnTo>
                    <a:pt x="798" y="213249"/>
                  </a:lnTo>
                  <a:lnTo>
                    <a:pt x="3075" y="224553"/>
                  </a:lnTo>
                  <a:lnTo>
                    <a:pt x="3148" y="224913"/>
                  </a:lnTo>
                  <a:lnTo>
                    <a:pt x="6859" y="235816"/>
                  </a:lnTo>
                  <a:lnTo>
                    <a:pt x="6981" y="236173"/>
                  </a:lnTo>
                  <a:lnTo>
                    <a:pt x="12230" y="246964"/>
                  </a:lnTo>
                  <a:lnTo>
                    <a:pt x="45720" y="280441"/>
                  </a:lnTo>
                  <a:lnTo>
                    <a:pt x="91440" y="292684"/>
                  </a:lnTo>
                  <a:lnTo>
                    <a:pt x="594360" y="292328"/>
                  </a:lnTo>
                  <a:lnTo>
                    <a:pt x="640080" y="280085"/>
                  </a:lnTo>
                  <a:lnTo>
                    <a:pt x="673557" y="246608"/>
                  </a:lnTo>
                  <a:lnTo>
                    <a:pt x="682527" y="224913"/>
                  </a:lnTo>
                  <a:lnTo>
                    <a:pt x="682650" y="224553"/>
                  </a:lnTo>
                  <a:lnTo>
                    <a:pt x="684928" y="213249"/>
                  </a:lnTo>
                  <a:lnTo>
                    <a:pt x="685001" y="212888"/>
                  </a:lnTo>
                  <a:lnTo>
                    <a:pt x="685776" y="201244"/>
                  </a:lnTo>
                  <a:lnTo>
                    <a:pt x="685431" y="91440"/>
                  </a:lnTo>
                  <a:lnTo>
                    <a:pt x="673201" y="45720"/>
                  </a:lnTo>
                  <a:lnTo>
                    <a:pt x="639711" y="12242"/>
                  </a:lnTo>
                  <a:lnTo>
                    <a:pt x="605998" y="798"/>
                  </a:lnTo>
                  <a:lnTo>
                    <a:pt x="59399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63016" y="3488666"/>
            <a:ext cx="2190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0" dirty="0">
                <a:solidFill>
                  <a:srgbClr val="FFFFFF"/>
                </a:solidFill>
                <a:latin typeface="Calibri"/>
                <a:cs typeface="Calibri"/>
              </a:rPr>
              <a:t>1:20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203020" y="3336025"/>
            <a:ext cx="95821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1D283A"/>
                </a:solidFill>
                <a:latin typeface="Calibri"/>
                <a:cs typeface="Calibri"/>
              </a:rPr>
              <a:t>React</a:t>
            </a:r>
            <a:r>
              <a:rPr sz="1050" b="1" spc="-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1D283A"/>
                </a:solidFill>
                <a:latin typeface="Calibri"/>
                <a:cs typeface="Calibri"/>
              </a:rPr>
              <a:t>Dashboard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203020" y="3634818"/>
            <a:ext cx="225869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-45" dirty="0">
                <a:solidFill>
                  <a:srgbClr val="465468"/>
                </a:solidFill>
                <a:latin typeface="Arial"/>
                <a:cs typeface="Arial"/>
              </a:rPr>
              <a:t>"Generate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465468"/>
                </a:solidFill>
                <a:latin typeface="Arial"/>
                <a:cs typeface="Arial"/>
              </a:rPr>
              <a:t>P&amp;L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465468"/>
                </a:solidFill>
                <a:latin typeface="Arial"/>
                <a:cs typeface="Arial"/>
              </a:rPr>
              <a:t>dashboard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465468"/>
                </a:solidFill>
                <a:latin typeface="Arial"/>
                <a:cs typeface="Arial"/>
              </a:rPr>
              <a:t>with</a:t>
            </a:r>
            <a:r>
              <a:rPr sz="850" i="1" spc="-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465468"/>
                </a:solidFill>
                <a:latin typeface="Arial"/>
                <a:cs typeface="Arial"/>
              </a:rPr>
              <a:t>Recharts</a:t>
            </a:r>
            <a:r>
              <a:rPr sz="850" i="1" spc="-2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465468"/>
                </a:solidFill>
                <a:latin typeface="Arial"/>
                <a:cs typeface="Arial"/>
              </a:rPr>
              <a:t>bar</a:t>
            </a:r>
            <a:r>
              <a:rPr sz="850" i="1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chart"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812664" y="3248458"/>
            <a:ext cx="4328795" cy="652780"/>
            <a:chOff x="4812664" y="3248458"/>
            <a:chExt cx="4328795" cy="652780"/>
          </a:xfrm>
        </p:grpSpPr>
        <p:sp>
          <p:nvSpPr>
            <p:cNvPr id="51" name="object 51"/>
            <p:cNvSpPr/>
            <p:nvPr/>
          </p:nvSpPr>
          <p:spPr>
            <a:xfrm>
              <a:off x="4818964" y="3254758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79">
                  <a:moveTo>
                    <a:pt x="424260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567004"/>
                  </a:lnTo>
                  <a:lnTo>
                    <a:pt x="594" y="576280"/>
                  </a:lnTo>
                  <a:lnTo>
                    <a:pt x="607" y="576482"/>
                  </a:lnTo>
                  <a:lnTo>
                    <a:pt x="2393" y="585677"/>
                  </a:lnTo>
                  <a:lnTo>
                    <a:pt x="2428" y="585860"/>
                  </a:lnTo>
                  <a:lnTo>
                    <a:pt x="5410" y="594739"/>
                  </a:lnTo>
                  <a:lnTo>
                    <a:pt x="36360" y="630364"/>
                  </a:lnTo>
                  <a:lnTo>
                    <a:pt x="73075" y="640080"/>
                  </a:lnTo>
                  <a:lnTo>
                    <a:pt x="4242955" y="639724"/>
                  </a:lnTo>
                  <a:lnTo>
                    <a:pt x="4287333" y="624625"/>
                  </a:lnTo>
                  <a:lnTo>
                    <a:pt x="4313541" y="585860"/>
                  </a:lnTo>
                  <a:lnTo>
                    <a:pt x="4313602" y="585677"/>
                  </a:lnTo>
                  <a:lnTo>
                    <a:pt x="4315385" y="576482"/>
                  </a:lnTo>
                  <a:lnTo>
                    <a:pt x="4315424" y="576280"/>
                  </a:lnTo>
                  <a:lnTo>
                    <a:pt x="4316009" y="567004"/>
                  </a:lnTo>
                  <a:lnTo>
                    <a:pt x="4315675" y="73088"/>
                  </a:lnTo>
                  <a:lnTo>
                    <a:pt x="4300577" y="28710"/>
                  </a:lnTo>
                  <a:lnTo>
                    <a:pt x="4261629" y="2430"/>
                  </a:lnTo>
                  <a:lnTo>
                    <a:pt x="4252232" y="607"/>
                  </a:lnTo>
                  <a:lnTo>
                    <a:pt x="4242600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818964" y="3254758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7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4242600" y="0"/>
                  </a:lnTo>
                  <a:lnTo>
                    <a:pt x="4287120" y="15109"/>
                  </a:lnTo>
                  <a:lnTo>
                    <a:pt x="4313247" y="54232"/>
                  </a:lnTo>
                  <a:lnTo>
                    <a:pt x="4315675" y="73088"/>
                  </a:lnTo>
                  <a:lnTo>
                    <a:pt x="4316031" y="566648"/>
                  </a:lnTo>
                  <a:lnTo>
                    <a:pt x="4315424" y="576280"/>
                  </a:lnTo>
                  <a:lnTo>
                    <a:pt x="4313602" y="585677"/>
                  </a:lnTo>
                  <a:lnTo>
                    <a:pt x="4287333" y="624625"/>
                  </a:lnTo>
                  <a:lnTo>
                    <a:pt x="4242955" y="639724"/>
                  </a:lnTo>
                  <a:lnTo>
                    <a:pt x="73075" y="640080"/>
                  </a:lnTo>
                  <a:lnTo>
                    <a:pt x="28548" y="624983"/>
                  </a:lnTo>
                  <a:lnTo>
                    <a:pt x="2428" y="585860"/>
                  </a:lnTo>
                  <a:lnTo>
                    <a:pt x="0" y="567004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928755" y="3419997"/>
              <a:ext cx="685800" cy="292735"/>
            </a:xfrm>
            <a:custGeom>
              <a:avLst/>
              <a:gdLst/>
              <a:ahLst/>
              <a:cxnLst/>
              <a:rect l="l" t="t" r="r" b="b"/>
              <a:pathLst>
                <a:path w="685800" h="292735">
                  <a:moveTo>
                    <a:pt x="59400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43"/>
                  </a:lnTo>
                  <a:lnTo>
                    <a:pt x="6986" y="56512"/>
                  </a:lnTo>
                  <a:lnTo>
                    <a:pt x="0" y="91440"/>
                  </a:lnTo>
                  <a:lnTo>
                    <a:pt x="0" y="201244"/>
                  </a:lnTo>
                  <a:lnTo>
                    <a:pt x="774" y="212888"/>
                  </a:lnTo>
                  <a:lnTo>
                    <a:pt x="798" y="213249"/>
                  </a:lnTo>
                  <a:lnTo>
                    <a:pt x="3076" y="224553"/>
                  </a:lnTo>
                  <a:lnTo>
                    <a:pt x="3149" y="224913"/>
                  </a:lnTo>
                  <a:lnTo>
                    <a:pt x="6864" y="235816"/>
                  </a:lnTo>
                  <a:lnTo>
                    <a:pt x="35683" y="273847"/>
                  </a:lnTo>
                  <a:lnTo>
                    <a:pt x="79440" y="291885"/>
                  </a:lnTo>
                  <a:lnTo>
                    <a:pt x="91439" y="292684"/>
                  </a:lnTo>
                  <a:lnTo>
                    <a:pt x="594360" y="292328"/>
                  </a:lnTo>
                  <a:lnTo>
                    <a:pt x="640079" y="280085"/>
                  </a:lnTo>
                  <a:lnTo>
                    <a:pt x="673569" y="246608"/>
                  </a:lnTo>
                  <a:lnTo>
                    <a:pt x="682529" y="224913"/>
                  </a:lnTo>
                  <a:lnTo>
                    <a:pt x="682651" y="224553"/>
                  </a:lnTo>
                  <a:lnTo>
                    <a:pt x="684928" y="213249"/>
                  </a:lnTo>
                  <a:lnTo>
                    <a:pt x="685001" y="212888"/>
                  </a:lnTo>
                  <a:lnTo>
                    <a:pt x="685776" y="201244"/>
                  </a:lnTo>
                  <a:lnTo>
                    <a:pt x="685444" y="91440"/>
                  </a:lnTo>
                  <a:lnTo>
                    <a:pt x="673201" y="45720"/>
                  </a:lnTo>
                  <a:lnTo>
                    <a:pt x="639724" y="12242"/>
                  </a:lnTo>
                  <a:lnTo>
                    <a:pt x="606009" y="798"/>
                  </a:lnTo>
                  <a:lnTo>
                    <a:pt x="59400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161940" y="3488666"/>
            <a:ext cx="2190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0" dirty="0">
                <a:solidFill>
                  <a:srgbClr val="FFFFFF"/>
                </a:solidFill>
                <a:latin typeface="Calibri"/>
                <a:cs typeface="Calibri"/>
              </a:rPr>
              <a:t>1:35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701944" y="3336025"/>
            <a:ext cx="79883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1050" b="1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1D283A"/>
                </a:solidFill>
                <a:latin typeface="Calibri"/>
                <a:cs typeface="Calibri"/>
              </a:rPr>
              <a:t>Audit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701944" y="3634818"/>
            <a:ext cx="2350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-45" dirty="0">
                <a:solidFill>
                  <a:srgbClr val="465468"/>
                </a:solidFill>
                <a:latin typeface="Arial"/>
                <a:cs typeface="Arial"/>
              </a:rPr>
              <a:t>"Security</a:t>
            </a:r>
            <a:r>
              <a:rPr sz="850" i="1" spc="-2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35" dirty="0">
                <a:solidFill>
                  <a:srgbClr val="465468"/>
                </a:solidFill>
                <a:latin typeface="Arial"/>
                <a:cs typeface="Arial"/>
              </a:rPr>
              <a:t>review:</a:t>
            </a:r>
            <a:r>
              <a:rPr sz="850" i="1" spc="-1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465468"/>
                </a:solidFill>
                <a:latin typeface="Arial"/>
                <a:cs typeface="Arial"/>
              </a:rPr>
              <a:t>check</a:t>
            </a:r>
            <a:r>
              <a:rPr sz="850" i="1" spc="-2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for </a:t>
            </a:r>
            <a:r>
              <a:rPr sz="850" i="1" spc="-90" dirty="0">
                <a:solidFill>
                  <a:srgbClr val="465468"/>
                </a:solidFill>
                <a:latin typeface="Arial"/>
                <a:cs typeface="Arial"/>
              </a:rPr>
              <a:t>IDOR,</a:t>
            </a:r>
            <a:r>
              <a:rPr sz="850" i="1" spc="-1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135" dirty="0">
                <a:solidFill>
                  <a:srgbClr val="465468"/>
                </a:solidFill>
                <a:latin typeface="Arial"/>
                <a:cs typeface="Arial"/>
              </a:rPr>
              <a:t>SQL</a:t>
            </a:r>
            <a:r>
              <a:rPr sz="850" i="1" spc="-1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465468"/>
                </a:solidFill>
                <a:latin typeface="Arial"/>
                <a:cs typeface="Arial"/>
              </a:rPr>
              <a:t>injection,</a:t>
            </a:r>
            <a:r>
              <a:rPr sz="850" i="1" spc="-2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465468"/>
                </a:solidFill>
                <a:latin typeface="Arial"/>
                <a:cs typeface="Arial"/>
              </a:rPr>
              <a:t>CSRF"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313690" y="3961932"/>
            <a:ext cx="4328795" cy="652780"/>
            <a:chOff x="313690" y="3961932"/>
            <a:chExt cx="4328795" cy="652780"/>
          </a:xfrm>
        </p:grpSpPr>
        <p:sp>
          <p:nvSpPr>
            <p:cNvPr id="58" name="object 58"/>
            <p:cNvSpPr/>
            <p:nvPr/>
          </p:nvSpPr>
          <p:spPr>
            <a:xfrm>
              <a:off x="320040" y="3968282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79">
                  <a:moveTo>
                    <a:pt x="4242600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567004"/>
                  </a:lnTo>
                  <a:lnTo>
                    <a:pt x="594" y="576275"/>
                  </a:lnTo>
                  <a:lnTo>
                    <a:pt x="607" y="576480"/>
                  </a:lnTo>
                  <a:lnTo>
                    <a:pt x="2394" y="585676"/>
                  </a:lnTo>
                  <a:lnTo>
                    <a:pt x="2428" y="585855"/>
                  </a:lnTo>
                  <a:lnTo>
                    <a:pt x="5412" y="594739"/>
                  </a:lnTo>
                  <a:lnTo>
                    <a:pt x="36360" y="630364"/>
                  </a:lnTo>
                  <a:lnTo>
                    <a:pt x="73075" y="640079"/>
                  </a:lnTo>
                  <a:lnTo>
                    <a:pt x="4242955" y="639724"/>
                  </a:lnTo>
                  <a:lnTo>
                    <a:pt x="4287333" y="624620"/>
                  </a:lnTo>
                  <a:lnTo>
                    <a:pt x="4313553" y="585855"/>
                  </a:lnTo>
                  <a:lnTo>
                    <a:pt x="4316044" y="566635"/>
                  </a:lnTo>
                  <a:lnTo>
                    <a:pt x="4315675" y="73075"/>
                  </a:lnTo>
                  <a:lnTo>
                    <a:pt x="4300584" y="28705"/>
                  </a:lnTo>
                  <a:lnTo>
                    <a:pt x="4261634" y="2428"/>
                  </a:lnTo>
                  <a:lnTo>
                    <a:pt x="4252233" y="607"/>
                  </a:lnTo>
                  <a:lnTo>
                    <a:pt x="4242600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20040" y="3968282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4242600" y="0"/>
                  </a:lnTo>
                  <a:lnTo>
                    <a:pt x="4287127" y="15104"/>
                  </a:lnTo>
                  <a:lnTo>
                    <a:pt x="4313247" y="54224"/>
                  </a:lnTo>
                  <a:lnTo>
                    <a:pt x="4315675" y="73075"/>
                  </a:lnTo>
                  <a:lnTo>
                    <a:pt x="4316044" y="566635"/>
                  </a:lnTo>
                  <a:lnTo>
                    <a:pt x="4315436" y="576275"/>
                  </a:lnTo>
                  <a:lnTo>
                    <a:pt x="4313613" y="585676"/>
                  </a:lnTo>
                  <a:lnTo>
                    <a:pt x="4287333" y="624620"/>
                  </a:lnTo>
                  <a:lnTo>
                    <a:pt x="4242955" y="639724"/>
                  </a:lnTo>
                  <a:lnTo>
                    <a:pt x="73075" y="640079"/>
                  </a:lnTo>
                  <a:lnTo>
                    <a:pt x="28555" y="624975"/>
                  </a:lnTo>
                  <a:lnTo>
                    <a:pt x="2428" y="585855"/>
                  </a:lnTo>
                  <a:lnTo>
                    <a:pt x="0" y="56700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29844" y="4133166"/>
              <a:ext cx="685800" cy="292735"/>
            </a:xfrm>
            <a:custGeom>
              <a:avLst/>
              <a:gdLst/>
              <a:ahLst/>
              <a:cxnLst/>
              <a:rect l="l" t="t" r="r" b="b"/>
              <a:pathLst>
                <a:path w="685800" h="292735">
                  <a:moveTo>
                    <a:pt x="59399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201231"/>
                  </a:lnTo>
                  <a:lnTo>
                    <a:pt x="774" y="212880"/>
                  </a:lnTo>
                  <a:lnTo>
                    <a:pt x="798" y="213238"/>
                  </a:lnTo>
                  <a:lnTo>
                    <a:pt x="18830" y="256995"/>
                  </a:lnTo>
                  <a:lnTo>
                    <a:pt x="56505" y="285690"/>
                  </a:lnTo>
                  <a:lnTo>
                    <a:pt x="91440" y="292671"/>
                  </a:lnTo>
                  <a:lnTo>
                    <a:pt x="594360" y="292315"/>
                  </a:lnTo>
                  <a:lnTo>
                    <a:pt x="640080" y="280073"/>
                  </a:lnTo>
                  <a:lnTo>
                    <a:pt x="673557" y="246595"/>
                  </a:lnTo>
                  <a:lnTo>
                    <a:pt x="682527" y="224905"/>
                  </a:lnTo>
                  <a:lnTo>
                    <a:pt x="682650" y="224545"/>
                  </a:lnTo>
                  <a:lnTo>
                    <a:pt x="684929" y="213238"/>
                  </a:lnTo>
                  <a:lnTo>
                    <a:pt x="685001" y="212880"/>
                  </a:lnTo>
                  <a:lnTo>
                    <a:pt x="685776" y="201231"/>
                  </a:lnTo>
                  <a:lnTo>
                    <a:pt x="685431" y="91439"/>
                  </a:lnTo>
                  <a:lnTo>
                    <a:pt x="673201" y="45719"/>
                  </a:lnTo>
                  <a:lnTo>
                    <a:pt x="639711" y="12230"/>
                  </a:lnTo>
                  <a:lnTo>
                    <a:pt x="605998" y="798"/>
                  </a:lnTo>
                  <a:lnTo>
                    <a:pt x="59399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663016" y="4201822"/>
            <a:ext cx="2190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0" dirty="0">
                <a:solidFill>
                  <a:srgbClr val="FFFFFF"/>
                </a:solidFill>
                <a:latin typeface="Calibri"/>
                <a:cs typeface="Calibri"/>
              </a:rPr>
              <a:t>1:45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203020" y="4049181"/>
            <a:ext cx="2451100" cy="454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1D283A"/>
                </a:solidFill>
                <a:latin typeface="Calibri"/>
                <a:cs typeface="Calibri"/>
              </a:rPr>
              <a:t>DB</a:t>
            </a:r>
            <a:r>
              <a:rPr sz="1050" b="1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1D283A"/>
                </a:solidFill>
                <a:latin typeface="Calibri"/>
                <a:cs typeface="Calibri"/>
              </a:rPr>
              <a:t>Indexes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850" i="1" spc="-45" dirty="0">
                <a:solidFill>
                  <a:srgbClr val="465468"/>
                </a:solidFill>
                <a:latin typeface="Arial"/>
                <a:cs typeface="Arial"/>
              </a:rPr>
              <a:t>"Generate</a:t>
            </a:r>
            <a:r>
              <a:rPr sz="850" i="1" spc="-2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55" dirty="0">
                <a:solidFill>
                  <a:srgbClr val="465468"/>
                </a:solidFill>
                <a:latin typeface="Arial"/>
                <a:cs typeface="Arial"/>
              </a:rPr>
              <a:t>7</a:t>
            </a:r>
            <a:r>
              <a:rPr sz="850" i="1" spc="-1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50" dirty="0">
                <a:solidFill>
                  <a:srgbClr val="465468"/>
                </a:solidFill>
                <a:latin typeface="Arial"/>
                <a:cs typeface="Arial"/>
              </a:rPr>
              <a:t>composite</a:t>
            </a:r>
            <a:r>
              <a:rPr sz="850" i="1" spc="-2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465468"/>
                </a:solidFill>
                <a:latin typeface="Arial"/>
                <a:cs typeface="Arial"/>
              </a:rPr>
              <a:t>indexes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 for</a:t>
            </a:r>
            <a:r>
              <a:rPr sz="850" i="1" spc="-1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465468"/>
                </a:solidFill>
                <a:latin typeface="Arial"/>
                <a:cs typeface="Arial"/>
              </a:rPr>
              <a:t>report</a:t>
            </a:r>
            <a:r>
              <a:rPr sz="850" i="1" spc="-1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465468"/>
                </a:solidFill>
                <a:latin typeface="Arial"/>
                <a:cs typeface="Arial"/>
              </a:rPr>
              <a:t>performance"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4812614" y="3961932"/>
            <a:ext cx="4328795" cy="652780"/>
            <a:chOff x="4812614" y="3961932"/>
            <a:chExt cx="4328795" cy="652780"/>
          </a:xfrm>
        </p:grpSpPr>
        <p:sp>
          <p:nvSpPr>
            <p:cNvPr id="64" name="object 64"/>
            <p:cNvSpPr/>
            <p:nvPr/>
          </p:nvSpPr>
          <p:spPr>
            <a:xfrm>
              <a:off x="4818964" y="3968282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79">
                  <a:moveTo>
                    <a:pt x="424260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567004"/>
                  </a:lnTo>
                  <a:lnTo>
                    <a:pt x="15091" y="611374"/>
                  </a:lnTo>
                  <a:lnTo>
                    <a:pt x="54041" y="637651"/>
                  </a:lnTo>
                  <a:lnTo>
                    <a:pt x="73075" y="640079"/>
                  </a:lnTo>
                  <a:lnTo>
                    <a:pt x="4242955" y="639724"/>
                  </a:lnTo>
                  <a:lnTo>
                    <a:pt x="4287333" y="624620"/>
                  </a:lnTo>
                  <a:lnTo>
                    <a:pt x="4310489" y="594895"/>
                  </a:lnTo>
                  <a:lnTo>
                    <a:pt x="4310566" y="594739"/>
                  </a:lnTo>
                  <a:lnTo>
                    <a:pt x="4313542" y="585855"/>
                  </a:lnTo>
                  <a:lnTo>
                    <a:pt x="4313602" y="585676"/>
                  </a:lnTo>
                  <a:lnTo>
                    <a:pt x="4315384" y="576480"/>
                  </a:lnTo>
                  <a:lnTo>
                    <a:pt x="4315424" y="576275"/>
                  </a:lnTo>
                  <a:lnTo>
                    <a:pt x="4316008" y="567004"/>
                  </a:lnTo>
                  <a:lnTo>
                    <a:pt x="4316031" y="566635"/>
                  </a:lnTo>
                  <a:lnTo>
                    <a:pt x="4315675" y="73075"/>
                  </a:lnTo>
                  <a:lnTo>
                    <a:pt x="4300577" y="28705"/>
                  </a:lnTo>
                  <a:lnTo>
                    <a:pt x="4261629" y="2428"/>
                  </a:lnTo>
                  <a:lnTo>
                    <a:pt x="4252232" y="607"/>
                  </a:lnTo>
                  <a:lnTo>
                    <a:pt x="4242600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818964" y="3968282"/>
              <a:ext cx="4316095" cy="640080"/>
            </a:xfrm>
            <a:custGeom>
              <a:avLst/>
              <a:gdLst/>
              <a:ahLst/>
              <a:cxnLst/>
              <a:rect l="l" t="t" r="r" b="b"/>
              <a:pathLst>
                <a:path w="4316095" h="6400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4242600" y="0"/>
                  </a:lnTo>
                  <a:lnTo>
                    <a:pt x="4287120" y="15104"/>
                  </a:lnTo>
                  <a:lnTo>
                    <a:pt x="4313247" y="54224"/>
                  </a:lnTo>
                  <a:lnTo>
                    <a:pt x="4315675" y="73075"/>
                  </a:lnTo>
                  <a:lnTo>
                    <a:pt x="4316031" y="566635"/>
                  </a:lnTo>
                  <a:lnTo>
                    <a:pt x="4315424" y="576275"/>
                  </a:lnTo>
                  <a:lnTo>
                    <a:pt x="4313602" y="585676"/>
                  </a:lnTo>
                  <a:lnTo>
                    <a:pt x="4287333" y="624620"/>
                  </a:lnTo>
                  <a:lnTo>
                    <a:pt x="4242955" y="639724"/>
                  </a:lnTo>
                  <a:lnTo>
                    <a:pt x="73075" y="640079"/>
                  </a:lnTo>
                  <a:lnTo>
                    <a:pt x="28548" y="624975"/>
                  </a:lnTo>
                  <a:lnTo>
                    <a:pt x="2428" y="585855"/>
                  </a:lnTo>
                  <a:lnTo>
                    <a:pt x="0" y="56700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928755" y="4133166"/>
              <a:ext cx="685800" cy="292735"/>
            </a:xfrm>
            <a:custGeom>
              <a:avLst/>
              <a:gdLst/>
              <a:ahLst/>
              <a:cxnLst/>
              <a:rect l="l" t="t" r="r" b="b"/>
              <a:pathLst>
                <a:path w="685800" h="292735">
                  <a:moveTo>
                    <a:pt x="59400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201231"/>
                  </a:lnTo>
                  <a:lnTo>
                    <a:pt x="774" y="212880"/>
                  </a:lnTo>
                  <a:lnTo>
                    <a:pt x="798" y="213238"/>
                  </a:lnTo>
                  <a:lnTo>
                    <a:pt x="3076" y="224545"/>
                  </a:lnTo>
                  <a:lnTo>
                    <a:pt x="3149" y="224905"/>
                  </a:lnTo>
                  <a:lnTo>
                    <a:pt x="6863" y="235805"/>
                  </a:lnTo>
                  <a:lnTo>
                    <a:pt x="6986" y="236166"/>
                  </a:lnTo>
                  <a:lnTo>
                    <a:pt x="35683" y="273840"/>
                  </a:lnTo>
                  <a:lnTo>
                    <a:pt x="79440" y="291873"/>
                  </a:lnTo>
                  <a:lnTo>
                    <a:pt x="91439" y="292671"/>
                  </a:lnTo>
                  <a:lnTo>
                    <a:pt x="594360" y="292315"/>
                  </a:lnTo>
                  <a:lnTo>
                    <a:pt x="640079" y="280073"/>
                  </a:lnTo>
                  <a:lnTo>
                    <a:pt x="673569" y="246595"/>
                  </a:lnTo>
                  <a:lnTo>
                    <a:pt x="682529" y="224905"/>
                  </a:lnTo>
                  <a:lnTo>
                    <a:pt x="682651" y="224545"/>
                  </a:lnTo>
                  <a:lnTo>
                    <a:pt x="684929" y="213238"/>
                  </a:lnTo>
                  <a:lnTo>
                    <a:pt x="685001" y="212880"/>
                  </a:lnTo>
                  <a:lnTo>
                    <a:pt x="685776" y="201231"/>
                  </a:lnTo>
                  <a:lnTo>
                    <a:pt x="685444" y="91439"/>
                  </a:lnTo>
                  <a:lnTo>
                    <a:pt x="673201" y="45719"/>
                  </a:lnTo>
                  <a:lnTo>
                    <a:pt x="639724" y="12230"/>
                  </a:lnTo>
                  <a:lnTo>
                    <a:pt x="606009" y="798"/>
                  </a:lnTo>
                  <a:lnTo>
                    <a:pt x="59400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5161940" y="4201822"/>
            <a:ext cx="2190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0" dirty="0">
                <a:solidFill>
                  <a:srgbClr val="FFFFFF"/>
                </a:solidFill>
                <a:latin typeface="Calibri"/>
                <a:cs typeface="Calibri"/>
              </a:rPr>
              <a:t>1:55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701944" y="4049181"/>
            <a:ext cx="2341245" cy="454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1D283A"/>
                </a:solidFill>
                <a:latin typeface="Calibri"/>
                <a:cs typeface="Calibri"/>
              </a:rPr>
              <a:t>GitHub Actions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850" i="1" spc="-45" dirty="0">
                <a:solidFill>
                  <a:srgbClr val="465468"/>
                </a:solidFill>
                <a:latin typeface="Arial"/>
                <a:cs typeface="Arial"/>
              </a:rPr>
              <a:t>"Generate</a:t>
            </a:r>
            <a:r>
              <a:rPr sz="850" i="1" spc="-1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80" dirty="0">
                <a:solidFill>
                  <a:srgbClr val="465468"/>
                </a:solidFill>
                <a:latin typeface="Arial"/>
                <a:cs typeface="Arial"/>
              </a:rPr>
              <a:t>CI/CD</a:t>
            </a:r>
            <a:r>
              <a:rPr sz="850" i="1" spc="-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40" dirty="0">
                <a:solidFill>
                  <a:srgbClr val="465468"/>
                </a:solidFill>
                <a:latin typeface="Arial"/>
                <a:cs typeface="Arial"/>
              </a:rPr>
              <a:t>pipeline</a:t>
            </a:r>
            <a:r>
              <a:rPr sz="850" i="1" spc="-2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for</a:t>
            </a:r>
            <a:r>
              <a:rPr sz="850" i="1" spc="-2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70" dirty="0">
                <a:solidFill>
                  <a:srgbClr val="465468"/>
                </a:solidFill>
                <a:latin typeface="Arial"/>
                <a:cs typeface="Arial"/>
              </a:rPr>
              <a:t>Robi</a:t>
            </a:r>
            <a:r>
              <a:rPr sz="850" i="1" spc="-15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65" dirty="0">
                <a:solidFill>
                  <a:srgbClr val="465468"/>
                </a:solidFill>
                <a:latin typeface="Arial"/>
                <a:cs typeface="Arial"/>
              </a:rPr>
              <a:t>Cloud</a:t>
            </a:r>
            <a:r>
              <a:rPr sz="850" i="1" spc="-20" dirty="0">
                <a:solidFill>
                  <a:srgbClr val="465468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465468"/>
                </a:solidFill>
                <a:latin typeface="Arial"/>
                <a:cs typeface="Arial"/>
              </a:rPr>
              <a:t>deployment"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70" name="object 70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444144" y="4730580"/>
            <a:ext cx="606361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This</a:t>
            </a:r>
            <a:r>
              <a:rPr sz="950" spc="-4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2-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hour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session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would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take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2-developer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team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8–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10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weeks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without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AI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assistance.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Claude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Code: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10×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speed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increase.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3" name="object 7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76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40</a:t>
            </a:r>
            <a:r>
              <a:rPr spc="-70" dirty="0"/>
              <a:t> </a:t>
            </a:r>
            <a:r>
              <a:rPr spc="-10" dirty="0"/>
              <a:t>Essential</a:t>
            </a:r>
            <a:r>
              <a:rPr spc="-60" dirty="0"/>
              <a:t> </a:t>
            </a:r>
            <a:r>
              <a:rPr dirty="0"/>
              <a:t>Claude</a:t>
            </a:r>
            <a:r>
              <a:rPr spc="-60" dirty="0"/>
              <a:t> </a:t>
            </a:r>
            <a:r>
              <a:rPr dirty="0"/>
              <a:t>Code</a:t>
            </a:r>
            <a:r>
              <a:rPr spc="-60" dirty="0"/>
              <a:t> </a:t>
            </a:r>
            <a:r>
              <a:rPr dirty="0"/>
              <a:t>Prompts</a:t>
            </a:r>
            <a:r>
              <a:rPr spc="-65" dirty="0"/>
              <a:t> </a:t>
            </a:r>
            <a:r>
              <a:rPr dirty="0"/>
              <a:t>—</a:t>
            </a:r>
            <a:r>
              <a:rPr spc="-65" dirty="0"/>
              <a:t> </a:t>
            </a:r>
            <a:r>
              <a:rPr spc="-10" dirty="0"/>
              <a:t>WAMY</a:t>
            </a:r>
            <a:r>
              <a:rPr spc="-60" dirty="0"/>
              <a:t> </a:t>
            </a:r>
            <a:r>
              <a:rPr spc="-10" dirty="0"/>
              <a:t>Finance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195389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90" dirty="0">
                <a:solidFill>
                  <a:srgbClr val="9FBFFF"/>
                </a:solidFill>
                <a:latin typeface="+mn-lt"/>
                <a:cs typeface="Arial"/>
              </a:rPr>
              <a:t>Your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+mn-lt"/>
                <a:cs typeface="Arial"/>
              </a:rPr>
              <a:t>cheat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+mn-lt"/>
                <a:cs typeface="Arial"/>
              </a:rPr>
              <a:t>sheet</a:t>
            </a:r>
            <a:r>
              <a:rPr sz="1000" i="1" spc="-4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for</a:t>
            </a:r>
            <a:r>
              <a:rPr sz="1000" i="1" spc="-4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25" dirty="0">
                <a:solidFill>
                  <a:srgbClr val="9FBFFF"/>
                </a:solidFill>
                <a:latin typeface="+mn-lt"/>
                <a:cs typeface="Arial"/>
              </a:rPr>
              <a:t>the</a:t>
            </a:r>
            <a:r>
              <a:rPr sz="1000" i="1" spc="-4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entire 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project</a:t>
            </a:r>
            <a:endParaRPr sz="1000" dirty="0">
              <a:latin typeface="+mn-lt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8474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278" y="1037871"/>
            <a:ext cx="1762880" cy="1888896"/>
            <a:chOff x="242277" y="1037871"/>
            <a:chExt cx="1836420" cy="211074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037871"/>
              <a:ext cx="1836356" cy="211068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316" y="11149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5" h="1920875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10804"/>
                  </a:lnTo>
                  <a:lnTo>
                    <a:pt x="939" y="1825227"/>
                  </a:lnTo>
                  <a:lnTo>
                    <a:pt x="3736" y="1839282"/>
                  </a:lnTo>
                  <a:lnTo>
                    <a:pt x="8305" y="1852712"/>
                  </a:lnTo>
                  <a:lnTo>
                    <a:pt x="8358" y="1852868"/>
                  </a:lnTo>
                  <a:lnTo>
                    <a:pt x="32224" y="1888428"/>
                  </a:lnTo>
                  <a:lnTo>
                    <a:pt x="67882" y="1912242"/>
                  </a:lnTo>
                  <a:lnTo>
                    <a:pt x="109804" y="1920595"/>
                  </a:lnTo>
                  <a:lnTo>
                    <a:pt x="1536484" y="1920595"/>
                  </a:lnTo>
                  <a:lnTo>
                    <a:pt x="1578555" y="1912242"/>
                  </a:lnTo>
                  <a:lnTo>
                    <a:pt x="1614055" y="1888428"/>
                  </a:lnTo>
                  <a:lnTo>
                    <a:pt x="1637852" y="1852868"/>
                  </a:lnTo>
                  <a:lnTo>
                    <a:pt x="1637930" y="1852712"/>
                  </a:lnTo>
                  <a:lnTo>
                    <a:pt x="1642535" y="1839282"/>
                  </a:lnTo>
                  <a:lnTo>
                    <a:pt x="1645347" y="1825227"/>
                  </a:lnTo>
                  <a:lnTo>
                    <a:pt x="1646288" y="1810804"/>
                  </a:lnTo>
                  <a:lnTo>
                    <a:pt x="1646265" y="109804"/>
                  </a:lnTo>
                  <a:lnTo>
                    <a:pt x="1637930" y="68088"/>
                  </a:lnTo>
                  <a:lnTo>
                    <a:pt x="1614063" y="32535"/>
                  </a:lnTo>
                  <a:lnTo>
                    <a:pt x="1578405" y="8713"/>
                  </a:lnTo>
                  <a:lnTo>
                    <a:pt x="1536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316" y="11149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5" h="192087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536484" y="355"/>
                  </a:lnTo>
                  <a:lnTo>
                    <a:pt x="1578405" y="8713"/>
                  </a:lnTo>
                  <a:lnTo>
                    <a:pt x="1614063" y="32535"/>
                  </a:lnTo>
                  <a:lnTo>
                    <a:pt x="1637930" y="68088"/>
                  </a:lnTo>
                  <a:lnTo>
                    <a:pt x="1646288" y="110159"/>
                  </a:lnTo>
                  <a:lnTo>
                    <a:pt x="1646288" y="1810804"/>
                  </a:lnTo>
                  <a:lnTo>
                    <a:pt x="1645348" y="1825221"/>
                  </a:lnTo>
                  <a:lnTo>
                    <a:pt x="1642551" y="1839236"/>
                  </a:lnTo>
                  <a:lnTo>
                    <a:pt x="1623505" y="1877591"/>
                  </a:lnTo>
                  <a:lnTo>
                    <a:pt x="1591564" y="1905838"/>
                  </a:lnTo>
                  <a:lnTo>
                    <a:pt x="1550914" y="1919655"/>
                  </a:lnTo>
                  <a:lnTo>
                    <a:pt x="1536484" y="1920595"/>
                  </a:lnTo>
                  <a:lnTo>
                    <a:pt x="109804" y="1920595"/>
                  </a:lnTo>
                  <a:lnTo>
                    <a:pt x="67882" y="1912242"/>
                  </a:lnTo>
                  <a:lnTo>
                    <a:pt x="32224" y="1888428"/>
                  </a:lnTo>
                  <a:lnTo>
                    <a:pt x="8358" y="1852868"/>
                  </a:lnTo>
                  <a:lnTo>
                    <a:pt x="0" y="181080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9684" y="1115646"/>
              <a:ext cx="1645920" cy="292735"/>
            </a:xfrm>
            <a:custGeom>
              <a:avLst/>
              <a:gdLst/>
              <a:ahLst/>
              <a:cxnLst/>
              <a:rect l="l" t="t" r="r" b="b"/>
              <a:pathLst>
                <a:path w="1645920" h="292734">
                  <a:moveTo>
                    <a:pt x="155411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201231"/>
                  </a:lnTo>
                  <a:lnTo>
                    <a:pt x="774" y="212880"/>
                  </a:lnTo>
                  <a:lnTo>
                    <a:pt x="798" y="213238"/>
                  </a:lnTo>
                  <a:lnTo>
                    <a:pt x="3075" y="224545"/>
                  </a:lnTo>
                  <a:lnTo>
                    <a:pt x="3148" y="224905"/>
                  </a:lnTo>
                  <a:lnTo>
                    <a:pt x="26679" y="265991"/>
                  </a:lnTo>
                  <a:lnTo>
                    <a:pt x="67765" y="289523"/>
                  </a:lnTo>
                  <a:lnTo>
                    <a:pt x="91439" y="292671"/>
                  </a:lnTo>
                  <a:lnTo>
                    <a:pt x="1554480" y="292315"/>
                  </a:lnTo>
                  <a:lnTo>
                    <a:pt x="1600200" y="280073"/>
                  </a:lnTo>
                  <a:lnTo>
                    <a:pt x="1633677" y="246595"/>
                  </a:lnTo>
                  <a:lnTo>
                    <a:pt x="1645896" y="201231"/>
                  </a:lnTo>
                  <a:lnTo>
                    <a:pt x="1645920" y="200875"/>
                  </a:lnTo>
                  <a:lnTo>
                    <a:pt x="1645551" y="91439"/>
                  </a:lnTo>
                  <a:lnTo>
                    <a:pt x="1633321" y="45720"/>
                  </a:lnTo>
                  <a:lnTo>
                    <a:pt x="1599831" y="12230"/>
                  </a:lnTo>
                  <a:lnTo>
                    <a:pt x="1566118" y="798"/>
                  </a:lnTo>
                  <a:lnTo>
                    <a:pt x="1554111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24013" y="1180340"/>
            <a:ext cx="436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Planning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0415" y="1598665"/>
            <a:ext cx="105537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BRD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from</a:t>
            </a:r>
            <a:r>
              <a:rPr sz="7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requirements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8074" y="1794837"/>
            <a:ext cx="972819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FRS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and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API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contracts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8124" y="2020724"/>
            <a:ext cx="110680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Sprint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plan</a:t>
            </a:r>
            <a:r>
              <a:rPr sz="7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story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points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5354" y="2287593"/>
            <a:ext cx="880744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Risk</a:t>
            </a:r>
            <a:r>
              <a:rPr sz="7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register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+ 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RACI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79638" y="1037871"/>
            <a:ext cx="1783008" cy="1888896"/>
            <a:chOff x="1979637" y="1037871"/>
            <a:chExt cx="1837055" cy="211074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9637" y="1037871"/>
              <a:ext cx="1836724" cy="211068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056676" y="11149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4" h="1920875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10804"/>
                  </a:lnTo>
                  <a:lnTo>
                    <a:pt x="939" y="1825227"/>
                  </a:lnTo>
                  <a:lnTo>
                    <a:pt x="3736" y="1839282"/>
                  </a:lnTo>
                  <a:lnTo>
                    <a:pt x="8305" y="1852712"/>
                  </a:lnTo>
                  <a:lnTo>
                    <a:pt x="8358" y="1852868"/>
                  </a:lnTo>
                  <a:lnTo>
                    <a:pt x="14770" y="1865884"/>
                  </a:lnTo>
                  <a:lnTo>
                    <a:pt x="22683" y="1877591"/>
                  </a:lnTo>
                  <a:lnTo>
                    <a:pt x="22788" y="1877747"/>
                  </a:lnTo>
                  <a:lnTo>
                    <a:pt x="55079" y="1905838"/>
                  </a:lnTo>
                  <a:lnTo>
                    <a:pt x="95379" y="1919655"/>
                  </a:lnTo>
                  <a:lnTo>
                    <a:pt x="109804" y="1920595"/>
                  </a:lnTo>
                  <a:lnTo>
                    <a:pt x="1536484" y="1920595"/>
                  </a:lnTo>
                  <a:lnTo>
                    <a:pt x="1578555" y="1912242"/>
                  </a:lnTo>
                  <a:lnTo>
                    <a:pt x="1614055" y="1888428"/>
                  </a:lnTo>
                  <a:lnTo>
                    <a:pt x="1637852" y="1852868"/>
                  </a:lnTo>
                  <a:lnTo>
                    <a:pt x="1637930" y="1852712"/>
                  </a:lnTo>
                  <a:lnTo>
                    <a:pt x="1642535" y="1839282"/>
                  </a:lnTo>
                  <a:lnTo>
                    <a:pt x="1645347" y="1825227"/>
                  </a:lnTo>
                  <a:lnTo>
                    <a:pt x="1646288" y="1810804"/>
                  </a:lnTo>
                  <a:lnTo>
                    <a:pt x="1646265" y="109804"/>
                  </a:lnTo>
                  <a:lnTo>
                    <a:pt x="1637930" y="68088"/>
                  </a:lnTo>
                  <a:lnTo>
                    <a:pt x="1614063" y="32535"/>
                  </a:lnTo>
                  <a:lnTo>
                    <a:pt x="1578405" y="8713"/>
                  </a:lnTo>
                  <a:lnTo>
                    <a:pt x="1536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56676" y="11149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4" h="192087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536484" y="355"/>
                  </a:lnTo>
                  <a:lnTo>
                    <a:pt x="1578405" y="8713"/>
                  </a:lnTo>
                  <a:lnTo>
                    <a:pt x="1614063" y="32535"/>
                  </a:lnTo>
                  <a:lnTo>
                    <a:pt x="1637930" y="68088"/>
                  </a:lnTo>
                  <a:lnTo>
                    <a:pt x="1646288" y="110159"/>
                  </a:lnTo>
                  <a:lnTo>
                    <a:pt x="1646288" y="1810804"/>
                  </a:lnTo>
                  <a:lnTo>
                    <a:pt x="1645348" y="1825221"/>
                  </a:lnTo>
                  <a:lnTo>
                    <a:pt x="1642551" y="1839236"/>
                  </a:lnTo>
                  <a:lnTo>
                    <a:pt x="1623505" y="1877591"/>
                  </a:lnTo>
                  <a:lnTo>
                    <a:pt x="1591563" y="1905838"/>
                  </a:lnTo>
                  <a:lnTo>
                    <a:pt x="1550914" y="1919655"/>
                  </a:lnTo>
                  <a:lnTo>
                    <a:pt x="1536484" y="1920595"/>
                  </a:lnTo>
                  <a:lnTo>
                    <a:pt x="109804" y="1920595"/>
                  </a:lnTo>
                  <a:lnTo>
                    <a:pt x="67882" y="1912242"/>
                  </a:lnTo>
                  <a:lnTo>
                    <a:pt x="32224" y="1888428"/>
                  </a:lnTo>
                  <a:lnTo>
                    <a:pt x="8358" y="1852868"/>
                  </a:lnTo>
                  <a:lnTo>
                    <a:pt x="0" y="181080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57044" y="1115646"/>
              <a:ext cx="1645920" cy="292735"/>
            </a:xfrm>
            <a:custGeom>
              <a:avLst/>
              <a:gdLst/>
              <a:ahLst/>
              <a:cxnLst/>
              <a:rect l="l" t="t" r="r" b="b"/>
              <a:pathLst>
                <a:path w="1645920" h="292734">
                  <a:moveTo>
                    <a:pt x="155411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201231"/>
                  </a:lnTo>
                  <a:lnTo>
                    <a:pt x="774" y="212880"/>
                  </a:lnTo>
                  <a:lnTo>
                    <a:pt x="798" y="213238"/>
                  </a:lnTo>
                  <a:lnTo>
                    <a:pt x="3075" y="224545"/>
                  </a:lnTo>
                  <a:lnTo>
                    <a:pt x="3148" y="224905"/>
                  </a:lnTo>
                  <a:lnTo>
                    <a:pt x="6858" y="235805"/>
                  </a:lnTo>
                  <a:lnTo>
                    <a:pt x="6981" y="236166"/>
                  </a:lnTo>
                  <a:lnTo>
                    <a:pt x="35675" y="273840"/>
                  </a:lnTo>
                  <a:lnTo>
                    <a:pt x="79433" y="291873"/>
                  </a:lnTo>
                  <a:lnTo>
                    <a:pt x="91439" y="292671"/>
                  </a:lnTo>
                  <a:lnTo>
                    <a:pt x="1554480" y="292315"/>
                  </a:lnTo>
                  <a:lnTo>
                    <a:pt x="1600199" y="280073"/>
                  </a:lnTo>
                  <a:lnTo>
                    <a:pt x="1633677" y="246595"/>
                  </a:lnTo>
                  <a:lnTo>
                    <a:pt x="1642642" y="224905"/>
                  </a:lnTo>
                  <a:lnTo>
                    <a:pt x="1642765" y="224545"/>
                  </a:lnTo>
                  <a:lnTo>
                    <a:pt x="1645047" y="213238"/>
                  </a:lnTo>
                  <a:lnTo>
                    <a:pt x="1645119" y="212880"/>
                  </a:lnTo>
                  <a:lnTo>
                    <a:pt x="1645896" y="201231"/>
                  </a:lnTo>
                  <a:lnTo>
                    <a:pt x="1645920" y="200875"/>
                  </a:lnTo>
                  <a:lnTo>
                    <a:pt x="1645551" y="91439"/>
                  </a:lnTo>
                  <a:lnTo>
                    <a:pt x="1633321" y="45720"/>
                  </a:lnTo>
                  <a:lnTo>
                    <a:pt x="1599831" y="12230"/>
                  </a:lnTo>
                  <a:lnTo>
                    <a:pt x="1566118" y="798"/>
                  </a:lnTo>
                  <a:lnTo>
                    <a:pt x="1554111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573540" y="1180340"/>
            <a:ext cx="6127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17775" y="1598665"/>
            <a:ext cx="10312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C4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Context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7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Container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03920" y="1804742"/>
            <a:ext cx="72898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ERD</a:t>
            </a:r>
            <a:r>
              <a:rPr sz="7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all 9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tables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94280" y="2047020"/>
            <a:ext cx="130175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Spring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Boot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package</a:t>
            </a:r>
            <a:r>
              <a:rPr sz="7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structure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03920" y="2283653"/>
            <a:ext cx="10293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Service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layer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interfaces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716998" y="1037871"/>
            <a:ext cx="1765288" cy="1888896"/>
            <a:chOff x="3716997" y="1037871"/>
            <a:chExt cx="1837055" cy="2110740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16997" y="1037871"/>
              <a:ext cx="1836724" cy="211068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794036" y="11149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4" h="1920875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10804"/>
                  </a:lnTo>
                  <a:lnTo>
                    <a:pt x="939" y="1825227"/>
                  </a:lnTo>
                  <a:lnTo>
                    <a:pt x="3736" y="1839282"/>
                  </a:lnTo>
                  <a:lnTo>
                    <a:pt x="8305" y="1852712"/>
                  </a:lnTo>
                  <a:lnTo>
                    <a:pt x="8358" y="1852868"/>
                  </a:lnTo>
                  <a:lnTo>
                    <a:pt x="14770" y="1865884"/>
                  </a:lnTo>
                  <a:lnTo>
                    <a:pt x="22683" y="1877591"/>
                  </a:lnTo>
                  <a:lnTo>
                    <a:pt x="22788" y="1877747"/>
                  </a:lnTo>
                  <a:lnTo>
                    <a:pt x="55079" y="1905838"/>
                  </a:lnTo>
                  <a:lnTo>
                    <a:pt x="95379" y="1919655"/>
                  </a:lnTo>
                  <a:lnTo>
                    <a:pt x="109804" y="1920595"/>
                  </a:lnTo>
                  <a:lnTo>
                    <a:pt x="1536484" y="1920595"/>
                  </a:lnTo>
                  <a:lnTo>
                    <a:pt x="1578555" y="1912242"/>
                  </a:lnTo>
                  <a:lnTo>
                    <a:pt x="1614055" y="1888428"/>
                  </a:lnTo>
                  <a:lnTo>
                    <a:pt x="1637852" y="1852868"/>
                  </a:lnTo>
                  <a:lnTo>
                    <a:pt x="1637930" y="1852712"/>
                  </a:lnTo>
                  <a:lnTo>
                    <a:pt x="1642535" y="1839282"/>
                  </a:lnTo>
                  <a:lnTo>
                    <a:pt x="1645347" y="1825227"/>
                  </a:lnTo>
                  <a:lnTo>
                    <a:pt x="1646288" y="1810804"/>
                  </a:lnTo>
                  <a:lnTo>
                    <a:pt x="1646265" y="109804"/>
                  </a:lnTo>
                  <a:lnTo>
                    <a:pt x="1637930" y="68088"/>
                  </a:lnTo>
                  <a:lnTo>
                    <a:pt x="1614063" y="32535"/>
                  </a:lnTo>
                  <a:lnTo>
                    <a:pt x="1578405" y="8713"/>
                  </a:lnTo>
                  <a:lnTo>
                    <a:pt x="1536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794036" y="11149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4" h="192087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536484" y="355"/>
                  </a:lnTo>
                  <a:lnTo>
                    <a:pt x="1578405" y="8713"/>
                  </a:lnTo>
                  <a:lnTo>
                    <a:pt x="1614063" y="32535"/>
                  </a:lnTo>
                  <a:lnTo>
                    <a:pt x="1637930" y="68088"/>
                  </a:lnTo>
                  <a:lnTo>
                    <a:pt x="1646288" y="110159"/>
                  </a:lnTo>
                  <a:lnTo>
                    <a:pt x="1646288" y="1810804"/>
                  </a:lnTo>
                  <a:lnTo>
                    <a:pt x="1645348" y="1825221"/>
                  </a:lnTo>
                  <a:lnTo>
                    <a:pt x="1642551" y="1839236"/>
                  </a:lnTo>
                  <a:lnTo>
                    <a:pt x="1623505" y="1877591"/>
                  </a:lnTo>
                  <a:lnTo>
                    <a:pt x="1591564" y="1905838"/>
                  </a:lnTo>
                  <a:lnTo>
                    <a:pt x="1550914" y="1919655"/>
                  </a:lnTo>
                  <a:lnTo>
                    <a:pt x="1536484" y="1920595"/>
                  </a:lnTo>
                  <a:lnTo>
                    <a:pt x="109804" y="1920595"/>
                  </a:lnTo>
                  <a:lnTo>
                    <a:pt x="67882" y="1912242"/>
                  </a:lnTo>
                  <a:lnTo>
                    <a:pt x="32224" y="1888428"/>
                  </a:lnTo>
                  <a:lnTo>
                    <a:pt x="8358" y="1852868"/>
                  </a:lnTo>
                  <a:lnTo>
                    <a:pt x="0" y="181080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94404" y="1115646"/>
              <a:ext cx="1645920" cy="292735"/>
            </a:xfrm>
            <a:custGeom>
              <a:avLst/>
              <a:gdLst/>
              <a:ahLst/>
              <a:cxnLst/>
              <a:rect l="l" t="t" r="r" b="b"/>
              <a:pathLst>
                <a:path w="1645920" h="292734">
                  <a:moveTo>
                    <a:pt x="155411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201231"/>
                  </a:lnTo>
                  <a:lnTo>
                    <a:pt x="774" y="212880"/>
                  </a:lnTo>
                  <a:lnTo>
                    <a:pt x="798" y="213238"/>
                  </a:lnTo>
                  <a:lnTo>
                    <a:pt x="3075" y="224545"/>
                  </a:lnTo>
                  <a:lnTo>
                    <a:pt x="3148" y="224905"/>
                  </a:lnTo>
                  <a:lnTo>
                    <a:pt x="6858" y="235805"/>
                  </a:lnTo>
                  <a:lnTo>
                    <a:pt x="6981" y="236166"/>
                  </a:lnTo>
                  <a:lnTo>
                    <a:pt x="12230" y="246951"/>
                  </a:lnTo>
                  <a:lnTo>
                    <a:pt x="45720" y="280441"/>
                  </a:lnTo>
                  <a:lnTo>
                    <a:pt x="91439" y="292671"/>
                  </a:lnTo>
                  <a:lnTo>
                    <a:pt x="1554480" y="292315"/>
                  </a:lnTo>
                  <a:lnTo>
                    <a:pt x="1600200" y="280073"/>
                  </a:lnTo>
                  <a:lnTo>
                    <a:pt x="1633677" y="246595"/>
                  </a:lnTo>
                  <a:lnTo>
                    <a:pt x="1642642" y="224905"/>
                  </a:lnTo>
                  <a:lnTo>
                    <a:pt x="1642765" y="224545"/>
                  </a:lnTo>
                  <a:lnTo>
                    <a:pt x="1645047" y="213238"/>
                  </a:lnTo>
                  <a:lnTo>
                    <a:pt x="1645119" y="212880"/>
                  </a:lnTo>
                  <a:lnTo>
                    <a:pt x="1645896" y="201231"/>
                  </a:lnTo>
                  <a:lnTo>
                    <a:pt x="1645920" y="200875"/>
                  </a:lnTo>
                  <a:lnTo>
                    <a:pt x="1645551" y="91439"/>
                  </a:lnTo>
                  <a:lnTo>
                    <a:pt x="1633321" y="45720"/>
                  </a:lnTo>
                  <a:lnTo>
                    <a:pt x="1599831" y="12230"/>
                  </a:lnTo>
                  <a:lnTo>
                    <a:pt x="1566118" y="798"/>
                  </a:lnTo>
                  <a:lnTo>
                    <a:pt x="1554111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404855" y="1180340"/>
            <a:ext cx="426084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Backend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855135" y="1598665"/>
            <a:ext cx="11252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AccountingService</a:t>
            </a:r>
            <a:r>
              <a:rPr sz="750" spc="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750" spc="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tests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55135" y="2083221"/>
            <a:ext cx="127825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ReportingService</a:t>
            </a:r>
            <a:r>
              <a:rPr sz="750" spc="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(10</a:t>
            </a:r>
            <a:r>
              <a:rPr sz="750" spc="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reports)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55135" y="2325498"/>
            <a:ext cx="116205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Spring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JWT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RS256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12862" y="2524342"/>
            <a:ext cx="10744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GlobalExceptionHandler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454358" y="1037871"/>
            <a:ext cx="1709852" cy="1888896"/>
            <a:chOff x="5454357" y="1037871"/>
            <a:chExt cx="1837055" cy="2110740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4357" y="1037871"/>
              <a:ext cx="1836724" cy="211068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531395" y="11149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4" h="1920875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10804"/>
                  </a:lnTo>
                  <a:lnTo>
                    <a:pt x="939" y="1825227"/>
                  </a:lnTo>
                  <a:lnTo>
                    <a:pt x="3736" y="1839282"/>
                  </a:lnTo>
                  <a:lnTo>
                    <a:pt x="8305" y="1852712"/>
                  </a:lnTo>
                  <a:lnTo>
                    <a:pt x="8358" y="1852868"/>
                  </a:lnTo>
                  <a:lnTo>
                    <a:pt x="14770" y="1865884"/>
                  </a:lnTo>
                  <a:lnTo>
                    <a:pt x="22683" y="1877591"/>
                  </a:lnTo>
                  <a:lnTo>
                    <a:pt x="22788" y="1877747"/>
                  </a:lnTo>
                  <a:lnTo>
                    <a:pt x="55079" y="1905838"/>
                  </a:lnTo>
                  <a:lnTo>
                    <a:pt x="95379" y="1919655"/>
                  </a:lnTo>
                  <a:lnTo>
                    <a:pt x="109804" y="1920595"/>
                  </a:lnTo>
                  <a:lnTo>
                    <a:pt x="1536484" y="1920595"/>
                  </a:lnTo>
                  <a:lnTo>
                    <a:pt x="1578555" y="1912242"/>
                  </a:lnTo>
                  <a:lnTo>
                    <a:pt x="1614055" y="1888428"/>
                  </a:lnTo>
                  <a:lnTo>
                    <a:pt x="1637852" y="1852868"/>
                  </a:lnTo>
                  <a:lnTo>
                    <a:pt x="1637930" y="1852712"/>
                  </a:lnTo>
                  <a:lnTo>
                    <a:pt x="1642535" y="1839282"/>
                  </a:lnTo>
                  <a:lnTo>
                    <a:pt x="1645347" y="1825227"/>
                  </a:lnTo>
                  <a:lnTo>
                    <a:pt x="1646288" y="1810804"/>
                  </a:lnTo>
                  <a:lnTo>
                    <a:pt x="1646265" y="109804"/>
                  </a:lnTo>
                  <a:lnTo>
                    <a:pt x="1637930" y="68088"/>
                  </a:lnTo>
                  <a:lnTo>
                    <a:pt x="1614063" y="32535"/>
                  </a:lnTo>
                  <a:lnTo>
                    <a:pt x="1578405" y="8713"/>
                  </a:lnTo>
                  <a:lnTo>
                    <a:pt x="1536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531395" y="11149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4" h="192087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536484" y="355"/>
                  </a:lnTo>
                  <a:lnTo>
                    <a:pt x="1578405" y="8713"/>
                  </a:lnTo>
                  <a:lnTo>
                    <a:pt x="1614063" y="32535"/>
                  </a:lnTo>
                  <a:lnTo>
                    <a:pt x="1637930" y="68088"/>
                  </a:lnTo>
                  <a:lnTo>
                    <a:pt x="1646288" y="110159"/>
                  </a:lnTo>
                  <a:lnTo>
                    <a:pt x="1646288" y="1810804"/>
                  </a:lnTo>
                  <a:lnTo>
                    <a:pt x="1645348" y="1825221"/>
                  </a:lnTo>
                  <a:lnTo>
                    <a:pt x="1642551" y="1839236"/>
                  </a:lnTo>
                  <a:lnTo>
                    <a:pt x="1623505" y="1877591"/>
                  </a:lnTo>
                  <a:lnTo>
                    <a:pt x="1591564" y="1905838"/>
                  </a:lnTo>
                  <a:lnTo>
                    <a:pt x="1550914" y="1919655"/>
                  </a:lnTo>
                  <a:lnTo>
                    <a:pt x="1536484" y="1920595"/>
                  </a:lnTo>
                  <a:lnTo>
                    <a:pt x="109804" y="1920595"/>
                  </a:lnTo>
                  <a:lnTo>
                    <a:pt x="67882" y="1912242"/>
                  </a:lnTo>
                  <a:lnTo>
                    <a:pt x="32224" y="1888428"/>
                  </a:lnTo>
                  <a:lnTo>
                    <a:pt x="8358" y="1852868"/>
                  </a:lnTo>
                  <a:lnTo>
                    <a:pt x="0" y="181080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531764" y="1115646"/>
              <a:ext cx="1645920" cy="292735"/>
            </a:xfrm>
            <a:custGeom>
              <a:avLst/>
              <a:gdLst/>
              <a:ahLst/>
              <a:cxnLst/>
              <a:rect l="l" t="t" r="r" b="b"/>
              <a:pathLst>
                <a:path w="1645920" h="292734">
                  <a:moveTo>
                    <a:pt x="155411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201231"/>
                  </a:lnTo>
                  <a:lnTo>
                    <a:pt x="774" y="212880"/>
                  </a:lnTo>
                  <a:lnTo>
                    <a:pt x="798" y="213238"/>
                  </a:lnTo>
                  <a:lnTo>
                    <a:pt x="3075" y="224545"/>
                  </a:lnTo>
                  <a:lnTo>
                    <a:pt x="3148" y="224905"/>
                  </a:lnTo>
                  <a:lnTo>
                    <a:pt x="6858" y="235805"/>
                  </a:lnTo>
                  <a:lnTo>
                    <a:pt x="6981" y="236166"/>
                  </a:lnTo>
                  <a:lnTo>
                    <a:pt x="12230" y="246951"/>
                  </a:lnTo>
                  <a:lnTo>
                    <a:pt x="45720" y="280441"/>
                  </a:lnTo>
                  <a:lnTo>
                    <a:pt x="91439" y="292671"/>
                  </a:lnTo>
                  <a:lnTo>
                    <a:pt x="1554479" y="292315"/>
                  </a:lnTo>
                  <a:lnTo>
                    <a:pt x="1600200" y="280073"/>
                  </a:lnTo>
                  <a:lnTo>
                    <a:pt x="1633677" y="246595"/>
                  </a:lnTo>
                  <a:lnTo>
                    <a:pt x="1642642" y="224905"/>
                  </a:lnTo>
                  <a:lnTo>
                    <a:pt x="1642765" y="224545"/>
                  </a:lnTo>
                  <a:lnTo>
                    <a:pt x="1645047" y="213238"/>
                  </a:lnTo>
                  <a:lnTo>
                    <a:pt x="1645119" y="212880"/>
                  </a:lnTo>
                  <a:lnTo>
                    <a:pt x="1645896" y="201231"/>
                  </a:lnTo>
                  <a:lnTo>
                    <a:pt x="1645551" y="91439"/>
                  </a:lnTo>
                  <a:lnTo>
                    <a:pt x="1633321" y="45720"/>
                  </a:lnTo>
                  <a:lnTo>
                    <a:pt x="1599831" y="12230"/>
                  </a:lnTo>
                  <a:lnTo>
                    <a:pt x="1566118" y="798"/>
                  </a:lnTo>
                  <a:lnTo>
                    <a:pt x="1554111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126022" y="1180340"/>
            <a:ext cx="457834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Frontend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592495" y="1598665"/>
            <a:ext cx="9550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React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19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7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Vite</a:t>
            </a:r>
            <a:r>
              <a:rPr sz="7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setup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592495" y="2083221"/>
            <a:ext cx="98996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TanStack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 Query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hooks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585568" y="2332178"/>
            <a:ext cx="116205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P&amp;L</a:t>
            </a:r>
            <a:r>
              <a:rPr sz="75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Dashboard</a:t>
            </a:r>
            <a:r>
              <a:rPr sz="7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750" spc="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Recharts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603923" y="2567777"/>
            <a:ext cx="1074421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Journal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Entry</a:t>
            </a:r>
            <a:r>
              <a:rPr sz="7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Form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(zod)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191718" y="1037871"/>
            <a:ext cx="1799882" cy="1888896"/>
            <a:chOff x="7191717" y="1037871"/>
            <a:chExt cx="1837055" cy="2110740"/>
          </a:xfrm>
        </p:grpSpPr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1717" y="1037871"/>
              <a:ext cx="1836724" cy="2110689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7268755" y="11149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4" h="1920875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10804"/>
                  </a:lnTo>
                  <a:lnTo>
                    <a:pt x="939" y="1825227"/>
                  </a:lnTo>
                  <a:lnTo>
                    <a:pt x="14770" y="1865884"/>
                  </a:lnTo>
                  <a:lnTo>
                    <a:pt x="22683" y="1877591"/>
                  </a:lnTo>
                  <a:lnTo>
                    <a:pt x="22788" y="1877747"/>
                  </a:lnTo>
                  <a:lnTo>
                    <a:pt x="55079" y="1905838"/>
                  </a:lnTo>
                  <a:lnTo>
                    <a:pt x="95379" y="1919655"/>
                  </a:lnTo>
                  <a:lnTo>
                    <a:pt x="109804" y="1920595"/>
                  </a:lnTo>
                  <a:lnTo>
                    <a:pt x="1536484" y="1920595"/>
                  </a:lnTo>
                  <a:lnTo>
                    <a:pt x="1578555" y="1912242"/>
                  </a:lnTo>
                  <a:lnTo>
                    <a:pt x="1614055" y="1888428"/>
                  </a:lnTo>
                  <a:lnTo>
                    <a:pt x="1637852" y="1852868"/>
                  </a:lnTo>
                  <a:lnTo>
                    <a:pt x="1637930" y="1852712"/>
                  </a:lnTo>
                  <a:lnTo>
                    <a:pt x="1642535" y="1839282"/>
                  </a:lnTo>
                  <a:lnTo>
                    <a:pt x="1645347" y="1825227"/>
                  </a:lnTo>
                  <a:lnTo>
                    <a:pt x="1646288" y="1810804"/>
                  </a:lnTo>
                  <a:lnTo>
                    <a:pt x="1646265" y="109804"/>
                  </a:lnTo>
                  <a:lnTo>
                    <a:pt x="1637930" y="68088"/>
                  </a:lnTo>
                  <a:lnTo>
                    <a:pt x="1614063" y="32535"/>
                  </a:lnTo>
                  <a:lnTo>
                    <a:pt x="1578405" y="8713"/>
                  </a:lnTo>
                  <a:lnTo>
                    <a:pt x="1536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268755" y="11149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4" h="192087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536484" y="355"/>
                  </a:lnTo>
                  <a:lnTo>
                    <a:pt x="1578405" y="8713"/>
                  </a:lnTo>
                  <a:lnTo>
                    <a:pt x="1614063" y="32535"/>
                  </a:lnTo>
                  <a:lnTo>
                    <a:pt x="1637930" y="68088"/>
                  </a:lnTo>
                  <a:lnTo>
                    <a:pt x="1646288" y="110159"/>
                  </a:lnTo>
                  <a:lnTo>
                    <a:pt x="1646288" y="1810804"/>
                  </a:lnTo>
                  <a:lnTo>
                    <a:pt x="1645348" y="1825221"/>
                  </a:lnTo>
                  <a:lnTo>
                    <a:pt x="1642551" y="1839236"/>
                  </a:lnTo>
                  <a:lnTo>
                    <a:pt x="1623505" y="1877591"/>
                  </a:lnTo>
                  <a:lnTo>
                    <a:pt x="1591564" y="1905838"/>
                  </a:lnTo>
                  <a:lnTo>
                    <a:pt x="1550914" y="1919655"/>
                  </a:lnTo>
                  <a:lnTo>
                    <a:pt x="1536484" y="1920595"/>
                  </a:lnTo>
                  <a:lnTo>
                    <a:pt x="109804" y="1920595"/>
                  </a:lnTo>
                  <a:lnTo>
                    <a:pt x="67882" y="1912242"/>
                  </a:lnTo>
                  <a:lnTo>
                    <a:pt x="32224" y="1888428"/>
                  </a:lnTo>
                  <a:lnTo>
                    <a:pt x="8358" y="1852868"/>
                  </a:lnTo>
                  <a:lnTo>
                    <a:pt x="0" y="181080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269124" y="1115646"/>
              <a:ext cx="1645920" cy="292735"/>
            </a:xfrm>
            <a:custGeom>
              <a:avLst/>
              <a:gdLst/>
              <a:ahLst/>
              <a:cxnLst/>
              <a:rect l="l" t="t" r="r" b="b"/>
              <a:pathLst>
                <a:path w="1645920" h="292734">
                  <a:moveTo>
                    <a:pt x="155411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201231"/>
                  </a:lnTo>
                  <a:lnTo>
                    <a:pt x="774" y="212880"/>
                  </a:lnTo>
                  <a:lnTo>
                    <a:pt x="798" y="213238"/>
                  </a:lnTo>
                  <a:lnTo>
                    <a:pt x="18830" y="256995"/>
                  </a:lnTo>
                  <a:lnTo>
                    <a:pt x="56505" y="285690"/>
                  </a:lnTo>
                  <a:lnTo>
                    <a:pt x="91440" y="292671"/>
                  </a:lnTo>
                  <a:lnTo>
                    <a:pt x="1554480" y="292315"/>
                  </a:lnTo>
                  <a:lnTo>
                    <a:pt x="1600200" y="280073"/>
                  </a:lnTo>
                  <a:lnTo>
                    <a:pt x="1633677" y="246595"/>
                  </a:lnTo>
                  <a:lnTo>
                    <a:pt x="1642642" y="224905"/>
                  </a:lnTo>
                  <a:lnTo>
                    <a:pt x="1642765" y="224545"/>
                  </a:lnTo>
                  <a:lnTo>
                    <a:pt x="1645047" y="213238"/>
                  </a:lnTo>
                  <a:lnTo>
                    <a:pt x="1645119" y="212880"/>
                  </a:lnTo>
                  <a:lnTo>
                    <a:pt x="1645896" y="201231"/>
                  </a:lnTo>
                  <a:lnTo>
                    <a:pt x="1645551" y="91439"/>
                  </a:lnTo>
                  <a:lnTo>
                    <a:pt x="1633321" y="45720"/>
                  </a:lnTo>
                  <a:lnTo>
                    <a:pt x="1599831" y="12230"/>
                  </a:lnTo>
                  <a:lnTo>
                    <a:pt x="1566118" y="798"/>
                  </a:lnTo>
                  <a:lnTo>
                    <a:pt x="1554111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7887855" y="1180340"/>
            <a:ext cx="40767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Security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329855" y="1598665"/>
            <a:ext cx="80899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Full</a:t>
            </a:r>
            <a:r>
              <a:rPr sz="7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OWASP audit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329855" y="2083221"/>
            <a:ext cx="92075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IDOR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org-scoping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1D283A"/>
                </a:solidFill>
                <a:latin typeface="Calibri"/>
                <a:cs typeface="Calibri"/>
              </a:rPr>
              <a:t>fix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303185" y="2290724"/>
            <a:ext cx="97409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JWT</a:t>
            </a:r>
            <a:r>
              <a:rPr sz="7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RS256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hardening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320553" y="2538046"/>
            <a:ext cx="124396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Pre-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deploy</a:t>
            </a:r>
            <a:r>
              <a:rPr sz="7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7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checklist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223161" y="2976502"/>
            <a:ext cx="1822854" cy="1688655"/>
            <a:chOff x="242277" y="3095271"/>
            <a:chExt cx="1836420" cy="2048510"/>
          </a:xfrm>
        </p:grpSpPr>
        <p:pic>
          <p:nvPicPr>
            <p:cNvPr id="58" name="object 5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3095271"/>
              <a:ext cx="1836356" cy="2048052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319316" y="31723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5" h="1920875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10804"/>
                  </a:lnTo>
                  <a:lnTo>
                    <a:pt x="939" y="1825227"/>
                  </a:lnTo>
                  <a:lnTo>
                    <a:pt x="14770" y="1865883"/>
                  </a:lnTo>
                  <a:lnTo>
                    <a:pt x="22683" y="1877591"/>
                  </a:lnTo>
                  <a:lnTo>
                    <a:pt x="22788" y="1877747"/>
                  </a:lnTo>
                  <a:lnTo>
                    <a:pt x="55079" y="1905838"/>
                  </a:lnTo>
                  <a:lnTo>
                    <a:pt x="95379" y="1919655"/>
                  </a:lnTo>
                  <a:lnTo>
                    <a:pt x="109804" y="1920595"/>
                  </a:lnTo>
                  <a:lnTo>
                    <a:pt x="1536484" y="1920595"/>
                  </a:lnTo>
                  <a:lnTo>
                    <a:pt x="1578555" y="1912242"/>
                  </a:lnTo>
                  <a:lnTo>
                    <a:pt x="1614055" y="1888428"/>
                  </a:lnTo>
                  <a:lnTo>
                    <a:pt x="1637852" y="1852868"/>
                  </a:lnTo>
                  <a:lnTo>
                    <a:pt x="1646288" y="1810804"/>
                  </a:lnTo>
                  <a:lnTo>
                    <a:pt x="1646265" y="109804"/>
                  </a:lnTo>
                  <a:lnTo>
                    <a:pt x="1637930" y="68088"/>
                  </a:lnTo>
                  <a:lnTo>
                    <a:pt x="1614063" y="32535"/>
                  </a:lnTo>
                  <a:lnTo>
                    <a:pt x="1578405" y="8713"/>
                  </a:lnTo>
                  <a:lnTo>
                    <a:pt x="1536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19316" y="31723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5" h="192087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536484" y="355"/>
                  </a:lnTo>
                  <a:lnTo>
                    <a:pt x="1578405" y="8713"/>
                  </a:lnTo>
                  <a:lnTo>
                    <a:pt x="1614063" y="32535"/>
                  </a:lnTo>
                  <a:lnTo>
                    <a:pt x="1637930" y="68088"/>
                  </a:lnTo>
                  <a:lnTo>
                    <a:pt x="1646288" y="110159"/>
                  </a:lnTo>
                  <a:lnTo>
                    <a:pt x="1646288" y="1810804"/>
                  </a:lnTo>
                  <a:lnTo>
                    <a:pt x="1645348" y="1825221"/>
                  </a:lnTo>
                  <a:lnTo>
                    <a:pt x="1642551" y="1839236"/>
                  </a:lnTo>
                  <a:lnTo>
                    <a:pt x="1623505" y="1877591"/>
                  </a:lnTo>
                  <a:lnTo>
                    <a:pt x="1591564" y="1905838"/>
                  </a:lnTo>
                  <a:lnTo>
                    <a:pt x="1550914" y="1919655"/>
                  </a:lnTo>
                  <a:lnTo>
                    <a:pt x="1536484" y="1920595"/>
                  </a:lnTo>
                  <a:lnTo>
                    <a:pt x="109804" y="1920595"/>
                  </a:lnTo>
                  <a:lnTo>
                    <a:pt x="67882" y="1912242"/>
                  </a:lnTo>
                  <a:lnTo>
                    <a:pt x="32224" y="1888428"/>
                  </a:lnTo>
                  <a:lnTo>
                    <a:pt x="8358" y="1852868"/>
                  </a:lnTo>
                  <a:lnTo>
                    <a:pt x="0" y="181080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19684" y="3173046"/>
              <a:ext cx="1645920" cy="292735"/>
            </a:xfrm>
            <a:custGeom>
              <a:avLst/>
              <a:gdLst/>
              <a:ahLst/>
              <a:cxnLst/>
              <a:rect l="l" t="t" r="r" b="b"/>
              <a:pathLst>
                <a:path w="1645920" h="292735">
                  <a:moveTo>
                    <a:pt x="155411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40"/>
                  </a:lnTo>
                  <a:lnTo>
                    <a:pt x="0" y="201231"/>
                  </a:lnTo>
                  <a:lnTo>
                    <a:pt x="774" y="212880"/>
                  </a:lnTo>
                  <a:lnTo>
                    <a:pt x="798" y="213238"/>
                  </a:lnTo>
                  <a:lnTo>
                    <a:pt x="3075" y="224545"/>
                  </a:lnTo>
                  <a:lnTo>
                    <a:pt x="3148" y="224905"/>
                  </a:lnTo>
                  <a:lnTo>
                    <a:pt x="6858" y="235805"/>
                  </a:lnTo>
                  <a:lnTo>
                    <a:pt x="35675" y="273840"/>
                  </a:lnTo>
                  <a:lnTo>
                    <a:pt x="79433" y="291873"/>
                  </a:lnTo>
                  <a:lnTo>
                    <a:pt x="91439" y="292671"/>
                  </a:lnTo>
                  <a:lnTo>
                    <a:pt x="1554480" y="292315"/>
                  </a:lnTo>
                  <a:lnTo>
                    <a:pt x="1600200" y="280073"/>
                  </a:lnTo>
                  <a:lnTo>
                    <a:pt x="1633677" y="246595"/>
                  </a:lnTo>
                  <a:lnTo>
                    <a:pt x="1645047" y="213238"/>
                  </a:lnTo>
                  <a:lnTo>
                    <a:pt x="1645119" y="212880"/>
                  </a:lnTo>
                  <a:lnTo>
                    <a:pt x="1645896" y="201231"/>
                  </a:lnTo>
                  <a:lnTo>
                    <a:pt x="1645920" y="200875"/>
                  </a:lnTo>
                  <a:lnTo>
                    <a:pt x="1645551" y="91440"/>
                  </a:lnTo>
                  <a:lnTo>
                    <a:pt x="1633321" y="45719"/>
                  </a:lnTo>
                  <a:lnTo>
                    <a:pt x="1599831" y="12230"/>
                  </a:lnTo>
                  <a:lnTo>
                    <a:pt x="1566118" y="798"/>
                  </a:lnTo>
                  <a:lnTo>
                    <a:pt x="1554111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96051" y="3070811"/>
            <a:ext cx="4692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80415" y="3656065"/>
            <a:ext cx="78740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EXPLAIN</a:t>
            </a:r>
            <a:r>
              <a:rPr sz="7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analysis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80415" y="4140621"/>
            <a:ext cx="92646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7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composite</a:t>
            </a:r>
            <a:r>
              <a:rPr sz="7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indexes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80415" y="4625176"/>
            <a:ext cx="76581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Partitioning</a:t>
            </a:r>
            <a:r>
              <a:rPr sz="750" spc="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1D283A"/>
                </a:solidFill>
                <a:latin typeface="Calibri"/>
                <a:cs typeface="Calibri"/>
              </a:rPr>
              <a:t>DDL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960522" y="2976502"/>
            <a:ext cx="1823484" cy="1688655"/>
            <a:chOff x="1979637" y="3095271"/>
            <a:chExt cx="1837055" cy="2048510"/>
          </a:xfrm>
        </p:grpSpPr>
        <p:pic>
          <p:nvPicPr>
            <p:cNvPr id="67" name="object 6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9637" y="3095271"/>
              <a:ext cx="1836724" cy="2048052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2056676" y="31723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4" h="1920875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10804"/>
                  </a:lnTo>
                  <a:lnTo>
                    <a:pt x="939" y="1825227"/>
                  </a:lnTo>
                  <a:lnTo>
                    <a:pt x="14770" y="1865883"/>
                  </a:lnTo>
                  <a:lnTo>
                    <a:pt x="22683" y="1877591"/>
                  </a:lnTo>
                  <a:lnTo>
                    <a:pt x="22788" y="1877747"/>
                  </a:lnTo>
                  <a:lnTo>
                    <a:pt x="55079" y="1905838"/>
                  </a:lnTo>
                  <a:lnTo>
                    <a:pt x="95379" y="1919655"/>
                  </a:lnTo>
                  <a:lnTo>
                    <a:pt x="109804" y="1920595"/>
                  </a:lnTo>
                  <a:lnTo>
                    <a:pt x="1536484" y="1920595"/>
                  </a:lnTo>
                  <a:lnTo>
                    <a:pt x="1578555" y="1912242"/>
                  </a:lnTo>
                  <a:lnTo>
                    <a:pt x="1614055" y="1888428"/>
                  </a:lnTo>
                  <a:lnTo>
                    <a:pt x="1637852" y="1852868"/>
                  </a:lnTo>
                  <a:lnTo>
                    <a:pt x="1646288" y="1810804"/>
                  </a:lnTo>
                  <a:lnTo>
                    <a:pt x="1646265" y="109804"/>
                  </a:lnTo>
                  <a:lnTo>
                    <a:pt x="1637930" y="68088"/>
                  </a:lnTo>
                  <a:lnTo>
                    <a:pt x="1614063" y="32535"/>
                  </a:lnTo>
                  <a:lnTo>
                    <a:pt x="1578405" y="8713"/>
                  </a:lnTo>
                  <a:lnTo>
                    <a:pt x="1536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056676" y="31723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4" h="192087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536484" y="355"/>
                  </a:lnTo>
                  <a:lnTo>
                    <a:pt x="1578405" y="8713"/>
                  </a:lnTo>
                  <a:lnTo>
                    <a:pt x="1614063" y="32535"/>
                  </a:lnTo>
                  <a:lnTo>
                    <a:pt x="1637930" y="68088"/>
                  </a:lnTo>
                  <a:lnTo>
                    <a:pt x="1646288" y="110159"/>
                  </a:lnTo>
                  <a:lnTo>
                    <a:pt x="1646288" y="1810804"/>
                  </a:lnTo>
                  <a:lnTo>
                    <a:pt x="1645348" y="1825221"/>
                  </a:lnTo>
                  <a:lnTo>
                    <a:pt x="1642551" y="1839236"/>
                  </a:lnTo>
                  <a:lnTo>
                    <a:pt x="1623505" y="1877591"/>
                  </a:lnTo>
                  <a:lnTo>
                    <a:pt x="1591563" y="1905838"/>
                  </a:lnTo>
                  <a:lnTo>
                    <a:pt x="1550914" y="1919655"/>
                  </a:lnTo>
                  <a:lnTo>
                    <a:pt x="1536484" y="1920595"/>
                  </a:lnTo>
                  <a:lnTo>
                    <a:pt x="109804" y="1920595"/>
                  </a:lnTo>
                  <a:lnTo>
                    <a:pt x="67882" y="1912242"/>
                  </a:lnTo>
                  <a:lnTo>
                    <a:pt x="32224" y="1888428"/>
                  </a:lnTo>
                  <a:lnTo>
                    <a:pt x="8358" y="1852868"/>
                  </a:lnTo>
                  <a:lnTo>
                    <a:pt x="0" y="181080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057044" y="3173046"/>
              <a:ext cx="1645920" cy="292735"/>
            </a:xfrm>
            <a:custGeom>
              <a:avLst/>
              <a:gdLst/>
              <a:ahLst/>
              <a:cxnLst/>
              <a:rect l="l" t="t" r="r" b="b"/>
              <a:pathLst>
                <a:path w="1645920" h="292735">
                  <a:moveTo>
                    <a:pt x="155411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40"/>
                  </a:lnTo>
                  <a:lnTo>
                    <a:pt x="0" y="201231"/>
                  </a:lnTo>
                  <a:lnTo>
                    <a:pt x="774" y="212880"/>
                  </a:lnTo>
                  <a:lnTo>
                    <a:pt x="798" y="213238"/>
                  </a:lnTo>
                  <a:lnTo>
                    <a:pt x="18830" y="256995"/>
                  </a:lnTo>
                  <a:lnTo>
                    <a:pt x="56505" y="285690"/>
                  </a:lnTo>
                  <a:lnTo>
                    <a:pt x="91439" y="292671"/>
                  </a:lnTo>
                  <a:lnTo>
                    <a:pt x="1554480" y="292315"/>
                  </a:lnTo>
                  <a:lnTo>
                    <a:pt x="1600199" y="280073"/>
                  </a:lnTo>
                  <a:lnTo>
                    <a:pt x="1633677" y="246595"/>
                  </a:lnTo>
                  <a:lnTo>
                    <a:pt x="1642642" y="224905"/>
                  </a:lnTo>
                  <a:lnTo>
                    <a:pt x="1642765" y="224545"/>
                  </a:lnTo>
                  <a:lnTo>
                    <a:pt x="1645047" y="213238"/>
                  </a:lnTo>
                  <a:lnTo>
                    <a:pt x="1645119" y="212880"/>
                  </a:lnTo>
                  <a:lnTo>
                    <a:pt x="1645896" y="201231"/>
                  </a:lnTo>
                  <a:lnTo>
                    <a:pt x="1645551" y="91440"/>
                  </a:lnTo>
                  <a:lnTo>
                    <a:pt x="1633321" y="45719"/>
                  </a:lnTo>
                  <a:lnTo>
                    <a:pt x="1599831" y="12230"/>
                  </a:lnTo>
                  <a:lnTo>
                    <a:pt x="1566118" y="798"/>
                  </a:lnTo>
                  <a:lnTo>
                    <a:pt x="1554111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2618587" y="3070811"/>
            <a:ext cx="3556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Testing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117775" y="3656065"/>
            <a:ext cx="78359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JUnit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5</a:t>
            </a:r>
            <a:r>
              <a:rPr sz="7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unit</a:t>
            </a:r>
            <a:r>
              <a:rPr sz="7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tests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117775" y="4140621"/>
            <a:ext cx="117030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 MockMvc</a:t>
            </a:r>
            <a:r>
              <a:rPr sz="750" spc="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integration</a:t>
            </a:r>
            <a:r>
              <a:rPr sz="75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tests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117775" y="4625176"/>
            <a:ext cx="95758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k6</a:t>
            </a:r>
            <a:r>
              <a:rPr sz="750" spc="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performance</a:t>
            </a:r>
            <a:r>
              <a:rPr sz="750" spc="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tests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3697882" y="2976502"/>
            <a:ext cx="1823484" cy="1688655"/>
            <a:chOff x="3716997" y="3095271"/>
            <a:chExt cx="1837055" cy="2048510"/>
          </a:xfrm>
        </p:grpSpPr>
        <p:pic>
          <p:nvPicPr>
            <p:cNvPr id="76" name="object 7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6997" y="3095271"/>
              <a:ext cx="1836724" cy="2048052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3794036" y="31723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4" h="1920875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10804"/>
                  </a:lnTo>
                  <a:lnTo>
                    <a:pt x="939" y="1825227"/>
                  </a:lnTo>
                  <a:lnTo>
                    <a:pt x="3736" y="1839282"/>
                  </a:lnTo>
                  <a:lnTo>
                    <a:pt x="8305" y="1852712"/>
                  </a:lnTo>
                  <a:lnTo>
                    <a:pt x="8358" y="1852868"/>
                  </a:lnTo>
                  <a:lnTo>
                    <a:pt x="14770" y="1865883"/>
                  </a:lnTo>
                  <a:lnTo>
                    <a:pt x="22683" y="1877591"/>
                  </a:lnTo>
                  <a:lnTo>
                    <a:pt x="22788" y="1877747"/>
                  </a:lnTo>
                  <a:lnTo>
                    <a:pt x="55079" y="1905838"/>
                  </a:lnTo>
                  <a:lnTo>
                    <a:pt x="95379" y="1919655"/>
                  </a:lnTo>
                  <a:lnTo>
                    <a:pt x="109804" y="1920595"/>
                  </a:lnTo>
                  <a:lnTo>
                    <a:pt x="1536484" y="1920595"/>
                  </a:lnTo>
                  <a:lnTo>
                    <a:pt x="1578555" y="1912242"/>
                  </a:lnTo>
                  <a:lnTo>
                    <a:pt x="1614055" y="1888428"/>
                  </a:lnTo>
                  <a:lnTo>
                    <a:pt x="1637852" y="1852868"/>
                  </a:lnTo>
                  <a:lnTo>
                    <a:pt x="1646288" y="1810804"/>
                  </a:lnTo>
                  <a:lnTo>
                    <a:pt x="1646265" y="109804"/>
                  </a:lnTo>
                  <a:lnTo>
                    <a:pt x="1637930" y="68088"/>
                  </a:lnTo>
                  <a:lnTo>
                    <a:pt x="1614063" y="32535"/>
                  </a:lnTo>
                  <a:lnTo>
                    <a:pt x="1578405" y="8713"/>
                  </a:lnTo>
                  <a:lnTo>
                    <a:pt x="1536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794036" y="31723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4" h="192087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536484" y="355"/>
                  </a:lnTo>
                  <a:lnTo>
                    <a:pt x="1578405" y="8713"/>
                  </a:lnTo>
                  <a:lnTo>
                    <a:pt x="1614063" y="32535"/>
                  </a:lnTo>
                  <a:lnTo>
                    <a:pt x="1637930" y="68088"/>
                  </a:lnTo>
                  <a:lnTo>
                    <a:pt x="1646288" y="110159"/>
                  </a:lnTo>
                  <a:lnTo>
                    <a:pt x="1646288" y="1810804"/>
                  </a:lnTo>
                  <a:lnTo>
                    <a:pt x="1645348" y="1825221"/>
                  </a:lnTo>
                  <a:lnTo>
                    <a:pt x="1642551" y="1839236"/>
                  </a:lnTo>
                  <a:lnTo>
                    <a:pt x="1623505" y="1877591"/>
                  </a:lnTo>
                  <a:lnTo>
                    <a:pt x="1591564" y="1905838"/>
                  </a:lnTo>
                  <a:lnTo>
                    <a:pt x="1550914" y="1919655"/>
                  </a:lnTo>
                  <a:lnTo>
                    <a:pt x="1536484" y="1920595"/>
                  </a:lnTo>
                  <a:lnTo>
                    <a:pt x="109804" y="1920595"/>
                  </a:lnTo>
                  <a:lnTo>
                    <a:pt x="67882" y="1912242"/>
                  </a:lnTo>
                  <a:lnTo>
                    <a:pt x="32224" y="1888428"/>
                  </a:lnTo>
                  <a:lnTo>
                    <a:pt x="8358" y="1852868"/>
                  </a:lnTo>
                  <a:lnTo>
                    <a:pt x="0" y="181080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794404" y="3173046"/>
              <a:ext cx="1645920" cy="292735"/>
            </a:xfrm>
            <a:custGeom>
              <a:avLst/>
              <a:gdLst/>
              <a:ahLst/>
              <a:cxnLst/>
              <a:rect l="l" t="t" r="r" b="b"/>
              <a:pathLst>
                <a:path w="1645920" h="292735">
                  <a:moveTo>
                    <a:pt x="155411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40"/>
                  </a:lnTo>
                  <a:lnTo>
                    <a:pt x="0" y="201231"/>
                  </a:lnTo>
                  <a:lnTo>
                    <a:pt x="774" y="212880"/>
                  </a:lnTo>
                  <a:lnTo>
                    <a:pt x="798" y="213238"/>
                  </a:lnTo>
                  <a:lnTo>
                    <a:pt x="3075" y="224545"/>
                  </a:lnTo>
                  <a:lnTo>
                    <a:pt x="3148" y="224905"/>
                  </a:lnTo>
                  <a:lnTo>
                    <a:pt x="26679" y="265991"/>
                  </a:lnTo>
                  <a:lnTo>
                    <a:pt x="67765" y="289523"/>
                  </a:lnTo>
                  <a:lnTo>
                    <a:pt x="91439" y="292671"/>
                  </a:lnTo>
                  <a:lnTo>
                    <a:pt x="1554480" y="292315"/>
                  </a:lnTo>
                  <a:lnTo>
                    <a:pt x="1600200" y="280073"/>
                  </a:lnTo>
                  <a:lnTo>
                    <a:pt x="1633677" y="246595"/>
                  </a:lnTo>
                  <a:lnTo>
                    <a:pt x="1642642" y="224905"/>
                  </a:lnTo>
                  <a:lnTo>
                    <a:pt x="1642765" y="224545"/>
                  </a:lnTo>
                  <a:lnTo>
                    <a:pt x="1645047" y="213238"/>
                  </a:lnTo>
                  <a:lnTo>
                    <a:pt x="1645119" y="212880"/>
                  </a:lnTo>
                  <a:lnTo>
                    <a:pt x="1645896" y="201231"/>
                  </a:lnTo>
                  <a:lnTo>
                    <a:pt x="1645551" y="91440"/>
                  </a:lnTo>
                  <a:lnTo>
                    <a:pt x="1633321" y="45719"/>
                  </a:lnTo>
                  <a:lnTo>
                    <a:pt x="1599831" y="12230"/>
                  </a:lnTo>
                  <a:lnTo>
                    <a:pt x="1566118" y="798"/>
                  </a:lnTo>
                  <a:lnTo>
                    <a:pt x="1554111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4325603" y="3078773"/>
            <a:ext cx="3917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DevOps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855135" y="3656065"/>
            <a:ext cx="8153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GitHub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Actions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1D283A"/>
                </a:solidFill>
                <a:latin typeface="Calibri"/>
                <a:cs typeface="Calibri"/>
              </a:rPr>
              <a:t>CI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855135" y="4140621"/>
            <a:ext cx="864869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Docker</a:t>
            </a:r>
            <a:r>
              <a:rPr sz="750" spc="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multi-stage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855135" y="4625176"/>
            <a:ext cx="101981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Robi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Cloud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CD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pipeline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5435241" y="2976502"/>
            <a:ext cx="1823155" cy="1688277"/>
            <a:chOff x="5454357" y="3095271"/>
            <a:chExt cx="1836724" cy="2048052"/>
          </a:xfrm>
        </p:grpSpPr>
        <p:pic>
          <p:nvPicPr>
            <p:cNvPr id="85" name="object 8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4357" y="3095271"/>
              <a:ext cx="1836724" cy="2048052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5531395" y="31723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4" h="1920875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10804"/>
                  </a:lnTo>
                  <a:lnTo>
                    <a:pt x="939" y="1825227"/>
                  </a:lnTo>
                  <a:lnTo>
                    <a:pt x="3736" y="1839282"/>
                  </a:lnTo>
                  <a:lnTo>
                    <a:pt x="8305" y="1852712"/>
                  </a:lnTo>
                  <a:lnTo>
                    <a:pt x="8358" y="1852868"/>
                  </a:lnTo>
                  <a:lnTo>
                    <a:pt x="14770" y="1865883"/>
                  </a:lnTo>
                  <a:lnTo>
                    <a:pt x="22683" y="1877591"/>
                  </a:lnTo>
                  <a:lnTo>
                    <a:pt x="22788" y="1877747"/>
                  </a:lnTo>
                  <a:lnTo>
                    <a:pt x="55079" y="1905838"/>
                  </a:lnTo>
                  <a:lnTo>
                    <a:pt x="95379" y="1919655"/>
                  </a:lnTo>
                  <a:lnTo>
                    <a:pt x="109804" y="1920595"/>
                  </a:lnTo>
                  <a:lnTo>
                    <a:pt x="1536484" y="1920595"/>
                  </a:lnTo>
                  <a:lnTo>
                    <a:pt x="1578555" y="1912242"/>
                  </a:lnTo>
                  <a:lnTo>
                    <a:pt x="1614055" y="1888428"/>
                  </a:lnTo>
                  <a:lnTo>
                    <a:pt x="1637852" y="1852868"/>
                  </a:lnTo>
                  <a:lnTo>
                    <a:pt x="1646288" y="1810804"/>
                  </a:lnTo>
                  <a:lnTo>
                    <a:pt x="1646265" y="109804"/>
                  </a:lnTo>
                  <a:lnTo>
                    <a:pt x="1637930" y="68088"/>
                  </a:lnTo>
                  <a:lnTo>
                    <a:pt x="1614063" y="32535"/>
                  </a:lnTo>
                  <a:lnTo>
                    <a:pt x="1578405" y="8713"/>
                  </a:lnTo>
                  <a:lnTo>
                    <a:pt x="1536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531395" y="31723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4" h="192087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536484" y="355"/>
                  </a:lnTo>
                  <a:lnTo>
                    <a:pt x="1578405" y="8713"/>
                  </a:lnTo>
                  <a:lnTo>
                    <a:pt x="1614063" y="32535"/>
                  </a:lnTo>
                  <a:lnTo>
                    <a:pt x="1637930" y="68088"/>
                  </a:lnTo>
                  <a:lnTo>
                    <a:pt x="1646288" y="110159"/>
                  </a:lnTo>
                  <a:lnTo>
                    <a:pt x="1646288" y="1810804"/>
                  </a:lnTo>
                  <a:lnTo>
                    <a:pt x="1645348" y="1825221"/>
                  </a:lnTo>
                  <a:lnTo>
                    <a:pt x="1642551" y="1839236"/>
                  </a:lnTo>
                  <a:lnTo>
                    <a:pt x="1623505" y="1877591"/>
                  </a:lnTo>
                  <a:lnTo>
                    <a:pt x="1591564" y="1905838"/>
                  </a:lnTo>
                  <a:lnTo>
                    <a:pt x="1550914" y="1919655"/>
                  </a:lnTo>
                  <a:lnTo>
                    <a:pt x="1536484" y="1920595"/>
                  </a:lnTo>
                  <a:lnTo>
                    <a:pt x="109804" y="1920595"/>
                  </a:lnTo>
                  <a:lnTo>
                    <a:pt x="67882" y="1912242"/>
                  </a:lnTo>
                  <a:lnTo>
                    <a:pt x="32224" y="1888428"/>
                  </a:lnTo>
                  <a:lnTo>
                    <a:pt x="8358" y="1852868"/>
                  </a:lnTo>
                  <a:lnTo>
                    <a:pt x="0" y="181080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531764" y="3173046"/>
              <a:ext cx="1645920" cy="292735"/>
            </a:xfrm>
            <a:custGeom>
              <a:avLst/>
              <a:gdLst/>
              <a:ahLst/>
              <a:cxnLst/>
              <a:rect l="l" t="t" r="r" b="b"/>
              <a:pathLst>
                <a:path w="1645920" h="292735">
                  <a:moveTo>
                    <a:pt x="155411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40"/>
                  </a:lnTo>
                  <a:lnTo>
                    <a:pt x="0" y="201231"/>
                  </a:lnTo>
                  <a:lnTo>
                    <a:pt x="774" y="212880"/>
                  </a:lnTo>
                  <a:lnTo>
                    <a:pt x="798" y="213238"/>
                  </a:lnTo>
                  <a:lnTo>
                    <a:pt x="3075" y="224545"/>
                  </a:lnTo>
                  <a:lnTo>
                    <a:pt x="3148" y="224905"/>
                  </a:lnTo>
                  <a:lnTo>
                    <a:pt x="26679" y="265991"/>
                  </a:lnTo>
                  <a:lnTo>
                    <a:pt x="67765" y="289523"/>
                  </a:lnTo>
                  <a:lnTo>
                    <a:pt x="91439" y="292671"/>
                  </a:lnTo>
                  <a:lnTo>
                    <a:pt x="1554479" y="292315"/>
                  </a:lnTo>
                  <a:lnTo>
                    <a:pt x="1600200" y="280073"/>
                  </a:lnTo>
                  <a:lnTo>
                    <a:pt x="1633677" y="246595"/>
                  </a:lnTo>
                  <a:lnTo>
                    <a:pt x="1642642" y="224905"/>
                  </a:lnTo>
                  <a:lnTo>
                    <a:pt x="1642765" y="224545"/>
                  </a:lnTo>
                  <a:lnTo>
                    <a:pt x="1645047" y="213238"/>
                  </a:lnTo>
                  <a:lnTo>
                    <a:pt x="1645119" y="212880"/>
                  </a:lnTo>
                  <a:lnTo>
                    <a:pt x="1645896" y="201231"/>
                  </a:lnTo>
                  <a:lnTo>
                    <a:pt x="1645551" y="91440"/>
                  </a:lnTo>
                  <a:lnTo>
                    <a:pt x="1633321" y="45719"/>
                  </a:lnTo>
                  <a:lnTo>
                    <a:pt x="1599831" y="12230"/>
                  </a:lnTo>
                  <a:lnTo>
                    <a:pt x="1566118" y="798"/>
                  </a:lnTo>
                  <a:lnTo>
                    <a:pt x="1554111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6021755" y="3065691"/>
            <a:ext cx="5607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Monitoring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592495" y="3656065"/>
            <a:ext cx="92011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Prometheus</a:t>
            </a:r>
            <a:r>
              <a:rPr sz="7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metrics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592495" y="4140621"/>
            <a:ext cx="110299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Custom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health</a:t>
            </a:r>
            <a:r>
              <a:rPr sz="7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indicators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592495" y="4625176"/>
            <a:ext cx="107188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Structured</a:t>
            </a:r>
            <a:r>
              <a:rPr sz="7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JSON</a:t>
            </a:r>
            <a:r>
              <a:rPr sz="7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logging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7180539" y="2958087"/>
            <a:ext cx="1823484" cy="1688655"/>
            <a:chOff x="7191717" y="3095271"/>
            <a:chExt cx="1837055" cy="2048510"/>
          </a:xfrm>
        </p:grpSpPr>
        <p:pic>
          <p:nvPicPr>
            <p:cNvPr id="94" name="object 9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1717" y="3095271"/>
              <a:ext cx="1836724" cy="2048052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7268755" y="31723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4" h="1920875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10804"/>
                  </a:lnTo>
                  <a:lnTo>
                    <a:pt x="939" y="1825227"/>
                  </a:lnTo>
                  <a:lnTo>
                    <a:pt x="14770" y="1865883"/>
                  </a:lnTo>
                  <a:lnTo>
                    <a:pt x="22683" y="1877591"/>
                  </a:lnTo>
                  <a:lnTo>
                    <a:pt x="22788" y="1877747"/>
                  </a:lnTo>
                  <a:lnTo>
                    <a:pt x="55079" y="1905838"/>
                  </a:lnTo>
                  <a:lnTo>
                    <a:pt x="95379" y="1919655"/>
                  </a:lnTo>
                  <a:lnTo>
                    <a:pt x="109804" y="1920595"/>
                  </a:lnTo>
                  <a:lnTo>
                    <a:pt x="1536484" y="1920595"/>
                  </a:lnTo>
                  <a:lnTo>
                    <a:pt x="1578555" y="1912242"/>
                  </a:lnTo>
                  <a:lnTo>
                    <a:pt x="1614055" y="1888428"/>
                  </a:lnTo>
                  <a:lnTo>
                    <a:pt x="1637852" y="1852868"/>
                  </a:lnTo>
                  <a:lnTo>
                    <a:pt x="1646288" y="1810804"/>
                  </a:lnTo>
                  <a:lnTo>
                    <a:pt x="1646265" y="109804"/>
                  </a:lnTo>
                  <a:lnTo>
                    <a:pt x="1637930" y="68088"/>
                  </a:lnTo>
                  <a:lnTo>
                    <a:pt x="1614063" y="32535"/>
                  </a:lnTo>
                  <a:lnTo>
                    <a:pt x="1578405" y="8713"/>
                  </a:lnTo>
                  <a:lnTo>
                    <a:pt x="15364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268755" y="3172322"/>
              <a:ext cx="1646555" cy="1920875"/>
            </a:xfrm>
            <a:custGeom>
              <a:avLst/>
              <a:gdLst/>
              <a:ahLst/>
              <a:cxnLst/>
              <a:rect l="l" t="t" r="r" b="b"/>
              <a:pathLst>
                <a:path w="1646554" h="192087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536484" y="355"/>
                  </a:lnTo>
                  <a:lnTo>
                    <a:pt x="1578405" y="8713"/>
                  </a:lnTo>
                  <a:lnTo>
                    <a:pt x="1614063" y="32535"/>
                  </a:lnTo>
                  <a:lnTo>
                    <a:pt x="1637930" y="68088"/>
                  </a:lnTo>
                  <a:lnTo>
                    <a:pt x="1646288" y="110159"/>
                  </a:lnTo>
                  <a:lnTo>
                    <a:pt x="1646288" y="1810804"/>
                  </a:lnTo>
                  <a:lnTo>
                    <a:pt x="1645348" y="1825221"/>
                  </a:lnTo>
                  <a:lnTo>
                    <a:pt x="1642551" y="1839236"/>
                  </a:lnTo>
                  <a:lnTo>
                    <a:pt x="1623505" y="1877591"/>
                  </a:lnTo>
                  <a:lnTo>
                    <a:pt x="1591564" y="1905838"/>
                  </a:lnTo>
                  <a:lnTo>
                    <a:pt x="1550914" y="1919655"/>
                  </a:lnTo>
                  <a:lnTo>
                    <a:pt x="1536484" y="1920595"/>
                  </a:lnTo>
                  <a:lnTo>
                    <a:pt x="109804" y="1920595"/>
                  </a:lnTo>
                  <a:lnTo>
                    <a:pt x="67882" y="1912242"/>
                  </a:lnTo>
                  <a:lnTo>
                    <a:pt x="32224" y="1888428"/>
                  </a:lnTo>
                  <a:lnTo>
                    <a:pt x="8358" y="1852868"/>
                  </a:lnTo>
                  <a:lnTo>
                    <a:pt x="0" y="181080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269124" y="3173046"/>
              <a:ext cx="1645920" cy="292735"/>
            </a:xfrm>
            <a:custGeom>
              <a:avLst/>
              <a:gdLst/>
              <a:ahLst/>
              <a:cxnLst/>
              <a:rect l="l" t="t" r="r" b="b"/>
              <a:pathLst>
                <a:path w="1645920" h="292735">
                  <a:moveTo>
                    <a:pt x="155411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40"/>
                  </a:lnTo>
                  <a:lnTo>
                    <a:pt x="0" y="201231"/>
                  </a:lnTo>
                  <a:lnTo>
                    <a:pt x="774" y="212880"/>
                  </a:lnTo>
                  <a:lnTo>
                    <a:pt x="798" y="213238"/>
                  </a:lnTo>
                  <a:lnTo>
                    <a:pt x="3075" y="224545"/>
                  </a:lnTo>
                  <a:lnTo>
                    <a:pt x="3148" y="224905"/>
                  </a:lnTo>
                  <a:lnTo>
                    <a:pt x="6858" y="235805"/>
                  </a:lnTo>
                  <a:lnTo>
                    <a:pt x="6981" y="236166"/>
                  </a:lnTo>
                  <a:lnTo>
                    <a:pt x="35675" y="273840"/>
                  </a:lnTo>
                  <a:lnTo>
                    <a:pt x="79433" y="291873"/>
                  </a:lnTo>
                  <a:lnTo>
                    <a:pt x="91440" y="292671"/>
                  </a:lnTo>
                  <a:lnTo>
                    <a:pt x="1554480" y="292315"/>
                  </a:lnTo>
                  <a:lnTo>
                    <a:pt x="1600200" y="280073"/>
                  </a:lnTo>
                  <a:lnTo>
                    <a:pt x="1633677" y="246595"/>
                  </a:lnTo>
                  <a:lnTo>
                    <a:pt x="1642642" y="224905"/>
                  </a:lnTo>
                  <a:lnTo>
                    <a:pt x="1642765" y="224545"/>
                  </a:lnTo>
                  <a:lnTo>
                    <a:pt x="1645047" y="213238"/>
                  </a:lnTo>
                  <a:lnTo>
                    <a:pt x="1645119" y="212880"/>
                  </a:lnTo>
                  <a:lnTo>
                    <a:pt x="1645896" y="201231"/>
                  </a:lnTo>
                  <a:lnTo>
                    <a:pt x="1645551" y="91440"/>
                  </a:lnTo>
                  <a:lnTo>
                    <a:pt x="1633321" y="45719"/>
                  </a:lnTo>
                  <a:lnTo>
                    <a:pt x="1599831" y="12230"/>
                  </a:lnTo>
                  <a:lnTo>
                    <a:pt x="1566118" y="798"/>
                  </a:lnTo>
                  <a:lnTo>
                    <a:pt x="1554111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7772044" y="3048153"/>
            <a:ext cx="59817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Post-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Launch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329855" y="3656065"/>
            <a:ext cx="101346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Multi-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currency</a:t>
            </a:r>
            <a:r>
              <a:rPr sz="750" spc="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feature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329855" y="4140621"/>
            <a:ext cx="64643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Donor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 report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7329855" y="4625176"/>
            <a:ext cx="107950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 dirty="0">
                <a:solidFill>
                  <a:srgbClr val="1D283A"/>
                </a:solidFill>
                <a:latin typeface="Calibri"/>
                <a:cs typeface="Calibri"/>
              </a:rPr>
              <a:t>*</a:t>
            </a:r>
            <a:r>
              <a:rPr sz="7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Scheduled</a:t>
            </a:r>
            <a:r>
              <a:rPr sz="7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D283A"/>
                </a:solidFill>
                <a:latin typeface="Calibri"/>
                <a:cs typeface="Calibri"/>
              </a:rPr>
              <a:t>email</a:t>
            </a:r>
            <a:r>
              <a:rPr sz="7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D283A"/>
                </a:solidFill>
                <a:latin typeface="Calibri"/>
                <a:cs typeface="Calibri"/>
              </a:rPr>
              <a:t>reports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103" name="object 103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444144" y="4757668"/>
            <a:ext cx="4656455" cy="17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All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40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prompts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are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available</a:t>
            </a:r>
            <a:r>
              <a:rPr sz="950" spc="-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CLAUDE.md template</a:t>
            </a:r>
            <a:r>
              <a:rPr sz="950" spc="-1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in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course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materials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774409"/>
                </a:solidFill>
                <a:latin typeface="Calibri"/>
                <a:cs typeface="Calibri"/>
              </a:rPr>
              <a:t>repository.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06" name="object 10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77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19695" y="244692"/>
            <a:ext cx="677650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5" dirty="0"/>
              <a:t>7</a:t>
            </a:r>
            <a:r>
              <a:rPr spc="-25" dirty="0"/>
              <a:t>-</a:t>
            </a:r>
            <a:r>
              <a:rPr spc="-10" dirty="0"/>
              <a:t>Week</a:t>
            </a:r>
            <a:r>
              <a:rPr spc="-80" dirty="0"/>
              <a:t> </a:t>
            </a:r>
            <a:r>
              <a:rPr dirty="0"/>
              <a:t>Action</a:t>
            </a:r>
            <a:r>
              <a:rPr spc="-70" dirty="0"/>
              <a:t> </a:t>
            </a:r>
            <a:r>
              <a:rPr dirty="0"/>
              <a:t>Plan</a:t>
            </a:r>
            <a:r>
              <a:rPr spc="-65" dirty="0"/>
              <a:t> </a:t>
            </a:r>
            <a:r>
              <a:rPr dirty="0"/>
              <a:t>—</a:t>
            </a:r>
            <a:r>
              <a:rPr spc="-70" dirty="0"/>
              <a:t> </a:t>
            </a:r>
            <a:r>
              <a:rPr spc="-10" dirty="0"/>
              <a:t>WAMY</a:t>
            </a:r>
            <a:r>
              <a:rPr spc="-55" dirty="0"/>
              <a:t> </a:t>
            </a:r>
            <a:r>
              <a:rPr spc="-10" dirty="0"/>
              <a:t>Finance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316611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90" dirty="0">
                <a:solidFill>
                  <a:srgbClr val="9FBFFF"/>
                </a:solidFill>
                <a:latin typeface="+mn-lt"/>
                <a:cs typeface="Arial"/>
              </a:rPr>
              <a:t>Your</a:t>
            </a:r>
            <a:r>
              <a:rPr sz="1000" i="1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55" dirty="0">
                <a:solidFill>
                  <a:srgbClr val="9FBFFF"/>
                </a:solidFill>
                <a:latin typeface="+mn-lt"/>
                <a:cs typeface="Arial"/>
              </a:rPr>
              <a:t>step-</a:t>
            </a:r>
            <a:r>
              <a:rPr sz="1000" i="1" spc="-60" dirty="0">
                <a:solidFill>
                  <a:srgbClr val="9FBFFF"/>
                </a:solidFill>
                <a:latin typeface="+mn-lt"/>
                <a:cs typeface="Arial"/>
              </a:rPr>
              <a:t>by-</a:t>
            </a:r>
            <a:r>
              <a:rPr sz="1000" i="1" spc="-55" dirty="0">
                <a:solidFill>
                  <a:srgbClr val="9FBFFF"/>
                </a:solidFill>
                <a:latin typeface="+mn-lt"/>
                <a:cs typeface="Arial"/>
              </a:rPr>
              <a:t>step</a:t>
            </a:r>
            <a:r>
              <a:rPr sz="1000" i="1" spc="-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implementation</a:t>
            </a:r>
            <a:r>
              <a:rPr sz="1000" i="1" spc="-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45" dirty="0">
                <a:solidFill>
                  <a:srgbClr val="9FBFFF"/>
                </a:solidFill>
                <a:latin typeface="+mn-lt"/>
                <a:cs typeface="Arial"/>
              </a:rPr>
              <a:t>roadmap</a:t>
            </a:r>
            <a:r>
              <a:rPr sz="1000" i="1" spc="-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with</a:t>
            </a:r>
            <a:r>
              <a:rPr sz="1000" i="1" spc="-1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75" dirty="0">
                <a:solidFill>
                  <a:srgbClr val="9FBFFF"/>
                </a:solidFill>
                <a:latin typeface="+mn-lt"/>
                <a:cs typeface="Arial"/>
              </a:rPr>
              <a:t>Claude</a:t>
            </a:r>
            <a:r>
              <a:rPr sz="1000" i="1" spc="-20" dirty="0">
                <a:solidFill>
                  <a:srgbClr val="9FBFFF"/>
                </a:solidFill>
                <a:latin typeface="+mn-lt"/>
                <a:cs typeface="Arial"/>
              </a:rPr>
              <a:t> Code</a:t>
            </a:r>
            <a:endParaRPr sz="1000" dirty="0">
              <a:latin typeface="+mn-lt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1398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277" y="1038227"/>
            <a:ext cx="2933700" cy="1818639"/>
            <a:chOff x="242277" y="1038227"/>
            <a:chExt cx="2933700" cy="181863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1038227"/>
              <a:ext cx="2933636" cy="181801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316" y="1115277"/>
              <a:ext cx="2743835" cy="1628139"/>
            </a:xfrm>
            <a:custGeom>
              <a:avLst/>
              <a:gdLst/>
              <a:ahLst/>
              <a:cxnLst/>
              <a:rect l="l" t="t" r="r" b="b"/>
              <a:pathLst>
                <a:path w="2743835" h="1628139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518119"/>
                  </a:lnTo>
                  <a:lnTo>
                    <a:pt x="939" y="1532550"/>
                  </a:lnTo>
                  <a:lnTo>
                    <a:pt x="14770" y="1573199"/>
                  </a:lnTo>
                  <a:lnTo>
                    <a:pt x="22686" y="1584913"/>
                  </a:lnTo>
                  <a:lnTo>
                    <a:pt x="22788" y="1585063"/>
                  </a:lnTo>
                  <a:lnTo>
                    <a:pt x="55079" y="1613166"/>
                  </a:lnTo>
                  <a:lnTo>
                    <a:pt x="95379" y="1626984"/>
                  </a:lnTo>
                  <a:lnTo>
                    <a:pt x="109804" y="1627924"/>
                  </a:lnTo>
                  <a:lnTo>
                    <a:pt x="2633764" y="1627924"/>
                  </a:lnTo>
                  <a:lnTo>
                    <a:pt x="2675835" y="1619571"/>
                  </a:lnTo>
                  <a:lnTo>
                    <a:pt x="2711337" y="1595745"/>
                  </a:lnTo>
                  <a:lnTo>
                    <a:pt x="2735134" y="1560191"/>
                  </a:lnTo>
                  <a:lnTo>
                    <a:pt x="2743568" y="1518119"/>
                  </a:lnTo>
                  <a:lnTo>
                    <a:pt x="2743545" y="109804"/>
                  </a:lnTo>
                  <a:lnTo>
                    <a:pt x="2735210" y="68095"/>
                  </a:lnTo>
                  <a:lnTo>
                    <a:pt x="2711343" y="32535"/>
                  </a:lnTo>
                  <a:lnTo>
                    <a:pt x="2675685" y="8721"/>
                  </a:lnTo>
                  <a:lnTo>
                    <a:pt x="26337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316" y="1115277"/>
              <a:ext cx="2743835" cy="1628139"/>
            </a:xfrm>
            <a:custGeom>
              <a:avLst/>
              <a:gdLst/>
              <a:ahLst/>
              <a:cxnLst/>
              <a:rect l="l" t="t" r="r" b="b"/>
              <a:pathLst>
                <a:path w="2743835" h="162813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633764" y="368"/>
                  </a:lnTo>
                  <a:lnTo>
                    <a:pt x="2675685" y="8721"/>
                  </a:lnTo>
                  <a:lnTo>
                    <a:pt x="2711343" y="32535"/>
                  </a:lnTo>
                  <a:lnTo>
                    <a:pt x="2735210" y="68095"/>
                  </a:lnTo>
                  <a:lnTo>
                    <a:pt x="2743568" y="110159"/>
                  </a:lnTo>
                  <a:lnTo>
                    <a:pt x="2743568" y="1518119"/>
                  </a:lnTo>
                  <a:lnTo>
                    <a:pt x="2742628" y="1532544"/>
                  </a:lnTo>
                  <a:lnTo>
                    <a:pt x="2739831" y="1546563"/>
                  </a:lnTo>
                  <a:lnTo>
                    <a:pt x="2720785" y="1584913"/>
                  </a:lnTo>
                  <a:lnTo>
                    <a:pt x="2688844" y="1613166"/>
                  </a:lnTo>
                  <a:lnTo>
                    <a:pt x="2648194" y="1626984"/>
                  </a:lnTo>
                  <a:lnTo>
                    <a:pt x="2633764" y="1627924"/>
                  </a:lnTo>
                  <a:lnTo>
                    <a:pt x="109804" y="1627924"/>
                  </a:lnTo>
                  <a:lnTo>
                    <a:pt x="67882" y="1619571"/>
                  </a:lnTo>
                  <a:lnTo>
                    <a:pt x="32224" y="1595745"/>
                  </a:lnTo>
                  <a:lnTo>
                    <a:pt x="8358" y="1560191"/>
                  </a:lnTo>
                  <a:lnTo>
                    <a:pt x="0" y="151811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D2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9684" y="1115646"/>
              <a:ext cx="2743200" cy="384175"/>
            </a:xfrm>
            <a:custGeom>
              <a:avLst/>
              <a:gdLst/>
              <a:ahLst/>
              <a:cxnLst/>
              <a:rect l="l" t="t" r="r" b="b"/>
              <a:pathLst>
                <a:path w="2743200" h="384175">
                  <a:moveTo>
                    <a:pt x="265139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292671"/>
                  </a:lnTo>
                  <a:lnTo>
                    <a:pt x="774" y="304320"/>
                  </a:lnTo>
                  <a:lnTo>
                    <a:pt x="798" y="304678"/>
                  </a:lnTo>
                  <a:lnTo>
                    <a:pt x="3075" y="315985"/>
                  </a:lnTo>
                  <a:lnTo>
                    <a:pt x="3148" y="316345"/>
                  </a:lnTo>
                  <a:lnTo>
                    <a:pt x="26679" y="357431"/>
                  </a:lnTo>
                  <a:lnTo>
                    <a:pt x="67765" y="380963"/>
                  </a:lnTo>
                  <a:lnTo>
                    <a:pt x="91439" y="384111"/>
                  </a:lnTo>
                  <a:lnTo>
                    <a:pt x="2651760" y="383755"/>
                  </a:lnTo>
                  <a:lnTo>
                    <a:pt x="2697480" y="371513"/>
                  </a:lnTo>
                  <a:lnTo>
                    <a:pt x="2730957" y="338035"/>
                  </a:lnTo>
                  <a:lnTo>
                    <a:pt x="2743176" y="292671"/>
                  </a:lnTo>
                  <a:lnTo>
                    <a:pt x="2743200" y="292315"/>
                  </a:lnTo>
                  <a:lnTo>
                    <a:pt x="2742831" y="91439"/>
                  </a:lnTo>
                  <a:lnTo>
                    <a:pt x="2730601" y="45720"/>
                  </a:lnTo>
                  <a:lnTo>
                    <a:pt x="2697111" y="12230"/>
                  </a:lnTo>
                  <a:lnTo>
                    <a:pt x="2663398" y="798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360053" y="1218503"/>
            <a:ext cx="6242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Foundation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140" y="1641502"/>
            <a:ext cx="128841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Install Claude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Code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/init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140" y="1915822"/>
            <a:ext cx="16643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Generate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ERD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Flyway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migrations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5140" y="2190142"/>
            <a:ext cx="137096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Spring</a:t>
            </a:r>
            <a:r>
              <a:rPr sz="8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Boot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skeleton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8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auth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5140" y="2464462"/>
            <a:ext cx="123952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GitHub</a:t>
            </a:r>
            <a:r>
              <a:rPr sz="8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repo</a:t>
            </a:r>
            <a:r>
              <a:rPr sz="85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8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Actions</a:t>
            </a:r>
            <a:r>
              <a:rPr sz="8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1D283A"/>
                </a:solidFill>
                <a:latin typeface="Calibri"/>
                <a:cs typeface="Calibri"/>
              </a:rPr>
              <a:t>CI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168357" y="1038227"/>
            <a:ext cx="2933700" cy="1818639"/>
            <a:chOff x="3168357" y="1038227"/>
            <a:chExt cx="2933700" cy="1818639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8357" y="1038227"/>
              <a:ext cx="2933636" cy="181801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245396" y="1115277"/>
              <a:ext cx="2743835" cy="1628139"/>
            </a:xfrm>
            <a:custGeom>
              <a:avLst/>
              <a:gdLst/>
              <a:ahLst/>
              <a:cxnLst/>
              <a:rect l="l" t="t" r="r" b="b"/>
              <a:pathLst>
                <a:path w="2743835" h="1628139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518119"/>
                  </a:lnTo>
                  <a:lnTo>
                    <a:pt x="939" y="1532550"/>
                  </a:lnTo>
                  <a:lnTo>
                    <a:pt x="14770" y="1573199"/>
                  </a:lnTo>
                  <a:lnTo>
                    <a:pt x="43011" y="1605146"/>
                  </a:lnTo>
                  <a:lnTo>
                    <a:pt x="81360" y="1624188"/>
                  </a:lnTo>
                  <a:lnTo>
                    <a:pt x="109804" y="1627924"/>
                  </a:lnTo>
                  <a:lnTo>
                    <a:pt x="2633764" y="1627924"/>
                  </a:lnTo>
                  <a:lnTo>
                    <a:pt x="2675835" y="1619571"/>
                  </a:lnTo>
                  <a:lnTo>
                    <a:pt x="2711337" y="1595745"/>
                  </a:lnTo>
                  <a:lnTo>
                    <a:pt x="2735134" y="1560191"/>
                  </a:lnTo>
                  <a:lnTo>
                    <a:pt x="2735210" y="1560041"/>
                  </a:lnTo>
                  <a:lnTo>
                    <a:pt x="2739816" y="1546607"/>
                  </a:lnTo>
                  <a:lnTo>
                    <a:pt x="2742627" y="1532550"/>
                  </a:lnTo>
                  <a:lnTo>
                    <a:pt x="2743568" y="1518119"/>
                  </a:lnTo>
                  <a:lnTo>
                    <a:pt x="2743545" y="109804"/>
                  </a:lnTo>
                  <a:lnTo>
                    <a:pt x="2735210" y="68095"/>
                  </a:lnTo>
                  <a:lnTo>
                    <a:pt x="2711343" y="32535"/>
                  </a:lnTo>
                  <a:lnTo>
                    <a:pt x="2675685" y="8721"/>
                  </a:lnTo>
                  <a:lnTo>
                    <a:pt x="26337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45396" y="1115277"/>
              <a:ext cx="2743835" cy="1628139"/>
            </a:xfrm>
            <a:custGeom>
              <a:avLst/>
              <a:gdLst/>
              <a:ahLst/>
              <a:cxnLst/>
              <a:rect l="l" t="t" r="r" b="b"/>
              <a:pathLst>
                <a:path w="2743835" h="162813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633764" y="368"/>
                  </a:lnTo>
                  <a:lnTo>
                    <a:pt x="2675685" y="8721"/>
                  </a:lnTo>
                  <a:lnTo>
                    <a:pt x="2711343" y="32535"/>
                  </a:lnTo>
                  <a:lnTo>
                    <a:pt x="2735210" y="68095"/>
                  </a:lnTo>
                  <a:lnTo>
                    <a:pt x="2743568" y="110159"/>
                  </a:lnTo>
                  <a:lnTo>
                    <a:pt x="2743568" y="1518119"/>
                  </a:lnTo>
                  <a:lnTo>
                    <a:pt x="2742628" y="1532544"/>
                  </a:lnTo>
                  <a:lnTo>
                    <a:pt x="2739831" y="1546563"/>
                  </a:lnTo>
                  <a:lnTo>
                    <a:pt x="2720785" y="1584913"/>
                  </a:lnTo>
                  <a:lnTo>
                    <a:pt x="2688843" y="1613166"/>
                  </a:lnTo>
                  <a:lnTo>
                    <a:pt x="2648194" y="1626984"/>
                  </a:lnTo>
                  <a:lnTo>
                    <a:pt x="2633764" y="1627924"/>
                  </a:lnTo>
                  <a:lnTo>
                    <a:pt x="109804" y="1627924"/>
                  </a:lnTo>
                  <a:lnTo>
                    <a:pt x="67882" y="1619571"/>
                  </a:lnTo>
                  <a:lnTo>
                    <a:pt x="32224" y="1595745"/>
                  </a:lnTo>
                  <a:lnTo>
                    <a:pt x="8358" y="1560191"/>
                  </a:lnTo>
                  <a:lnTo>
                    <a:pt x="0" y="151811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45764" y="1115646"/>
              <a:ext cx="2743200" cy="384175"/>
            </a:xfrm>
            <a:custGeom>
              <a:avLst/>
              <a:gdLst/>
              <a:ahLst/>
              <a:cxnLst/>
              <a:rect l="l" t="t" r="r" b="b"/>
              <a:pathLst>
                <a:path w="2743200" h="384175">
                  <a:moveTo>
                    <a:pt x="265139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292671"/>
                  </a:lnTo>
                  <a:lnTo>
                    <a:pt x="774" y="304320"/>
                  </a:lnTo>
                  <a:lnTo>
                    <a:pt x="798" y="304678"/>
                  </a:lnTo>
                  <a:lnTo>
                    <a:pt x="18830" y="348435"/>
                  </a:lnTo>
                  <a:lnTo>
                    <a:pt x="56505" y="377130"/>
                  </a:lnTo>
                  <a:lnTo>
                    <a:pt x="91439" y="384111"/>
                  </a:lnTo>
                  <a:lnTo>
                    <a:pt x="2651760" y="383755"/>
                  </a:lnTo>
                  <a:lnTo>
                    <a:pt x="2697479" y="371513"/>
                  </a:lnTo>
                  <a:lnTo>
                    <a:pt x="2730957" y="338035"/>
                  </a:lnTo>
                  <a:lnTo>
                    <a:pt x="2739922" y="316345"/>
                  </a:lnTo>
                  <a:lnTo>
                    <a:pt x="2740045" y="315985"/>
                  </a:lnTo>
                  <a:lnTo>
                    <a:pt x="2742327" y="304678"/>
                  </a:lnTo>
                  <a:lnTo>
                    <a:pt x="2742399" y="304320"/>
                  </a:lnTo>
                  <a:lnTo>
                    <a:pt x="2743176" y="292671"/>
                  </a:lnTo>
                  <a:lnTo>
                    <a:pt x="2743200" y="292315"/>
                  </a:lnTo>
                  <a:lnTo>
                    <a:pt x="2742831" y="91439"/>
                  </a:lnTo>
                  <a:lnTo>
                    <a:pt x="2730601" y="45720"/>
                  </a:lnTo>
                  <a:lnTo>
                    <a:pt x="2697111" y="12230"/>
                  </a:lnTo>
                  <a:lnTo>
                    <a:pt x="2663398" y="798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6775" y="1201149"/>
            <a:ext cx="3995954" cy="18402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938145" algn="l"/>
              </a:tabLst>
            </a:pPr>
            <a:r>
              <a:rPr sz="1100" spc="-155" dirty="0">
                <a:solidFill>
                  <a:srgbClr val="FFFFFF"/>
                </a:solidFill>
                <a:latin typeface="MingLiU_HKSCS-ExtB"/>
                <a:cs typeface="MingLiU_HKSCS-ExtB"/>
              </a:rPr>
              <a:t>🏗️</a:t>
            </a:r>
            <a:r>
              <a:rPr sz="950" b="1" spc="-155" dirty="0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r>
              <a:rPr sz="950" b="1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1–</a:t>
            </a:r>
            <a:r>
              <a:rPr sz="95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100" dirty="0">
                <a:solidFill>
                  <a:srgbClr val="FFFFFF"/>
                </a:solidFill>
                <a:latin typeface="MingLiU_HKSCS-ExtB"/>
                <a:cs typeface="MingLiU_HKSCS-ExtB"/>
              </a:rPr>
              <a:t>📖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r>
              <a:rPr sz="950" b="1" spc="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950" b="1" spc="22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95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28742" y="1218503"/>
            <a:ext cx="8826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Core</a:t>
            </a:r>
            <a:r>
              <a:rPr sz="10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Accounting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61220" y="1641502"/>
            <a:ext cx="128079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AccountingService</a:t>
            </a:r>
            <a:r>
              <a:rPr sz="850" spc="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850" spc="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tests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61220" y="1915822"/>
            <a:ext cx="12007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Double-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entry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validation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61220" y="2190142"/>
            <a:ext cx="138366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Journal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entry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API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Swagger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61220" y="2464462"/>
            <a:ext cx="12706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React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auth</a:t>
            </a:r>
            <a:r>
              <a:rPr sz="8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flow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8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routing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094438" y="1038227"/>
            <a:ext cx="2934335" cy="1818639"/>
            <a:chOff x="6094438" y="1038227"/>
            <a:chExt cx="2934335" cy="1818639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4438" y="1038227"/>
              <a:ext cx="2934004" cy="181801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171476" y="1115277"/>
              <a:ext cx="2743835" cy="1628139"/>
            </a:xfrm>
            <a:custGeom>
              <a:avLst/>
              <a:gdLst/>
              <a:ahLst/>
              <a:cxnLst/>
              <a:rect l="l" t="t" r="r" b="b"/>
              <a:pathLst>
                <a:path w="2743834" h="1628139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518119"/>
                  </a:lnTo>
                  <a:lnTo>
                    <a:pt x="939" y="1532550"/>
                  </a:lnTo>
                  <a:lnTo>
                    <a:pt x="14770" y="1573199"/>
                  </a:lnTo>
                  <a:lnTo>
                    <a:pt x="43011" y="1605146"/>
                  </a:lnTo>
                  <a:lnTo>
                    <a:pt x="81360" y="1624188"/>
                  </a:lnTo>
                  <a:lnTo>
                    <a:pt x="109804" y="1627924"/>
                  </a:lnTo>
                  <a:lnTo>
                    <a:pt x="2633764" y="1627924"/>
                  </a:lnTo>
                  <a:lnTo>
                    <a:pt x="2675835" y="1619571"/>
                  </a:lnTo>
                  <a:lnTo>
                    <a:pt x="2711337" y="1595745"/>
                  </a:lnTo>
                  <a:lnTo>
                    <a:pt x="2735134" y="1560191"/>
                  </a:lnTo>
                  <a:lnTo>
                    <a:pt x="2735210" y="1560041"/>
                  </a:lnTo>
                  <a:lnTo>
                    <a:pt x="2739816" y="1546607"/>
                  </a:lnTo>
                  <a:lnTo>
                    <a:pt x="2742627" y="1532550"/>
                  </a:lnTo>
                  <a:lnTo>
                    <a:pt x="2743568" y="1518119"/>
                  </a:lnTo>
                  <a:lnTo>
                    <a:pt x="2743545" y="109804"/>
                  </a:lnTo>
                  <a:lnTo>
                    <a:pt x="2735210" y="68095"/>
                  </a:lnTo>
                  <a:lnTo>
                    <a:pt x="2711343" y="32535"/>
                  </a:lnTo>
                  <a:lnTo>
                    <a:pt x="2675685" y="8721"/>
                  </a:lnTo>
                  <a:lnTo>
                    <a:pt x="26337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71476" y="1115277"/>
              <a:ext cx="2743835" cy="1628139"/>
            </a:xfrm>
            <a:custGeom>
              <a:avLst/>
              <a:gdLst/>
              <a:ahLst/>
              <a:cxnLst/>
              <a:rect l="l" t="t" r="r" b="b"/>
              <a:pathLst>
                <a:path w="2743834" h="162813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633764" y="368"/>
                  </a:lnTo>
                  <a:lnTo>
                    <a:pt x="2675685" y="8721"/>
                  </a:lnTo>
                  <a:lnTo>
                    <a:pt x="2711343" y="32535"/>
                  </a:lnTo>
                  <a:lnTo>
                    <a:pt x="2735210" y="68095"/>
                  </a:lnTo>
                  <a:lnTo>
                    <a:pt x="2743568" y="110159"/>
                  </a:lnTo>
                  <a:lnTo>
                    <a:pt x="2743568" y="1518119"/>
                  </a:lnTo>
                  <a:lnTo>
                    <a:pt x="2742628" y="1532544"/>
                  </a:lnTo>
                  <a:lnTo>
                    <a:pt x="2739831" y="1546563"/>
                  </a:lnTo>
                  <a:lnTo>
                    <a:pt x="2720785" y="1584913"/>
                  </a:lnTo>
                  <a:lnTo>
                    <a:pt x="2688844" y="1613166"/>
                  </a:lnTo>
                  <a:lnTo>
                    <a:pt x="2648194" y="1626984"/>
                  </a:lnTo>
                  <a:lnTo>
                    <a:pt x="2633764" y="1627924"/>
                  </a:lnTo>
                  <a:lnTo>
                    <a:pt x="109804" y="1627924"/>
                  </a:lnTo>
                  <a:lnTo>
                    <a:pt x="67882" y="1619571"/>
                  </a:lnTo>
                  <a:lnTo>
                    <a:pt x="32224" y="1595745"/>
                  </a:lnTo>
                  <a:lnTo>
                    <a:pt x="8358" y="1560191"/>
                  </a:lnTo>
                  <a:lnTo>
                    <a:pt x="0" y="151811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71844" y="1115646"/>
              <a:ext cx="2743200" cy="384175"/>
            </a:xfrm>
            <a:custGeom>
              <a:avLst/>
              <a:gdLst/>
              <a:ahLst/>
              <a:cxnLst/>
              <a:rect l="l" t="t" r="r" b="b"/>
              <a:pathLst>
                <a:path w="2743200" h="384175">
                  <a:moveTo>
                    <a:pt x="265139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292671"/>
                  </a:lnTo>
                  <a:lnTo>
                    <a:pt x="774" y="304320"/>
                  </a:lnTo>
                  <a:lnTo>
                    <a:pt x="798" y="304678"/>
                  </a:lnTo>
                  <a:lnTo>
                    <a:pt x="3075" y="315985"/>
                  </a:lnTo>
                  <a:lnTo>
                    <a:pt x="3148" y="316345"/>
                  </a:lnTo>
                  <a:lnTo>
                    <a:pt x="26679" y="357431"/>
                  </a:lnTo>
                  <a:lnTo>
                    <a:pt x="67765" y="380963"/>
                  </a:lnTo>
                  <a:lnTo>
                    <a:pt x="91440" y="384111"/>
                  </a:lnTo>
                  <a:lnTo>
                    <a:pt x="2651760" y="383755"/>
                  </a:lnTo>
                  <a:lnTo>
                    <a:pt x="2697479" y="371513"/>
                  </a:lnTo>
                  <a:lnTo>
                    <a:pt x="2730957" y="338035"/>
                  </a:lnTo>
                  <a:lnTo>
                    <a:pt x="2739922" y="316345"/>
                  </a:lnTo>
                  <a:lnTo>
                    <a:pt x="2740045" y="315985"/>
                  </a:lnTo>
                  <a:lnTo>
                    <a:pt x="2742327" y="304678"/>
                  </a:lnTo>
                  <a:lnTo>
                    <a:pt x="2742399" y="304320"/>
                  </a:lnTo>
                  <a:lnTo>
                    <a:pt x="2743176" y="292671"/>
                  </a:lnTo>
                  <a:lnTo>
                    <a:pt x="2742831" y="91439"/>
                  </a:lnTo>
                  <a:lnTo>
                    <a:pt x="2730601" y="45720"/>
                  </a:lnTo>
                  <a:lnTo>
                    <a:pt x="2697111" y="12230"/>
                  </a:lnTo>
                  <a:lnTo>
                    <a:pt x="2663398" y="798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268935" y="1201149"/>
            <a:ext cx="1300429" cy="18402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FFFFFF"/>
                </a:solidFill>
                <a:latin typeface="MingLiU_HKSCS-ExtB"/>
                <a:cs typeface="MingLiU_HKSCS-ExtB"/>
              </a:rPr>
              <a:t>📊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r>
              <a:rPr sz="950" b="1" spc="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950" b="1" spc="22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lang="en-US" sz="95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198536" y="1218503"/>
            <a:ext cx="6388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Reports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Pt1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87299" y="1641502"/>
            <a:ext cx="10591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P&amp;L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Balance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Sheet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87299" y="1915822"/>
            <a:ext cx="93281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Trial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Balance</a:t>
            </a:r>
            <a:r>
              <a:rPr sz="850" spc="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 </a:t>
            </a:r>
            <a:r>
              <a:rPr sz="850" spc="-25" dirty="0">
                <a:solidFill>
                  <a:srgbClr val="1D283A"/>
                </a:solidFill>
                <a:latin typeface="Calibri"/>
                <a:cs typeface="Calibri"/>
              </a:rPr>
              <a:t>GL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87299" y="2190142"/>
            <a:ext cx="90741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Cash</a:t>
            </a:r>
            <a:r>
              <a:rPr sz="8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Flow</a:t>
            </a:r>
            <a:r>
              <a:rPr sz="8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report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87299" y="2464462"/>
            <a:ext cx="128206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React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report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components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42277" y="2793951"/>
            <a:ext cx="2933700" cy="1818005"/>
            <a:chOff x="242277" y="2793951"/>
            <a:chExt cx="2933700" cy="1818005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77" y="2793951"/>
              <a:ext cx="2933636" cy="181800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19316" y="2871002"/>
              <a:ext cx="2743835" cy="1628139"/>
            </a:xfrm>
            <a:custGeom>
              <a:avLst/>
              <a:gdLst/>
              <a:ahLst/>
              <a:cxnLst/>
              <a:rect l="l" t="t" r="r" b="b"/>
              <a:pathLst>
                <a:path w="2743835" h="162813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518119"/>
                  </a:lnTo>
                  <a:lnTo>
                    <a:pt x="939" y="1532550"/>
                  </a:lnTo>
                  <a:lnTo>
                    <a:pt x="14770" y="1573199"/>
                  </a:lnTo>
                  <a:lnTo>
                    <a:pt x="43011" y="1605141"/>
                  </a:lnTo>
                  <a:lnTo>
                    <a:pt x="81360" y="1624187"/>
                  </a:lnTo>
                  <a:lnTo>
                    <a:pt x="109804" y="1627924"/>
                  </a:lnTo>
                  <a:lnTo>
                    <a:pt x="2633764" y="1627924"/>
                  </a:lnTo>
                  <a:lnTo>
                    <a:pt x="2675835" y="1619565"/>
                  </a:lnTo>
                  <a:lnTo>
                    <a:pt x="2711337" y="1595743"/>
                  </a:lnTo>
                  <a:lnTo>
                    <a:pt x="2735134" y="1560191"/>
                  </a:lnTo>
                  <a:lnTo>
                    <a:pt x="2735210" y="1560041"/>
                  </a:lnTo>
                  <a:lnTo>
                    <a:pt x="2739816" y="1546607"/>
                  </a:lnTo>
                  <a:lnTo>
                    <a:pt x="2742627" y="1532550"/>
                  </a:lnTo>
                  <a:lnTo>
                    <a:pt x="2743568" y="1518119"/>
                  </a:lnTo>
                  <a:lnTo>
                    <a:pt x="2743545" y="109804"/>
                  </a:lnTo>
                  <a:lnTo>
                    <a:pt x="2735210" y="68088"/>
                  </a:lnTo>
                  <a:lnTo>
                    <a:pt x="2711343" y="32535"/>
                  </a:lnTo>
                  <a:lnTo>
                    <a:pt x="2675685" y="8713"/>
                  </a:lnTo>
                  <a:lnTo>
                    <a:pt x="2633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9316" y="2871002"/>
              <a:ext cx="2743835" cy="1628139"/>
            </a:xfrm>
            <a:custGeom>
              <a:avLst/>
              <a:gdLst/>
              <a:ahLst/>
              <a:cxnLst/>
              <a:rect l="l" t="t" r="r" b="b"/>
              <a:pathLst>
                <a:path w="2743835" h="162813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633764" y="355"/>
                  </a:lnTo>
                  <a:lnTo>
                    <a:pt x="2675685" y="8713"/>
                  </a:lnTo>
                  <a:lnTo>
                    <a:pt x="2711343" y="32535"/>
                  </a:lnTo>
                  <a:lnTo>
                    <a:pt x="2735210" y="68088"/>
                  </a:lnTo>
                  <a:lnTo>
                    <a:pt x="2743568" y="110159"/>
                  </a:lnTo>
                  <a:lnTo>
                    <a:pt x="2743568" y="1518119"/>
                  </a:lnTo>
                  <a:lnTo>
                    <a:pt x="2742628" y="1532544"/>
                  </a:lnTo>
                  <a:lnTo>
                    <a:pt x="2739831" y="1546563"/>
                  </a:lnTo>
                  <a:lnTo>
                    <a:pt x="2720785" y="1584912"/>
                  </a:lnTo>
                  <a:lnTo>
                    <a:pt x="2688844" y="1613154"/>
                  </a:lnTo>
                  <a:lnTo>
                    <a:pt x="2648194" y="1626984"/>
                  </a:lnTo>
                  <a:lnTo>
                    <a:pt x="2633764" y="1627924"/>
                  </a:lnTo>
                  <a:lnTo>
                    <a:pt x="109804" y="1627924"/>
                  </a:lnTo>
                  <a:lnTo>
                    <a:pt x="67882" y="1619565"/>
                  </a:lnTo>
                  <a:lnTo>
                    <a:pt x="32224" y="1595743"/>
                  </a:lnTo>
                  <a:lnTo>
                    <a:pt x="8358" y="1560191"/>
                  </a:lnTo>
                  <a:lnTo>
                    <a:pt x="0" y="151811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19684" y="2871357"/>
              <a:ext cx="2743200" cy="384175"/>
            </a:xfrm>
            <a:custGeom>
              <a:avLst/>
              <a:gdLst/>
              <a:ahLst/>
              <a:cxnLst/>
              <a:rect l="l" t="t" r="r" b="b"/>
              <a:pathLst>
                <a:path w="2743200" h="384175">
                  <a:moveTo>
                    <a:pt x="265139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39"/>
                  </a:lnTo>
                  <a:lnTo>
                    <a:pt x="0" y="292684"/>
                  </a:lnTo>
                  <a:lnTo>
                    <a:pt x="774" y="304328"/>
                  </a:lnTo>
                  <a:lnTo>
                    <a:pt x="798" y="304689"/>
                  </a:lnTo>
                  <a:lnTo>
                    <a:pt x="3075" y="315993"/>
                  </a:lnTo>
                  <a:lnTo>
                    <a:pt x="3148" y="316353"/>
                  </a:lnTo>
                  <a:lnTo>
                    <a:pt x="6859" y="327256"/>
                  </a:lnTo>
                  <a:lnTo>
                    <a:pt x="35675" y="365287"/>
                  </a:lnTo>
                  <a:lnTo>
                    <a:pt x="79433" y="383325"/>
                  </a:lnTo>
                  <a:lnTo>
                    <a:pt x="91439" y="384124"/>
                  </a:lnTo>
                  <a:lnTo>
                    <a:pt x="2651760" y="383768"/>
                  </a:lnTo>
                  <a:lnTo>
                    <a:pt x="2697480" y="371525"/>
                  </a:lnTo>
                  <a:lnTo>
                    <a:pt x="2730957" y="338048"/>
                  </a:lnTo>
                  <a:lnTo>
                    <a:pt x="2739922" y="316353"/>
                  </a:lnTo>
                  <a:lnTo>
                    <a:pt x="2740045" y="315993"/>
                  </a:lnTo>
                  <a:lnTo>
                    <a:pt x="2742326" y="304689"/>
                  </a:lnTo>
                  <a:lnTo>
                    <a:pt x="2742399" y="304328"/>
                  </a:lnTo>
                  <a:lnTo>
                    <a:pt x="2743176" y="292684"/>
                  </a:lnTo>
                  <a:lnTo>
                    <a:pt x="2742831" y="91439"/>
                  </a:lnTo>
                  <a:lnTo>
                    <a:pt x="2730601" y="45719"/>
                  </a:lnTo>
                  <a:lnTo>
                    <a:pt x="2697111" y="12242"/>
                  </a:lnTo>
                  <a:lnTo>
                    <a:pt x="2663398" y="798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416775" y="2956860"/>
            <a:ext cx="911175" cy="18402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FFFFFF"/>
                </a:solidFill>
                <a:latin typeface="MingLiU_HKSCS-ExtB"/>
                <a:cs typeface="MingLiU_HKSCS-ExtB"/>
              </a:rPr>
              <a:t>💰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r>
              <a:rPr sz="950" b="1" spc="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950" b="1" spc="-2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lang="en-US" sz="95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346375" y="2974227"/>
            <a:ext cx="6388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Reports</a:t>
            </a:r>
            <a:r>
              <a:rPr sz="1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Pt2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5140" y="3396858"/>
            <a:ext cx="1045844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AR/AP</a:t>
            </a:r>
            <a:r>
              <a:rPr sz="85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aging</a:t>
            </a:r>
            <a:r>
              <a:rPr sz="8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reports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5140" y="3671178"/>
            <a:ext cx="8928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Budget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vs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Actual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35140" y="3945498"/>
            <a:ext cx="998219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Bank</a:t>
            </a:r>
            <a:r>
              <a:rPr sz="850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reconciliation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35140" y="4219818"/>
            <a:ext cx="120459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Budget</a:t>
            </a:r>
            <a:r>
              <a:rPr sz="850" spc="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management</a:t>
            </a:r>
            <a:r>
              <a:rPr sz="850" spc="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1D283A"/>
                </a:solidFill>
                <a:latin typeface="Calibri"/>
                <a:cs typeface="Calibri"/>
              </a:rPr>
              <a:t>UI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168357" y="2793951"/>
            <a:ext cx="2933700" cy="1818005"/>
            <a:chOff x="3168357" y="2793951"/>
            <a:chExt cx="2933700" cy="1818005"/>
          </a:xfrm>
        </p:grpSpPr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8357" y="2793951"/>
              <a:ext cx="2933636" cy="181800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245396" y="2871002"/>
              <a:ext cx="2743835" cy="1628139"/>
            </a:xfrm>
            <a:custGeom>
              <a:avLst/>
              <a:gdLst/>
              <a:ahLst/>
              <a:cxnLst/>
              <a:rect l="l" t="t" r="r" b="b"/>
              <a:pathLst>
                <a:path w="2743835" h="162813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518119"/>
                  </a:lnTo>
                  <a:lnTo>
                    <a:pt x="939" y="1532550"/>
                  </a:lnTo>
                  <a:lnTo>
                    <a:pt x="14770" y="1573199"/>
                  </a:lnTo>
                  <a:lnTo>
                    <a:pt x="22686" y="1584912"/>
                  </a:lnTo>
                  <a:lnTo>
                    <a:pt x="22788" y="1585062"/>
                  </a:lnTo>
                  <a:lnTo>
                    <a:pt x="55079" y="1613154"/>
                  </a:lnTo>
                  <a:lnTo>
                    <a:pt x="95379" y="1626984"/>
                  </a:lnTo>
                  <a:lnTo>
                    <a:pt x="109804" y="1627924"/>
                  </a:lnTo>
                  <a:lnTo>
                    <a:pt x="2633764" y="1627924"/>
                  </a:lnTo>
                  <a:lnTo>
                    <a:pt x="2675835" y="1619565"/>
                  </a:lnTo>
                  <a:lnTo>
                    <a:pt x="2711337" y="1595743"/>
                  </a:lnTo>
                  <a:lnTo>
                    <a:pt x="2735134" y="1560191"/>
                  </a:lnTo>
                  <a:lnTo>
                    <a:pt x="2735210" y="1560041"/>
                  </a:lnTo>
                  <a:lnTo>
                    <a:pt x="2739816" y="1546607"/>
                  </a:lnTo>
                  <a:lnTo>
                    <a:pt x="2742627" y="1532550"/>
                  </a:lnTo>
                  <a:lnTo>
                    <a:pt x="2743568" y="1518119"/>
                  </a:lnTo>
                  <a:lnTo>
                    <a:pt x="2743545" y="109804"/>
                  </a:lnTo>
                  <a:lnTo>
                    <a:pt x="2735210" y="68088"/>
                  </a:lnTo>
                  <a:lnTo>
                    <a:pt x="2711343" y="32535"/>
                  </a:lnTo>
                  <a:lnTo>
                    <a:pt x="2675685" y="8713"/>
                  </a:lnTo>
                  <a:lnTo>
                    <a:pt x="2633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245396" y="2871002"/>
              <a:ext cx="2743835" cy="1628139"/>
            </a:xfrm>
            <a:custGeom>
              <a:avLst/>
              <a:gdLst/>
              <a:ahLst/>
              <a:cxnLst/>
              <a:rect l="l" t="t" r="r" b="b"/>
              <a:pathLst>
                <a:path w="2743835" h="162813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633764" y="355"/>
                  </a:lnTo>
                  <a:lnTo>
                    <a:pt x="2675685" y="8713"/>
                  </a:lnTo>
                  <a:lnTo>
                    <a:pt x="2711343" y="32535"/>
                  </a:lnTo>
                  <a:lnTo>
                    <a:pt x="2735210" y="68088"/>
                  </a:lnTo>
                  <a:lnTo>
                    <a:pt x="2743568" y="110159"/>
                  </a:lnTo>
                  <a:lnTo>
                    <a:pt x="2743568" y="1518119"/>
                  </a:lnTo>
                  <a:lnTo>
                    <a:pt x="2742628" y="1532544"/>
                  </a:lnTo>
                  <a:lnTo>
                    <a:pt x="2739831" y="1546563"/>
                  </a:lnTo>
                  <a:lnTo>
                    <a:pt x="2720785" y="1584912"/>
                  </a:lnTo>
                  <a:lnTo>
                    <a:pt x="2688843" y="1613154"/>
                  </a:lnTo>
                  <a:lnTo>
                    <a:pt x="2648194" y="1626984"/>
                  </a:lnTo>
                  <a:lnTo>
                    <a:pt x="2633764" y="1627924"/>
                  </a:lnTo>
                  <a:lnTo>
                    <a:pt x="109804" y="1627924"/>
                  </a:lnTo>
                  <a:lnTo>
                    <a:pt x="67882" y="1619565"/>
                  </a:lnTo>
                  <a:lnTo>
                    <a:pt x="32224" y="1595743"/>
                  </a:lnTo>
                  <a:lnTo>
                    <a:pt x="8358" y="1560191"/>
                  </a:lnTo>
                  <a:lnTo>
                    <a:pt x="0" y="151811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E957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45764" y="2871357"/>
              <a:ext cx="2743200" cy="384175"/>
            </a:xfrm>
            <a:custGeom>
              <a:avLst/>
              <a:gdLst/>
              <a:ahLst/>
              <a:cxnLst/>
              <a:rect l="l" t="t" r="r" b="b"/>
              <a:pathLst>
                <a:path w="2743200" h="384175">
                  <a:moveTo>
                    <a:pt x="265139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39"/>
                  </a:lnTo>
                  <a:lnTo>
                    <a:pt x="0" y="292684"/>
                  </a:lnTo>
                  <a:lnTo>
                    <a:pt x="12230" y="338404"/>
                  </a:lnTo>
                  <a:lnTo>
                    <a:pt x="45720" y="371881"/>
                  </a:lnTo>
                  <a:lnTo>
                    <a:pt x="91439" y="384124"/>
                  </a:lnTo>
                  <a:lnTo>
                    <a:pt x="2651760" y="383768"/>
                  </a:lnTo>
                  <a:lnTo>
                    <a:pt x="2697479" y="371525"/>
                  </a:lnTo>
                  <a:lnTo>
                    <a:pt x="2730957" y="338048"/>
                  </a:lnTo>
                  <a:lnTo>
                    <a:pt x="2739922" y="316353"/>
                  </a:lnTo>
                  <a:lnTo>
                    <a:pt x="2740045" y="315993"/>
                  </a:lnTo>
                  <a:lnTo>
                    <a:pt x="2742326" y="304689"/>
                  </a:lnTo>
                  <a:lnTo>
                    <a:pt x="2742399" y="304328"/>
                  </a:lnTo>
                  <a:lnTo>
                    <a:pt x="2743176" y="292684"/>
                  </a:lnTo>
                  <a:lnTo>
                    <a:pt x="2743200" y="292328"/>
                  </a:lnTo>
                  <a:lnTo>
                    <a:pt x="2742831" y="91439"/>
                  </a:lnTo>
                  <a:lnTo>
                    <a:pt x="2730601" y="45719"/>
                  </a:lnTo>
                  <a:lnTo>
                    <a:pt x="2697111" y="12242"/>
                  </a:lnTo>
                  <a:lnTo>
                    <a:pt x="2663398" y="798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E957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3342856" y="2956860"/>
            <a:ext cx="1229144" cy="18402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FFFFFF"/>
                </a:solidFill>
                <a:latin typeface="MingLiU_HKSCS-ExtB"/>
                <a:cs typeface="MingLiU_HKSCS-ExtB"/>
              </a:rPr>
              <a:t>🌐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r>
              <a:rPr sz="950" b="1" spc="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950" b="1" spc="-2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lang="en-US" sz="950" b="1" spc="-25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408180" y="2974227"/>
            <a:ext cx="5035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Frontend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361220" y="3396858"/>
            <a:ext cx="126492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Dashboard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with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Recharts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361220" y="3671178"/>
            <a:ext cx="97155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Excel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8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PDF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export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361220" y="3945498"/>
            <a:ext cx="128270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Multi-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project</a:t>
            </a:r>
            <a:r>
              <a:rPr sz="8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comparison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361220" y="4219818"/>
            <a:ext cx="126682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Mobile</a:t>
            </a:r>
            <a:r>
              <a:rPr sz="8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responsive layout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094438" y="2793951"/>
            <a:ext cx="2934335" cy="1818005"/>
            <a:chOff x="6094438" y="2793951"/>
            <a:chExt cx="2934335" cy="1818005"/>
          </a:xfrm>
        </p:grpSpPr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4438" y="2793951"/>
              <a:ext cx="2934004" cy="1818005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6171476" y="2871002"/>
              <a:ext cx="2743835" cy="1628139"/>
            </a:xfrm>
            <a:custGeom>
              <a:avLst/>
              <a:gdLst/>
              <a:ahLst/>
              <a:cxnLst/>
              <a:rect l="l" t="t" r="r" b="b"/>
              <a:pathLst>
                <a:path w="2743834" h="162813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518119"/>
                  </a:lnTo>
                  <a:lnTo>
                    <a:pt x="939" y="1532550"/>
                  </a:lnTo>
                  <a:lnTo>
                    <a:pt x="14770" y="1573199"/>
                  </a:lnTo>
                  <a:lnTo>
                    <a:pt x="22686" y="1584912"/>
                  </a:lnTo>
                  <a:lnTo>
                    <a:pt x="22788" y="1585062"/>
                  </a:lnTo>
                  <a:lnTo>
                    <a:pt x="55079" y="1613154"/>
                  </a:lnTo>
                  <a:lnTo>
                    <a:pt x="95379" y="1626984"/>
                  </a:lnTo>
                  <a:lnTo>
                    <a:pt x="109804" y="1627924"/>
                  </a:lnTo>
                  <a:lnTo>
                    <a:pt x="2633764" y="1627924"/>
                  </a:lnTo>
                  <a:lnTo>
                    <a:pt x="2675835" y="1619565"/>
                  </a:lnTo>
                  <a:lnTo>
                    <a:pt x="2711337" y="1595743"/>
                  </a:lnTo>
                  <a:lnTo>
                    <a:pt x="2735134" y="1560191"/>
                  </a:lnTo>
                  <a:lnTo>
                    <a:pt x="2735210" y="1560041"/>
                  </a:lnTo>
                  <a:lnTo>
                    <a:pt x="2739816" y="1546607"/>
                  </a:lnTo>
                  <a:lnTo>
                    <a:pt x="2742627" y="1532550"/>
                  </a:lnTo>
                  <a:lnTo>
                    <a:pt x="2743568" y="1518119"/>
                  </a:lnTo>
                  <a:lnTo>
                    <a:pt x="2743545" y="109804"/>
                  </a:lnTo>
                  <a:lnTo>
                    <a:pt x="2735210" y="68088"/>
                  </a:lnTo>
                  <a:lnTo>
                    <a:pt x="2711343" y="32535"/>
                  </a:lnTo>
                  <a:lnTo>
                    <a:pt x="2675685" y="8713"/>
                  </a:lnTo>
                  <a:lnTo>
                    <a:pt x="2633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171476" y="2871002"/>
              <a:ext cx="2743835" cy="1628139"/>
            </a:xfrm>
            <a:custGeom>
              <a:avLst/>
              <a:gdLst/>
              <a:ahLst/>
              <a:cxnLst/>
              <a:rect l="l" t="t" r="r" b="b"/>
              <a:pathLst>
                <a:path w="2743834" h="162813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633764" y="355"/>
                  </a:lnTo>
                  <a:lnTo>
                    <a:pt x="2675685" y="8713"/>
                  </a:lnTo>
                  <a:lnTo>
                    <a:pt x="2711343" y="32535"/>
                  </a:lnTo>
                  <a:lnTo>
                    <a:pt x="2735210" y="68088"/>
                  </a:lnTo>
                  <a:lnTo>
                    <a:pt x="2743568" y="110159"/>
                  </a:lnTo>
                  <a:lnTo>
                    <a:pt x="2743568" y="1518119"/>
                  </a:lnTo>
                  <a:lnTo>
                    <a:pt x="2742628" y="1532544"/>
                  </a:lnTo>
                  <a:lnTo>
                    <a:pt x="2739831" y="1546563"/>
                  </a:lnTo>
                  <a:lnTo>
                    <a:pt x="2720785" y="1584912"/>
                  </a:lnTo>
                  <a:lnTo>
                    <a:pt x="2688844" y="1613154"/>
                  </a:lnTo>
                  <a:lnTo>
                    <a:pt x="2648194" y="1626984"/>
                  </a:lnTo>
                  <a:lnTo>
                    <a:pt x="2633764" y="1627924"/>
                  </a:lnTo>
                  <a:lnTo>
                    <a:pt x="109804" y="1627924"/>
                  </a:lnTo>
                  <a:lnTo>
                    <a:pt x="67882" y="1619565"/>
                  </a:lnTo>
                  <a:lnTo>
                    <a:pt x="32224" y="1595743"/>
                  </a:lnTo>
                  <a:lnTo>
                    <a:pt x="8358" y="1560191"/>
                  </a:lnTo>
                  <a:lnTo>
                    <a:pt x="0" y="151811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055E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171844" y="2871357"/>
              <a:ext cx="2743200" cy="384175"/>
            </a:xfrm>
            <a:custGeom>
              <a:avLst/>
              <a:gdLst/>
              <a:ahLst/>
              <a:cxnLst/>
              <a:rect l="l" t="t" r="r" b="b"/>
              <a:pathLst>
                <a:path w="2743200" h="384175">
                  <a:moveTo>
                    <a:pt x="265139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39"/>
                  </a:lnTo>
                  <a:lnTo>
                    <a:pt x="0" y="292684"/>
                  </a:lnTo>
                  <a:lnTo>
                    <a:pt x="774" y="304328"/>
                  </a:lnTo>
                  <a:lnTo>
                    <a:pt x="798" y="304689"/>
                  </a:lnTo>
                  <a:lnTo>
                    <a:pt x="3075" y="315993"/>
                  </a:lnTo>
                  <a:lnTo>
                    <a:pt x="3148" y="316353"/>
                  </a:lnTo>
                  <a:lnTo>
                    <a:pt x="26679" y="357443"/>
                  </a:lnTo>
                  <a:lnTo>
                    <a:pt x="67765" y="380974"/>
                  </a:lnTo>
                  <a:lnTo>
                    <a:pt x="91440" y="384124"/>
                  </a:lnTo>
                  <a:lnTo>
                    <a:pt x="2651760" y="383768"/>
                  </a:lnTo>
                  <a:lnTo>
                    <a:pt x="2697479" y="371525"/>
                  </a:lnTo>
                  <a:lnTo>
                    <a:pt x="2730957" y="338048"/>
                  </a:lnTo>
                  <a:lnTo>
                    <a:pt x="2739922" y="316353"/>
                  </a:lnTo>
                  <a:lnTo>
                    <a:pt x="2740045" y="315993"/>
                  </a:lnTo>
                  <a:lnTo>
                    <a:pt x="2742326" y="304689"/>
                  </a:lnTo>
                  <a:lnTo>
                    <a:pt x="2742399" y="304328"/>
                  </a:lnTo>
                  <a:lnTo>
                    <a:pt x="2743176" y="292684"/>
                  </a:lnTo>
                  <a:lnTo>
                    <a:pt x="2743200" y="292328"/>
                  </a:lnTo>
                  <a:lnTo>
                    <a:pt x="2742831" y="91439"/>
                  </a:lnTo>
                  <a:lnTo>
                    <a:pt x="2730601" y="45719"/>
                  </a:lnTo>
                  <a:lnTo>
                    <a:pt x="2697111" y="12242"/>
                  </a:lnTo>
                  <a:lnTo>
                    <a:pt x="2663398" y="798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055E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6268935" y="2956860"/>
            <a:ext cx="1427265" cy="18402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FFFFFF"/>
                </a:solidFill>
                <a:latin typeface="MingLiU_HKSCS-ExtB"/>
                <a:cs typeface="MingLiU_HKSCS-ExtB"/>
              </a:rPr>
              <a:t>🚀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r>
              <a:rPr sz="950" b="1" spc="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950" b="1" spc="-2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lang="en-US" sz="950" b="1" spc="-25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133016" y="2974227"/>
            <a:ext cx="7042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QA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Deploy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287299" y="3396858"/>
            <a:ext cx="10680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Security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audit</a:t>
            </a:r>
            <a:r>
              <a:rPr sz="8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 fixes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287299" y="3671178"/>
            <a:ext cx="112776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DB</a:t>
            </a:r>
            <a:r>
              <a:rPr sz="8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index</a:t>
            </a:r>
            <a:r>
              <a:rPr sz="8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optimisation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287299" y="3945498"/>
            <a:ext cx="11626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Robi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Cloud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CD</a:t>
            </a:r>
            <a:r>
              <a:rPr sz="8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pipeline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287299" y="4219818"/>
            <a:ext cx="73152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0"/>
              </a:spcBef>
              <a:buFont typeface="Segoe UI Emoji"/>
              <a:buChar char="✓"/>
              <a:tabLst>
                <a:tab pos="151765" algn="l"/>
              </a:tabLst>
            </a:pPr>
            <a:r>
              <a:rPr sz="850" spc="-35" dirty="0">
                <a:solidFill>
                  <a:srgbClr val="1D283A"/>
                </a:solidFill>
                <a:latin typeface="Calibri"/>
                <a:cs typeface="Calibri"/>
              </a:rPr>
              <a:t>UAT</a:t>
            </a:r>
            <a:r>
              <a:rPr sz="850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D283A"/>
                </a:solidFill>
                <a:latin typeface="Calibri"/>
                <a:cs typeface="Calibri"/>
              </a:rPr>
              <a:t>+ </a:t>
            </a:r>
            <a:r>
              <a:rPr sz="850" spc="-10" dirty="0">
                <a:solidFill>
                  <a:srgbClr val="1D283A"/>
                </a:solidFill>
                <a:latin typeface="Calibri"/>
                <a:cs typeface="Calibri"/>
              </a:rPr>
              <a:t>go-</a:t>
            </a:r>
            <a:r>
              <a:rPr sz="850" spc="-20" dirty="0">
                <a:solidFill>
                  <a:srgbClr val="1D283A"/>
                </a:solidFill>
                <a:latin typeface="Calibri"/>
                <a:cs typeface="Calibri"/>
              </a:rPr>
              <a:t>live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242277" y="4659098"/>
            <a:ext cx="8695055" cy="484505"/>
            <a:chOff x="242277" y="4659098"/>
            <a:chExt cx="8695055" cy="484505"/>
          </a:xfrm>
        </p:grpSpPr>
        <p:pic>
          <p:nvPicPr>
            <p:cNvPr id="73" name="object 7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277" y="4659098"/>
              <a:ext cx="8694724" cy="484225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319684" y="4736517"/>
              <a:ext cx="8503920" cy="384175"/>
            </a:xfrm>
            <a:custGeom>
              <a:avLst/>
              <a:gdLst/>
              <a:ahLst/>
              <a:cxnLst/>
              <a:rect l="l" t="t" r="r" b="b"/>
              <a:pathLst>
                <a:path w="8503920" h="384175">
                  <a:moveTo>
                    <a:pt x="841211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40"/>
                  </a:lnTo>
                  <a:lnTo>
                    <a:pt x="0" y="292684"/>
                  </a:lnTo>
                  <a:lnTo>
                    <a:pt x="774" y="304328"/>
                  </a:lnTo>
                  <a:lnTo>
                    <a:pt x="798" y="304689"/>
                  </a:lnTo>
                  <a:lnTo>
                    <a:pt x="3075" y="315993"/>
                  </a:lnTo>
                  <a:lnTo>
                    <a:pt x="3148" y="316353"/>
                  </a:lnTo>
                  <a:lnTo>
                    <a:pt x="26679" y="357443"/>
                  </a:lnTo>
                  <a:lnTo>
                    <a:pt x="67765" y="380974"/>
                  </a:lnTo>
                  <a:lnTo>
                    <a:pt x="91439" y="384124"/>
                  </a:lnTo>
                  <a:lnTo>
                    <a:pt x="8412480" y="383768"/>
                  </a:lnTo>
                  <a:lnTo>
                    <a:pt x="8458200" y="371525"/>
                  </a:lnTo>
                  <a:lnTo>
                    <a:pt x="8491677" y="338048"/>
                  </a:lnTo>
                  <a:lnTo>
                    <a:pt x="8500642" y="316353"/>
                  </a:lnTo>
                  <a:lnTo>
                    <a:pt x="8500765" y="315993"/>
                  </a:lnTo>
                  <a:lnTo>
                    <a:pt x="8503046" y="304689"/>
                  </a:lnTo>
                  <a:lnTo>
                    <a:pt x="8503119" y="304328"/>
                  </a:lnTo>
                  <a:lnTo>
                    <a:pt x="8503896" y="292684"/>
                  </a:lnTo>
                  <a:lnTo>
                    <a:pt x="8503920" y="292328"/>
                  </a:lnTo>
                  <a:lnTo>
                    <a:pt x="8503551" y="91440"/>
                  </a:lnTo>
                  <a:lnTo>
                    <a:pt x="8491321" y="45720"/>
                  </a:lnTo>
                  <a:lnTo>
                    <a:pt x="8457831" y="12242"/>
                  </a:lnTo>
                  <a:lnTo>
                    <a:pt x="8424118" y="798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0B17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19684" y="4736517"/>
              <a:ext cx="8503920" cy="384175"/>
            </a:xfrm>
            <a:custGeom>
              <a:avLst/>
              <a:gdLst/>
              <a:ahLst/>
              <a:cxnLst/>
              <a:rect l="l" t="t" r="r" b="b"/>
              <a:pathLst>
                <a:path w="8503920" h="384175">
                  <a:moveTo>
                    <a:pt x="0" y="91440"/>
                  </a:moveTo>
                  <a:lnTo>
                    <a:pt x="798" y="79440"/>
                  </a:lnTo>
                  <a:lnTo>
                    <a:pt x="3148" y="67775"/>
                  </a:lnTo>
                  <a:lnTo>
                    <a:pt x="26679" y="26690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8412111" y="0"/>
                  </a:lnTo>
                  <a:lnTo>
                    <a:pt x="8457831" y="12242"/>
                  </a:lnTo>
                  <a:lnTo>
                    <a:pt x="8491321" y="45720"/>
                  </a:lnTo>
                  <a:lnTo>
                    <a:pt x="8503551" y="91440"/>
                  </a:lnTo>
                  <a:lnTo>
                    <a:pt x="8503920" y="292328"/>
                  </a:lnTo>
                  <a:lnTo>
                    <a:pt x="8503119" y="304328"/>
                  </a:lnTo>
                  <a:lnTo>
                    <a:pt x="8500765" y="315993"/>
                  </a:lnTo>
                  <a:lnTo>
                    <a:pt x="8477229" y="357077"/>
                  </a:lnTo>
                  <a:lnTo>
                    <a:pt x="8436144" y="380614"/>
                  </a:lnTo>
                  <a:lnTo>
                    <a:pt x="91439" y="384124"/>
                  </a:lnTo>
                  <a:lnTo>
                    <a:pt x="45719" y="371881"/>
                  </a:lnTo>
                  <a:lnTo>
                    <a:pt x="12230" y="338404"/>
                  </a:lnTo>
                  <a:lnTo>
                    <a:pt x="0" y="292684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44144" y="4845660"/>
            <a:ext cx="7252056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0"/>
              </a:lnSpc>
            </a:pPr>
            <a:r>
              <a:rPr sz="1150" i="1" spc="815" dirty="0">
                <a:solidFill>
                  <a:srgbClr val="FCE589"/>
                </a:solidFill>
                <a:latin typeface="Cambria"/>
                <a:cs typeface="Cambria"/>
              </a:rPr>
              <a:t>🚀</a:t>
            </a:r>
            <a:r>
              <a:rPr sz="1150" i="1" spc="65" dirty="0">
                <a:solidFill>
                  <a:srgbClr val="FCE589"/>
                </a:solidFill>
                <a:latin typeface="Cambria"/>
                <a:cs typeface="Cambria"/>
              </a:rPr>
              <a:t> </a:t>
            </a:r>
            <a:r>
              <a:rPr sz="950" i="1" spc="-35" dirty="0">
                <a:solidFill>
                  <a:srgbClr val="FCE589"/>
                </a:solidFill>
                <a:latin typeface="Arial"/>
                <a:cs typeface="Arial"/>
              </a:rPr>
              <a:t>Start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30" dirty="0">
                <a:solidFill>
                  <a:srgbClr val="FCE589"/>
                </a:solidFill>
                <a:latin typeface="Arial"/>
                <a:cs typeface="Arial"/>
              </a:rPr>
              <a:t>today: </a:t>
            </a:r>
            <a:r>
              <a:rPr sz="950" i="1" spc="-65" dirty="0">
                <a:solidFill>
                  <a:srgbClr val="FCE589"/>
                </a:solidFill>
                <a:latin typeface="Arial"/>
                <a:cs typeface="Arial"/>
              </a:rPr>
              <a:t>cd</a:t>
            </a:r>
            <a:r>
              <a:rPr sz="9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45" dirty="0">
                <a:solidFill>
                  <a:srgbClr val="FCE589"/>
                </a:solidFill>
                <a:latin typeface="Arial"/>
                <a:cs typeface="Arial"/>
              </a:rPr>
              <a:t>wamy-finance</a:t>
            </a:r>
            <a:r>
              <a:rPr sz="9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FCE589"/>
                </a:solidFill>
                <a:latin typeface="Arial"/>
                <a:cs typeface="Arial"/>
              </a:rPr>
              <a:t>&amp;&amp;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50" dirty="0">
                <a:solidFill>
                  <a:srgbClr val="FCE589"/>
                </a:solidFill>
                <a:latin typeface="Arial"/>
                <a:cs typeface="Arial"/>
              </a:rPr>
              <a:t>claude</a:t>
            </a:r>
            <a:r>
              <a:rPr sz="9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FCE589"/>
                </a:solidFill>
                <a:latin typeface="Arial"/>
                <a:cs typeface="Arial"/>
              </a:rPr>
              <a:t>&amp;&amp;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30" dirty="0">
                <a:solidFill>
                  <a:srgbClr val="FCE589"/>
                </a:solidFill>
                <a:latin typeface="Arial"/>
                <a:cs typeface="Arial"/>
              </a:rPr>
              <a:t>type: </a:t>
            </a:r>
            <a:r>
              <a:rPr sz="950" i="1" spc="-45" dirty="0">
                <a:solidFill>
                  <a:srgbClr val="FCE589"/>
                </a:solidFill>
                <a:latin typeface="Arial"/>
                <a:cs typeface="Arial"/>
              </a:rPr>
              <a:t>"Generate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 the</a:t>
            </a:r>
            <a:r>
              <a:rPr sz="9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95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160" dirty="0">
                <a:solidFill>
                  <a:srgbClr val="FCE589"/>
                </a:solidFill>
                <a:latin typeface="Arial"/>
                <a:cs typeface="Arial"/>
              </a:rPr>
              <a:t>ERD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5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60" dirty="0">
                <a:solidFill>
                  <a:srgbClr val="FCE589"/>
                </a:solidFill>
                <a:latin typeface="Arial"/>
                <a:cs typeface="Arial"/>
              </a:rPr>
              <a:t>Flyway</a:t>
            </a:r>
            <a:r>
              <a:rPr sz="9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migration </a:t>
            </a:r>
            <a:r>
              <a:rPr sz="950" i="1" spc="-65" dirty="0">
                <a:solidFill>
                  <a:srgbClr val="FCE589"/>
                </a:solidFill>
                <a:latin typeface="Arial"/>
                <a:cs typeface="Arial"/>
              </a:rPr>
              <a:t>script"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77" name="object 7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78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3"/>
            <a:ext cx="9144000" cy="1005840"/>
          </a:xfrm>
          <a:custGeom>
            <a:avLst/>
            <a:gdLst/>
            <a:ahLst/>
            <a:cxnLst/>
            <a:rect l="l" t="t" r="r" b="b"/>
            <a:pathLst>
              <a:path w="9144000" h="1005840">
                <a:moveTo>
                  <a:pt x="9143631" y="0"/>
                </a:moveTo>
                <a:lnTo>
                  <a:pt x="0" y="0"/>
                </a:lnTo>
                <a:lnTo>
                  <a:pt x="0" y="1005471"/>
                </a:lnTo>
                <a:lnTo>
                  <a:pt x="4572000" y="1005471"/>
                </a:lnTo>
                <a:lnTo>
                  <a:pt x="9143631" y="1005471"/>
                </a:lnTo>
                <a:lnTo>
                  <a:pt x="9143631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60" dirty="0"/>
              <a:t> </a:t>
            </a:r>
            <a:r>
              <a:rPr spc="-50" dirty="0"/>
              <a:t>Takeaways</a:t>
            </a:r>
            <a:r>
              <a:rPr spc="-65" dirty="0"/>
              <a:t> </a:t>
            </a:r>
            <a:r>
              <a:rPr dirty="0"/>
              <a:t>—</a:t>
            </a:r>
            <a:r>
              <a:rPr spc="-70" dirty="0"/>
              <a:t> </a:t>
            </a:r>
            <a:r>
              <a:rPr dirty="0"/>
              <a:t>What</a:t>
            </a:r>
            <a:r>
              <a:rPr spc="-65" dirty="0"/>
              <a:t> </a:t>
            </a:r>
            <a:r>
              <a:rPr spc="-55" dirty="0"/>
              <a:t>You</a:t>
            </a:r>
            <a:r>
              <a:rPr spc="-65" dirty="0"/>
              <a:t> </a:t>
            </a:r>
            <a:r>
              <a:rPr dirty="0"/>
              <a:t>Learned</a:t>
            </a:r>
            <a:r>
              <a:rPr spc="-65" dirty="0"/>
              <a:t> </a:t>
            </a:r>
            <a:r>
              <a:rPr spc="-10" dirty="0"/>
              <a:t>Today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95" y="797663"/>
            <a:ext cx="277114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50" dirty="0">
                <a:solidFill>
                  <a:srgbClr val="9FBFFF"/>
                </a:solidFill>
                <a:latin typeface="+mn-lt"/>
                <a:cs typeface="Arial"/>
              </a:rPr>
              <a:t>80 </a:t>
            </a:r>
            <a:r>
              <a:rPr sz="1000" i="1" spc="-65" dirty="0">
                <a:solidFill>
                  <a:srgbClr val="9FBFFF"/>
                </a:solidFill>
                <a:latin typeface="+mn-lt"/>
                <a:cs typeface="Arial"/>
              </a:rPr>
              <a:t>slides</a:t>
            </a: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95" dirty="0">
                <a:solidFill>
                  <a:srgbClr val="9FBFFF"/>
                </a:solidFill>
                <a:latin typeface="+mn-lt"/>
                <a:cs typeface="Arial"/>
              </a:rPr>
              <a:t>·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+mn-lt"/>
                <a:cs typeface="Arial"/>
              </a:rPr>
              <a:t>9</a:t>
            </a:r>
            <a:r>
              <a:rPr sz="1000" i="1" spc="-3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60" dirty="0">
                <a:solidFill>
                  <a:srgbClr val="9FBFFF"/>
                </a:solidFill>
                <a:latin typeface="+mn-lt"/>
                <a:cs typeface="Arial"/>
              </a:rPr>
              <a:t>sections</a:t>
            </a:r>
            <a:r>
              <a:rPr sz="1000" i="1" spc="-4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90" dirty="0">
                <a:solidFill>
                  <a:srgbClr val="9FBFFF"/>
                </a:solidFill>
                <a:latin typeface="+mn-lt"/>
                <a:cs typeface="Arial"/>
              </a:rPr>
              <a:t>·</a:t>
            </a:r>
            <a:r>
              <a:rPr sz="1000" i="1" spc="-45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+mn-lt"/>
                <a:cs typeface="Arial"/>
              </a:rPr>
              <a:t>1</a:t>
            </a:r>
            <a:r>
              <a:rPr sz="1000" i="1" spc="-4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50" dirty="0">
                <a:solidFill>
                  <a:srgbClr val="9FBFFF"/>
                </a:solidFill>
                <a:latin typeface="+mn-lt"/>
                <a:cs typeface="Arial"/>
              </a:rPr>
              <a:t>complete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80" dirty="0">
                <a:solidFill>
                  <a:srgbClr val="9FBFFF"/>
                </a:solidFill>
                <a:latin typeface="+mn-lt"/>
                <a:cs typeface="Arial"/>
              </a:rPr>
              <a:t>ERP</a:t>
            </a:r>
            <a:r>
              <a:rPr sz="1000" i="1" spc="-3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70" dirty="0">
                <a:solidFill>
                  <a:srgbClr val="9FBFFF"/>
                </a:solidFill>
                <a:latin typeface="+mn-lt"/>
                <a:cs typeface="Arial"/>
              </a:rPr>
              <a:t>Finance</a:t>
            </a:r>
            <a:r>
              <a:rPr sz="1000" i="1" spc="-50" dirty="0">
                <a:solidFill>
                  <a:srgbClr val="9FBFFF"/>
                </a:solidFill>
                <a:latin typeface="+mn-lt"/>
                <a:cs typeface="Arial"/>
              </a:rPr>
              <a:t> </a:t>
            </a:r>
            <a:r>
              <a:rPr sz="1000" i="1" spc="-10" dirty="0">
                <a:solidFill>
                  <a:srgbClr val="9FBFFF"/>
                </a:solidFill>
                <a:latin typeface="+mn-lt"/>
                <a:cs typeface="Arial"/>
              </a:rPr>
              <a:t>module</a:t>
            </a:r>
            <a:endParaRPr sz="1000" dirty="0">
              <a:latin typeface="+mn-lt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044" y="136806"/>
            <a:ext cx="1052195" cy="256540"/>
          </a:xfrm>
          <a:custGeom>
            <a:avLst/>
            <a:gdLst/>
            <a:ahLst/>
            <a:cxnLst/>
            <a:rect l="l" t="t" r="r" b="b"/>
            <a:pathLst>
              <a:path w="1052195" h="256540">
                <a:moveTo>
                  <a:pt x="82791" y="0"/>
                </a:moveTo>
                <a:lnTo>
                  <a:pt x="41389" y="11150"/>
                </a:lnTo>
                <a:lnTo>
                  <a:pt x="11518" y="41389"/>
                </a:lnTo>
                <a:lnTo>
                  <a:pt x="355" y="82435"/>
                </a:lnTo>
                <a:lnTo>
                  <a:pt x="0" y="173875"/>
                </a:lnTo>
                <a:lnTo>
                  <a:pt x="719" y="184643"/>
                </a:lnTo>
                <a:lnTo>
                  <a:pt x="729" y="184798"/>
                </a:lnTo>
                <a:lnTo>
                  <a:pt x="2838" y="195206"/>
                </a:lnTo>
                <a:lnTo>
                  <a:pt x="2874" y="195386"/>
                </a:lnTo>
                <a:lnTo>
                  <a:pt x="6299" y="205363"/>
                </a:lnTo>
                <a:lnTo>
                  <a:pt x="6370" y="205568"/>
                </a:lnTo>
                <a:lnTo>
                  <a:pt x="32362" y="239175"/>
                </a:lnTo>
                <a:lnTo>
                  <a:pt x="71668" y="255581"/>
                </a:lnTo>
                <a:lnTo>
                  <a:pt x="82435" y="256311"/>
                </a:lnTo>
                <a:lnTo>
                  <a:pt x="969479" y="256311"/>
                </a:lnTo>
                <a:lnTo>
                  <a:pt x="1010881" y="245160"/>
                </a:lnTo>
                <a:lnTo>
                  <a:pt x="1040752" y="214909"/>
                </a:lnTo>
                <a:lnTo>
                  <a:pt x="1048972" y="195386"/>
                </a:lnTo>
                <a:lnTo>
                  <a:pt x="1049034" y="195206"/>
                </a:lnTo>
                <a:lnTo>
                  <a:pt x="1051152" y="184798"/>
                </a:lnTo>
                <a:lnTo>
                  <a:pt x="1051183" y="184643"/>
                </a:lnTo>
                <a:lnTo>
                  <a:pt x="1051915" y="173875"/>
                </a:lnTo>
                <a:lnTo>
                  <a:pt x="1051891" y="82435"/>
                </a:lnTo>
                <a:lnTo>
                  <a:pt x="1040752" y="41389"/>
                </a:lnTo>
                <a:lnTo>
                  <a:pt x="1010513" y="11518"/>
                </a:lnTo>
                <a:lnTo>
                  <a:pt x="969479" y="355"/>
                </a:lnTo>
                <a:lnTo>
                  <a:pt x="82791" y="0"/>
                </a:lnTo>
                <a:close/>
              </a:path>
            </a:pathLst>
          </a:custGeom>
          <a:solidFill>
            <a:srgbClr val="055E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2818" y="178160"/>
            <a:ext cx="791972" cy="147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spc="10" dirty="0">
                <a:solidFill>
                  <a:srgbClr val="FFFFFF"/>
                </a:solidFill>
                <a:latin typeface="MingLiU_HKSCS-ExtB"/>
                <a:cs typeface="MingLiU_HKSCS-ExtB"/>
              </a:rPr>
              <a:t>🏢</a:t>
            </a:r>
            <a:r>
              <a:rPr sz="750" b="1" spc="10" dirty="0">
                <a:solidFill>
                  <a:srgbClr val="FFFFFF"/>
                </a:solidFill>
                <a:latin typeface="Calibri"/>
                <a:cs typeface="Calibri"/>
              </a:rPr>
              <a:t>WAMY</a:t>
            </a:r>
            <a:r>
              <a:rPr sz="75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NGO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646" y="1037871"/>
            <a:ext cx="4507230" cy="958850"/>
            <a:chOff x="242646" y="1037871"/>
            <a:chExt cx="4507230" cy="95885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037871"/>
              <a:ext cx="4506836" cy="95868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1114922"/>
              <a:ext cx="4316730" cy="768985"/>
            </a:xfrm>
            <a:custGeom>
              <a:avLst/>
              <a:gdLst/>
              <a:ahLst/>
              <a:cxnLst/>
              <a:rect l="l" t="t" r="r" b="b"/>
              <a:pathLst>
                <a:path w="4316730" h="768985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658799"/>
                  </a:lnTo>
                  <a:lnTo>
                    <a:pt x="939" y="673229"/>
                  </a:lnTo>
                  <a:lnTo>
                    <a:pt x="3735" y="687287"/>
                  </a:lnTo>
                  <a:lnTo>
                    <a:pt x="8301" y="700721"/>
                  </a:lnTo>
                  <a:lnTo>
                    <a:pt x="8352" y="700871"/>
                  </a:lnTo>
                  <a:lnTo>
                    <a:pt x="14757" y="713879"/>
                  </a:lnTo>
                  <a:lnTo>
                    <a:pt x="22674" y="725592"/>
                  </a:lnTo>
                  <a:lnTo>
                    <a:pt x="22775" y="725742"/>
                  </a:lnTo>
                  <a:lnTo>
                    <a:pt x="55079" y="753833"/>
                  </a:lnTo>
                  <a:lnTo>
                    <a:pt x="95374" y="767664"/>
                  </a:lnTo>
                  <a:lnTo>
                    <a:pt x="109791" y="768604"/>
                  </a:lnTo>
                  <a:lnTo>
                    <a:pt x="4206595" y="768604"/>
                  </a:lnTo>
                  <a:lnTo>
                    <a:pt x="4248666" y="760245"/>
                  </a:lnTo>
                  <a:lnTo>
                    <a:pt x="4284169" y="736423"/>
                  </a:lnTo>
                  <a:lnTo>
                    <a:pt x="4307966" y="700871"/>
                  </a:lnTo>
                  <a:lnTo>
                    <a:pt x="4308041" y="700721"/>
                  </a:lnTo>
                  <a:lnTo>
                    <a:pt x="4312647" y="687287"/>
                  </a:lnTo>
                  <a:lnTo>
                    <a:pt x="4315458" y="673229"/>
                  </a:lnTo>
                  <a:lnTo>
                    <a:pt x="4316399" y="658799"/>
                  </a:lnTo>
                  <a:lnTo>
                    <a:pt x="4316376" y="109804"/>
                  </a:lnTo>
                  <a:lnTo>
                    <a:pt x="4308041" y="68088"/>
                  </a:lnTo>
                  <a:lnTo>
                    <a:pt x="4284175" y="32535"/>
                  </a:lnTo>
                  <a:lnTo>
                    <a:pt x="4248516" y="8713"/>
                  </a:lnTo>
                  <a:lnTo>
                    <a:pt x="4206595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684" y="1114922"/>
              <a:ext cx="4316730" cy="768985"/>
            </a:xfrm>
            <a:custGeom>
              <a:avLst/>
              <a:gdLst/>
              <a:ahLst/>
              <a:cxnLst/>
              <a:rect l="l" t="t" r="r" b="b"/>
              <a:pathLst>
                <a:path w="4316730" h="76898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206595" y="355"/>
                  </a:lnTo>
                  <a:lnTo>
                    <a:pt x="4248516" y="8713"/>
                  </a:lnTo>
                  <a:lnTo>
                    <a:pt x="4284175" y="32535"/>
                  </a:lnTo>
                  <a:lnTo>
                    <a:pt x="4308041" y="68088"/>
                  </a:lnTo>
                  <a:lnTo>
                    <a:pt x="4316399" y="110159"/>
                  </a:lnTo>
                  <a:lnTo>
                    <a:pt x="4316399" y="658799"/>
                  </a:lnTo>
                  <a:lnTo>
                    <a:pt x="4315459" y="673224"/>
                  </a:lnTo>
                  <a:lnTo>
                    <a:pt x="4312662" y="687243"/>
                  </a:lnTo>
                  <a:lnTo>
                    <a:pt x="4293616" y="725592"/>
                  </a:lnTo>
                  <a:lnTo>
                    <a:pt x="4261675" y="753833"/>
                  </a:lnTo>
                  <a:lnTo>
                    <a:pt x="4221025" y="767664"/>
                  </a:lnTo>
                  <a:lnTo>
                    <a:pt x="4206595" y="768604"/>
                  </a:lnTo>
                  <a:lnTo>
                    <a:pt x="109791" y="768604"/>
                  </a:lnTo>
                  <a:lnTo>
                    <a:pt x="67882" y="760245"/>
                  </a:lnTo>
                  <a:lnTo>
                    <a:pt x="32213" y="736423"/>
                  </a:lnTo>
                  <a:lnTo>
                    <a:pt x="8352" y="700871"/>
                  </a:lnTo>
                  <a:lnTo>
                    <a:pt x="0" y="65879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74103" y="1393471"/>
            <a:ext cx="16700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FF0000"/>
                </a:solidFill>
                <a:latin typeface="Calibri"/>
                <a:cs typeface="Calibri"/>
              </a:rPr>
              <a:t>01</a:t>
            </a:r>
            <a:endParaRPr sz="11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5784" y="1195262"/>
            <a:ext cx="3457575" cy="620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1D283A"/>
                </a:solidFill>
                <a:latin typeface="MingLiU_HKSCS-ExtB"/>
                <a:cs typeface="MingLiU_HKSCS-ExtB"/>
              </a:rPr>
              <a:t>⚡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Speed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85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Claude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Code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generates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10×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faster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a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12-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week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project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becomes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4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weeks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for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50" dirty="0">
                <a:solidFill>
                  <a:srgbClr val="465468"/>
                </a:solidFill>
                <a:latin typeface="Calibri"/>
                <a:cs typeface="Calibri"/>
              </a:rPr>
              <a:t>2</a:t>
            </a:r>
            <a:r>
              <a:rPr sz="8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developers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41557" y="1037871"/>
            <a:ext cx="4402455" cy="958850"/>
            <a:chOff x="4741557" y="1037871"/>
            <a:chExt cx="4402455" cy="95885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557" y="1037871"/>
              <a:ext cx="4402074" cy="95868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818596" y="1114922"/>
              <a:ext cx="4316730" cy="768985"/>
            </a:xfrm>
            <a:custGeom>
              <a:avLst/>
              <a:gdLst/>
              <a:ahLst/>
              <a:cxnLst/>
              <a:rect l="l" t="t" r="r" b="b"/>
              <a:pathLst>
                <a:path w="4316730" h="768985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658799"/>
                  </a:lnTo>
                  <a:lnTo>
                    <a:pt x="939" y="673229"/>
                  </a:lnTo>
                  <a:lnTo>
                    <a:pt x="14770" y="713879"/>
                  </a:lnTo>
                  <a:lnTo>
                    <a:pt x="43011" y="745821"/>
                  </a:lnTo>
                  <a:lnTo>
                    <a:pt x="81360" y="764867"/>
                  </a:lnTo>
                  <a:lnTo>
                    <a:pt x="109804" y="768604"/>
                  </a:lnTo>
                  <a:lnTo>
                    <a:pt x="4206608" y="768604"/>
                  </a:lnTo>
                  <a:lnTo>
                    <a:pt x="4248672" y="760245"/>
                  </a:lnTo>
                  <a:lnTo>
                    <a:pt x="4284181" y="736423"/>
                  </a:lnTo>
                  <a:lnTo>
                    <a:pt x="4307971" y="700871"/>
                  </a:lnTo>
                  <a:lnTo>
                    <a:pt x="4316399" y="658799"/>
                  </a:lnTo>
                  <a:lnTo>
                    <a:pt x="4316376" y="109804"/>
                  </a:lnTo>
                  <a:lnTo>
                    <a:pt x="4308046" y="68088"/>
                  </a:lnTo>
                  <a:lnTo>
                    <a:pt x="4284186" y="32535"/>
                  </a:lnTo>
                  <a:lnTo>
                    <a:pt x="4248517" y="8713"/>
                  </a:lnTo>
                  <a:lnTo>
                    <a:pt x="4206608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18596" y="1114922"/>
              <a:ext cx="4316730" cy="768985"/>
            </a:xfrm>
            <a:custGeom>
              <a:avLst/>
              <a:gdLst/>
              <a:ahLst/>
              <a:cxnLst/>
              <a:rect l="l" t="t" r="r" b="b"/>
              <a:pathLst>
                <a:path w="4316730" h="76898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206608" y="355"/>
                  </a:lnTo>
                  <a:lnTo>
                    <a:pt x="4248517" y="8713"/>
                  </a:lnTo>
                  <a:lnTo>
                    <a:pt x="4284186" y="32535"/>
                  </a:lnTo>
                  <a:lnTo>
                    <a:pt x="4308046" y="68088"/>
                  </a:lnTo>
                  <a:lnTo>
                    <a:pt x="4316399" y="110159"/>
                  </a:lnTo>
                  <a:lnTo>
                    <a:pt x="4316399" y="658799"/>
                  </a:lnTo>
                  <a:lnTo>
                    <a:pt x="4315460" y="673224"/>
                  </a:lnTo>
                  <a:lnTo>
                    <a:pt x="4312664" y="687243"/>
                  </a:lnTo>
                  <a:lnTo>
                    <a:pt x="4293629" y="725592"/>
                  </a:lnTo>
                  <a:lnTo>
                    <a:pt x="4261688" y="753833"/>
                  </a:lnTo>
                  <a:lnTo>
                    <a:pt x="4221031" y="767664"/>
                  </a:lnTo>
                  <a:lnTo>
                    <a:pt x="4206608" y="768604"/>
                  </a:lnTo>
                  <a:lnTo>
                    <a:pt x="109804" y="768604"/>
                  </a:lnTo>
                  <a:lnTo>
                    <a:pt x="67882" y="760245"/>
                  </a:lnTo>
                  <a:lnTo>
                    <a:pt x="32224" y="736423"/>
                  </a:lnTo>
                  <a:lnTo>
                    <a:pt x="8358" y="700871"/>
                  </a:lnTo>
                  <a:lnTo>
                    <a:pt x="0" y="65879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072659" y="1393471"/>
            <a:ext cx="16700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FF0000"/>
                </a:solidFill>
                <a:latin typeface="Calibri"/>
                <a:cs typeface="Calibri"/>
              </a:rPr>
              <a:t>02</a:t>
            </a:r>
            <a:endParaRPr sz="11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64695" y="1195262"/>
            <a:ext cx="3300095" cy="620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50" dirty="0">
                <a:solidFill>
                  <a:srgbClr val="1D283A"/>
                </a:solidFill>
                <a:latin typeface="MingLiU_HKSCS-ExtB"/>
                <a:cs typeface="MingLiU_HKSCS-ExtB"/>
              </a:rPr>
              <a:t>🏗️</a:t>
            </a:r>
            <a:r>
              <a:rPr sz="1300" spc="-530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lang="en-US" sz="1300" spc="-530" dirty="0">
                <a:solidFill>
                  <a:srgbClr val="1D283A"/>
                </a:solidFill>
                <a:latin typeface="MingLiU_HKSCS-ExtB"/>
                <a:cs typeface="MingLiU_HKSCS-ExtB"/>
              </a:rPr>
              <a:t>     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Architecture</a:t>
            </a:r>
            <a:r>
              <a:rPr sz="1100" b="1" spc="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First</a:t>
            </a:r>
            <a:endParaRPr sz="11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8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Start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every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project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with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/init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and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architecture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prompts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CLAUDE.md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pays</a:t>
            </a:r>
            <a:r>
              <a:rPr sz="8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dividends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for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weeks</a:t>
            </a:r>
            <a:endParaRPr sz="850" dirty="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42646" y="1915555"/>
            <a:ext cx="4507230" cy="958850"/>
            <a:chOff x="242646" y="1915555"/>
            <a:chExt cx="4507230" cy="95885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1915555"/>
              <a:ext cx="4506836" cy="95868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19684" y="1992606"/>
              <a:ext cx="4316730" cy="768985"/>
            </a:xfrm>
            <a:custGeom>
              <a:avLst/>
              <a:gdLst/>
              <a:ahLst/>
              <a:cxnLst/>
              <a:rect l="l" t="t" r="r" b="b"/>
              <a:pathLst>
                <a:path w="4316730" h="768985">
                  <a:moveTo>
                    <a:pt x="110159" y="0"/>
                  </a:moveTo>
                  <a:lnTo>
                    <a:pt x="68088" y="8347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658799"/>
                  </a:lnTo>
                  <a:lnTo>
                    <a:pt x="939" y="673222"/>
                  </a:lnTo>
                  <a:lnTo>
                    <a:pt x="3735" y="687277"/>
                  </a:lnTo>
                  <a:lnTo>
                    <a:pt x="8300" y="700708"/>
                  </a:lnTo>
                  <a:lnTo>
                    <a:pt x="8352" y="700863"/>
                  </a:lnTo>
                  <a:lnTo>
                    <a:pt x="32213" y="736423"/>
                  </a:lnTo>
                  <a:lnTo>
                    <a:pt x="67882" y="760238"/>
                  </a:lnTo>
                  <a:lnTo>
                    <a:pt x="109791" y="768591"/>
                  </a:lnTo>
                  <a:lnTo>
                    <a:pt x="4206595" y="768591"/>
                  </a:lnTo>
                  <a:lnTo>
                    <a:pt x="4248666" y="760238"/>
                  </a:lnTo>
                  <a:lnTo>
                    <a:pt x="4284167" y="736423"/>
                  </a:lnTo>
                  <a:lnTo>
                    <a:pt x="4307963" y="700863"/>
                  </a:lnTo>
                  <a:lnTo>
                    <a:pt x="4308041" y="700708"/>
                  </a:lnTo>
                  <a:lnTo>
                    <a:pt x="4312647" y="687277"/>
                  </a:lnTo>
                  <a:lnTo>
                    <a:pt x="4315458" y="673222"/>
                  </a:lnTo>
                  <a:lnTo>
                    <a:pt x="4316399" y="658799"/>
                  </a:lnTo>
                  <a:lnTo>
                    <a:pt x="4316375" y="109791"/>
                  </a:lnTo>
                  <a:lnTo>
                    <a:pt x="4308041" y="68088"/>
                  </a:lnTo>
                  <a:lnTo>
                    <a:pt x="4284175" y="32534"/>
                  </a:lnTo>
                  <a:lnTo>
                    <a:pt x="4248516" y="8708"/>
                  </a:lnTo>
                  <a:lnTo>
                    <a:pt x="4206595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9684" y="1992606"/>
              <a:ext cx="4316730" cy="768985"/>
            </a:xfrm>
            <a:custGeom>
              <a:avLst/>
              <a:gdLst/>
              <a:ahLst/>
              <a:cxnLst/>
              <a:rect l="l" t="t" r="r" b="b"/>
              <a:pathLst>
                <a:path w="4316730" h="76898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7"/>
                  </a:lnTo>
                  <a:lnTo>
                    <a:pt x="110159" y="0"/>
                  </a:lnTo>
                  <a:lnTo>
                    <a:pt x="4206595" y="355"/>
                  </a:lnTo>
                  <a:lnTo>
                    <a:pt x="4248516" y="8708"/>
                  </a:lnTo>
                  <a:lnTo>
                    <a:pt x="4284175" y="32534"/>
                  </a:lnTo>
                  <a:lnTo>
                    <a:pt x="4308041" y="68088"/>
                  </a:lnTo>
                  <a:lnTo>
                    <a:pt x="4316399" y="110159"/>
                  </a:lnTo>
                  <a:lnTo>
                    <a:pt x="4316399" y="658799"/>
                  </a:lnTo>
                  <a:lnTo>
                    <a:pt x="4315459" y="673217"/>
                  </a:lnTo>
                  <a:lnTo>
                    <a:pt x="4312662" y="687231"/>
                  </a:lnTo>
                  <a:lnTo>
                    <a:pt x="4293616" y="725587"/>
                  </a:lnTo>
                  <a:lnTo>
                    <a:pt x="4261675" y="753833"/>
                  </a:lnTo>
                  <a:lnTo>
                    <a:pt x="4221025" y="767651"/>
                  </a:lnTo>
                  <a:lnTo>
                    <a:pt x="4206595" y="768591"/>
                  </a:lnTo>
                  <a:lnTo>
                    <a:pt x="109791" y="768591"/>
                  </a:lnTo>
                  <a:lnTo>
                    <a:pt x="67882" y="760238"/>
                  </a:lnTo>
                  <a:lnTo>
                    <a:pt x="32213" y="736423"/>
                  </a:lnTo>
                  <a:lnTo>
                    <a:pt x="8352" y="700863"/>
                  </a:lnTo>
                  <a:lnTo>
                    <a:pt x="0" y="658799"/>
                  </a:lnTo>
                  <a:lnTo>
                    <a:pt x="355" y="10979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74103" y="2271142"/>
            <a:ext cx="16700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FF0000"/>
                </a:solidFill>
                <a:latin typeface="Calibri"/>
                <a:cs typeface="Calibri"/>
              </a:rPr>
              <a:t>03</a:t>
            </a:r>
            <a:endParaRPr sz="11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65784" y="2072934"/>
            <a:ext cx="3325495" cy="620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D283A"/>
                </a:solidFill>
                <a:latin typeface="MingLiU_HKSCS-ExtB"/>
                <a:cs typeface="MingLiU_HKSCS-ExtB"/>
              </a:rPr>
              <a:t>🔐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Security</a:t>
            </a:r>
            <a:r>
              <a:rPr sz="1100" b="1" spc="28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Built-</a:t>
            </a:r>
            <a:r>
              <a:rPr sz="1100" b="1" spc="-25" dirty="0">
                <a:solidFill>
                  <a:srgbClr val="1D283A"/>
                </a:solidFill>
                <a:latin typeface="Calibri"/>
                <a:cs typeface="Calibri"/>
              </a:rPr>
              <a:t>In</a:t>
            </a:r>
            <a:endParaRPr sz="11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85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Run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security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audits before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writing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business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logic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fixing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issues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early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is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10×</a:t>
            </a:r>
            <a:r>
              <a:rPr sz="8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cheaper</a:t>
            </a:r>
            <a:endParaRPr sz="850" dirty="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741557" y="1915555"/>
            <a:ext cx="4402455" cy="958850"/>
            <a:chOff x="4741557" y="1915555"/>
            <a:chExt cx="4402455" cy="95885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557" y="1915555"/>
              <a:ext cx="4402074" cy="95868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818596" y="1992606"/>
              <a:ext cx="4316730" cy="768985"/>
            </a:xfrm>
            <a:custGeom>
              <a:avLst/>
              <a:gdLst/>
              <a:ahLst/>
              <a:cxnLst/>
              <a:rect l="l" t="t" r="r" b="b"/>
              <a:pathLst>
                <a:path w="4316730" h="768985">
                  <a:moveTo>
                    <a:pt x="110159" y="0"/>
                  </a:moveTo>
                  <a:lnTo>
                    <a:pt x="68095" y="8347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658799"/>
                  </a:lnTo>
                  <a:lnTo>
                    <a:pt x="939" y="673222"/>
                  </a:lnTo>
                  <a:lnTo>
                    <a:pt x="3736" y="687277"/>
                  </a:lnTo>
                  <a:lnTo>
                    <a:pt x="8305" y="700708"/>
                  </a:lnTo>
                  <a:lnTo>
                    <a:pt x="8358" y="700863"/>
                  </a:lnTo>
                  <a:lnTo>
                    <a:pt x="14770" y="713879"/>
                  </a:lnTo>
                  <a:lnTo>
                    <a:pt x="22683" y="725587"/>
                  </a:lnTo>
                  <a:lnTo>
                    <a:pt x="22788" y="725742"/>
                  </a:lnTo>
                  <a:lnTo>
                    <a:pt x="55079" y="753833"/>
                  </a:lnTo>
                  <a:lnTo>
                    <a:pt x="95379" y="767651"/>
                  </a:lnTo>
                  <a:lnTo>
                    <a:pt x="109804" y="768591"/>
                  </a:lnTo>
                  <a:lnTo>
                    <a:pt x="4206608" y="768591"/>
                  </a:lnTo>
                  <a:lnTo>
                    <a:pt x="4248672" y="760238"/>
                  </a:lnTo>
                  <a:lnTo>
                    <a:pt x="4284180" y="736423"/>
                  </a:lnTo>
                  <a:lnTo>
                    <a:pt x="4307969" y="700863"/>
                  </a:lnTo>
                  <a:lnTo>
                    <a:pt x="4308046" y="700708"/>
                  </a:lnTo>
                  <a:lnTo>
                    <a:pt x="4312648" y="687277"/>
                  </a:lnTo>
                  <a:lnTo>
                    <a:pt x="4315459" y="673222"/>
                  </a:lnTo>
                  <a:lnTo>
                    <a:pt x="4316399" y="658799"/>
                  </a:lnTo>
                  <a:lnTo>
                    <a:pt x="4316375" y="109791"/>
                  </a:lnTo>
                  <a:lnTo>
                    <a:pt x="4308046" y="68088"/>
                  </a:lnTo>
                  <a:lnTo>
                    <a:pt x="4284186" y="32534"/>
                  </a:lnTo>
                  <a:lnTo>
                    <a:pt x="4248517" y="8708"/>
                  </a:lnTo>
                  <a:lnTo>
                    <a:pt x="4206608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818596" y="1992606"/>
              <a:ext cx="4316730" cy="768985"/>
            </a:xfrm>
            <a:custGeom>
              <a:avLst/>
              <a:gdLst/>
              <a:ahLst/>
              <a:cxnLst/>
              <a:rect l="l" t="t" r="r" b="b"/>
              <a:pathLst>
                <a:path w="4316730" h="768985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7"/>
                  </a:lnTo>
                  <a:lnTo>
                    <a:pt x="110159" y="0"/>
                  </a:lnTo>
                  <a:lnTo>
                    <a:pt x="4206608" y="355"/>
                  </a:lnTo>
                  <a:lnTo>
                    <a:pt x="4248517" y="8708"/>
                  </a:lnTo>
                  <a:lnTo>
                    <a:pt x="4284186" y="32534"/>
                  </a:lnTo>
                  <a:lnTo>
                    <a:pt x="4308046" y="68088"/>
                  </a:lnTo>
                  <a:lnTo>
                    <a:pt x="4316399" y="110159"/>
                  </a:lnTo>
                  <a:lnTo>
                    <a:pt x="4316399" y="658799"/>
                  </a:lnTo>
                  <a:lnTo>
                    <a:pt x="4315460" y="673217"/>
                  </a:lnTo>
                  <a:lnTo>
                    <a:pt x="4312664" y="687231"/>
                  </a:lnTo>
                  <a:lnTo>
                    <a:pt x="4293629" y="725587"/>
                  </a:lnTo>
                  <a:lnTo>
                    <a:pt x="4261688" y="753833"/>
                  </a:lnTo>
                  <a:lnTo>
                    <a:pt x="4221031" y="767651"/>
                  </a:lnTo>
                  <a:lnTo>
                    <a:pt x="4206608" y="768591"/>
                  </a:lnTo>
                  <a:lnTo>
                    <a:pt x="109804" y="768591"/>
                  </a:lnTo>
                  <a:lnTo>
                    <a:pt x="67882" y="760238"/>
                  </a:lnTo>
                  <a:lnTo>
                    <a:pt x="32224" y="736423"/>
                  </a:lnTo>
                  <a:lnTo>
                    <a:pt x="8358" y="700863"/>
                  </a:lnTo>
                  <a:lnTo>
                    <a:pt x="0" y="658799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072659" y="2271142"/>
            <a:ext cx="16700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FF0000"/>
                </a:solidFill>
                <a:latin typeface="Calibri"/>
                <a:cs typeface="Calibri"/>
              </a:rPr>
              <a:t>04</a:t>
            </a:r>
            <a:endParaRPr sz="11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64695" y="2072934"/>
            <a:ext cx="1926705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100" dirty="0">
                <a:solidFill>
                  <a:srgbClr val="1D283A"/>
                </a:solidFill>
                <a:latin typeface="MingLiU_HKSCS-ExtB"/>
                <a:cs typeface="MingLiU_HKSCS-ExtB"/>
              </a:rPr>
              <a:t>📊</a:t>
            </a:r>
            <a:r>
              <a:rPr sz="1100" b="1" spc="100" dirty="0">
                <a:solidFill>
                  <a:srgbClr val="1D283A"/>
                </a:solidFill>
                <a:latin typeface="Calibri"/>
                <a:cs typeface="Calibri"/>
              </a:rPr>
              <a:t>DB</a:t>
            </a:r>
            <a:r>
              <a:rPr sz="1100" b="1" spc="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Performance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64695" y="2473466"/>
            <a:ext cx="34683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Add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indexes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in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the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first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migration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retrofitting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on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live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data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is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painful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and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risky</a:t>
            </a:r>
            <a:endParaRPr sz="850" dirty="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42646" y="2793595"/>
            <a:ext cx="4507230" cy="958850"/>
            <a:chOff x="242646" y="2793595"/>
            <a:chExt cx="4507230" cy="95885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2793595"/>
              <a:ext cx="4506836" cy="95868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19684" y="2870646"/>
              <a:ext cx="4316730" cy="768985"/>
            </a:xfrm>
            <a:custGeom>
              <a:avLst/>
              <a:gdLst/>
              <a:ahLst/>
              <a:cxnLst/>
              <a:rect l="l" t="t" r="r" b="b"/>
              <a:pathLst>
                <a:path w="4316730" h="768985">
                  <a:moveTo>
                    <a:pt x="110159" y="0"/>
                  </a:moveTo>
                  <a:lnTo>
                    <a:pt x="68088" y="8347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658799"/>
                  </a:lnTo>
                  <a:lnTo>
                    <a:pt x="939" y="673222"/>
                  </a:lnTo>
                  <a:lnTo>
                    <a:pt x="14757" y="713879"/>
                  </a:lnTo>
                  <a:lnTo>
                    <a:pt x="22670" y="725587"/>
                  </a:lnTo>
                  <a:lnTo>
                    <a:pt x="22775" y="725742"/>
                  </a:lnTo>
                  <a:lnTo>
                    <a:pt x="55079" y="753833"/>
                  </a:lnTo>
                  <a:lnTo>
                    <a:pt x="95374" y="767651"/>
                  </a:lnTo>
                  <a:lnTo>
                    <a:pt x="109791" y="768591"/>
                  </a:lnTo>
                  <a:lnTo>
                    <a:pt x="4206595" y="768591"/>
                  </a:lnTo>
                  <a:lnTo>
                    <a:pt x="4248666" y="760238"/>
                  </a:lnTo>
                  <a:lnTo>
                    <a:pt x="4284167" y="736423"/>
                  </a:lnTo>
                  <a:lnTo>
                    <a:pt x="4307963" y="700863"/>
                  </a:lnTo>
                  <a:lnTo>
                    <a:pt x="4316399" y="658799"/>
                  </a:lnTo>
                  <a:lnTo>
                    <a:pt x="4316375" y="109791"/>
                  </a:lnTo>
                  <a:lnTo>
                    <a:pt x="4308041" y="68088"/>
                  </a:lnTo>
                  <a:lnTo>
                    <a:pt x="4284175" y="32534"/>
                  </a:lnTo>
                  <a:lnTo>
                    <a:pt x="4248516" y="8708"/>
                  </a:lnTo>
                  <a:lnTo>
                    <a:pt x="4206595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19684" y="2870646"/>
              <a:ext cx="4316730" cy="768985"/>
            </a:xfrm>
            <a:custGeom>
              <a:avLst/>
              <a:gdLst/>
              <a:ahLst/>
              <a:cxnLst/>
              <a:rect l="l" t="t" r="r" b="b"/>
              <a:pathLst>
                <a:path w="4316730" h="76898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7"/>
                  </a:lnTo>
                  <a:lnTo>
                    <a:pt x="110159" y="0"/>
                  </a:lnTo>
                  <a:lnTo>
                    <a:pt x="4206595" y="355"/>
                  </a:lnTo>
                  <a:lnTo>
                    <a:pt x="4248516" y="8708"/>
                  </a:lnTo>
                  <a:lnTo>
                    <a:pt x="4284175" y="32534"/>
                  </a:lnTo>
                  <a:lnTo>
                    <a:pt x="4308041" y="68088"/>
                  </a:lnTo>
                  <a:lnTo>
                    <a:pt x="4316399" y="110159"/>
                  </a:lnTo>
                  <a:lnTo>
                    <a:pt x="4316399" y="658799"/>
                  </a:lnTo>
                  <a:lnTo>
                    <a:pt x="4315459" y="673217"/>
                  </a:lnTo>
                  <a:lnTo>
                    <a:pt x="4312662" y="687231"/>
                  </a:lnTo>
                  <a:lnTo>
                    <a:pt x="4293616" y="725587"/>
                  </a:lnTo>
                  <a:lnTo>
                    <a:pt x="4261675" y="753833"/>
                  </a:lnTo>
                  <a:lnTo>
                    <a:pt x="4221025" y="767651"/>
                  </a:lnTo>
                  <a:lnTo>
                    <a:pt x="4206595" y="768591"/>
                  </a:lnTo>
                  <a:lnTo>
                    <a:pt x="109791" y="768591"/>
                  </a:lnTo>
                  <a:lnTo>
                    <a:pt x="67882" y="760238"/>
                  </a:lnTo>
                  <a:lnTo>
                    <a:pt x="32213" y="736423"/>
                  </a:lnTo>
                  <a:lnTo>
                    <a:pt x="8352" y="700863"/>
                  </a:lnTo>
                  <a:lnTo>
                    <a:pt x="0" y="658799"/>
                  </a:lnTo>
                  <a:lnTo>
                    <a:pt x="355" y="10979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74103" y="3149182"/>
            <a:ext cx="16700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FF0000"/>
                </a:solidFill>
                <a:latin typeface="Calibri"/>
                <a:cs typeface="Calibri"/>
              </a:rPr>
              <a:t>05</a:t>
            </a:r>
            <a:endParaRPr sz="11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65784" y="2950974"/>
            <a:ext cx="3241040" cy="620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D283A"/>
                </a:solidFill>
                <a:latin typeface="MingLiU_HKSCS-ExtB"/>
                <a:cs typeface="MingLiU_HKSCS-ExtB"/>
              </a:rPr>
              <a:t>🧪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Tests</a:t>
            </a:r>
            <a:r>
              <a:rPr sz="1100" b="1" spc="6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Every</a:t>
            </a:r>
            <a:r>
              <a:rPr sz="1100" b="1" spc="6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1D283A"/>
                </a:solidFill>
                <a:latin typeface="Calibri"/>
                <a:cs typeface="Calibri"/>
              </a:rPr>
              <a:t>Time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85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Always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ask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Claude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to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generate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tests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alongside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 the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implementation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—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test</a:t>
            </a:r>
            <a:r>
              <a:rPr sz="8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coverage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is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free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741557" y="2793595"/>
            <a:ext cx="4402455" cy="958850"/>
            <a:chOff x="4741557" y="2793595"/>
            <a:chExt cx="4402455" cy="958850"/>
          </a:xfrm>
        </p:grpSpPr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557" y="2793595"/>
              <a:ext cx="4402074" cy="95868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818596" y="2870646"/>
              <a:ext cx="4316730" cy="768985"/>
            </a:xfrm>
            <a:custGeom>
              <a:avLst/>
              <a:gdLst/>
              <a:ahLst/>
              <a:cxnLst/>
              <a:rect l="l" t="t" r="r" b="b"/>
              <a:pathLst>
                <a:path w="4316730" h="768985">
                  <a:moveTo>
                    <a:pt x="110159" y="0"/>
                  </a:moveTo>
                  <a:lnTo>
                    <a:pt x="68095" y="8347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658799"/>
                  </a:lnTo>
                  <a:lnTo>
                    <a:pt x="939" y="673222"/>
                  </a:lnTo>
                  <a:lnTo>
                    <a:pt x="3736" y="687277"/>
                  </a:lnTo>
                  <a:lnTo>
                    <a:pt x="8305" y="700708"/>
                  </a:lnTo>
                  <a:lnTo>
                    <a:pt x="8358" y="700863"/>
                  </a:lnTo>
                  <a:lnTo>
                    <a:pt x="14770" y="713879"/>
                  </a:lnTo>
                  <a:lnTo>
                    <a:pt x="22683" y="725587"/>
                  </a:lnTo>
                  <a:lnTo>
                    <a:pt x="22788" y="725742"/>
                  </a:lnTo>
                  <a:lnTo>
                    <a:pt x="55079" y="753833"/>
                  </a:lnTo>
                  <a:lnTo>
                    <a:pt x="95379" y="767651"/>
                  </a:lnTo>
                  <a:lnTo>
                    <a:pt x="109804" y="768591"/>
                  </a:lnTo>
                  <a:lnTo>
                    <a:pt x="4206608" y="768591"/>
                  </a:lnTo>
                  <a:lnTo>
                    <a:pt x="4248672" y="760238"/>
                  </a:lnTo>
                  <a:lnTo>
                    <a:pt x="4284180" y="736423"/>
                  </a:lnTo>
                  <a:lnTo>
                    <a:pt x="4307969" y="700863"/>
                  </a:lnTo>
                  <a:lnTo>
                    <a:pt x="4316399" y="658799"/>
                  </a:lnTo>
                  <a:lnTo>
                    <a:pt x="4316375" y="109791"/>
                  </a:lnTo>
                  <a:lnTo>
                    <a:pt x="4308046" y="68088"/>
                  </a:lnTo>
                  <a:lnTo>
                    <a:pt x="4284186" y="32534"/>
                  </a:lnTo>
                  <a:lnTo>
                    <a:pt x="4248517" y="8708"/>
                  </a:lnTo>
                  <a:lnTo>
                    <a:pt x="4206608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18596" y="2870646"/>
              <a:ext cx="4316730" cy="768985"/>
            </a:xfrm>
            <a:custGeom>
              <a:avLst/>
              <a:gdLst/>
              <a:ahLst/>
              <a:cxnLst/>
              <a:rect l="l" t="t" r="r" b="b"/>
              <a:pathLst>
                <a:path w="4316730" h="768985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7"/>
                  </a:lnTo>
                  <a:lnTo>
                    <a:pt x="110159" y="0"/>
                  </a:lnTo>
                  <a:lnTo>
                    <a:pt x="4206608" y="355"/>
                  </a:lnTo>
                  <a:lnTo>
                    <a:pt x="4248517" y="8708"/>
                  </a:lnTo>
                  <a:lnTo>
                    <a:pt x="4284186" y="32534"/>
                  </a:lnTo>
                  <a:lnTo>
                    <a:pt x="4308046" y="68088"/>
                  </a:lnTo>
                  <a:lnTo>
                    <a:pt x="4316399" y="110159"/>
                  </a:lnTo>
                  <a:lnTo>
                    <a:pt x="4316399" y="658799"/>
                  </a:lnTo>
                  <a:lnTo>
                    <a:pt x="4315460" y="673217"/>
                  </a:lnTo>
                  <a:lnTo>
                    <a:pt x="4312664" y="687231"/>
                  </a:lnTo>
                  <a:lnTo>
                    <a:pt x="4293629" y="725587"/>
                  </a:lnTo>
                  <a:lnTo>
                    <a:pt x="4261688" y="753833"/>
                  </a:lnTo>
                  <a:lnTo>
                    <a:pt x="4221031" y="767651"/>
                  </a:lnTo>
                  <a:lnTo>
                    <a:pt x="4206608" y="768591"/>
                  </a:lnTo>
                  <a:lnTo>
                    <a:pt x="109804" y="768591"/>
                  </a:lnTo>
                  <a:lnTo>
                    <a:pt x="67882" y="760238"/>
                  </a:lnTo>
                  <a:lnTo>
                    <a:pt x="32224" y="736423"/>
                  </a:lnTo>
                  <a:lnTo>
                    <a:pt x="8358" y="700863"/>
                  </a:lnTo>
                  <a:lnTo>
                    <a:pt x="0" y="658799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072659" y="3149182"/>
            <a:ext cx="16700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FF0000"/>
                </a:solidFill>
                <a:latin typeface="Calibri"/>
                <a:cs typeface="Calibri"/>
              </a:rPr>
              <a:t>06</a:t>
            </a:r>
            <a:endParaRPr sz="11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464695" y="2950974"/>
            <a:ext cx="3508375" cy="620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10" dirty="0">
                <a:solidFill>
                  <a:srgbClr val="1D283A"/>
                </a:solidFill>
                <a:latin typeface="MingLiU_HKSCS-ExtB"/>
                <a:cs typeface="MingLiU_HKSCS-ExtB"/>
              </a:rPr>
              <a:t>🚀</a:t>
            </a:r>
            <a:r>
              <a:rPr sz="1100" b="1" spc="10" dirty="0">
                <a:solidFill>
                  <a:srgbClr val="1D283A"/>
                </a:solidFill>
                <a:latin typeface="Calibri"/>
                <a:cs typeface="Calibri"/>
              </a:rPr>
              <a:t>CI/CD</a:t>
            </a:r>
            <a:r>
              <a:rPr sz="1100" b="1" spc="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from</a:t>
            </a:r>
            <a:r>
              <a:rPr sz="1100" b="1" spc="5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10" dirty="0">
                <a:solidFill>
                  <a:srgbClr val="1D283A"/>
                </a:solidFill>
                <a:latin typeface="Calibri"/>
                <a:cs typeface="Calibri"/>
              </a:rPr>
              <a:t>Day</a:t>
            </a:r>
            <a:r>
              <a:rPr sz="1100" b="1" spc="5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1D283A"/>
                </a:solidFill>
                <a:latin typeface="Calibri"/>
                <a:cs typeface="Calibri"/>
              </a:rPr>
              <a:t>1</a:t>
            </a:r>
            <a:endParaRPr sz="11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85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Generate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the GitHub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Actions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pipeline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on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week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1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850" spc="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deploy confidently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from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the</a:t>
            </a:r>
            <a:r>
              <a:rPr sz="8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first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commit</a:t>
            </a:r>
            <a:endParaRPr sz="850" dirty="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42646" y="3671267"/>
            <a:ext cx="4507230" cy="958850"/>
            <a:chOff x="242646" y="3671267"/>
            <a:chExt cx="4507230" cy="958850"/>
          </a:xfrm>
        </p:grpSpPr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46" y="3671267"/>
              <a:ext cx="4506836" cy="95869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19684" y="3748318"/>
              <a:ext cx="4316730" cy="768985"/>
            </a:xfrm>
            <a:custGeom>
              <a:avLst/>
              <a:gdLst/>
              <a:ahLst/>
              <a:cxnLst/>
              <a:rect l="l" t="t" r="r" b="b"/>
              <a:pathLst>
                <a:path w="4316730" h="76898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658799"/>
                  </a:lnTo>
                  <a:lnTo>
                    <a:pt x="939" y="673229"/>
                  </a:lnTo>
                  <a:lnTo>
                    <a:pt x="3735" y="687287"/>
                  </a:lnTo>
                  <a:lnTo>
                    <a:pt x="8301" y="700721"/>
                  </a:lnTo>
                  <a:lnTo>
                    <a:pt x="8352" y="700871"/>
                  </a:lnTo>
                  <a:lnTo>
                    <a:pt x="32213" y="736425"/>
                  </a:lnTo>
                  <a:lnTo>
                    <a:pt x="67882" y="760251"/>
                  </a:lnTo>
                  <a:lnTo>
                    <a:pt x="109791" y="768603"/>
                  </a:lnTo>
                  <a:lnTo>
                    <a:pt x="4206595" y="768603"/>
                  </a:lnTo>
                  <a:lnTo>
                    <a:pt x="4248666" y="760251"/>
                  </a:lnTo>
                  <a:lnTo>
                    <a:pt x="4284169" y="736425"/>
                  </a:lnTo>
                  <a:lnTo>
                    <a:pt x="4307966" y="700871"/>
                  </a:lnTo>
                  <a:lnTo>
                    <a:pt x="4316399" y="658799"/>
                  </a:lnTo>
                  <a:lnTo>
                    <a:pt x="4316376" y="109804"/>
                  </a:lnTo>
                  <a:lnTo>
                    <a:pt x="4308041" y="68095"/>
                  </a:lnTo>
                  <a:lnTo>
                    <a:pt x="4284175" y="32535"/>
                  </a:lnTo>
                  <a:lnTo>
                    <a:pt x="4248516" y="8721"/>
                  </a:lnTo>
                  <a:lnTo>
                    <a:pt x="4206595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D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19684" y="3748318"/>
              <a:ext cx="4316730" cy="768985"/>
            </a:xfrm>
            <a:custGeom>
              <a:avLst/>
              <a:gdLst/>
              <a:ahLst/>
              <a:cxnLst/>
              <a:rect l="l" t="t" r="r" b="b"/>
              <a:pathLst>
                <a:path w="4316730" h="76898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206595" y="368"/>
                  </a:lnTo>
                  <a:lnTo>
                    <a:pt x="4248516" y="8721"/>
                  </a:lnTo>
                  <a:lnTo>
                    <a:pt x="4284175" y="32535"/>
                  </a:lnTo>
                  <a:lnTo>
                    <a:pt x="4308041" y="68095"/>
                  </a:lnTo>
                  <a:lnTo>
                    <a:pt x="4316399" y="110159"/>
                  </a:lnTo>
                  <a:lnTo>
                    <a:pt x="4316399" y="658799"/>
                  </a:lnTo>
                  <a:lnTo>
                    <a:pt x="4315459" y="673224"/>
                  </a:lnTo>
                  <a:lnTo>
                    <a:pt x="4312662" y="687243"/>
                  </a:lnTo>
                  <a:lnTo>
                    <a:pt x="4293616" y="725593"/>
                  </a:lnTo>
                  <a:lnTo>
                    <a:pt x="4261675" y="753846"/>
                  </a:lnTo>
                  <a:lnTo>
                    <a:pt x="4221025" y="767664"/>
                  </a:lnTo>
                  <a:lnTo>
                    <a:pt x="4206595" y="768603"/>
                  </a:lnTo>
                  <a:lnTo>
                    <a:pt x="109791" y="768603"/>
                  </a:lnTo>
                  <a:lnTo>
                    <a:pt x="67882" y="760251"/>
                  </a:lnTo>
                  <a:lnTo>
                    <a:pt x="32213" y="736425"/>
                  </a:lnTo>
                  <a:lnTo>
                    <a:pt x="8352" y="700871"/>
                  </a:lnTo>
                  <a:lnTo>
                    <a:pt x="0" y="658799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74103" y="4026867"/>
            <a:ext cx="16700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FF0000"/>
                </a:solidFill>
                <a:latin typeface="Calibri"/>
                <a:cs typeface="Calibri"/>
              </a:rPr>
              <a:t>07</a:t>
            </a:r>
            <a:endParaRPr sz="11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65784" y="3828658"/>
            <a:ext cx="3515995" cy="620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50" dirty="0">
                <a:solidFill>
                  <a:srgbClr val="1D283A"/>
                </a:solidFill>
                <a:latin typeface="MingLiU_HKSCS-ExtB"/>
                <a:cs typeface="MingLiU_HKSCS-ExtB"/>
              </a:rPr>
              <a:t>👁️</a:t>
            </a:r>
            <a:r>
              <a:rPr sz="1300" spc="-540" dirty="0">
                <a:solidFill>
                  <a:srgbClr val="1D283A"/>
                </a:solidFill>
                <a:latin typeface="MingLiU_HKSCS-ExtB"/>
                <a:cs typeface="MingLiU_HKSCS-ExtB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Review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Everything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85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Claude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Code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generates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great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code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but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you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are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the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architect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and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you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own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465468"/>
                </a:solidFill>
                <a:latin typeface="Calibri"/>
                <a:cs typeface="Calibri"/>
              </a:rPr>
              <a:t>the</a:t>
            </a:r>
            <a:r>
              <a:rPr sz="8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quality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741557" y="3671267"/>
            <a:ext cx="4402455" cy="958850"/>
            <a:chOff x="4741557" y="3671267"/>
            <a:chExt cx="4402455" cy="958850"/>
          </a:xfrm>
        </p:grpSpPr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557" y="3671267"/>
              <a:ext cx="4402074" cy="958697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818596" y="3748318"/>
              <a:ext cx="4316730" cy="768985"/>
            </a:xfrm>
            <a:custGeom>
              <a:avLst/>
              <a:gdLst/>
              <a:ahLst/>
              <a:cxnLst/>
              <a:rect l="l" t="t" r="r" b="b"/>
              <a:pathLst>
                <a:path w="4316730" h="76898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658799"/>
                  </a:lnTo>
                  <a:lnTo>
                    <a:pt x="939" y="673229"/>
                  </a:lnTo>
                  <a:lnTo>
                    <a:pt x="14770" y="713879"/>
                  </a:lnTo>
                  <a:lnTo>
                    <a:pt x="43011" y="745826"/>
                  </a:lnTo>
                  <a:lnTo>
                    <a:pt x="81360" y="764868"/>
                  </a:lnTo>
                  <a:lnTo>
                    <a:pt x="109804" y="768603"/>
                  </a:lnTo>
                  <a:lnTo>
                    <a:pt x="4206608" y="768603"/>
                  </a:lnTo>
                  <a:lnTo>
                    <a:pt x="4248672" y="760251"/>
                  </a:lnTo>
                  <a:lnTo>
                    <a:pt x="4284181" y="736425"/>
                  </a:lnTo>
                  <a:lnTo>
                    <a:pt x="4307971" y="700871"/>
                  </a:lnTo>
                  <a:lnTo>
                    <a:pt x="4316399" y="658799"/>
                  </a:lnTo>
                  <a:lnTo>
                    <a:pt x="4316376" y="109804"/>
                  </a:lnTo>
                  <a:lnTo>
                    <a:pt x="4308046" y="68095"/>
                  </a:lnTo>
                  <a:lnTo>
                    <a:pt x="4284186" y="32535"/>
                  </a:lnTo>
                  <a:lnTo>
                    <a:pt x="4248517" y="8721"/>
                  </a:lnTo>
                  <a:lnTo>
                    <a:pt x="4206608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818596" y="3748318"/>
              <a:ext cx="4316730" cy="768985"/>
            </a:xfrm>
            <a:custGeom>
              <a:avLst/>
              <a:gdLst/>
              <a:ahLst/>
              <a:cxnLst/>
              <a:rect l="l" t="t" r="r" b="b"/>
              <a:pathLst>
                <a:path w="4316730" h="76898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206608" y="368"/>
                  </a:lnTo>
                  <a:lnTo>
                    <a:pt x="4248517" y="8721"/>
                  </a:lnTo>
                  <a:lnTo>
                    <a:pt x="4284186" y="32535"/>
                  </a:lnTo>
                  <a:lnTo>
                    <a:pt x="4308046" y="68095"/>
                  </a:lnTo>
                  <a:lnTo>
                    <a:pt x="4316399" y="110159"/>
                  </a:lnTo>
                  <a:lnTo>
                    <a:pt x="4316399" y="658799"/>
                  </a:lnTo>
                  <a:lnTo>
                    <a:pt x="4315460" y="673224"/>
                  </a:lnTo>
                  <a:lnTo>
                    <a:pt x="4312664" y="687243"/>
                  </a:lnTo>
                  <a:lnTo>
                    <a:pt x="4293629" y="725593"/>
                  </a:lnTo>
                  <a:lnTo>
                    <a:pt x="4261688" y="753846"/>
                  </a:lnTo>
                  <a:lnTo>
                    <a:pt x="4221031" y="767664"/>
                  </a:lnTo>
                  <a:lnTo>
                    <a:pt x="4206608" y="768603"/>
                  </a:lnTo>
                  <a:lnTo>
                    <a:pt x="109804" y="768603"/>
                  </a:lnTo>
                  <a:lnTo>
                    <a:pt x="67882" y="760251"/>
                  </a:lnTo>
                  <a:lnTo>
                    <a:pt x="32224" y="736425"/>
                  </a:lnTo>
                  <a:lnTo>
                    <a:pt x="8358" y="700871"/>
                  </a:lnTo>
                  <a:lnTo>
                    <a:pt x="0" y="658799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072659" y="4026867"/>
            <a:ext cx="16700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FF0000"/>
                </a:solidFill>
                <a:latin typeface="Calibri"/>
                <a:cs typeface="Calibri"/>
              </a:rPr>
              <a:t>08</a:t>
            </a:r>
            <a:endParaRPr sz="11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464695" y="3828658"/>
            <a:ext cx="3261360" cy="620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D283A"/>
                </a:solidFill>
                <a:latin typeface="MingLiU_HKSCS-ExtB"/>
                <a:cs typeface="MingLiU_HKSCS-ExtB"/>
              </a:rPr>
              <a:t>🔄</a:t>
            </a:r>
            <a:r>
              <a:rPr sz="1100" b="1" dirty="0">
                <a:solidFill>
                  <a:srgbClr val="1D283A"/>
                </a:solidFill>
                <a:latin typeface="Calibri"/>
                <a:cs typeface="Calibri"/>
              </a:rPr>
              <a:t>Iterate</a:t>
            </a:r>
            <a:r>
              <a:rPr sz="1100" b="1" spc="2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D283A"/>
                </a:solidFill>
                <a:latin typeface="Calibri"/>
                <a:cs typeface="Calibri"/>
              </a:rPr>
              <a:t>Constantly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85"/>
              </a:spcBef>
            </a:pP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Claude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Code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is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not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a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one-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shot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tool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—</a:t>
            </a:r>
            <a:r>
              <a:rPr sz="85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iterate, refine,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465468"/>
                </a:solidFill>
                <a:latin typeface="Calibri"/>
                <a:cs typeface="Calibri"/>
              </a:rPr>
              <a:t>add</a:t>
            </a:r>
            <a:r>
              <a:rPr sz="85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context,</a:t>
            </a:r>
            <a:r>
              <a:rPr sz="85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improve</a:t>
            </a:r>
            <a:r>
              <a:rPr sz="850" spc="50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465468"/>
                </a:solidFill>
                <a:latin typeface="Calibri"/>
                <a:cs typeface="Calibri"/>
              </a:rPr>
              <a:t>prompts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13016" y="4656786"/>
            <a:ext cx="8517255" cy="360680"/>
            <a:chOff x="313016" y="4656786"/>
            <a:chExt cx="8517255" cy="360680"/>
          </a:xfrm>
        </p:grpSpPr>
        <p:sp>
          <p:nvSpPr>
            <p:cNvPr id="57" name="object 57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43" y="312075"/>
                  </a:lnTo>
                  <a:lnTo>
                    <a:pt x="56512" y="340770"/>
                  </a:lnTo>
                  <a:lnTo>
                    <a:pt x="91440" y="347751"/>
                  </a:lnTo>
                  <a:lnTo>
                    <a:pt x="8412848" y="347751"/>
                  </a:lnTo>
                  <a:lnTo>
                    <a:pt x="8458568" y="335521"/>
                  </a:lnTo>
                  <a:lnTo>
                    <a:pt x="8492045" y="302031"/>
                  </a:lnTo>
                  <a:lnTo>
                    <a:pt x="8504288" y="256311"/>
                  </a:lnTo>
                  <a:lnTo>
                    <a:pt x="8504264" y="91439"/>
                  </a:lnTo>
                  <a:lnTo>
                    <a:pt x="8492045" y="46075"/>
                  </a:lnTo>
                  <a:lnTo>
                    <a:pt x="8458568" y="12598"/>
                  </a:lnTo>
                  <a:lnTo>
                    <a:pt x="8412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19316" y="4663086"/>
              <a:ext cx="8504555" cy="347980"/>
            </a:xfrm>
            <a:custGeom>
              <a:avLst/>
              <a:gdLst/>
              <a:ahLst/>
              <a:cxnLst/>
              <a:rect l="l" t="t" r="r" b="b"/>
              <a:pathLst>
                <a:path w="8504555" h="347979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8412848" y="355"/>
                  </a:lnTo>
                  <a:lnTo>
                    <a:pt x="8458568" y="12598"/>
                  </a:lnTo>
                  <a:lnTo>
                    <a:pt x="8492045" y="46075"/>
                  </a:lnTo>
                  <a:lnTo>
                    <a:pt x="8504288" y="91795"/>
                  </a:lnTo>
                  <a:lnTo>
                    <a:pt x="8504288" y="256311"/>
                  </a:lnTo>
                  <a:lnTo>
                    <a:pt x="8503488" y="268318"/>
                  </a:lnTo>
                  <a:lnTo>
                    <a:pt x="8501133" y="279985"/>
                  </a:lnTo>
                  <a:lnTo>
                    <a:pt x="8477597" y="321071"/>
                  </a:lnTo>
                  <a:lnTo>
                    <a:pt x="8436513" y="344603"/>
                  </a:lnTo>
                  <a:lnTo>
                    <a:pt x="8412848" y="347751"/>
                  </a:lnTo>
                  <a:lnTo>
                    <a:pt x="91440" y="347751"/>
                  </a:lnTo>
                  <a:lnTo>
                    <a:pt x="45719" y="335521"/>
                  </a:lnTo>
                  <a:lnTo>
                    <a:pt x="12242" y="302031"/>
                  </a:lnTo>
                  <a:lnTo>
                    <a:pt x="0" y="25631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44144" y="4730580"/>
            <a:ext cx="580644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95" dirty="0">
                <a:solidFill>
                  <a:srgbClr val="774409"/>
                </a:solidFill>
                <a:latin typeface="MingLiU_HKSCS-ExtB"/>
                <a:cs typeface="MingLiU_HKSCS-ExtB"/>
              </a:rPr>
              <a:t>💡</a:t>
            </a:r>
            <a:r>
              <a:rPr sz="1100" spc="-260" dirty="0">
                <a:solidFill>
                  <a:srgbClr val="774409"/>
                </a:solidFill>
                <a:latin typeface="MingLiU_HKSCS-ExtB"/>
                <a:cs typeface="MingLiU_HKSCS-ExtB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5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best</a:t>
            </a:r>
            <a:r>
              <a:rPr sz="950" spc="-4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time</a:t>
            </a:r>
            <a:r>
              <a:rPr sz="950" spc="-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to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start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using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Claude</a:t>
            </a:r>
            <a:r>
              <a:rPr sz="950" spc="-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Code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was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at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start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of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your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last</a:t>
            </a:r>
            <a:r>
              <a:rPr sz="950" spc="-2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project.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The</a:t>
            </a:r>
            <a:r>
              <a:rPr sz="950" spc="-30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second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best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time</a:t>
            </a:r>
            <a:r>
              <a:rPr sz="950" spc="-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is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your</a:t>
            </a:r>
            <a:r>
              <a:rPr sz="950" spc="-35" dirty="0">
                <a:solidFill>
                  <a:srgbClr val="77440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74409"/>
                </a:solidFill>
                <a:latin typeface="Calibri"/>
                <a:cs typeface="Calibri"/>
              </a:rPr>
              <a:t>next</a:t>
            </a:r>
            <a:r>
              <a:rPr sz="950" spc="-25" dirty="0">
                <a:solidFill>
                  <a:srgbClr val="774409"/>
                </a:solidFill>
                <a:latin typeface="Calibri"/>
                <a:cs typeface="Calibri"/>
              </a:rPr>
              <a:t> PR.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3784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79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80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7024" y="158465"/>
            <a:ext cx="4032250" cy="1511935"/>
          </a:xfrm>
          <a:prstGeom prst="rect">
            <a:avLst/>
          </a:prstGeom>
        </p:spPr>
        <p:txBody>
          <a:bodyPr vert="horz" wrap="square" lIns="0" tIns="282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25"/>
              </a:spcBef>
            </a:pPr>
            <a:r>
              <a:rPr sz="5000" dirty="0"/>
              <a:t>Start</a:t>
            </a:r>
            <a:r>
              <a:rPr sz="5000" spc="-114" dirty="0"/>
              <a:t> </a:t>
            </a:r>
            <a:r>
              <a:rPr sz="5000" spc="-10" dirty="0"/>
              <a:t>Building</a:t>
            </a:r>
            <a:endParaRPr sz="5000"/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2200" b="0" spc="-30" dirty="0">
                <a:solidFill>
                  <a:srgbClr val="9FBFFF"/>
                </a:solidFill>
                <a:latin typeface="Calibri"/>
                <a:cs typeface="Calibri"/>
              </a:rPr>
              <a:t>Your</a:t>
            </a:r>
            <a:r>
              <a:rPr sz="2200" b="0" spc="-95" dirty="0">
                <a:solidFill>
                  <a:srgbClr val="9FBFFF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9FBFFF"/>
                </a:solidFill>
                <a:latin typeface="Calibri"/>
                <a:cs typeface="Calibri"/>
              </a:rPr>
              <a:t>First</a:t>
            </a:r>
            <a:r>
              <a:rPr sz="2200" b="0" spc="-105" dirty="0">
                <a:solidFill>
                  <a:srgbClr val="9FBFFF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9FBFFF"/>
                </a:solidFill>
                <a:latin typeface="Calibri"/>
                <a:cs typeface="Calibri"/>
              </a:rPr>
              <a:t>AI-</a:t>
            </a:r>
            <a:r>
              <a:rPr sz="2200" b="0" dirty="0">
                <a:solidFill>
                  <a:srgbClr val="9FBFFF"/>
                </a:solidFill>
                <a:latin typeface="Calibri"/>
                <a:cs typeface="Calibri"/>
              </a:rPr>
              <a:t>Assisted</a:t>
            </a:r>
            <a:r>
              <a:rPr sz="2200" b="0" spc="-105" dirty="0">
                <a:solidFill>
                  <a:srgbClr val="9FBFFF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9FBFFF"/>
                </a:solidFill>
                <a:latin typeface="Calibri"/>
                <a:cs typeface="Calibri"/>
              </a:rPr>
              <a:t>Feature</a:t>
            </a:r>
            <a:r>
              <a:rPr sz="2200" b="0" spc="-90" dirty="0">
                <a:solidFill>
                  <a:srgbClr val="9FBFFF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9FBFFF"/>
                </a:solidFill>
                <a:latin typeface="Calibri"/>
                <a:cs typeface="Calibri"/>
              </a:rPr>
              <a:t>Today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3780" y="1913942"/>
            <a:ext cx="4081779" cy="488315"/>
            <a:chOff x="633780" y="1913942"/>
            <a:chExt cx="4081779" cy="488315"/>
          </a:xfrm>
        </p:grpSpPr>
        <p:sp>
          <p:nvSpPr>
            <p:cNvPr id="5" name="object 5"/>
            <p:cNvSpPr/>
            <p:nvPr/>
          </p:nvSpPr>
          <p:spPr>
            <a:xfrm>
              <a:off x="640080" y="1920241"/>
              <a:ext cx="4069079" cy="475615"/>
            </a:xfrm>
            <a:custGeom>
              <a:avLst/>
              <a:gdLst/>
              <a:ahLst/>
              <a:cxnLst/>
              <a:rect l="l" t="t" r="r" b="b"/>
              <a:pathLst>
                <a:path w="4069079" h="475614">
                  <a:moveTo>
                    <a:pt x="397728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384124"/>
                  </a:lnTo>
                  <a:lnTo>
                    <a:pt x="6863" y="418690"/>
                  </a:lnTo>
                  <a:lnTo>
                    <a:pt x="6986" y="419051"/>
                  </a:lnTo>
                  <a:lnTo>
                    <a:pt x="35676" y="456720"/>
                  </a:lnTo>
                  <a:lnTo>
                    <a:pt x="79434" y="474765"/>
                  </a:lnTo>
                  <a:lnTo>
                    <a:pt x="91440" y="475564"/>
                  </a:lnTo>
                  <a:lnTo>
                    <a:pt x="3977640" y="475195"/>
                  </a:lnTo>
                  <a:lnTo>
                    <a:pt x="4023360" y="462965"/>
                  </a:lnTo>
                  <a:lnTo>
                    <a:pt x="4056837" y="429475"/>
                  </a:lnTo>
                  <a:lnTo>
                    <a:pt x="4069055" y="384124"/>
                  </a:lnTo>
                  <a:lnTo>
                    <a:pt x="4069080" y="383755"/>
                  </a:lnTo>
                  <a:lnTo>
                    <a:pt x="4068724" y="91439"/>
                  </a:lnTo>
                  <a:lnTo>
                    <a:pt x="4056481" y="45719"/>
                  </a:lnTo>
                  <a:lnTo>
                    <a:pt x="4023004" y="12242"/>
                  </a:lnTo>
                  <a:lnTo>
                    <a:pt x="3989284" y="798"/>
                  </a:lnTo>
                  <a:lnTo>
                    <a:pt x="39772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80" y="1920241"/>
              <a:ext cx="4069079" cy="475615"/>
            </a:xfrm>
            <a:custGeom>
              <a:avLst/>
              <a:gdLst/>
              <a:ahLst/>
              <a:cxnLst/>
              <a:rect l="l" t="t" r="r" b="b"/>
              <a:pathLst>
                <a:path w="4069079" h="475614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40" y="0"/>
                  </a:lnTo>
                  <a:lnTo>
                    <a:pt x="3977284" y="0"/>
                  </a:lnTo>
                  <a:lnTo>
                    <a:pt x="4023004" y="12242"/>
                  </a:lnTo>
                  <a:lnTo>
                    <a:pt x="4056481" y="45719"/>
                  </a:lnTo>
                  <a:lnTo>
                    <a:pt x="4068724" y="91439"/>
                  </a:lnTo>
                  <a:lnTo>
                    <a:pt x="4069080" y="383755"/>
                  </a:lnTo>
                  <a:lnTo>
                    <a:pt x="4068281" y="395762"/>
                  </a:lnTo>
                  <a:lnTo>
                    <a:pt x="4065930" y="407430"/>
                  </a:lnTo>
                  <a:lnTo>
                    <a:pt x="4042398" y="448516"/>
                  </a:lnTo>
                  <a:lnTo>
                    <a:pt x="4001309" y="472047"/>
                  </a:lnTo>
                  <a:lnTo>
                    <a:pt x="91440" y="475564"/>
                  </a:lnTo>
                  <a:lnTo>
                    <a:pt x="45720" y="463321"/>
                  </a:lnTo>
                  <a:lnTo>
                    <a:pt x="12242" y="429844"/>
                  </a:lnTo>
                  <a:lnTo>
                    <a:pt x="0" y="384124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55180" y="2046370"/>
            <a:ext cx="706756" cy="1930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215" dirty="0">
                <a:solidFill>
                  <a:srgbClr val="0C9387"/>
                </a:solidFill>
                <a:latin typeface="MingLiU_HKSCS-ExtB"/>
                <a:cs typeface="MingLiU_HKSCS-ExtB"/>
              </a:rPr>
              <a:t>📦</a:t>
            </a:r>
            <a:r>
              <a:rPr sz="1150" spc="-270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1000" b="1" spc="-10" dirty="0">
                <a:solidFill>
                  <a:srgbClr val="0C9387"/>
                </a:solidFill>
                <a:latin typeface="Calibri"/>
                <a:cs typeface="Calibri"/>
              </a:rPr>
              <a:t>Install: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54365" y="2077337"/>
            <a:ext cx="273287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CE589"/>
                </a:solidFill>
                <a:latin typeface="Courier New"/>
                <a:cs typeface="Courier New"/>
              </a:rPr>
              <a:t>npm install -g </a:t>
            </a:r>
            <a:r>
              <a:rPr sz="900" spc="-10" dirty="0">
                <a:solidFill>
                  <a:srgbClr val="FCE589"/>
                </a:solidFill>
                <a:latin typeface="Courier New"/>
                <a:cs typeface="Courier New"/>
              </a:rPr>
              <a:t>@anthropic-ai/claude-</a:t>
            </a:r>
            <a:r>
              <a:rPr sz="900" spc="-20" dirty="0">
                <a:solidFill>
                  <a:srgbClr val="FCE589"/>
                </a:solidFill>
                <a:latin typeface="Courier New"/>
                <a:cs typeface="Courier New"/>
              </a:rPr>
              <a:t>code</a:t>
            </a:r>
            <a:endParaRPr sz="900" dirty="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885740" y="1913942"/>
            <a:ext cx="4081779" cy="488315"/>
            <a:chOff x="4885740" y="1913942"/>
            <a:chExt cx="4081779" cy="488315"/>
          </a:xfrm>
        </p:grpSpPr>
        <p:sp>
          <p:nvSpPr>
            <p:cNvPr id="10" name="object 10"/>
            <p:cNvSpPr/>
            <p:nvPr/>
          </p:nvSpPr>
          <p:spPr>
            <a:xfrm>
              <a:off x="4892040" y="1920241"/>
              <a:ext cx="4069079" cy="475615"/>
            </a:xfrm>
            <a:custGeom>
              <a:avLst/>
              <a:gdLst/>
              <a:ahLst/>
              <a:cxnLst/>
              <a:rect l="l" t="t" r="r" b="b"/>
              <a:pathLst>
                <a:path w="4069079" h="475614">
                  <a:moveTo>
                    <a:pt x="397728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384124"/>
                  </a:lnTo>
                  <a:lnTo>
                    <a:pt x="774" y="395762"/>
                  </a:lnTo>
                  <a:lnTo>
                    <a:pt x="798" y="396123"/>
                  </a:lnTo>
                  <a:lnTo>
                    <a:pt x="3077" y="407430"/>
                  </a:lnTo>
                  <a:lnTo>
                    <a:pt x="3149" y="407789"/>
                  </a:lnTo>
                  <a:lnTo>
                    <a:pt x="6863" y="418690"/>
                  </a:lnTo>
                  <a:lnTo>
                    <a:pt x="35676" y="456720"/>
                  </a:lnTo>
                  <a:lnTo>
                    <a:pt x="79434" y="474765"/>
                  </a:lnTo>
                  <a:lnTo>
                    <a:pt x="91439" y="475564"/>
                  </a:lnTo>
                  <a:lnTo>
                    <a:pt x="3977640" y="475195"/>
                  </a:lnTo>
                  <a:lnTo>
                    <a:pt x="4023360" y="462965"/>
                  </a:lnTo>
                  <a:lnTo>
                    <a:pt x="4056837" y="429475"/>
                  </a:lnTo>
                  <a:lnTo>
                    <a:pt x="4069055" y="384124"/>
                  </a:lnTo>
                  <a:lnTo>
                    <a:pt x="4069080" y="383755"/>
                  </a:lnTo>
                  <a:lnTo>
                    <a:pt x="4068724" y="91439"/>
                  </a:lnTo>
                  <a:lnTo>
                    <a:pt x="4056481" y="45719"/>
                  </a:lnTo>
                  <a:lnTo>
                    <a:pt x="4023004" y="12242"/>
                  </a:lnTo>
                  <a:lnTo>
                    <a:pt x="3989284" y="798"/>
                  </a:lnTo>
                  <a:lnTo>
                    <a:pt x="39772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92040" y="1920241"/>
              <a:ext cx="4069079" cy="475615"/>
            </a:xfrm>
            <a:custGeom>
              <a:avLst/>
              <a:gdLst/>
              <a:ahLst/>
              <a:cxnLst/>
              <a:rect l="l" t="t" r="r" b="b"/>
              <a:pathLst>
                <a:path w="4069079" h="475614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3977284" y="0"/>
                  </a:lnTo>
                  <a:lnTo>
                    <a:pt x="4023004" y="12242"/>
                  </a:lnTo>
                  <a:lnTo>
                    <a:pt x="4056481" y="45719"/>
                  </a:lnTo>
                  <a:lnTo>
                    <a:pt x="4068724" y="91439"/>
                  </a:lnTo>
                  <a:lnTo>
                    <a:pt x="4069080" y="383755"/>
                  </a:lnTo>
                  <a:lnTo>
                    <a:pt x="4068281" y="395762"/>
                  </a:lnTo>
                  <a:lnTo>
                    <a:pt x="4065930" y="407430"/>
                  </a:lnTo>
                  <a:lnTo>
                    <a:pt x="4042398" y="448516"/>
                  </a:lnTo>
                  <a:lnTo>
                    <a:pt x="4001309" y="472047"/>
                  </a:lnTo>
                  <a:lnTo>
                    <a:pt x="91439" y="475564"/>
                  </a:lnTo>
                  <a:lnTo>
                    <a:pt x="45720" y="463321"/>
                  </a:lnTo>
                  <a:lnTo>
                    <a:pt x="12242" y="429844"/>
                  </a:lnTo>
                  <a:lnTo>
                    <a:pt x="0" y="384124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07140" y="2046370"/>
            <a:ext cx="801204" cy="1930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215" dirty="0">
                <a:solidFill>
                  <a:srgbClr val="0C9387"/>
                </a:solidFill>
                <a:latin typeface="MingLiU_HKSCS-ExtB"/>
                <a:cs typeface="MingLiU_HKSCS-ExtB"/>
              </a:rPr>
              <a:t>📚</a:t>
            </a:r>
            <a:r>
              <a:rPr sz="1150" spc="-270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1000" b="1" spc="-10" dirty="0">
                <a:solidFill>
                  <a:srgbClr val="0C9387"/>
                </a:solidFill>
                <a:latin typeface="Calibri"/>
                <a:cs typeface="Calibri"/>
              </a:rPr>
              <a:t>Docs: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42379" y="2076388"/>
            <a:ext cx="20847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CE589"/>
                </a:solidFill>
                <a:latin typeface="Courier New"/>
                <a:cs typeface="Courier New"/>
              </a:rPr>
              <a:t>docs.anthropic.com/claude-</a:t>
            </a:r>
            <a:r>
              <a:rPr sz="900" spc="-20" dirty="0">
                <a:solidFill>
                  <a:srgbClr val="FCE589"/>
                </a:solidFill>
                <a:latin typeface="Courier New"/>
                <a:cs typeface="Courier New"/>
              </a:rPr>
              <a:t>code</a:t>
            </a:r>
            <a:endParaRPr sz="900" dirty="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33780" y="2480946"/>
            <a:ext cx="4081779" cy="488315"/>
            <a:chOff x="633780" y="2480946"/>
            <a:chExt cx="4081779" cy="488315"/>
          </a:xfrm>
        </p:grpSpPr>
        <p:sp>
          <p:nvSpPr>
            <p:cNvPr id="15" name="object 15"/>
            <p:cNvSpPr/>
            <p:nvPr/>
          </p:nvSpPr>
          <p:spPr>
            <a:xfrm>
              <a:off x="640080" y="2487246"/>
              <a:ext cx="4069079" cy="475615"/>
            </a:xfrm>
            <a:custGeom>
              <a:avLst/>
              <a:gdLst/>
              <a:ahLst/>
              <a:cxnLst/>
              <a:rect l="l" t="t" r="r" b="b"/>
              <a:pathLst>
                <a:path w="4069079" h="475614">
                  <a:moveTo>
                    <a:pt x="397728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40"/>
                  </a:lnTo>
                  <a:lnTo>
                    <a:pt x="0" y="384111"/>
                  </a:lnTo>
                  <a:lnTo>
                    <a:pt x="774" y="395760"/>
                  </a:lnTo>
                  <a:lnTo>
                    <a:pt x="798" y="396118"/>
                  </a:lnTo>
                  <a:lnTo>
                    <a:pt x="3076" y="407425"/>
                  </a:lnTo>
                  <a:lnTo>
                    <a:pt x="3149" y="407785"/>
                  </a:lnTo>
                  <a:lnTo>
                    <a:pt x="6863" y="418685"/>
                  </a:lnTo>
                  <a:lnTo>
                    <a:pt x="6986" y="419046"/>
                  </a:lnTo>
                  <a:lnTo>
                    <a:pt x="35676" y="456720"/>
                  </a:lnTo>
                  <a:lnTo>
                    <a:pt x="79434" y="474753"/>
                  </a:lnTo>
                  <a:lnTo>
                    <a:pt x="91440" y="475551"/>
                  </a:lnTo>
                  <a:lnTo>
                    <a:pt x="3977640" y="475195"/>
                  </a:lnTo>
                  <a:lnTo>
                    <a:pt x="4023360" y="462953"/>
                  </a:lnTo>
                  <a:lnTo>
                    <a:pt x="4056837" y="429475"/>
                  </a:lnTo>
                  <a:lnTo>
                    <a:pt x="4069056" y="384111"/>
                  </a:lnTo>
                  <a:lnTo>
                    <a:pt x="4069080" y="383755"/>
                  </a:lnTo>
                  <a:lnTo>
                    <a:pt x="4068724" y="91440"/>
                  </a:lnTo>
                  <a:lnTo>
                    <a:pt x="4056481" y="45719"/>
                  </a:lnTo>
                  <a:lnTo>
                    <a:pt x="4023004" y="12230"/>
                  </a:lnTo>
                  <a:lnTo>
                    <a:pt x="3989284" y="798"/>
                  </a:lnTo>
                  <a:lnTo>
                    <a:pt x="39772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0080" y="2487246"/>
              <a:ext cx="4069079" cy="475615"/>
            </a:xfrm>
            <a:custGeom>
              <a:avLst/>
              <a:gdLst/>
              <a:ahLst/>
              <a:cxnLst/>
              <a:rect l="l" t="t" r="r" b="b"/>
              <a:pathLst>
                <a:path w="4069079" h="475614">
                  <a:moveTo>
                    <a:pt x="0" y="91440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40" y="0"/>
                  </a:lnTo>
                  <a:lnTo>
                    <a:pt x="3977284" y="0"/>
                  </a:lnTo>
                  <a:lnTo>
                    <a:pt x="4023004" y="12230"/>
                  </a:lnTo>
                  <a:lnTo>
                    <a:pt x="4056481" y="45719"/>
                  </a:lnTo>
                  <a:lnTo>
                    <a:pt x="4068724" y="91440"/>
                  </a:lnTo>
                  <a:lnTo>
                    <a:pt x="4069080" y="383755"/>
                  </a:lnTo>
                  <a:lnTo>
                    <a:pt x="4068281" y="395760"/>
                  </a:lnTo>
                  <a:lnTo>
                    <a:pt x="4065930" y="407425"/>
                  </a:lnTo>
                  <a:lnTo>
                    <a:pt x="4042398" y="448514"/>
                  </a:lnTo>
                  <a:lnTo>
                    <a:pt x="4001309" y="472046"/>
                  </a:lnTo>
                  <a:lnTo>
                    <a:pt x="91440" y="475551"/>
                  </a:lnTo>
                  <a:lnTo>
                    <a:pt x="45720" y="463321"/>
                  </a:lnTo>
                  <a:lnTo>
                    <a:pt x="12242" y="429831"/>
                  </a:lnTo>
                  <a:lnTo>
                    <a:pt x="0" y="384111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55180" y="2613361"/>
            <a:ext cx="1213320" cy="1930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215" dirty="0">
                <a:solidFill>
                  <a:srgbClr val="0C9387"/>
                </a:solidFill>
                <a:latin typeface="MingLiU_HKSCS-ExtB"/>
                <a:cs typeface="MingLiU_HKSCS-ExtB"/>
              </a:rPr>
              <a:t>🏢</a:t>
            </a:r>
            <a:r>
              <a:rPr sz="1150" spc="-270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1000" b="1" spc="-20" dirty="0">
                <a:solidFill>
                  <a:srgbClr val="0C9387"/>
                </a:solidFill>
                <a:latin typeface="Calibri"/>
                <a:cs typeface="Calibri"/>
              </a:rPr>
              <a:t>WAMY</a:t>
            </a:r>
            <a:r>
              <a:rPr sz="1000" b="1" spc="-1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0C9387"/>
                </a:solidFill>
                <a:latin typeface="Calibri"/>
                <a:cs typeface="Calibri"/>
              </a:rPr>
              <a:t>Project: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90420" y="2643379"/>
            <a:ext cx="23596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CE589"/>
                </a:solidFill>
                <a:latin typeface="Courier New"/>
                <a:cs typeface="Courier New"/>
              </a:rPr>
              <a:t>github.com/wamy-ngo/finance-module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85740" y="2480946"/>
            <a:ext cx="4081779" cy="488315"/>
            <a:chOff x="4885740" y="2480946"/>
            <a:chExt cx="4081779" cy="488315"/>
          </a:xfrm>
        </p:grpSpPr>
        <p:sp>
          <p:nvSpPr>
            <p:cNvPr id="20" name="object 20"/>
            <p:cNvSpPr/>
            <p:nvPr/>
          </p:nvSpPr>
          <p:spPr>
            <a:xfrm>
              <a:off x="4892040" y="2487246"/>
              <a:ext cx="4069079" cy="475615"/>
            </a:xfrm>
            <a:custGeom>
              <a:avLst/>
              <a:gdLst/>
              <a:ahLst/>
              <a:cxnLst/>
              <a:rect l="l" t="t" r="r" b="b"/>
              <a:pathLst>
                <a:path w="4069079" h="475614">
                  <a:moveTo>
                    <a:pt x="397728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40"/>
                  </a:lnTo>
                  <a:lnTo>
                    <a:pt x="0" y="384111"/>
                  </a:lnTo>
                  <a:lnTo>
                    <a:pt x="774" y="395760"/>
                  </a:lnTo>
                  <a:lnTo>
                    <a:pt x="798" y="396118"/>
                  </a:lnTo>
                  <a:lnTo>
                    <a:pt x="18836" y="439875"/>
                  </a:lnTo>
                  <a:lnTo>
                    <a:pt x="56510" y="468570"/>
                  </a:lnTo>
                  <a:lnTo>
                    <a:pt x="91439" y="475551"/>
                  </a:lnTo>
                  <a:lnTo>
                    <a:pt x="3977640" y="475195"/>
                  </a:lnTo>
                  <a:lnTo>
                    <a:pt x="4023360" y="462953"/>
                  </a:lnTo>
                  <a:lnTo>
                    <a:pt x="4056837" y="429475"/>
                  </a:lnTo>
                  <a:lnTo>
                    <a:pt x="4069056" y="384111"/>
                  </a:lnTo>
                  <a:lnTo>
                    <a:pt x="4069080" y="383755"/>
                  </a:lnTo>
                  <a:lnTo>
                    <a:pt x="4068724" y="91440"/>
                  </a:lnTo>
                  <a:lnTo>
                    <a:pt x="4056481" y="45719"/>
                  </a:lnTo>
                  <a:lnTo>
                    <a:pt x="4023004" y="12230"/>
                  </a:lnTo>
                  <a:lnTo>
                    <a:pt x="3989284" y="798"/>
                  </a:lnTo>
                  <a:lnTo>
                    <a:pt x="3977284" y="0"/>
                  </a:lnTo>
                  <a:close/>
                </a:path>
              </a:pathLst>
            </a:custGeom>
            <a:solidFill>
              <a:srgbClr val="14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92040" y="2487246"/>
              <a:ext cx="4069079" cy="475615"/>
            </a:xfrm>
            <a:custGeom>
              <a:avLst/>
              <a:gdLst/>
              <a:ahLst/>
              <a:cxnLst/>
              <a:rect l="l" t="t" r="r" b="b"/>
              <a:pathLst>
                <a:path w="4069079" h="475614">
                  <a:moveTo>
                    <a:pt x="0" y="91440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3977284" y="0"/>
                  </a:lnTo>
                  <a:lnTo>
                    <a:pt x="4023004" y="12230"/>
                  </a:lnTo>
                  <a:lnTo>
                    <a:pt x="4056481" y="45719"/>
                  </a:lnTo>
                  <a:lnTo>
                    <a:pt x="4068724" y="91440"/>
                  </a:lnTo>
                  <a:lnTo>
                    <a:pt x="4069080" y="383755"/>
                  </a:lnTo>
                  <a:lnTo>
                    <a:pt x="4068281" y="395760"/>
                  </a:lnTo>
                  <a:lnTo>
                    <a:pt x="4065930" y="407425"/>
                  </a:lnTo>
                  <a:lnTo>
                    <a:pt x="4042398" y="448514"/>
                  </a:lnTo>
                  <a:lnTo>
                    <a:pt x="4001309" y="472046"/>
                  </a:lnTo>
                  <a:lnTo>
                    <a:pt x="91439" y="475551"/>
                  </a:lnTo>
                  <a:lnTo>
                    <a:pt x="45720" y="463321"/>
                  </a:lnTo>
                  <a:lnTo>
                    <a:pt x="12242" y="429831"/>
                  </a:lnTo>
                  <a:lnTo>
                    <a:pt x="0" y="384111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273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007140" y="2613361"/>
            <a:ext cx="1469860" cy="1930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215" dirty="0">
                <a:solidFill>
                  <a:srgbClr val="0C9387"/>
                </a:solidFill>
                <a:latin typeface="MingLiU_HKSCS-ExtB"/>
                <a:cs typeface="MingLiU_HKSCS-ExtB"/>
              </a:rPr>
              <a:t>💬</a:t>
            </a:r>
            <a:r>
              <a:rPr sz="1150" spc="-265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1000" b="1" spc="-10" dirty="0">
                <a:solidFill>
                  <a:srgbClr val="0C9387"/>
                </a:solidFill>
                <a:latin typeface="Calibri"/>
                <a:cs typeface="Calibri"/>
              </a:rPr>
              <a:t>Prompts</a:t>
            </a:r>
            <a:r>
              <a:rPr sz="1000" b="1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0C9387"/>
                </a:solidFill>
                <a:latin typeface="Calibri"/>
                <a:cs typeface="Calibri"/>
              </a:rPr>
              <a:t>Library: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42379" y="2643379"/>
            <a:ext cx="24968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CE589"/>
                </a:solidFill>
                <a:latin typeface="Courier New"/>
                <a:cs typeface="Courier New"/>
              </a:rPr>
              <a:t>Course</a:t>
            </a:r>
            <a:r>
              <a:rPr sz="900" spc="20" dirty="0">
                <a:solidFill>
                  <a:srgbClr val="FCE589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CE589"/>
                </a:solidFill>
                <a:latin typeface="Courier New"/>
                <a:cs typeface="Courier New"/>
              </a:rPr>
              <a:t>materials:</a:t>
            </a:r>
            <a:r>
              <a:rPr sz="900" spc="20" dirty="0">
                <a:solidFill>
                  <a:srgbClr val="FCE589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FCE589"/>
                </a:solidFill>
                <a:latin typeface="Courier New"/>
                <a:cs typeface="Courier New"/>
              </a:rPr>
              <a:t>40-prompts-wamy.md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7024" y="3225294"/>
            <a:ext cx="257337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204" dirty="0">
                <a:solidFill>
                  <a:srgbClr val="F49D0A"/>
                </a:solidFill>
                <a:latin typeface="MingLiU_HKSCS-ExtB"/>
                <a:cs typeface="MingLiU_HKSCS-ExtB"/>
              </a:rPr>
              <a:t>🎯</a:t>
            </a:r>
            <a:r>
              <a:rPr sz="1300" spc="-290" dirty="0">
                <a:solidFill>
                  <a:srgbClr val="F49D0A"/>
                </a:solidFill>
                <a:latin typeface="MingLiU_HKSCS-ExtB"/>
                <a:cs typeface="MingLiU_HKSCS-ExtB"/>
              </a:rPr>
              <a:t> </a:t>
            </a:r>
            <a:r>
              <a:rPr sz="1100" b="1" spc="-20" dirty="0">
                <a:solidFill>
                  <a:srgbClr val="F49D0A"/>
                </a:solidFill>
                <a:latin typeface="Calibri"/>
                <a:cs typeface="Calibri"/>
              </a:rPr>
              <a:t>Your</a:t>
            </a:r>
            <a:r>
              <a:rPr sz="1100" b="1" spc="-4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First</a:t>
            </a:r>
            <a:r>
              <a:rPr sz="1100" b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49D0A"/>
                </a:solidFill>
                <a:latin typeface="Calibri"/>
                <a:cs typeface="Calibri"/>
              </a:rPr>
              <a:t>Action: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59752" y="3479451"/>
            <a:ext cx="8054975" cy="1041687"/>
            <a:chOff x="562317" y="3470391"/>
            <a:chExt cx="8054975" cy="136080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317" y="3470391"/>
              <a:ext cx="8054644" cy="136080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39724" y="3547797"/>
              <a:ext cx="7863840" cy="1170940"/>
            </a:xfrm>
            <a:custGeom>
              <a:avLst/>
              <a:gdLst/>
              <a:ahLst/>
              <a:cxnLst/>
              <a:rect l="l" t="t" r="r" b="b"/>
              <a:pathLst>
                <a:path w="7863840" h="1170939">
                  <a:moveTo>
                    <a:pt x="777203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39"/>
                  </a:lnTo>
                  <a:lnTo>
                    <a:pt x="0" y="1078928"/>
                  </a:lnTo>
                  <a:lnTo>
                    <a:pt x="774" y="1090567"/>
                  </a:lnTo>
                  <a:lnTo>
                    <a:pt x="798" y="1090928"/>
                  </a:lnTo>
                  <a:lnTo>
                    <a:pt x="3075" y="1102234"/>
                  </a:lnTo>
                  <a:lnTo>
                    <a:pt x="3148" y="1102593"/>
                  </a:lnTo>
                  <a:lnTo>
                    <a:pt x="26679" y="1143677"/>
                  </a:lnTo>
                  <a:lnTo>
                    <a:pt x="67765" y="1167218"/>
                  </a:lnTo>
                  <a:lnTo>
                    <a:pt x="91440" y="1170368"/>
                  </a:lnTo>
                  <a:lnTo>
                    <a:pt x="7772400" y="1170000"/>
                  </a:lnTo>
                  <a:lnTo>
                    <a:pt x="7818120" y="1157770"/>
                  </a:lnTo>
                  <a:lnTo>
                    <a:pt x="7851597" y="1124280"/>
                  </a:lnTo>
                  <a:lnTo>
                    <a:pt x="7862966" y="1090928"/>
                  </a:lnTo>
                  <a:lnTo>
                    <a:pt x="7863039" y="1090567"/>
                  </a:lnTo>
                  <a:lnTo>
                    <a:pt x="7863815" y="1078928"/>
                  </a:lnTo>
                  <a:lnTo>
                    <a:pt x="7863840" y="1078560"/>
                  </a:lnTo>
                  <a:lnTo>
                    <a:pt x="7863471" y="91439"/>
                  </a:lnTo>
                  <a:lnTo>
                    <a:pt x="7851241" y="45719"/>
                  </a:lnTo>
                  <a:lnTo>
                    <a:pt x="7817751" y="12242"/>
                  </a:lnTo>
                  <a:lnTo>
                    <a:pt x="7784038" y="798"/>
                  </a:lnTo>
                  <a:lnTo>
                    <a:pt x="7772031" y="0"/>
                  </a:lnTo>
                  <a:close/>
                </a:path>
              </a:pathLst>
            </a:custGeom>
            <a:solidFill>
              <a:srgbClr val="0B17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39724" y="3547797"/>
              <a:ext cx="7863840" cy="1170940"/>
            </a:xfrm>
            <a:custGeom>
              <a:avLst/>
              <a:gdLst/>
              <a:ahLst/>
              <a:cxnLst/>
              <a:rect l="l" t="t" r="r" b="b"/>
              <a:pathLst>
                <a:path w="7863840" h="1170939">
                  <a:moveTo>
                    <a:pt x="0" y="91439"/>
                  </a:moveTo>
                  <a:lnTo>
                    <a:pt x="798" y="79440"/>
                  </a:lnTo>
                  <a:lnTo>
                    <a:pt x="3148" y="67775"/>
                  </a:lnTo>
                  <a:lnTo>
                    <a:pt x="26679" y="26690"/>
                  </a:lnTo>
                  <a:lnTo>
                    <a:pt x="67765" y="3149"/>
                  </a:lnTo>
                  <a:lnTo>
                    <a:pt x="91440" y="0"/>
                  </a:lnTo>
                  <a:lnTo>
                    <a:pt x="7772031" y="0"/>
                  </a:lnTo>
                  <a:lnTo>
                    <a:pt x="7817751" y="12242"/>
                  </a:lnTo>
                  <a:lnTo>
                    <a:pt x="7851241" y="45719"/>
                  </a:lnTo>
                  <a:lnTo>
                    <a:pt x="7863471" y="91439"/>
                  </a:lnTo>
                  <a:lnTo>
                    <a:pt x="7863840" y="1078560"/>
                  </a:lnTo>
                  <a:lnTo>
                    <a:pt x="7863039" y="1090567"/>
                  </a:lnTo>
                  <a:lnTo>
                    <a:pt x="7860685" y="1102234"/>
                  </a:lnTo>
                  <a:lnTo>
                    <a:pt x="7837149" y="1143320"/>
                  </a:lnTo>
                  <a:lnTo>
                    <a:pt x="7796064" y="1166852"/>
                  </a:lnTo>
                  <a:lnTo>
                    <a:pt x="91440" y="1170368"/>
                  </a:lnTo>
                  <a:lnTo>
                    <a:pt x="45720" y="1158125"/>
                  </a:lnTo>
                  <a:lnTo>
                    <a:pt x="12230" y="1124648"/>
                  </a:lnTo>
                  <a:lnTo>
                    <a:pt x="0" y="1078928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55180" y="3699965"/>
            <a:ext cx="7479030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i="1" dirty="0">
                <a:solidFill>
                  <a:srgbClr val="FCE589"/>
                </a:solidFill>
                <a:latin typeface="Arial"/>
                <a:cs typeface="Arial"/>
              </a:rPr>
              <a:t>"I</a:t>
            </a:r>
            <a:r>
              <a:rPr sz="9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45" dirty="0">
                <a:solidFill>
                  <a:srgbClr val="FCE589"/>
                </a:solidFill>
                <a:latin typeface="Arial"/>
                <a:cs typeface="Arial"/>
              </a:rPr>
              <a:t>am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 starting</a:t>
            </a:r>
            <a:r>
              <a:rPr sz="9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the</a:t>
            </a:r>
            <a:r>
              <a:rPr sz="9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100" dirty="0">
                <a:solidFill>
                  <a:srgbClr val="FCE589"/>
                </a:solidFill>
                <a:latin typeface="Arial"/>
                <a:cs typeface="Arial"/>
              </a:rPr>
              <a:t>WAMY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120" dirty="0">
                <a:solidFill>
                  <a:srgbClr val="FCE589"/>
                </a:solidFill>
                <a:latin typeface="Arial"/>
                <a:cs typeface="Arial"/>
              </a:rPr>
              <a:t>NGO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65" dirty="0">
                <a:solidFill>
                  <a:srgbClr val="FCE589"/>
                </a:solidFill>
                <a:latin typeface="Arial"/>
                <a:cs typeface="Arial"/>
              </a:rPr>
              <a:t>Finance</a:t>
            </a:r>
            <a:r>
              <a:rPr sz="9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45" dirty="0">
                <a:solidFill>
                  <a:srgbClr val="FCE589"/>
                </a:solidFill>
                <a:latin typeface="Arial"/>
                <a:cs typeface="Arial"/>
              </a:rPr>
              <a:t>module.</a:t>
            </a:r>
            <a:r>
              <a:rPr sz="950" i="1" spc="-3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55" dirty="0">
                <a:solidFill>
                  <a:srgbClr val="FCE589"/>
                </a:solidFill>
                <a:latin typeface="Arial"/>
                <a:cs typeface="Arial"/>
              </a:rPr>
              <a:t>Generate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 the</a:t>
            </a:r>
            <a:r>
              <a:rPr sz="9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50" dirty="0">
                <a:solidFill>
                  <a:srgbClr val="FCE589"/>
                </a:solidFill>
                <a:latin typeface="Arial"/>
                <a:cs typeface="Arial"/>
              </a:rPr>
              <a:t>complete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160" dirty="0">
                <a:solidFill>
                  <a:srgbClr val="FCE589"/>
                </a:solidFill>
                <a:latin typeface="Arial"/>
                <a:cs typeface="Arial"/>
              </a:rPr>
              <a:t>ERD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10" dirty="0">
                <a:solidFill>
                  <a:srgbClr val="FCE589"/>
                </a:solidFill>
                <a:latin typeface="Arial"/>
                <a:cs typeface="Arial"/>
              </a:rPr>
              <a:t>for</a:t>
            </a:r>
            <a:r>
              <a:rPr sz="9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45" dirty="0">
                <a:solidFill>
                  <a:srgbClr val="FCE589"/>
                </a:solidFill>
                <a:latin typeface="Arial"/>
                <a:cs typeface="Arial"/>
              </a:rPr>
              <a:t>double-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entry</a:t>
            </a:r>
            <a:r>
              <a:rPr sz="9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45" dirty="0">
                <a:solidFill>
                  <a:srgbClr val="FCE589"/>
                </a:solidFill>
                <a:latin typeface="Arial"/>
                <a:cs typeface="Arial"/>
              </a:rPr>
              <a:t>accounting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45" dirty="0">
                <a:solidFill>
                  <a:srgbClr val="FCE589"/>
                </a:solidFill>
                <a:latin typeface="Arial"/>
                <a:cs typeface="Arial"/>
              </a:rPr>
              <a:t>(chart_of_accounts,</a:t>
            </a:r>
            <a:r>
              <a:rPr sz="950" i="1" spc="-10" dirty="0">
                <a:solidFill>
                  <a:srgbClr val="FCE589"/>
                </a:solidFill>
                <a:latin typeface="Arial"/>
                <a:cs typeface="Arial"/>
              </a:rPr>
              <a:t> journal_entries, </a:t>
            </a:r>
            <a:r>
              <a:rPr sz="950" i="1" spc="-40" dirty="0">
                <a:solidFill>
                  <a:srgbClr val="FCE589"/>
                </a:solidFill>
                <a:latin typeface="Arial"/>
                <a:cs typeface="Arial"/>
              </a:rPr>
              <a:t>journal_lines,</a:t>
            </a:r>
            <a:r>
              <a:rPr sz="9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40" dirty="0">
                <a:solidFill>
                  <a:srgbClr val="FCE589"/>
                </a:solidFill>
                <a:latin typeface="Arial"/>
                <a:cs typeface="Arial"/>
              </a:rPr>
              <a:t>projects,</a:t>
            </a:r>
            <a:r>
              <a:rPr sz="9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50" dirty="0">
                <a:solidFill>
                  <a:srgbClr val="FCE589"/>
                </a:solidFill>
                <a:latin typeface="Arial"/>
                <a:cs typeface="Arial"/>
              </a:rPr>
              <a:t>budgets,</a:t>
            </a:r>
            <a:r>
              <a:rPr sz="9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50" dirty="0">
                <a:solidFill>
                  <a:srgbClr val="FCE589"/>
                </a:solidFill>
                <a:latin typeface="Arial"/>
                <a:cs typeface="Arial"/>
              </a:rPr>
              <a:t>periods,</a:t>
            </a:r>
            <a:r>
              <a:rPr sz="9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55" dirty="0">
                <a:solidFill>
                  <a:srgbClr val="FCE589"/>
                </a:solidFill>
                <a:latin typeface="Arial"/>
                <a:cs typeface="Arial"/>
              </a:rPr>
              <a:t>bank_accounts),</a:t>
            </a:r>
            <a:r>
              <a:rPr sz="9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60" dirty="0">
                <a:solidFill>
                  <a:srgbClr val="FCE589"/>
                </a:solidFill>
                <a:latin typeface="Arial"/>
                <a:cs typeface="Arial"/>
              </a:rPr>
              <a:t>Flyway</a:t>
            </a:r>
            <a:r>
              <a:rPr sz="9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80" dirty="0">
                <a:solidFill>
                  <a:srgbClr val="FCE589"/>
                </a:solidFill>
                <a:latin typeface="Arial"/>
                <a:cs typeface="Arial"/>
              </a:rPr>
              <a:t>V1</a:t>
            </a:r>
            <a:r>
              <a:rPr sz="9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migration</a:t>
            </a:r>
            <a:r>
              <a:rPr sz="9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125" dirty="0">
                <a:solidFill>
                  <a:srgbClr val="FCE589"/>
                </a:solidFill>
                <a:latin typeface="Arial"/>
                <a:cs typeface="Arial"/>
              </a:rPr>
              <a:t>SQL,</a:t>
            </a:r>
            <a:r>
              <a:rPr sz="9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60" dirty="0">
                <a:solidFill>
                  <a:srgbClr val="FCE589"/>
                </a:solidFill>
                <a:latin typeface="Arial"/>
                <a:cs typeface="Arial"/>
              </a:rPr>
              <a:t>Spring</a:t>
            </a:r>
            <a:r>
              <a:rPr sz="9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45" dirty="0">
                <a:solidFill>
                  <a:srgbClr val="FCE589"/>
                </a:solidFill>
                <a:latin typeface="Arial"/>
                <a:cs typeface="Arial"/>
              </a:rPr>
              <a:t>Boot</a:t>
            </a:r>
            <a:r>
              <a:rPr sz="9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170" dirty="0">
                <a:solidFill>
                  <a:srgbClr val="FCE589"/>
                </a:solidFill>
                <a:latin typeface="Arial"/>
                <a:cs typeface="Arial"/>
              </a:rPr>
              <a:t>JPA</a:t>
            </a:r>
            <a:r>
              <a:rPr sz="950" i="1" spc="-2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35" dirty="0">
                <a:solidFill>
                  <a:srgbClr val="FCE589"/>
                </a:solidFill>
                <a:latin typeface="Arial"/>
                <a:cs typeface="Arial"/>
              </a:rPr>
              <a:t>entities,</a:t>
            </a:r>
            <a:r>
              <a:rPr sz="9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50" dirty="0">
                <a:solidFill>
                  <a:srgbClr val="FCE589"/>
                </a:solidFill>
                <a:latin typeface="Arial"/>
                <a:cs typeface="Arial"/>
              </a:rPr>
              <a:t>and</a:t>
            </a:r>
            <a:r>
              <a:rPr sz="950" i="1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45" dirty="0">
                <a:solidFill>
                  <a:srgbClr val="FCE589"/>
                </a:solidFill>
                <a:latin typeface="Arial"/>
                <a:cs typeface="Arial"/>
              </a:rPr>
              <a:t>repositories.</a:t>
            </a:r>
            <a:r>
              <a:rPr sz="950" i="1" spc="-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65" dirty="0">
                <a:solidFill>
                  <a:srgbClr val="FCE589"/>
                </a:solidFill>
                <a:latin typeface="Arial"/>
                <a:cs typeface="Arial"/>
              </a:rPr>
              <a:t>Stack:</a:t>
            </a:r>
            <a:r>
              <a:rPr sz="9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60" dirty="0">
                <a:solidFill>
                  <a:srgbClr val="FCE589"/>
                </a:solidFill>
                <a:latin typeface="Arial"/>
                <a:cs typeface="Arial"/>
              </a:rPr>
              <a:t>Spring</a:t>
            </a:r>
            <a:r>
              <a:rPr sz="950" i="1" spc="-10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45" dirty="0">
                <a:solidFill>
                  <a:srgbClr val="FCE589"/>
                </a:solidFill>
                <a:latin typeface="Arial"/>
                <a:cs typeface="Arial"/>
              </a:rPr>
              <a:t>Boot</a:t>
            </a:r>
            <a:r>
              <a:rPr sz="9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40" dirty="0">
                <a:solidFill>
                  <a:srgbClr val="FCE589"/>
                </a:solidFill>
                <a:latin typeface="Arial"/>
                <a:cs typeface="Arial"/>
              </a:rPr>
              <a:t>3.2,</a:t>
            </a:r>
            <a:r>
              <a:rPr sz="950" i="1" spc="-1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20" dirty="0">
                <a:solidFill>
                  <a:srgbClr val="FCE589"/>
                </a:solidFill>
                <a:latin typeface="Arial"/>
                <a:cs typeface="Arial"/>
              </a:rPr>
              <a:t>Java </a:t>
            </a:r>
            <a:r>
              <a:rPr sz="950" i="1" spc="-50" dirty="0">
                <a:solidFill>
                  <a:srgbClr val="FCE589"/>
                </a:solidFill>
                <a:latin typeface="Arial"/>
                <a:cs typeface="Arial"/>
              </a:rPr>
              <a:t>21,</a:t>
            </a:r>
            <a:r>
              <a:rPr sz="950" i="1" spc="-35" dirty="0">
                <a:solidFill>
                  <a:srgbClr val="FCE589"/>
                </a:solidFill>
                <a:latin typeface="Arial"/>
                <a:cs typeface="Arial"/>
              </a:rPr>
              <a:t> </a:t>
            </a:r>
            <a:r>
              <a:rPr sz="950" i="1" spc="-105" dirty="0">
                <a:solidFill>
                  <a:srgbClr val="FCE589"/>
                </a:solidFill>
                <a:latin typeface="Arial"/>
                <a:cs typeface="Arial"/>
              </a:rPr>
              <a:t>MySQL</a:t>
            </a:r>
            <a:r>
              <a:rPr sz="950" i="1" spc="-25" dirty="0">
                <a:solidFill>
                  <a:srgbClr val="FCE589"/>
                </a:solidFill>
                <a:latin typeface="Arial"/>
                <a:cs typeface="Arial"/>
              </a:rPr>
              <a:t> 8."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7159" y="4642228"/>
            <a:ext cx="78739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5F7FAF"/>
                </a:solidFill>
                <a:latin typeface="Calibri"/>
                <a:cs typeface="Calibri"/>
              </a:rPr>
              <a:t>Thank</a:t>
            </a:r>
            <a:r>
              <a:rPr sz="1600" spc="-40" dirty="0">
                <a:solidFill>
                  <a:srgbClr val="5F7FA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F7FAF"/>
                </a:solidFill>
                <a:latin typeface="Calibri"/>
                <a:cs typeface="Calibri"/>
              </a:rPr>
              <a:t>you</a:t>
            </a:r>
            <a:r>
              <a:rPr sz="1600" spc="-35" dirty="0">
                <a:solidFill>
                  <a:srgbClr val="5F7FA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F7FAF"/>
                </a:solidFill>
                <a:latin typeface="Calibri"/>
                <a:cs typeface="Calibri"/>
              </a:rPr>
              <a:t>—</a:t>
            </a:r>
            <a:r>
              <a:rPr sz="1600" spc="-45" dirty="0">
                <a:solidFill>
                  <a:srgbClr val="5F7FA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F7FAF"/>
                </a:solidFill>
                <a:latin typeface="Calibri"/>
                <a:cs typeface="Calibri"/>
              </a:rPr>
              <a:t>Questions?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46820" y="4909580"/>
            <a:ext cx="317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5F7FAF"/>
                </a:solidFill>
                <a:latin typeface="Calibri"/>
                <a:cs typeface="Calibri"/>
              </a:rPr>
              <a:t>80 /</a:t>
            </a:r>
            <a:r>
              <a:rPr sz="800" spc="-5" dirty="0">
                <a:solidFill>
                  <a:srgbClr val="5F7FAF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5F7FAF"/>
                </a:solidFill>
                <a:latin typeface="Calibri"/>
                <a:cs typeface="Calibri"/>
              </a:rPr>
              <a:t>80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1611</TotalTime>
  <Words>16869</Words>
  <Application>Microsoft Office PowerPoint</Application>
  <PresentationFormat>Custom</PresentationFormat>
  <Paragraphs>2203</Paragraphs>
  <Slides>80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9" baseType="lpstr">
      <vt:lpstr>MingLiU_HKSCS-ExtB</vt:lpstr>
      <vt:lpstr>SimSun-ExtB</vt:lpstr>
      <vt:lpstr>Arial</vt:lpstr>
      <vt:lpstr>Calibri</vt:lpstr>
      <vt:lpstr>Cambria</vt:lpstr>
      <vt:lpstr>Courier New</vt:lpstr>
      <vt:lpstr>Segoe UI Emoji</vt:lpstr>
      <vt:lpstr>Times New Roman</vt:lpstr>
      <vt:lpstr>Office Theme</vt:lpstr>
      <vt:lpstr>Claude Code</vt:lpstr>
      <vt:lpstr>Session Roadmap — 80 Slides in 9 Sections</vt:lpstr>
      <vt:lpstr>What is Claude Code?</vt:lpstr>
      <vt:lpstr>What is Claude Code?</vt:lpstr>
      <vt:lpstr>Claude Chat vs Claude Code</vt:lpstr>
      <vt:lpstr>Claude Code Key Capabilities</vt:lpstr>
      <vt:lpstr>Why Claude Code for the WAMY Finance Module</vt:lpstr>
      <vt:lpstr>Project: WAMY NGO Finance Module</vt:lpstr>
      <vt:lpstr>Setup &amp; First Steps</vt:lpstr>
      <vt:lpstr>Claude Code — Installation &amp; Authentication</vt:lpstr>
      <vt:lpstr>CLAUDE.md — Your Project Context File</vt:lpstr>
      <vt:lpstr>IDE Integration — VS Code + Claude Code</vt:lpstr>
      <vt:lpstr>Prompt Patterns That Work</vt:lpstr>
      <vt:lpstr>Claude Code Essential Commands</vt:lpstr>
      <vt:lpstr>The Daily Developer Workflow</vt:lpstr>
      <vt:lpstr>Project Planning with AI</vt:lpstr>
      <vt:lpstr>Generate BRD — Business Requirements Document</vt:lpstr>
      <vt:lpstr>User Stories &amp; Sprint Planning</vt:lpstr>
      <vt:lpstr>Functional Requirements &amp; API Contract</vt:lpstr>
      <vt:lpstr>Project Roadmap &amp; Timeline</vt:lpstr>
      <vt:lpstr>Risk Register &amp; Mitigation Plan</vt:lpstr>
      <vt:lpstr>Team Roles &amp; Responsibility Matrix</vt:lpstr>
      <vt:lpstr>System Architecture</vt:lpstr>
      <vt:lpstr>C4 Context Diagram — WAMY Finance</vt:lpstr>
      <vt:lpstr>C4 Container — Spring Boot + React Architecture</vt:lpstr>
      <vt:lpstr>ERD — Double-Entry Accounting Schema</vt:lpstr>
      <vt:lpstr>Spring Boot Package Structure</vt:lpstr>
      <vt:lpstr>Service Layer Design — AccountingService</vt:lpstr>
      <vt:lpstr>JPA Entities &amp; Repository Layer</vt:lpstr>
      <vt:lpstr>REST Controller Layer</vt:lpstr>
      <vt:lpstr>Backend Development</vt:lpstr>
      <vt:lpstr>Generating Financial Reports — P&amp;L &amp; Balance Sheet</vt:lpstr>
      <vt:lpstr>Budget Service &amp; Budget vs Actual</vt:lpstr>
      <vt:lpstr>Bank Reconciliation Service</vt:lpstr>
      <vt:lpstr>Spring Security — JWT Configuration</vt:lpstr>
      <vt:lpstr>Input Validation &amp; Error Handling</vt:lpstr>
      <vt:lpstr>JUnit 5 Test Suite — AccountingService</vt:lpstr>
      <vt:lpstr>Integration Tests — REST API</vt:lpstr>
      <vt:lpstr>Audit Logging with Spring AOP</vt:lpstr>
      <vt:lpstr>Scheduled Jobs — Period Close &amp; Alerts</vt:lpstr>
      <vt:lpstr>Frontend — React 19</vt:lpstr>
      <vt:lpstr>React 19 Project Setup</vt:lpstr>
      <vt:lpstr>TanStack Query — Finance API Hooks</vt:lpstr>
      <vt:lpstr>P&amp;L Dashboard Component</vt:lpstr>
      <vt:lpstr>Journal Entry Form</vt:lpstr>
      <vt:lpstr>Financial Reports Table — Trial Balance</vt:lpstr>
      <vt:lpstr>Budget vs Actual Chart</vt:lpstr>
      <vt:lpstr>React 19 — Authentication Flow</vt:lpstr>
      <vt:lpstr>Security &amp; Code Review</vt:lpstr>
      <vt:lpstr>Security Audit — Quick Start</vt:lpstr>
      <vt:lpstr>OWASP Top 10 — Spring Boot Mapping</vt:lpstr>
      <vt:lpstr>IDOR Fix — Organisation Scoping</vt:lpstr>
      <vt:lpstr>SQL Injection Prevention</vt:lpstr>
      <vt:lpstr>JWT Security Hardening</vt:lpstr>
      <vt:lpstr>Input Validation Hardening</vt:lpstr>
      <vt:lpstr>Security Checklist — Pre-Deployment</vt:lpstr>
      <vt:lpstr>Database Optimisation</vt:lpstr>
      <vt:lpstr>EXPLAIN Analysis — P&amp;L Report Query</vt:lpstr>
      <vt:lpstr>Composite Index Strategy</vt:lpstr>
      <vt:lpstr>Table Partitioning — journal_lines</vt:lpstr>
      <vt:lpstr>Redis Caching Strategy</vt:lpstr>
      <vt:lpstr>Query Rewriting — Budget vs Actual</vt:lpstr>
      <vt:lpstr>MySQL Slow Query Log Analysis</vt:lpstr>
      <vt:lpstr>Database Scaling Roadmap</vt:lpstr>
      <vt:lpstr>CI/CD &amp; Deployment</vt:lpstr>
      <vt:lpstr>GitHub Actions — CI Pipeline</vt:lpstr>
      <vt:lpstr>Docker — Multi-Stage Build</vt:lpstr>
      <vt:lpstr>CD Pipeline — Deploy to Robi Cloud</vt:lpstr>
      <vt:lpstr>Database Migration — Flyway</vt:lpstr>
      <vt:lpstr>Environment Configuration</vt:lpstr>
      <vt:lpstr>Monitoring &amp; Observability</vt:lpstr>
      <vt:lpstr>Testing Strategy — Full Pyramid</vt:lpstr>
      <vt:lpstr>Go-Live Checklist</vt:lpstr>
      <vt:lpstr>Post-Launch: Iterate with Claude Code</vt:lpstr>
      <vt:lpstr>Live Project — WAMY Finance</vt:lpstr>
      <vt:lpstr>Live Demo — Build WAMY Finance in One Session</vt:lpstr>
      <vt:lpstr>40 Essential Claude Code Prompts — WAMY Finance</vt:lpstr>
      <vt:lpstr>7-Week Action Plan — WAMY Finance</vt:lpstr>
      <vt:lpstr>Key Takeaways — What You Learned Today</vt:lpstr>
      <vt:lpstr>Start Building Your First AI-Assisted Feature Today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— WAMY NGO ERP Training (80 Slides)</dc:title>
  <dc:subject>PptxGenJS Presentation</dc:subject>
  <dc:creator>PptxGenJS</dc:creator>
  <cp:lastModifiedBy>Tahajjat Tuhin</cp:lastModifiedBy>
  <cp:revision>177</cp:revision>
  <dcterms:created xsi:type="dcterms:W3CDTF">2026-06-11T12:55:00Z</dcterms:created>
  <dcterms:modified xsi:type="dcterms:W3CDTF">2026-06-12T15:54:09Z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2026-06-11T00:00:00Z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2026-06-11T00:00:00Z</vt:filetime>
  </property>
</Properties>
</file>